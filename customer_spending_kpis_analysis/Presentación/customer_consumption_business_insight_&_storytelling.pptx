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337" r:id="rId2"/>
    <p:sldId id="333" r:id="rId3"/>
    <p:sldId id="313" r:id="rId4"/>
    <p:sldId id="325" r:id="rId5"/>
    <p:sldId id="315" r:id="rId6"/>
    <p:sldId id="314" r:id="rId7"/>
    <p:sldId id="326" r:id="rId8"/>
    <p:sldId id="334" r:id="rId9"/>
  </p:sldIdLst>
  <p:sldSz cx="18288000" cy="10287000"/>
  <p:notesSz cx="6858000" cy="9144000"/>
  <p:embeddedFontLst>
    <p:embeddedFont>
      <p:font typeface="Abadi" panose="020B0604020104020204" pitchFamily="34" charset="0"/>
      <p:regular r:id="rId11"/>
      <p:bold r:id="rId12"/>
      <p:italic r:id="rId13"/>
      <p:boldItalic r:id="rId14"/>
    </p:embeddedFont>
    <p:embeddedFont>
      <p:font typeface="Abadi ExtraLight" panose="020B0204020104020204" pitchFamily="34" charset="0"/>
      <p:regular r:id="rId15"/>
      <p:italic r:id="rId16"/>
    </p:embeddedFont>
    <p:embeddedFont>
      <p:font typeface="Segoe UI Semibold" panose="020B0702040204020203" pitchFamily="34" charset="0"/>
      <p:bold r:id="rId17"/>
      <p:boldItalic r:id="rId18"/>
    </p:embeddedFont>
    <p:embeddedFont>
      <p:font typeface="Segoe UI Semilight" panose="020B0402040204020203" pitchFamily="34" charset="0"/>
      <p:regular r:id="rId19"/>
      <p:italic r:id="rId20"/>
    </p:embeddedFont>
  </p:embeddedFontLst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5A1B82CA-6F6F-4672-A489-CCDF9F855FEF}">
          <p14:sldIdLst>
            <p14:sldId id="337"/>
            <p14:sldId id="333"/>
            <p14:sldId id="313"/>
            <p14:sldId id="325"/>
            <p14:sldId id="315"/>
            <p14:sldId id="314"/>
            <p14:sldId id="326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F60"/>
    <a:srgbClr val="313131"/>
    <a:srgbClr val="F2F2F2"/>
    <a:srgbClr val="DFE1E6"/>
    <a:srgbClr val="BED8FB"/>
    <a:srgbClr val="FBF9F7"/>
    <a:srgbClr val="FAFAFB"/>
    <a:srgbClr val="EEECE1"/>
    <a:srgbClr val="FFC107"/>
    <a:srgbClr val="505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62" autoAdjust="0"/>
    <p:restoredTop sz="94600" autoAdjust="0"/>
  </p:normalViewPr>
  <p:slideViewPr>
    <p:cSldViewPr>
      <p:cViewPr>
        <p:scale>
          <a:sx n="50" d="100"/>
          <a:sy n="50" d="100"/>
        </p:scale>
        <p:origin x="1087" y="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ria\OneDrive%20-%20INTEC\Documentos\Study\Ejercicios%20SQL%20Varios\customer_spending_kpis_analysis\customer_spending_kpis_outpu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ria\OneDrive%20-%20INTEC\Documentos\Study\Ejercicios%20SQL%20Varios\customer_spending_kpis_analysis\customer_spending_kpis_outpu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ria\OneDrive%20-%20INTEC\Documentos\Study\Ejercicios%20SQL%20Varios\customer_spending_kpis_analysis\customer_spending_kpis_outpu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ria\OneDrive%20-%20INTEC\Documentos\Study\Ejercicios%20SQL%20Varios\customer_spending_kpis_analysis\customer_spending_kpis_outpu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ria\OneDrive%20-%20INTEC\Documentos\Study\Ejercicios%20SQL%20Varios\customer_spending_kpis_analysis\customer_spending_kpis_outpu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ria\OneDrive%20-%20INTEC\Documentos\Study\Ejercicios%20SQL%20Varios\customer_spending_kpis_analysis\customer_spending_kpis_outpu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36842D"/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rgbClr val="36842D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'04_Gráficos'!$O$40:$O$45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'04_Gráficos'!$P$40:$P$45</c:f>
              <c:numCache>
                <c:formatCode>_(* #,##0.00_);_(* \(#,##0.00\);_(* "-"??_);_(@_)</c:formatCode>
                <c:ptCount val="6"/>
                <c:pt idx="0">
                  <c:v>0.14995099640599999</c:v>
                </c:pt>
                <c:pt idx="1">
                  <c:v>0.14701078078999999</c:v>
                </c:pt>
                <c:pt idx="2">
                  <c:v>0.161711858869</c:v>
                </c:pt>
                <c:pt idx="3">
                  <c:v>0.16236524011699999</c:v>
                </c:pt>
                <c:pt idx="4">
                  <c:v>0.17869977131600001</c:v>
                </c:pt>
                <c:pt idx="5">
                  <c:v>0.20026135249900001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5D-4F5E-B6FB-4CA252C6692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73613599"/>
        <c:axId val="1514167007"/>
      </c:lineChart>
      <c:catAx>
        <c:axId val="16736135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514167007"/>
        <c:crosses val="autoZero"/>
        <c:auto val="1"/>
        <c:lblAlgn val="ctr"/>
        <c:lblOffset val="100"/>
        <c:noMultiLvlLbl val="0"/>
      </c:catAx>
      <c:valAx>
        <c:axId val="1514167007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1673613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36842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'04_Gráficos'!$R$41:$R$44</c:f>
              <c:strCache>
                <c:ptCount val="4"/>
                <c:pt idx="0">
                  <c:v>Masivo</c:v>
                </c:pt>
                <c:pt idx="1">
                  <c:v>Premium</c:v>
                </c:pt>
                <c:pt idx="2">
                  <c:v>Empresarial</c:v>
                </c:pt>
                <c:pt idx="3">
                  <c:v>Joven</c:v>
                </c:pt>
              </c:strCache>
            </c:strRef>
          </c:cat>
          <c:val>
            <c:numRef>
              <c:f>'04_Gráficos'!$S$41:$S$44</c:f>
              <c:numCache>
                <c:formatCode>_(* #,##0_);_(* \(#,##0\);_(* "-"??_);_(@_)</c:formatCode>
                <c:ptCount val="4"/>
                <c:pt idx="0">
                  <c:v>837.08478000000002</c:v>
                </c:pt>
                <c:pt idx="1">
                  <c:v>817.98159633333341</c:v>
                </c:pt>
                <c:pt idx="2">
                  <c:v>809.82786433333331</c:v>
                </c:pt>
                <c:pt idx="3">
                  <c:v>795.16291716666672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95-4227-9D31-ADEB276FCF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3555423"/>
        <c:axId val="1514162207"/>
      </c:barChart>
      <c:catAx>
        <c:axId val="1713555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514162207"/>
        <c:crosses val="autoZero"/>
        <c:auto val="1"/>
        <c:lblAlgn val="ctr"/>
        <c:lblOffset val="100"/>
        <c:noMultiLvlLbl val="0"/>
      </c:catAx>
      <c:valAx>
        <c:axId val="1514162207"/>
        <c:scaling>
          <c:orientation val="minMax"/>
        </c:scaling>
        <c:delete val="1"/>
        <c:axPos val="l"/>
        <c:numFmt formatCode="_(* #,##0_);_(* \(#,##0\);_(* &quot;-&quot;??_);_(@_)" sourceLinked="1"/>
        <c:majorTickMark val="none"/>
        <c:minorTickMark val="none"/>
        <c:tickLblPos val="nextTo"/>
        <c:crossAx val="1713555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'04_Gráficos'!$B$67</c:f>
              <c:strCache>
                <c:ptCount val="1"/>
                <c:pt idx="0">
                  <c:v>Masivo</c:v>
                </c:pt>
              </c:strCache>
            </c:strRef>
          </c:tx>
          <c:spPr>
            <a:solidFill>
              <a:srgbClr val="1F497D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'04_Gráficos'!$C$66:$G$66</c:f>
              <c:strCache>
                <c:ptCount val="5"/>
                <c:pt idx="0">
                  <c:v>Ecommerce</c:v>
                </c:pt>
                <c:pt idx="1">
                  <c:v>Electronica</c:v>
                </c:pt>
                <c:pt idx="2">
                  <c:v>Farmacias</c:v>
                </c:pt>
                <c:pt idx="3">
                  <c:v>Restaurantes</c:v>
                </c:pt>
                <c:pt idx="4">
                  <c:v>Supermercados</c:v>
                </c:pt>
              </c:strCache>
            </c:strRef>
          </c:cat>
          <c:val>
            <c:numRef>
              <c:f>'04_Gráficos'!$C$67:$G$67</c:f>
              <c:numCache>
                <c:formatCode>General</c:formatCode>
                <c:ptCount val="5"/>
                <c:pt idx="0">
                  <c:v>882</c:v>
                </c:pt>
                <c:pt idx="1">
                  <c:v>944</c:v>
                </c:pt>
                <c:pt idx="2">
                  <c:v>1451</c:v>
                </c:pt>
                <c:pt idx="3">
                  <c:v>1718</c:v>
                </c:pt>
                <c:pt idx="4">
                  <c:v>2093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8E-40F0-8B7F-4E37D8621861}"/>
            </c:ext>
          </c:extLst>
        </c:ser>
        <c:ser>
          <c:idx val="1"/>
          <c:order val="1"/>
          <c:tx>
            <c:strRef>
              <c:f>'04_Gráficos'!$B$68</c:f>
              <c:strCache>
                <c:ptCount val="1"/>
                <c:pt idx="0">
                  <c:v>Joven</c:v>
                </c:pt>
              </c:strCache>
            </c:strRef>
          </c:tx>
          <c:spPr>
            <a:solidFill>
              <a:srgbClr val="00639F"/>
            </a:solidFill>
            <a:ln>
              <a:noFill/>
            </a:ln>
            <a:effectLst/>
          </c:spPr>
          <c:invertIfNegative val="0"/>
          <c:dLbls>
            <c:dLbl>
              <c:idx val="4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DO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348E-40F0-8B7F-4E37D86218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'04_Gráficos'!$C$66:$G$66</c:f>
              <c:strCache>
                <c:ptCount val="5"/>
                <c:pt idx="0">
                  <c:v>Ecommerce</c:v>
                </c:pt>
                <c:pt idx="1">
                  <c:v>Electronica</c:v>
                </c:pt>
                <c:pt idx="2">
                  <c:v>Farmacias</c:v>
                </c:pt>
                <c:pt idx="3">
                  <c:v>Restaurantes</c:v>
                </c:pt>
                <c:pt idx="4">
                  <c:v>Supermercados</c:v>
                </c:pt>
              </c:strCache>
            </c:strRef>
          </c:cat>
          <c:val>
            <c:numRef>
              <c:f>'04_Gráficos'!$C$68:$G$68</c:f>
              <c:numCache>
                <c:formatCode>General</c:formatCode>
                <c:ptCount val="5"/>
                <c:pt idx="0">
                  <c:v>532</c:v>
                </c:pt>
                <c:pt idx="1">
                  <c:v>560</c:v>
                </c:pt>
                <c:pt idx="2">
                  <c:v>732</c:v>
                </c:pt>
                <c:pt idx="3">
                  <c:v>984</c:v>
                </c:pt>
                <c:pt idx="4">
                  <c:v>1272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8E-40F0-8B7F-4E37D8621861}"/>
            </c:ext>
          </c:extLst>
        </c:ser>
        <c:ser>
          <c:idx val="2"/>
          <c:order val="2"/>
          <c:tx>
            <c:strRef>
              <c:f>'04_Gráficos'!$B$69</c:f>
              <c:strCache>
                <c:ptCount val="1"/>
                <c:pt idx="0">
                  <c:v>Premium</c:v>
                </c:pt>
              </c:strCache>
            </c:strRef>
          </c:tx>
          <c:spPr>
            <a:solidFill>
              <a:srgbClr val="4572A7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'04_Gráficos'!$C$66:$G$66</c:f>
              <c:strCache>
                <c:ptCount val="5"/>
                <c:pt idx="0">
                  <c:v>Ecommerce</c:v>
                </c:pt>
                <c:pt idx="1">
                  <c:v>Electronica</c:v>
                </c:pt>
                <c:pt idx="2">
                  <c:v>Farmacias</c:v>
                </c:pt>
                <c:pt idx="3">
                  <c:v>Restaurantes</c:v>
                </c:pt>
                <c:pt idx="4">
                  <c:v>Supermercados</c:v>
                </c:pt>
              </c:strCache>
            </c:strRef>
          </c:cat>
          <c:val>
            <c:numRef>
              <c:f>'04_Gráficos'!$C$69:$G$69</c:f>
              <c:numCache>
                <c:formatCode>General</c:formatCode>
                <c:ptCount val="5"/>
                <c:pt idx="0">
                  <c:v>380</c:v>
                </c:pt>
                <c:pt idx="1">
                  <c:v>392</c:v>
                </c:pt>
                <c:pt idx="2">
                  <c:v>578</c:v>
                </c:pt>
                <c:pt idx="3">
                  <c:v>691</c:v>
                </c:pt>
                <c:pt idx="4">
                  <c:v>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8E-40F0-8B7F-4E37D8621861}"/>
            </c:ext>
          </c:extLst>
        </c:ser>
        <c:ser>
          <c:idx val="3"/>
          <c:order val="3"/>
          <c:tx>
            <c:strRef>
              <c:f>'04_Gráficos'!$B$70</c:f>
              <c:strCache>
                <c:ptCount val="1"/>
                <c:pt idx="0">
                  <c:v>Empresarial</c:v>
                </c:pt>
              </c:strCache>
            </c:strRef>
          </c:tx>
          <c:spPr>
            <a:solidFill>
              <a:srgbClr val="4F81BD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48E-40F0-8B7F-4E37D86218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'04_Gráficos'!$C$66:$G$66</c:f>
              <c:strCache>
                <c:ptCount val="5"/>
                <c:pt idx="0">
                  <c:v>Ecommerce</c:v>
                </c:pt>
                <c:pt idx="1">
                  <c:v>Electronica</c:v>
                </c:pt>
                <c:pt idx="2">
                  <c:v>Farmacias</c:v>
                </c:pt>
                <c:pt idx="3">
                  <c:v>Restaurantes</c:v>
                </c:pt>
                <c:pt idx="4">
                  <c:v>Supermercados</c:v>
                </c:pt>
              </c:strCache>
            </c:strRef>
          </c:cat>
          <c:val>
            <c:numRef>
              <c:f>'04_Gráficos'!$C$70:$G$70</c:f>
              <c:numCache>
                <c:formatCode>General</c:formatCode>
                <c:ptCount val="5"/>
                <c:pt idx="0">
                  <c:v>176</c:v>
                </c:pt>
                <c:pt idx="1">
                  <c:v>225</c:v>
                </c:pt>
                <c:pt idx="2">
                  <c:v>300</c:v>
                </c:pt>
                <c:pt idx="3">
                  <c:v>380</c:v>
                </c:pt>
                <c:pt idx="4">
                  <c:v>461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8E-40F0-8B7F-4E37D862186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2"/>
        <c:overlap val="100"/>
        <c:axId val="1657248991"/>
        <c:axId val="1386259935"/>
      </c:barChart>
      <c:catAx>
        <c:axId val="165724899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pPr>
            <a:endParaRPr lang="es-DO"/>
          </a:p>
        </c:txPr>
        <c:crossAx val="1386259935"/>
        <c:crosses val="autoZero"/>
        <c:auto val="1"/>
        <c:lblAlgn val="ctr"/>
        <c:lblOffset val="100"/>
        <c:noMultiLvlLbl val="0"/>
      </c:catAx>
      <c:valAx>
        <c:axId val="138625993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57248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s-D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919586014631209"/>
          <c:y val="7.9348715010664789E-2"/>
          <c:w val="0.77334545023071266"/>
          <c:h val="0.73119969565742582"/>
        </c:manualLayout>
      </c:layout>
      <c:lineChart>
        <c:grouping val="standard"/>
        <c:varyColors val="0"/>
        <c:ser>
          <c:idx val="0"/>
          <c:order val="0"/>
          <c:tx>
            <c:strRef>
              <c:f>'04_Gráficos'!$A$30</c:f>
              <c:strCache>
                <c:ptCount val="1"/>
                <c:pt idx="0">
                  <c:v>Masivo</c:v>
                </c:pt>
              </c:strCache>
            </c:strRef>
          </c:tx>
          <c:spPr>
            <a:ln w="28575" cap="rnd">
              <a:solidFill>
                <a:schemeClr val="accent3">
                  <a:shade val="65000"/>
                </a:schemeClr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accent3">
                  <a:shade val="65000"/>
                </a:schemeClr>
              </a:solidFill>
              <a:ln w="9525">
                <a:solidFill>
                  <a:schemeClr val="accent3">
                    <a:shade val="65000"/>
                  </a:schemeClr>
                </a:solidFill>
              </a:ln>
              <a:effectLst/>
            </c:spPr>
          </c:marker>
          <c:cat>
            <c:numRef>
              <c:f>'04_Gráficos'!$B$29:$G$29</c:f>
              <c:numCache>
                <c:formatCode>mm\-yyyy</c:formatCode>
                <c:ptCount val="6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</c:numCache>
            </c:numRef>
          </c:cat>
          <c:val>
            <c:numRef>
              <c:f>'04_Gráficos'!$B$30:$G$30</c:f>
              <c:numCache>
                <c:formatCode>General</c:formatCode>
                <c:ptCount val="6"/>
                <c:pt idx="0">
                  <c:v>113</c:v>
                </c:pt>
                <c:pt idx="1">
                  <c:v>103</c:v>
                </c:pt>
                <c:pt idx="2">
                  <c:v>163</c:v>
                </c:pt>
                <c:pt idx="3">
                  <c:v>165</c:v>
                </c:pt>
                <c:pt idx="4">
                  <c:v>182</c:v>
                </c:pt>
                <c:pt idx="5">
                  <c:v>218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8C-4012-B80F-903541DE8211}"/>
            </c:ext>
          </c:extLst>
        </c:ser>
        <c:ser>
          <c:idx val="1"/>
          <c:order val="1"/>
          <c:tx>
            <c:strRef>
              <c:f>'04_Gráficos'!$A$31</c:f>
              <c:strCache>
                <c:ptCount val="1"/>
                <c:pt idx="0">
                  <c:v>Premium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'04_Gráficos'!$B$29:$G$29</c:f>
              <c:numCache>
                <c:formatCode>mm\-yyyy</c:formatCode>
                <c:ptCount val="6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</c:numCache>
            </c:numRef>
          </c:cat>
          <c:val>
            <c:numRef>
              <c:f>'04_Gráficos'!$B$31:$G$31</c:f>
              <c:numCache>
                <c:formatCode>General</c:formatCode>
                <c:ptCount val="6"/>
                <c:pt idx="0">
                  <c:v>39</c:v>
                </c:pt>
                <c:pt idx="1">
                  <c:v>46</c:v>
                </c:pt>
                <c:pt idx="2">
                  <c:v>60</c:v>
                </c:pt>
                <c:pt idx="3">
                  <c:v>72</c:v>
                </c:pt>
                <c:pt idx="4">
                  <c:v>81</c:v>
                </c:pt>
                <c:pt idx="5">
                  <c:v>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8C-4012-B80F-903541DE8211}"/>
            </c:ext>
          </c:extLst>
        </c:ser>
        <c:ser>
          <c:idx val="2"/>
          <c:order val="2"/>
          <c:tx>
            <c:strRef>
              <c:f>'04_Gráficos'!$A$32</c:f>
              <c:strCache>
                <c:ptCount val="1"/>
                <c:pt idx="0">
                  <c:v>Empresarial</c:v>
                </c:pt>
              </c:strCache>
            </c:strRef>
          </c:tx>
          <c:spPr>
            <a:ln w="28575" cap="rnd">
              <a:solidFill>
                <a:schemeClr val="accent3">
                  <a:tint val="65000"/>
                </a:schemeClr>
              </a:solidFill>
              <a:round/>
            </a:ln>
            <a:effectLst/>
          </c:spPr>
          <c:marker>
            <c:symbol val="circle"/>
            <c:size val="3"/>
            <c:spPr>
              <a:solidFill>
                <a:schemeClr val="accent3">
                  <a:tint val="65000"/>
                </a:schemeClr>
              </a:solidFill>
              <a:ln w="9525">
                <a:solidFill>
                  <a:schemeClr val="accent3">
                    <a:tint val="65000"/>
                  </a:schemeClr>
                </a:solidFill>
              </a:ln>
              <a:effectLst/>
            </c:spPr>
          </c:marker>
          <c:cat>
            <c:numRef>
              <c:f>'04_Gráficos'!$B$29:$G$29</c:f>
              <c:numCache>
                <c:formatCode>mm\-yyyy</c:formatCode>
                <c:ptCount val="6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</c:numCache>
            </c:numRef>
          </c:cat>
          <c:val>
            <c:numRef>
              <c:f>'04_Gráficos'!$B$32:$G$32</c:f>
              <c:numCache>
                <c:formatCode>General</c:formatCode>
                <c:ptCount val="6"/>
                <c:pt idx="0">
                  <c:v>29</c:v>
                </c:pt>
                <c:pt idx="1">
                  <c:v>29</c:v>
                </c:pt>
                <c:pt idx="2">
                  <c:v>24</c:v>
                </c:pt>
                <c:pt idx="3">
                  <c:v>33</c:v>
                </c:pt>
                <c:pt idx="4">
                  <c:v>48</c:v>
                </c:pt>
                <c:pt idx="5">
                  <c:v>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8C-4012-B80F-903541DE8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25005471"/>
        <c:axId val="2059217023"/>
      </c:lineChart>
      <c:dateAx>
        <c:axId val="1225005471"/>
        <c:scaling>
          <c:orientation val="minMax"/>
        </c:scaling>
        <c:delete val="0"/>
        <c:axPos val="b"/>
        <c:numFmt formatCode="mmm" sourceLinked="0"/>
        <c:majorTickMark val="out"/>
        <c:minorTickMark val="none"/>
        <c:tickLblPos val="nextTo"/>
        <c:spPr>
          <a:noFill/>
          <a:ln w="9525" cap="flat" cmpd="sng" algn="ctr">
            <a:solidFill>
              <a:srgbClr val="B9B9B9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2059217023"/>
        <c:crosses val="autoZero"/>
        <c:auto val="1"/>
        <c:lblOffset val="100"/>
        <c:baseTimeUnit val="months"/>
      </c:dateAx>
      <c:valAx>
        <c:axId val="20592170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225005471"/>
        <c:crosses val="autoZero"/>
        <c:crossBetween val="between"/>
      </c:valAx>
      <c:spPr>
        <a:noFill/>
        <a:ln>
          <a:noFill/>
          <a:prstDash val="dash"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D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685995265899705E-2"/>
          <c:y val="0.12323177572259111"/>
          <c:w val="0.91031179342167168"/>
          <c:h val="0.635213409350847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'04_Gráficos'!$K$29</c:f>
              <c:strCache>
                <c:ptCount val="1"/>
                <c:pt idx="0">
                  <c:v>Monto Transado</c:v>
                </c:pt>
              </c:strCache>
            </c:strRef>
          </c:tx>
          <c:spPr>
            <a:solidFill>
              <a:srgbClr val="36842D"/>
            </a:solidFill>
            <a:ln>
              <a:noFill/>
            </a:ln>
            <a:effectLst/>
          </c:spPr>
          <c:invertIfNegative val="0"/>
          <c:dLbls>
            <c:numFmt formatCode="#,##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'04_Gráficos'!$J$30:$J$33</c:f>
              <c:strCache>
                <c:ptCount val="4"/>
                <c:pt idx="0">
                  <c:v>Masivo</c:v>
                </c:pt>
                <c:pt idx="1">
                  <c:v>Joven</c:v>
                </c:pt>
                <c:pt idx="2">
                  <c:v>Premium</c:v>
                </c:pt>
                <c:pt idx="3">
                  <c:v>Empresarial</c:v>
                </c:pt>
              </c:strCache>
            </c:strRef>
          </c:cat>
          <c:val>
            <c:numRef>
              <c:f>'04_Gráficos'!$K$30:$K$33</c:f>
              <c:numCache>
                <c:formatCode>_(* #,##0_);_(* \(#,##0\);_(* "-"??_);_(@_)</c:formatCode>
                <c:ptCount val="4"/>
                <c:pt idx="0">
                  <c:v>441360.51</c:v>
                </c:pt>
                <c:pt idx="1">
                  <c:v>276761.42499999999</c:v>
                </c:pt>
                <c:pt idx="2">
                  <c:v>156502.67000000001</c:v>
                </c:pt>
                <c:pt idx="3">
                  <c:v>98020.865000000005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19-4B9C-B4D0-83906D37E9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4705951"/>
        <c:axId val="1991122783"/>
      </c:barChart>
      <c:catAx>
        <c:axId val="554705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1991122783"/>
        <c:crosses val="autoZero"/>
        <c:auto val="1"/>
        <c:lblAlgn val="ctr"/>
        <c:lblOffset val="100"/>
        <c:noMultiLvlLbl val="0"/>
      </c:catAx>
      <c:valAx>
        <c:axId val="1991122783"/>
        <c:scaling>
          <c:orientation val="minMax"/>
        </c:scaling>
        <c:delete val="1"/>
        <c:axPos val="l"/>
        <c:numFmt formatCode="#,##0,&quot;K&quot;" sourceLinked="0"/>
        <c:majorTickMark val="none"/>
        <c:minorTickMark val="none"/>
        <c:tickLblPos val="nextTo"/>
        <c:crossAx val="554705951"/>
        <c:crosses val="autoZero"/>
        <c:crossBetween val="between"/>
        <c:majorUnit val="1500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</a:defRPr>
      </a:pPr>
      <a:endParaRPr lang="es-DO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664926177155895"/>
          <c:y val="7.2761695998402792E-2"/>
          <c:w val="0.90568281643366011"/>
          <c:h val="0.83065164210763209"/>
        </c:manualLayout>
      </c:layout>
      <c:barChart>
        <c:barDir val="col"/>
        <c:grouping val="stacked"/>
        <c:varyColors val="0"/>
        <c:ser>
          <c:idx val="0"/>
          <c:order val="0"/>
          <c:tx>
            <c:v>ELECTRONICA</c:v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692147646611356E-2"/>
                      <c:h val="0.2786831563908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6B01-425A-ABFA-57D72B3DA2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'04_Gráficos'!$A$5:$A$8</c:f>
              <c:strCache>
                <c:ptCount val="4"/>
                <c:pt idx="0">
                  <c:v>Masivo</c:v>
                </c:pt>
                <c:pt idx="1">
                  <c:v>Empresarial</c:v>
                </c:pt>
                <c:pt idx="2">
                  <c:v>Joven</c:v>
                </c:pt>
                <c:pt idx="3">
                  <c:v>Premium</c:v>
                </c:pt>
              </c:strCache>
            </c:strRef>
          </c:cat>
          <c:val>
            <c:numRef>
              <c:f>'04_Gráficos'!$B$5:$B$8</c:f>
              <c:numCache>
                <c:formatCode>_(* #,##0_);_(* \(#,##0\);_(* "-"??_);_(@_)</c:formatCode>
                <c:ptCount val="4"/>
                <c:pt idx="0">
                  <c:v>5439.0724678333336</c:v>
                </c:pt>
                <c:pt idx="1">
                  <c:v>5324.0246985000003</c:v>
                </c:pt>
                <c:pt idx="2">
                  <c:v>5361.6278681666663</c:v>
                </c:pt>
                <c:pt idx="3">
                  <c:v>4916.3039468333336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01-425A-ABFA-57D72B3DA2C1}"/>
            </c:ext>
          </c:extLst>
        </c:ser>
        <c:ser>
          <c:idx val="1"/>
          <c:order val="1"/>
          <c:tx>
            <c:v>ECOMMERCE</c:v>
          </c:tx>
          <c:spPr>
            <a:solidFill>
              <a:srgbClr val="00639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'04_Gráficos'!$A$5:$A$8</c:f>
              <c:strCache>
                <c:ptCount val="4"/>
                <c:pt idx="0">
                  <c:v>Masivo</c:v>
                </c:pt>
                <c:pt idx="1">
                  <c:v>Empresarial</c:v>
                </c:pt>
                <c:pt idx="2">
                  <c:v>Joven</c:v>
                </c:pt>
                <c:pt idx="3">
                  <c:v>Premium</c:v>
                </c:pt>
              </c:strCache>
            </c:strRef>
          </c:cat>
          <c:val>
            <c:numRef>
              <c:f>'04_Gráficos'!$C$5:$C$8</c:f>
              <c:numCache>
                <c:formatCode>_(* #,##0_);_(* \(#,##0\);_(* "-"??_);_(@_)</c:formatCode>
                <c:ptCount val="4"/>
                <c:pt idx="0">
                  <c:v>3125.6850025000003</c:v>
                </c:pt>
                <c:pt idx="1">
                  <c:v>3316.5355641666665</c:v>
                </c:pt>
                <c:pt idx="2">
                  <c:v>2926.9723465000006</c:v>
                </c:pt>
                <c:pt idx="3">
                  <c:v>3129.8111739999999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01-425A-ABFA-57D72B3DA2C1}"/>
            </c:ext>
          </c:extLst>
        </c:ser>
        <c:ser>
          <c:idx val="2"/>
          <c:order val="2"/>
          <c:tx>
            <c:v>SUPERMERCADOS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'04_Gráficos'!$A$5:$A$8</c:f>
              <c:strCache>
                <c:ptCount val="4"/>
                <c:pt idx="0">
                  <c:v>Masivo</c:v>
                </c:pt>
                <c:pt idx="1">
                  <c:v>Empresarial</c:v>
                </c:pt>
                <c:pt idx="2">
                  <c:v>Joven</c:v>
                </c:pt>
                <c:pt idx="3">
                  <c:v>Premium</c:v>
                </c:pt>
              </c:strCache>
            </c:strRef>
          </c:cat>
          <c:val>
            <c:numRef>
              <c:f>'04_Gráficos'!$D$5:$D$8</c:f>
              <c:numCache>
                <c:formatCode>_(* #,##0_);_(* \(#,##0\);_(* "-"??_);_(@_)</c:formatCode>
                <c:ptCount val="4"/>
                <c:pt idx="0">
                  <c:v>1561.2642028333332</c:v>
                </c:pt>
                <c:pt idx="1">
                  <c:v>1544.5377180000003</c:v>
                </c:pt>
                <c:pt idx="2">
                  <c:v>1596.5786056666666</c:v>
                </c:pt>
                <c:pt idx="3">
                  <c:v>1532.7419033333333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01-425A-ABFA-57D72B3DA2C1}"/>
            </c:ext>
          </c:extLst>
        </c:ser>
        <c:ser>
          <c:idx val="3"/>
          <c:order val="3"/>
          <c:tx>
            <c:v>RESTAURANTES</c:v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'04_Gráficos'!$A$5:$A$8</c:f>
              <c:strCache>
                <c:ptCount val="4"/>
                <c:pt idx="0">
                  <c:v>Masivo</c:v>
                </c:pt>
                <c:pt idx="1">
                  <c:v>Empresarial</c:v>
                </c:pt>
                <c:pt idx="2">
                  <c:v>Joven</c:v>
                </c:pt>
                <c:pt idx="3">
                  <c:v>Premium</c:v>
                </c:pt>
              </c:strCache>
            </c:strRef>
          </c:cat>
          <c:val>
            <c:numRef>
              <c:f>'04_Gráficos'!$E$5:$E$8</c:f>
              <c:numCache>
                <c:formatCode>_(* #,##0_);_(* \(#,##0\);_(* "-"??_);_(@_)</c:formatCode>
                <c:ptCount val="4"/>
                <c:pt idx="0">
                  <c:v>1231.5486315000001</c:v>
                </c:pt>
                <c:pt idx="1">
                  <c:v>1145.1258465000001</c:v>
                </c:pt>
                <c:pt idx="2">
                  <c:v>1229.8054893333333</c:v>
                </c:pt>
                <c:pt idx="3">
                  <c:v>1291.8456125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B01-425A-ABFA-57D72B3DA2C1}"/>
            </c:ext>
          </c:extLst>
        </c:ser>
        <c:ser>
          <c:idx val="4"/>
          <c:order val="4"/>
          <c:tx>
            <c:v>FARMACIAS</c:v>
          </c:tx>
          <c:spPr>
            <a:solidFill>
              <a:schemeClr val="accent1">
                <a:shade val="53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D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'04_Gráficos'!$A$5:$A$8</c:f>
              <c:strCache>
                <c:ptCount val="4"/>
                <c:pt idx="0">
                  <c:v>Masivo</c:v>
                </c:pt>
                <c:pt idx="1">
                  <c:v>Empresarial</c:v>
                </c:pt>
                <c:pt idx="2">
                  <c:v>Joven</c:v>
                </c:pt>
                <c:pt idx="3">
                  <c:v>Premium</c:v>
                </c:pt>
              </c:strCache>
            </c:strRef>
          </c:cat>
          <c:val>
            <c:numRef>
              <c:f>'04_Gráficos'!$F$5:$F$8</c:f>
              <c:numCache>
                <c:formatCode>_(* #,##0_);_(* \(#,##0\);_(* "-"??_);_(@_)</c:formatCode>
                <c:ptCount val="4"/>
                <c:pt idx="0">
                  <c:v>837.08478000000002</c:v>
                </c:pt>
                <c:pt idx="1">
                  <c:v>809.82786433333331</c:v>
                </c:pt>
                <c:pt idx="2">
                  <c:v>795.16291716666672</c:v>
                </c:pt>
                <c:pt idx="3">
                  <c:v>817.98159633333341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01-425A-ABFA-57D72B3DA2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98"/>
        <c:overlap val="100"/>
        <c:axId val="323116543"/>
        <c:axId val="2059251103"/>
      </c:barChart>
      <c:catAx>
        <c:axId val="32311654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59251103"/>
        <c:crosses val="autoZero"/>
        <c:auto val="1"/>
        <c:lblAlgn val="ctr"/>
        <c:lblOffset val="100"/>
        <c:noMultiLvlLbl val="0"/>
      </c:catAx>
      <c:valAx>
        <c:axId val="2059251103"/>
        <c:scaling>
          <c:orientation val="minMax"/>
          <c:max val="12000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DO"/>
          </a:p>
        </c:txPr>
        <c:crossAx val="323116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s-D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41029-9619-41A8-BBA5-3016E10B0847}" type="datetimeFigureOut">
              <a:rPr lang="es-DO" smtClean="0"/>
              <a:t>26/5/2026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1BB58-FFA6-4C9C-A777-7A646D57408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95009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BEB0-73DE-7830-0E57-F26411E1A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E8DC1B1-C6CB-5813-6B2B-D4F5FC298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9288C6-5B87-5CD9-FFBA-90B5E5B0E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4F4B45-75EC-649A-3EC7-33E9D8C5A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BB58-FFA6-4C9C-A777-7A646D574089}" type="slidenum">
              <a:rPr lang="es-DO" smtClean="0"/>
              <a:t>2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13545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BB58-FFA6-4C9C-A777-7A646D574089}" type="slidenum">
              <a:rPr lang="es-DO" smtClean="0"/>
              <a:t>3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339344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613CD-AA51-74FA-082B-710C2577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78BD59-008B-8F37-0563-53862F3DC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6148F2-BD2B-0757-7360-BC1DD181E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AFED79-8C15-CB06-6F2C-2B698FBEB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BB58-FFA6-4C9C-A777-7A646D574089}" type="slidenum">
              <a:rPr lang="es-DO" smtClean="0"/>
              <a:t>4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296051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8392E-63BE-7839-1DA5-57AA23E8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38CD6B-DA11-6E47-481B-A76FF1794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2BC757-6377-0F6F-ECB9-2FA8C87F5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2B914C-8B92-6E76-701B-F673FE142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BB58-FFA6-4C9C-A777-7A646D574089}" type="slidenum">
              <a:rPr lang="es-DO" smtClean="0"/>
              <a:t>5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10475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BB58-FFA6-4C9C-A777-7A646D574089}" type="slidenum">
              <a:rPr lang="es-DO" smtClean="0"/>
              <a:t>6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26316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101F6-DF9C-AFA8-C2D5-0ECDB8E87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2194C1-D6C9-4693-4F17-978CABF69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BCE16A4-C94D-C120-F369-A97FFD6C0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416C82-B7B9-7255-BFE5-BEBF082C2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BB58-FFA6-4C9C-A777-7A646D574089}" type="slidenum">
              <a:rPr lang="es-DO" smtClean="0"/>
              <a:t>7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203904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A36B7-BE82-AD79-AAF8-DD03C312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1B1385-9EC3-E0AD-E03C-765599080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E7C206C-191B-FFF0-4A70-A0A91F145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2205FC-CEAD-5B1E-EE1F-B0742CB3D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BB58-FFA6-4C9C-A777-7A646D574089}" type="slidenum">
              <a:rPr lang="es-DO" smtClean="0"/>
              <a:t>8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77244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https://github.com/Miriannydlcv/Ejercicios-SQL-Varios/tree/main/customer_spending_kpis_analysis" TargetMode="Externa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9" Type="http://schemas.openxmlformats.org/officeDocument/2006/relationships/image" Target="../media/image41.png"/><Relationship Id="rId21" Type="http://schemas.openxmlformats.org/officeDocument/2006/relationships/image" Target="../media/image24.pn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47" Type="http://schemas.openxmlformats.org/officeDocument/2006/relationships/image" Target="../media/image4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9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microsoft.com/office/2007/relationships/hdphoto" Target="../media/hdphoto2.wdp"/><Relationship Id="rId24" Type="http://schemas.openxmlformats.org/officeDocument/2006/relationships/image" Target="../media/image27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png"/><Relationship Id="rId45" Type="http://schemas.openxmlformats.org/officeDocument/2006/relationships/image" Target="../media/image47.png"/><Relationship Id="rId5" Type="http://schemas.openxmlformats.org/officeDocument/2006/relationships/image" Target="../media/image10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8.png"/><Relationship Id="rId10" Type="http://schemas.openxmlformats.org/officeDocument/2006/relationships/image" Target="../media/image14.png"/><Relationship Id="rId19" Type="http://schemas.openxmlformats.org/officeDocument/2006/relationships/image" Target="../media/image22.png"/><Relationship Id="rId31" Type="http://schemas.openxmlformats.org/officeDocument/2006/relationships/image" Target="../media/image33.png"/><Relationship Id="rId44" Type="http://schemas.openxmlformats.org/officeDocument/2006/relationships/image" Target="../media/image46.png"/><Relationship Id="rId4" Type="http://schemas.openxmlformats.org/officeDocument/2006/relationships/image" Target="../media/image9.png"/><Relationship Id="rId9" Type="http://schemas.microsoft.com/office/2007/relationships/hdphoto" Target="../media/hdphoto1.wdp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43" Type="http://schemas.openxmlformats.org/officeDocument/2006/relationships/image" Target="../media/image45.png"/><Relationship Id="rId48" Type="http://schemas.openxmlformats.org/officeDocument/2006/relationships/image" Target="../media/image50.png"/><Relationship Id="rId8" Type="http://schemas.openxmlformats.org/officeDocument/2006/relationships/image" Target="../media/image13.png"/><Relationship Id="rId3" Type="http://schemas.openxmlformats.org/officeDocument/2006/relationships/hyperlink" Target="https://github.com/Miriannydlcv/Ejercicios-SQL-Varios/tree/main/customer_spending_kpis_analysis" TargetMode="External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0" Type="http://schemas.openxmlformats.org/officeDocument/2006/relationships/image" Target="../media/image23.png"/><Relationship Id="rId41" Type="http://schemas.openxmlformats.org/officeDocument/2006/relationships/image" Target="../media/image4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9" Type="http://schemas.openxmlformats.org/officeDocument/2006/relationships/image" Target="../media/image18.png"/><Relationship Id="rId21" Type="http://schemas.openxmlformats.org/officeDocument/2006/relationships/image" Target="../media/image69.png"/><Relationship Id="rId34" Type="http://schemas.openxmlformats.org/officeDocument/2006/relationships/image" Target="../media/image14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29" Type="http://schemas.openxmlformats.org/officeDocument/2006/relationships/image" Target="../media/image77.png"/><Relationship Id="rId41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32" Type="http://schemas.openxmlformats.org/officeDocument/2006/relationships/image" Target="../media/image13.png"/><Relationship Id="rId37" Type="http://schemas.openxmlformats.org/officeDocument/2006/relationships/image" Target="../media/image16.png"/><Relationship Id="rId40" Type="http://schemas.openxmlformats.org/officeDocument/2006/relationships/hyperlink" Target="https://github.com/Miriannydlcv/Ejercicios-SQL-Varios/tree/main/customer_spending_kpis_analysis" TargetMode="External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36" Type="http://schemas.openxmlformats.org/officeDocument/2006/relationships/image" Target="../media/image15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31" Type="http://schemas.openxmlformats.org/officeDocument/2006/relationships/image" Target="../media/image79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Relationship Id="rId35" Type="http://schemas.microsoft.com/office/2007/relationships/hdphoto" Target="../media/hdphoto2.wdp"/><Relationship Id="rId8" Type="http://schemas.openxmlformats.org/officeDocument/2006/relationships/image" Target="../media/image56.png"/><Relationship Id="rId3" Type="http://schemas.openxmlformats.org/officeDocument/2006/relationships/image" Target="../media/image51.sv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33" Type="http://schemas.microsoft.com/office/2007/relationships/hdphoto" Target="../media/hdphoto1.wdp"/><Relationship Id="rId38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63.png"/><Relationship Id="rId18" Type="http://schemas.openxmlformats.org/officeDocument/2006/relationships/image" Target="../media/image23.png"/><Relationship Id="rId26" Type="http://schemas.openxmlformats.org/officeDocument/2006/relationships/image" Target="../media/image9.png"/><Relationship Id="rId3" Type="http://schemas.openxmlformats.org/officeDocument/2006/relationships/image" Target="../media/image51.svg"/><Relationship Id="rId21" Type="http://schemas.openxmlformats.org/officeDocument/2006/relationships/image" Target="../media/image26.png"/><Relationship Id="rId7" Type="http://schemas.openxmlformats.org/officeDocument/2006/relationships/image" Target="../media/image61.png"/><Relationship Id="rId12" Type="http://schemas.openxmlformats.org/officeDocument/2006/relationships/image" Target="../media/image58.png"/><Relationship Id="rId17" Type="http://schemas.openxmlformats.org/officeDocument/2006/relationships/image" Target="../media/image22.png"/><Relationship Id="rId25" Type="http://schemas.openxmlformats.org/officeDocument/2006/relationships/hyperlink" Target="https://github.com/Miriannydlcv/Ejercicios-SQL-Varios/tree/main/customer_spending_kpis_analysis" TargetMode="Externa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57.png"/><Relationship Id="rId24" Type="http://schemas.openxmlformats.org/officeDocument/2006/relationships/image" Target="../media/image82.png"/><Relationship Id="rId5" Type="http://schemas.openxmlformats.org/officeDocument/2006/relationships/image" Target="../media/image59.png"/><Relationship Id="rId15" Type="http://schemas.openxmlformats.org/officeDocument/2006/relationships/image" Target="../media/image20.png"/><Relationship Id="rId23" Type="http://schemas.openxmlformats.org/officeDocument/2006/relationships/image" Target="../media/image81.png"/><Relationship Id="rId10" Type="http://schemas.openxmlformats.org/officeDocument/2006/relationships/image" Target="../media/image62.png"/><Relationship Id="rId19" Type="http://schemas.openxmlformats.org/officeDocument/2006/relationships/image" Target="../media/image24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21.png"/><Relationship Id="rId22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89.png"/><Relationship Id="rId18" Type="http://schemas.openxmlformats.org/officeDocument/2006/relationships/chart" Target="../charts/chart1.xml"/><Relationship Id="rId3" Type="http://schemas.openxmlformats.org/officeDocument/2006/relationships/tags" Target="../tags/tag4.xml"/><Relationship Id="rId21" Type="http://schemas.openxmlformats.org/officeDocument/2006/relationships/hyperlink" Target="https://github.com/Miriannydlcv/Ejercicios-SQL-Varios/tree/main/customer_spending_kpis_analysis" TargetMode="External"/><Relationship Id="rId7" Type="http://schemas.openxmlformats.org/officeDocument/2006/relationships/image" Target="../media/image84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tags" Target="../tags/tag3.xml"/><Relationship Id="rId16" Type="http://schemas.openxmlformats.org/officeDocument/2006/relationships/image" Target="../media/image92.png"/><Relationship Id="rId20" Type="http://schemas.openxmlformats.org/officeDocument/2006/relationships/chart" Target="../charts/chart3.xml"/><Relationship Id="rId1" Type="http://schemas.openxmlformats.org/officeDocument/2006/relationships/tags" Target="../tags/tag2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notesSlide" Target="../notesSlides/notesSlide4.xml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19" Type="http://schemas.openxmlformats.org/officeDocument/2006/relationships/chart" Target="../charts/chart2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5.png"/><Relationship Id="rId14" Type="http://schemas.openxmlformats.org/officeDocument/2006/relationships/image" Target="../media/image90.png"/><Relationship Id="rId22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99.png"/><Relationship Id="rId26" Type="http://schemas.openxmlformats.org/officeDocument/2006/relationships/image" Target="../media/image92.png"/><Relationship Id="rId39" Type="http://schemas.openxmlformats.org/officeDocument/2006/relationships/image" Target="../media/image9.png"/><Relationship Id="rId21" Type="http://schemas.openxmlformats.org/officeDocument/2006/relationships/image" Target="../media/image102.png"/><Relationship Id="rId34" Type="http://schemas.openxmlformats.org/officeDocument/2006/relationships/image" Target="../media/image58.png"/><Relationship Id="rId7" Type="http://schemas.openxmlformats.org/officeDocument/2006/relationships/image" Target="../media/image94.png"/><Relationship Id="rId12" Type="http://schemas.openxmlformats.org/officeDocument/2006/relationships/image" Target="../media/image95.png"/><Relationship Id="rId17" Type="http://schemas.openxmlformats.org/officeDocument/2006/relationships/chart" Target="../charts/chart5.xml"/><Relationship Id="rId25" Type="http://schemas.openxmlformats.org/officeDocument/2006/relationships/image" Target="../media/image106.png"/><Relationship Id="rId33" Type="http://schemas.openxmlformats.org/officeDocument/2006/relationships/image" Target="../media/image112.png"/><Relationship Id="rId38" Type="http://schemas.openxmlformats.org/officeDocument/2006/relationships/hyperlink" Target="https://github.com/Miriannydlcv/Ejercicios-SQL-Varios/tree/main/customer_spending_kpis_analysis" TargetMode="External"/><Relationship Id="rId2" Type="http://schemas.openxmlformats.org/officeDocument/2006/relationships/tags" Target="../tags/tag6.xml"/><Relationship Id="rId16" Type="http://schemas.openxmlformats.org/officeDocument/2006/relationships/image" Target="../media/image93.png"/><Relationship Id="rId20" Type="http://schemas.openxmlformats.org/officeDocument/2006/relationships/image" Target="../media/image101.png"/><Relationship Id="rId29" Type="http://schemas.openxmlformats.org/officeDocument/2006/relationships/image" Target="../media/image109.png"/><Relationship Id="rId1" Type="http://schemas.openxmlformats.org/officeDocument/2006/relationships/tags" Target="../tags/tag5.xml"/><Relationship Id="rId6" Type="http://schemas.openxmlformats.org/officeDocument/2006/relationships/image" Target="../media/image83.png"/><Relationship Id="rId11" Type="http://schemas.openxmlformats.org/officeDocument/2006/relationships/image" Target="../media/image72.png"/><Relationship Id="rId24" Type="http://schemas.openxmlformats.org/officeDocument/2006/relationships/image" Target="../media/image105.png"/><Relationship Id="rId32" Type="http://schemas.openxmlformats.org/officeDocument/2006/relationships/chart" Target="../charts/chart6.xml"/><Relationship Id="rId37" Type="http://schemas.openxmlformats.org/officeDocument/2006/relationships/image" Target="../media/image115.png"/><Relationship Id="rId5" Type="http://schemas.openxmlformats.org/officeDocument/2006/relationships/notesSlide" Target="../notesSlides/notesSlide5.xml"/><Relationship Id="rId15" Type="http://schemas.openxmlformats.org/officeDocument/2006/relationships/image" Target="../media/image98.png"/><Relationship Id="rId23" Type="http://schemas.openxmlformats.org/officeDocument/2006/relationships/image" Target="../media/image104.png"/><Relationship Id="rId28" Type="http://schemas.openxmlformats.org/officeDocument/2006/relationships/image" Target="../media/image108.png"/><Relationship Id="rId36" Type="http://schemas.openxmlformats.org/officeDocument/2006/relationships/image" Target="../media/image114.png"/><Relationship Id="rId10" Type="http://schemas.openxmlformats.org/officeDocument/2006/relationships/image" Target="../media/image84.png"/><Relationship Id="rId19" Type="http://schemas.openxmlformats.org/officeDocument/2006/relationships/image" Target="../media/image100.png"/><Relationship Id="rId31" Type="http://schemas.openxmlformats.org/officeDocument/2006/relationships/image" Target="../media/image111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5.png"/><Relationship Id="rId14" Type="http://schemas.openxmlformats.org/officeDocument/2006/relationships/image" Target="../media/image97.png"/><Relationship Id="rId22" Type="http://schemas.openxmlformats.org/officeDocument/2006/relationships/image" Target="../media/image103.png"/><Relationship Id="rId27" Type="http://schemas.openxmlformats.org/officeDocument/2006/relationships/image" Target="../media/image107.png"/><Relationship Id="rId30" Type="http://schemas.openxmlformats.org/officeDocument/2006/relationships/image" Target="../media/image110.png"/><Relationship Id="rId35" Type="http://schemas.openxmlformats.org/officeDocument/2006/relationships/image" Target="../media/image113.png"/><Relationship Id="rId8" Type="http://schemas.openxmlformats.org/officeDocument/2006/relationships/chart" Target="../charts/chart4.xml"/><Relationship Id="rId3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58.png"/><Relationship Id="rId26" Type="http://schemas.openxmlformats.org/officeDocument/2006/relationships/image" Target="../media/image51.svg"/><Relationship Id="rId39" Type="http://schemas.openxmlformats.org/officeDocument/2006/relationships/image" Target="../media/image136.png"/><Relationship Id="rId21" Type="http://schemas.openxmlformats.org/officeDocument/2006/relationships/image" Target="../media/image61.png"/><Relationship Id="rId34" Type="http://schemas.openxmlformats.org/officeDocument/2006/relationships/image" Target="../media/image131.png"/><Relationship Id="rId42" Type="http://schemas.openxmlformats.org/officeDocument/2006/relationships/image" Target="../media/image9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6.png"/><Relationship Id="rId20" Type="http://schemas.openxmlformats.org/officeDocument/2006/relationships/image" Target="../media/image62.png"/><Relationship Id="rId29" Type="http://schemas.openxmlformats.org/officeDocument/2006/relationships/image" Target="../media/image126.png"/><Relationship Id="rId41" Type="http://schemas.openxmlformats.org/officeDocument/2006/relationships/hyperlink" Target="https://github.com/Miriannydlcv/Ejercicios-SQL-Varios/tree/main/customer_spending_kpis_analysi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121.png"/><Relationship Id="rId24" Type="http://schemas.microsoft.com/office/2007/relationships/hdphoto" Target="../media/hdphoto4.wdp"/><Relationship Id="rId32" Type="http://schemas.openxmlformats.org/officeDocument/2006/relationships/image" Target="../media/image129.png"/><Relationship Id="rId37" Type="http://schemas.openxmlformats.org/officeDocument/2006/relationships/image" Target="../media/image134.png"/><Relationship Id="rId40" Type="http://schemas.openxmlformats.org/officeDocument/2006/relationships/image" Target="../media/image137.png"/><Relationship Id="rId5" Type="http://schemas.openxmlformats.org/officeDocument/2006/relationships/image" Target="../media/image118.png"/><Relationship Id="rId15" Type="http://schemas.openxmlformats.org/officeDocument/2006/relationships/image" Target="../media/image55.png"/><Relationship Id="rId23" Type="http://schemas.openxmlformats.org/officeDocument/2006/relationships/image" Target="../media/image122.png"/><Relationship Id="rId28" Type="http://schemas.openxmlformats.org/officeDocument/2006/relationships/image" Target="../media/image125.png"/><Relationship Id="rId36" Type="http://schemas.openxmlformats.org/officeDocument/2006/relationships/image" Target="../media/image133.png"/><Relationship Id="rId10" Type="http://schemas.openxmlformats.org/officeDocument/2006/relationships/image" Target="../media/image60.png"/><Relationship Id="rId19" Type="http://schemas.openxmlformats.org/officeDocument/2006/relationships/image" Target="../media/image114.png"/><Relationship Id="rId31" Type="http://schemas.openxmlformats.org/officeDocument/2006/relationships/image" Target="../media/image128.png"/><Relationship Id="rId4" Type="http://schemas.openxmlformats.org/officeDocument/2006/relationships/image" Target="../media/image117.png"/><Relationship Id="rId9" Type="http://schemas.openxmlformats.org/officeDocument/2006/relationships/image" Target="../media/image120.png"/><Relationship Id="rId14" Type="http://schemas.openxmlformats.org/officeDocument/2006/relationships/image" Target="../media/image54.png"/><Relationship Id="rId22" Type="http://schemas.openxmlformats.org/officeDocument/2006/relationships/image" Target="../media/image63.png"/><Relationship Id="rId27" Type="http://schemas.openxmlformats.org/officeDocument/2006/relationships/image" Target="../media/image124.png"/><Relationship Id="rId30" Type="http://schemas.openxmlformats.org/officeDocument/2006/relationships/image" Target="../media/image127.png"/><Relationship Id="rId35" Type="http://schemas.openxmlformats.org/officeDocument/2006/relationships/image" Target="../media/image132.png"/><Relationship Id="rId8" Type="http://schemas.openxmlformats.org/officeDocument/2006/relationships/image" Target="../media/image119.png"/><Relationship Id="rId3" Type="http://schemas.openxmlformats.org/officeDocument/2006/relationships/image" Target="../media/image116.png"/><Relationship Id="rId12" Type="http://schemas.microsoft.com/office/2007/relationships/hdphoto" Target="../media/hdphoto3.wdp"/><Relationship Id="rId17" Type="http://schemas.openxmlformats.org/officeDocument/2006/relationships/image" Target="../media/image57.png"/><Relationship Id="rId25" Type="http://schemas.openxmlformats.org/officeDocument/2006/relationships/image" Target="../media/image123.png"/><Relationship Id="rId33" Type="http://schemas.openxmlformats.org/officeDocument/2006/relationships/image" Target="../media/image130.png"/><Relationship Id="rId38" Type="http://schemas.openxmlformats.org/officeDocument/2006/relationships/image" Target="../media/image1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riannydlcv/Ejercicios-SQL-Varios/tree/main/customer_spending_kpis_analysi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A5C96-84BB-E011-6840-A992A7CF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2E325-B0D4-8C7A-45D5-32BB6A1EB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620D4D-BC89-A15B-90E3-AF92927FB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33"/>
          <a:stretch>
            <a:fillRect/>
          </a:stretch>
        </p:blipFill>
        <p:spPr>
          <a:xfrm>
            <a:off x="8610600" y="0"/>
            <a:ext cx="9675114" cy="10287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1FE47E2-B4A4-2CB2-30C8-A2C78DD08CE4}"/>
              </a:ext>
            </a:extLst>
          </p:cNvPr>
          <p:cNvSpPr txBox="1"/>
          <p:nvPr/>
        </p:nvSpPr>
        <p:spPr>
          <a:xfrm>
            <a:off x="643054" y="9563100"/>
            <a:ext cx="12222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DO" sz="140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Mirianny De La Cruz Ventura | Mayo 2026</a:t>
            </a:r>
            <a:endParaRPr lang="es-DO" sz="1400" i="1" dirty="0">
              <a:solidFill>
                <a:schemeClr val="tx2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1DEC25D-9A86-3150-FBBD-B729FE63606F}"/>
              </a:ext>
            </a:extLst>
          </p:cNvPr>
          <p:cNvGrpSpPr/>
          <p:nvPr/>
        </p:nvGrpSpPr>
        <p:grpSpPr>
          <a:xfrm>
            <a:off x="1186994" y="5829300"/>
            <a:ext cx="6238898" cy="710797"/>
            <a:chOff x="853724" y="4409271"/>
            <a:chExt cx="6238898" cy="710797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FFDFAEF0-EA0A-0121-AA85-3D5FA6C26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654" y="4409271"/>
              <a:ext cx="676656" cy="676656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94C12AB3-6C95-10D2-5ED6-E118AF1AB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724" y="4414714"/>
              <a:ext cx="676656" cy="676656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446E92D0-6316-CC1F-7642-26CDD4DB0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966" y="4409271"/>
              <a:ext cx="676656" cy="676656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60AB3CF8-083E-BF8F-0472-CBA30766B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5119" y="4443032"/>
              <a:ext cx="677036" cy="677036"/>
            </a:xfrm>
            <a:prstGeom prst="rect">
              <a:avLst/>
            </a:prstGeom>
          </p:spPr>
        </p:pic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C72BF621-C3E2-675B-B2D8-7778B456F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4189" y="4409271"/>
              <a:ext cx="676656" cy="676656"/>
            </a:xfrm>
            <a:prstGeom prst="rect">
              <a:avLst/>
            </a:prstGeom>
          </p:spPr>
        </p:pic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FC3D311-4B36-4D74-C0EB-A9CD2CBAD86B}"/>
              </a:ext>
            </a:extLst>
          </p:cNvPr>
          <p:cNvGrpSpPr/>
          <p:nvPr/>
        </p:nvGrpSpPr>
        <p:grpSpPr>
          <a:xfrm>
            <a:off x="643054" y="2247900"/>
            <a:ext cx="7772400" cy="2308324"/>
            <a:chOff x="643054" y="2616353"/>
            <a:chExt cx="7772400" cy="2308324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6DED2D9F-EBA0-4060-C331-FC789E76AFC9}"/>
                </a:ext>
              </a:extLst>
            </p:cNvPr>
            <p:cNvGrpSpPr/>
            <p:nvPr/>
          </p:nvGrpSpPr>
          <p:grpSpPr>
            <a:xfrm>
              <a:off x="643054" y="2616353"/>
              <a:ext cx="7772400" cy="2308324"/>
              <a:chOff x="609600" y="1714500"/>
              <a:chExt cx="7772400" cy="2308324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4079E62-5648-4D35-8D81-DCA864C393B0}"/>
                  </a:ext>
                </a:extLst>
              </p:cNvPr>
              <p:cNvSpPr txBox="1"/>
              <p:nvPr/>
            </p:nvSpPr>
            <p:spPr>
              <a:xfrm>
                <a:off x="685800" y="1714500"/>
                <a:ext cx="76962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DO" sz="36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Dinámicas de consumo y oportunidades estratégicas</a:t>
                </a:r>
              </a:p>
              <a:p>
                <a:pPr>
                  <a:buNone/>
                </a:pPr>
                <a:endParaRPr lang="es-DO" sz="2400" i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  <a:p>
                <a:pPr>
                  <a:buNone/>
                </a:pPr>
                <a:endParaRPr lang="es-DO" sz="2400" i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  <a:p>
                <a:pPr>
                  <a:buNone/>
                </a:pPr>
                <a:r>
                  <a:rPr lang="es-DO" sz="240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Análisis de comportamiento por segmento y comercio</a:t>
                </a:r>
                <a:endParaRPr lang="es-DO" sz="2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cxnSp>
            <p:nvCxnSpPr>
              <p:cNvPr id="7" name="Conector recto 6">
                <a:extLst>
                  <a:ext uri="{FF2B5EF4-FFF2-40B4-BE49-F238E27FC236}">
                    <a16:creationId xmlns:a16="http://schemas.microsoft.com/office/drawing/2014/main" id="{01C33014-FB71-E1CE-B23E-08B3F6C69C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" y="1790700"/>
                <a:ext cx="0" cy="990600"/>
              </a:xfrm>
              <a:prstGeom prst="line">
                <a:avLst/>
              </a:prstGeom>
              <a:ln w="25400">
                <a:solidFill>
                  <a:srgbClr val="1C3F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82E3EB0C-2DE2-F88F-DA55-F3D568401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53200" y="2675517"/>
              <a:ext cx="1596825" cy="1596825"/>
            </a:xfrm>
            <a:prstGeom prst="rect">
              <a:avLst/>
            </a:prstGeom>
          </p:spPr>
        </p:pic>
      </p:grpSp>
      <p:pic>
        <p:nvPicPr>
          <p:cNvPr id="21" name="Imagen 20">
            <a:hlinkClick r:id="rId9" tooltip="Click para ver repositorio"/>
            <a:extLst>
              <a:ext uri="{FF2B5EF4-FFF2-40B4-BE49-F238E27FC236}">
                <a16:creationId xmlns:a16="http://schemas.microsoft.com/office/drawing/2014/main" id="{47B35827-511A-C613-D942-32DDEB6BECF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43751"/>
            <a:ext cx="756350" cy="7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4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D8151-C5C8-1E9E-A7F7-58FE7261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hlinkClick r:id="rId3" tooltip="Click para visitar perfil en gitgub"/>
            <a:extLst>
              <a:ext uri="{FF2B5EF4-FFF2-40B4-BE49-F238E27FC236}">
                <a16:creationId xmlns:a16="http://schemas.microsoft.com/office/drawing/2014/main" id="{6AFAEA9F-A519-CD6F-2F7B-03EE32E51E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1622" y="1"/>
            <a:ext cx="1096379" cy="952500"/>
          </a:xfrm>
          <a:prstGeom prst="rect">
            <a:avLst/>
          </a:prstGeom>
        </p:spPr>
      </p:pic>
      <p:grpSp>
        <p:nvGrpSpPr>
          <p:cNvPr id="169" name="Grupo 168">
            <a:extLst>
              <a:ext uri="{FF2B5EF4-FFF2-40B4-BE49-F238E27FC236}">
                <a16:creationId xmlns:a16="http://schemas.microsoft.com/office/drawing/2014/main" id="{B5FA5DF8-0A8F-7FC7-D271-01CD31876E6F}"/>
              </a:ext>
            </a:extLst>
          </p:cNvPr>
          <p:cNvGrpSpPr/>
          <p:nvPr/>
        </p:nvGrpSpPr>
        <p:grpSpPr>
          <a:xfrm>
            <a:off x="426720" y="260807"/>
            <a:ext cx="12222480" cy="767893"/>
            <a:chOff x="382989" y="260807"/>
            <a:chExt cx="12222480" cy="767893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4B9AD965-6922-14D2-DBC7-C7B9D8AA3DFE}"/>
                </a:ext>
              </a:extLst>
            </p:cNvPr>
            <p:cNvSpPr txBox="1"/>
            <p:nvPr/>
          </p:nvSpPr>
          <p:spPr>
            <a:xfrm>
              <a:off x="382989" y="260807"/>
              <a:ext cx="319490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DO" sz="22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RESUMEN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9DD03675-B4F8-81AC-3002-ADE410A41B6C}"/>
                </a:ext>
              </a:extLst>
            </p:cNvPr>
            <p:cNvSpPr txBox="1"/>
            <p:nvPr/>
          </p:nvSpPr>
          <p:spPr>
            <a:xfrm>
              <a:off x="382989" y="647700"/>
              <a:ext cx="12222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DO" sz="14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¿Cómo evoluciona el consumo, qué rol juega cada comercio y qué nichos impulsan el negocio?</a:t>
              </a:r>
              <a:endParaRPr lang="es-DO" sz="1400" i="1" dirty="0">
                <a:solidFill>
                  <a:schemeClr val="tx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cxnSp>
          <p:nvCxnSpPr>
            <p:cNvPr id="644" name="Conector recto 643">
              <a:extLst>
                <a:ext uri="{FF2B5EF4-FFF2-40B4-BE49-F238E27FC236}">
                  <a16:creationId xmlns:a16="http://schemas.microsoft.com/office/drawing/2014/main" id="{99D4F6D0-B955-591C-77F9-8FA9D475E87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40189" y="754380"/>
              <a:ext cx="0" cy="548640"/>
            </a:xfrm>
            <a:prstGeom prst="line">
              <a:avLst/>
            </a:prstGeom>
            <a:ln w="25400">
              <a:solidFill>
                <a:srgbClr val="1C3F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3" name="Grupo 1472">
            <a:extLst>
              <a:ext uri="{FF2B5EF4-FFF2-40B4-BE49-F238E27FC236}">
                <a16:creationId xmlns:a16="http://schemas.microsoft.com/office/drawing/2014/main" id="{CF7DA1AE-A285-1808-B1CE-6D6CEEE3F6C9}"/>
              </a:ext>
            </a:extLst>
          </p:cNvPr>
          <p:cNvGrpSpPr/>
          <p:nvPr/>
        </p:nvGrpSpPr>
        <p:grpSpPr>
          <a:xfrm>
            <a:off x="303878" y="4621746"/>
            <a:ext cx="3582322" cy="6770155"/>
            <a:chOff x="303878" y="4774146"/>
            <a:chExt cx="3582322" cy="6770155"/>
          </a:xfrm>
        </p:grpSpPr>
        <p:grpSp>
          <p:nvGrpSpPr>
            <p:cNvPr id="125" name="Grupo 124">
              <a:extLst>
                <a:ext uri="{FF2B5EF4-FFF2-40B4-BE49-F238E27FC236}">
                  <a16:creationId xmlns:a16="http://schemas.microsoft.com/office/drawing/2014/main" id="{DA9DDDCF-0534-192C-4832-9210148E5D6A}"/>
                </a:ext>
              </a:extLst>
            </p:cNvPr>
            <p:cNvGrpSpPr/>
            <p:nvPr/>
          </p:nvGrpSpPr>
          <p:grpSpPr>
            <a:xfrm>
              <a:off x="303878" y="4774146"/>
              <a:ext cx="3517356" cy="5068330"/>
              <a:chOff x="9227823" y="1345146"/>
              <a:chExt cx="3517356" cy="5068330"/>
            </a:xfrm>
          </p:grpSpPr>
          <p:sp>
            <p:nvSpPr>
              <p:cNvPr id="47" name="Rectángulo 46">
                <a:extLst>
                  <a:ext uri="{FF2B5EF4-FFF2-40B4-BE49-F238E27FC236}">
                    <a16:creationId xmlns:a16="http://schemas.microsoft.com/office/drawing/2014/main" id="{4952CC0E-FA41-1FC1-FD4A-D3F843AB62B4}"/>
                  </a:ext>
                </a:extLst>
              </p:cNvPr>
              <p:cNvSpPr/>
              <p:nvPr/>
            </p:nvSpPr>
            <p:spPr>
              <a:xfrm>
                <a:off x="9233883" y="1384276"/>
                <a:ext cx="3511296" cy="5029200"/>
              </a:xfrm>
              <a:prstGeom prst="rect">
                <a:avLst/>
              </a:prstGeom>
              <a:solidFill>
                <a:srgbClr val="FBF9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60" name="Freeform 16">
                <a:extLst>
                  <a:ext uri="{FF2B5EF4-FFF2-40B4-BE49-F238E27FC236}">
                    <a16:creationId xmlns:a16="http://schemas.microsoft.com/office/drawing/2014/main" id="{4290D792-BBCA-914D-84CD-CDEA5CF5980E}"/>
                  </a:ext>
                </a:extLst>
              </p:cNvPr>
              <p:cNvSpPr/>
              <p:nvPr/>
            </p:nvSpPr>
            <p:spPr>
              <a:xfrm>
                <a:off x="9227823" y="1345146"/>
                <a:ext cx="3493008" cy="360277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s-DO" sz="1400" b="1" dirty="0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1. Migración del consumo a otros rubros</a:t>
                </a:r>
              </a:p>
            </p:txBody>
          </p:sp>
        </p:grpSp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ABB95A48-A2C2-CD8A-B7DF-8D5E6B25869E}"/>
                </a:ext>
              </a:extLst>
            </p:cNvPr>
            <p:cNvGrpSpPr/>
            <p:nvPr/>
          </p:nvGrpSpPr>
          <p:grpSpPr>
            <a:xfrm>
              <a:off x="338534" y="7909019"/>
              <a:ext cx="3471466" cy="3635282"/>
              <a:chOff x="97176" y="4400871"/>
              <a:chExt cx="5618688" cy="5250282"/>
            </a:xfrm>
          </p:grpSpPr>
          <p:grpSp>
            <p:nvGrpSpPr>
              <p:cNvPr id="76" name="Grupo 75">
                <a:extLst>
                  <a:ext uri="{FF2B5EF4-FFF2-40B4-BE49-F238E27FC236}">
                    <a16:creationId xmlns:a16="http://schemas.microsoft.com/office/drawing/2014/main" id="{BF498920-F0BE-BB84-4623-FF0FD5E603C0}"/>
                  </a:ext>
                </a:extLst>
              </p:cNvPr>
              <p:cNvGrpSpPr/>
              <p:nvPr/>
            </p:nvGrpSpPr>
            <p:grpSpPr>
              <a:xfrm>
                <a:off x="97176" y="4400871"/>
                <a:ext cx="5618688" cy="5250282"/>
                <a:chOff x="97176" y="4400871"/>
                <a:chExt cx="5618688" cy="5250282"/>
              </a:xfrm>
            </p:grpSpPr>
            <p:sp>
              <p:nvSpPr>
                <p:cNvPr id="86" name="Círculo parcial 85">
                  <a:extLst>
                    <a:ext uri="{FF2B5EF4-FFF2-40B4-BE49-F238E27FC236}">
                      <a16:creationId xmlns:a16="http://schemas.microsoft.com/office/drawing/2014/main" id="{E85D866F-4235-71E9-FA9B-7963EE3399AC}"/>
                    </a:ext>
                  </a:extLst>
                </p:cNvPr>
                <p:cNvSpPr/>
                <p:nvPr/>
              </p:nvSpPr>
              <p:spPr>
                <a:xfrm rot="10800000">
                  <a:off x="97176" y="4400871"/>
                  <a:ext cx="5618688" cy="5250282"/>
                </a:xfrm>
                <a:prstGeom prst="pie">
                  <a:avLst>
                    <a:gd name="adj1" fmla="val 0"/>
                    <a:gd name="adj2" fmla="val 10750367"/>
                  </a:avLst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DO" dirty="0"/>
                </a:p>
              </p:txBody>
            </p:sp>
            <p:grpSp>
              <p:nvGrpSpPr>
                <p:cNvPr id="87" name="Grupo 86">
                  <a:extLst>
                    <a:ext uri="{FF2B5EF4-FFF2-40B4-BE49-F238E27FC236}">
                      <a16:creationId xmlns:a16="http://schemas.microsoft.com/office/drawing/2014/main" id="{60A06759-3353-3C29-297B-D7BF5BB1AAA0}"/>
                    </a:ext>
                  </a:extLst>
                </p:cNvPr>
                <p:cNvGrpSpPr/>
                <p:nvPr/>
              </p:nvGrpSpPr>
              <p:grpSpPr>
                <a:xfrm>
                  <a:off x="3026333" y="4588741"/>
                  <a:ext cx="1456208" cy="1012954"/>
                  <a:chOff x="2861912" y="4588741"/>
                  <a:chExt cx="1456208" cy="1012954"/>
                </a:xfrm>
              </p:grpSpPr>
              <p:pic>
                <p:nvPicPr>
                  <p:cNvPr id="91" name="Imagen 90">
                    <a:extLst>
                      <a:ext uri="{FF2B5EF4-FFF2-40B4-BE49-F238E27FC236}">
                        <a16:creationId xmlns:a16="http://schemas.microsoft.com/office/drawing/2014/main" id="{D53861DC-5260-83CC-CCF4-02C86260BC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37547" y="4588741"/>
                    <a:ext cx="739994" cy="739997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sp>
                <p:nvSpPr>
                  <p:cNvPr id="92" name="CuadroTexto 91">
                    <a:extLst>
                      <a:ext uri="{FF2B5EF4-FFF2-40B4-BE49-F238E27FC236}">
                        <a16:creationId xmlns:a16="http://schemas.microsoft.com/office/drawing/2014/main" id="{5EED6A00-61EB-520A-2229-5345DEA03361}"/>
                      </a:ext>
                    </a:extLst>
                  </p:cNvPr>
                  <p:cNvSpPr txBox="1"/>
                  <p:nvPr/>
                </p:nvSpPr>
                <p:spPr>
                  <a:xfrm>
                    <a:off x="2861912" y="5255481"/>
                    <a:ext cx="1456208" cy="34621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b="1" dirty="0">
                        <a:solidFill>
                          <a:schemeClr val="bg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Electronica</a:t>
                    </a:r>
                    <a:endParaRPr lang="es-DO" sz="1400" b="1" dirty="0">
                      <a:solidFill>
                        <a:schemeClr val="bg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  <p:grpSp>
              <p:nvGrpSpPr>
                <p:cNvPr id="88" name="Grupo 87">
                  <a:extLst>
                    <a:ext uri="{FF2B5EF4-FFF2-40B4-BE49-F238E27FC236}">
                      <a16:creationId xmlns:a16="http://schemas.microsoft.com/office/drawing/2014/main" id="{E22257AE-516C-7C26-977E-EF4FA32AE65A}"/>
                    </a:ext>
                  </a:extLst>
                </p:cNvPr>
                <p:cNvGrpSpPr/>
                <p:nvPr/>
              </p:nvGrpSpPr>
              <p:grpSpPr>
                <a:xfrm>
                  <a:off x="3891920" y="5523974"/>
                  <a:ext cx="1747449" cy="1195395"/>
                  <a:chOff x="3821906" y="5523974"/>
                  <a:chExt cx="1747449" cy="1195395"/>
                </a:xfrm>
              </p:grpSpPr>
              <p:pic>
                <p:nvPicPr>
                  <p:cNvPr id="89" name="Imagen 88">
                    <a:extLst>
                      <a:ext uri="{FF2B5EF4-FFF2-40B4-BE49-F238E27FC236}">
                        <a16:creationId xmlns:a16="http://schemas.microsoft.com/office/drawing/2014/main" id="{1D52BD84-3FF0-1FC8-70FE-C344EFBFDA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4279720" y="5523974"/>
                    <a:ext cx="739994" cy="739994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sp>
                <p:nvSpPr>
                  <p:cNvPr id="90" name="CuadroTexto 89">
                    <a:extLst>
                      <a:ext uri="{FF2B5EF4-FFF2-40B4-BE49-F238E27FC236}">
                        <a16:creationId xmlns:a16="http://schemas.microsoft.com/office/drawing/2014/main" id="{19A7DC50-1767-9984-5874-66561D2EBDEA}"/>
                      </a:ext>
                    </a:extLst>
                  </p:cNvPr>
                  <p:cNvSpPr txBox="1"/>
                  <p:nvPr/>
                </p:nvSpPr>
                <p:spPr>
                  <a:xfrm>
                    <a:off x="3821906" y="6281810"/>
                    <a:ext cx="1747449" cy="4375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b="1" dirty="0" err="1">
                        <a:solidFill>
                          <a:schemeClr val="bg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Restaurantes</a:t>
                    </a:r>
                    <a:endParaRPr lang="es-DO" sz="1200" b="1" dirty="0">
                      <a:solidFill>
                        <a:schemeClr val="bg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sp>
            <p:nvSpPr>
              <p:cNvPr id="77" name="Círculo parcial 76">
                <a:extLst>
                  <a:ext uri="{FF2B5EF4-FFF2-40B4-BE49-F238E27FC236}">
                    <a16:creationId xmlns:a16="http://schemas.microsoft.com/office/drawing/2014/main" id="{31C9F91A-2939-9860-D958-D7424DCE1A90}"/>
                  </a:ext>
                </a:extLst>
              </p:cNvPr>
              <p:cNvSpPr/>
              <p:nvPr/>
            </p:nvSpPr>
            <p:spPr>
              <a:xfrm rot="10800000">
                <a:off x="97678" y="5222899"/>
                <a:ext cx="3650077" cy="3654398"/>
              </a:xfrm>
              <a:prstGeom prst="pie">
                <a:avLst>
                  <a:gd name="adj1" fmla="val 0"/>
                  <a:gd name="adj2" fmla="val 10750367"/>
                </a:avLst>
              </a:prstGeom>
              <a:solidFill>
                <a:schemeClr val="tx2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  <p:grpSp>
            <p:nvGrpSpPr>
              <p:cNvPr id="78" name="Grupo 77">
                <a:extLst>
                  <a:ext uri="{FF2B5EF4-FFF2-40B4-BE49-F238E27FC236}">
                    <a16:creationId xmlns:a16="http://schemas.microsoft.com/office/drawing/2014/main" id="{665946B8-010F-C39D-FCDB-178392A74BBF}"/>
                  </a:ext>
                </a:extLst>
              </p:cNvPr>
              <p:cNvGrpSpPr/>
              <p:nvPr/>
            </p:nvGrpSpPr>
            <p:grpSpPr>
              <a:xfrm>
                <a:off x="294240" y="5858269"/>
                <a:ext cx="2530884" cy="2362201"/>
                <a:chOff x="294240" y="5858269"/>
                <a:chExt cx="2530884" cy="2362201"/>
              </a:xfrm>
            </p:grpSpPr>
            <p:sp>
              <p:nvSpPr>
                <p:cNvPr id="79" name="Círculo parcial 78">
                  <a:extLst>
                    <a:ext uri="{FF2B5EF4-FFF2-40B4-BE49-F238E27FC236}">
                      <a16:creationId xmlns:a16="http://schemas.microsoft.com/office/drawing/2014/main" id="{9AFBE16F-56D5-CCA7-0A05-DAB4C7A917F8}"/>
                    </a:ext>
                  </a:extLst>
                </p:cNvPr>
                <p:cNvSpPr/>
                <p:nvPr/>
              </p:nvSpPr>
              <p:spPr>
                <a:xfrm rot="10800000">
                  <a:off x="294240" y="5858269"/>
                  <a:ext cx="2372760" cy="2362201"/>
                </a:xfrm>
                <a:prstGeom prst="pie">
                  <a:avLst>
                    <a:gd name="adj1" fmla="val 0"/>
                    <a:gd name="adj2" fmla="val 10819332"/>
                  </a:avLst>
                </a:prstGeom>
                <a:solidFill>
                  <a:srgbClr val="BFC8D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DO" dirty="0"/>
                </a:p>
              </p:txBody>
            </p:sp>
            <p:grpSp>
              <p:nvGrpSpPr>
                <p:cNvPr id="80" name="Grupo 79">
                  <a:extLst>
                    <a:ext uri="{FF2B5EF4-FFF2-40B4-BE49-F238E27FC236}">
                      <a16:creationId xmlns:a16="http://schemas.microsoft.com/office/drawing/2014/main" id="{2728C2AA-7B75-FD47-6EC3-D1F20B36B21F}"/>
                    </a:ext>
                  </a:extLst>
                </p:cNvPr>
                <p:cNvGrpSpPr/>
                <p:nvPr/>
              </p:nvGrpSpPr>
              <p:grpSpPr>
                <a:xfrm>
                  <a:off x="519462" y="5970505"/>
                  <a:ext cx="2305662" cy="1149441"/>
                  <a:chOff x="519462" y="5970505"/>
                  <a:chExt cx="2305662" cy="1149441"/>
                </a:xfrm>
              </p:grpSpPr>
              <p:pic>
                <p:nvPicPr>
                  <p:cNvPr id="81" name="Imagen 80">
                    <a:extLst>
                      <a:ext uri="{FF2B5EF4-FFF2-40B4-BE49-F238E27FC236}">
                        <a16:creationId xmlns:a16="http://schemas.microsoft.com/office/drawing/2014/main" id="{218523FF-9EF2-EFDB-F17C-477501C043D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098883" y="5970505"/>
                    <a:ext cx="742257" cy="792377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sp>
                <p:nvSpPr>
                  <p:cNvPr id="82" name="CuadroTexto 81">
                    <a:extLst>
                      <a:ext uri="{FF2B5EF4-FFF2-40B4-BE49-F238E27FC236}">
                        <a16:creationId xmlns:a16="http://schemas.microsoft.com/office/drawing/2014/main" id="{F8FD087D-059D-F1CC-C71F-F72EFE48F469}"/>
                      </a:ext>
                    </a:extLst>
                  </p:cNvPr>
                  <p:cNvSpPr txBox="1"/>
                  <p:nvPr/>
                </p:nvSpPr>
                <p:spPr>
                  <a:xfrm>
                    <a:off x="519462" y="6682387"/>
                    <a:ext cx="2305662" cy="4375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b="1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Supermercados</a:t>
                    </a:r>
                    <a:endParaRPr lang="es-DO" sz="120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</p:grpSp>
        <p:grpSp>
          <p:nvGrpSpPr>
            <p:cNvPr id="1212" name="Grupo 1211">
              <a:extLst>
                <a:ext uri="{FF2B5EF4-FFF2-40B4-BE49-F238E27FC236}">
                  <a16:creationId xmlns:a16="http://schemas.microsoft.com/office/drawing/2014/main" id="{06340C2B-DF93-3B80-4D5F-189CE174B6C7}"/>
                </a:ext>
              </a:extLst>
            </p:cNvPr>
            <p:cNvGrpSpPr/>
            <p:nvPr/>
          </p:nvGrpSpPr>
          <p:grpSpPr>
            <a:xfrm>
              <a:off x="439237" y="6255703"/>
              <a:ext cx="3446963" cy="1326197"/>
              <a:chOff x="439237" y="6286500"/>
              <a:chExt cx="3446963" cy="1326197"/>
            </a:xfrm>
          </p:grpSpPr>
          <p:grpSp>
            <p:nvGrpSpPr>
              <p:cNvPr id="1211" name="Grupo 1210">
                <a:extLst>
                  <a:ext uri="{FF2B5EF4-FFF2-40B4-BE49-F238E27FC236}">
                    <a16:creationId xmlns:a16="http://schemas.microsoft.com/office/drawing/2014/main" id="{F0A019D6-EF0A-6328-D5F1-2F2BE92472E6}"/>
                  </a:ext>
                </a:extLst>
              </p:cNvPr>
              <p:cNvGrpSpPr/>
              <p:nvPr/>
            </p:nvGrpSpPr>
            <p:grpSpPr>
              <a:xfrm>
                <a:off x="701434" y="6286500"/>
                <a:ext cx="3184766" cy="1326197"/>
                <a:chOff x="701434" y="6286500"/>
                <a:chExt cx="3184766" cy="1326197"/>
              </a:xfrm>
            </p:grpSpPr>
            <p:sp>
              <p:nvSpPr>
                <p:cNvPr id="96" name="CuadroTexto 95">
                  <a:extLst>
                    <a:ext uri="{FF2B5EF4-FFF2-40B4-BE49-F238E27FC236}">
                      <a16:creationId xmlns:a16="http://schemas.microsoft.com/office/drawing/2014/main" id="{1CD6002E-E73F-4DDF-36B0-FEFCA2615E97}"/>
                    </a:ext>
                  </a:extLst>
                </p:cNvPr>
                <p:cNvSpPr txBox="1"/>
                <p:nvPr/>
              </p:nvSpPr>
              <p:spPr>
                <a:xfrm>
                  <a:off x="701434" y="6286500"/>
                  <a:ext cx="3184766" cy="1326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3400"/>
                    </a:lnSpc>
                  </a:pPr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Restaurantes</a:t>
                  </a:r>
                  <a:r>
                    <a:rPr lang="en-US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           52% - 83%</a:t>
                  </a:r>
                </a:p>
                <a:p>
                  <a:pPr>
                    <a:lnSpc>
                      <a:spcPts val="3400"/>
                    </a:lnSpc>
                  </a:pPr>
                  <a:r>
                    <a:rPr lang="en-US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Electronica               93% - 141% </a:t>
                  </a:r>
                </a:p>
                <a:p>
                  <a:pPr>
                    <a:lnSpc>
                      <a:spcPts val="3400"/>
                    </a:lnSpc>
                  </a:pPr>
                  <a:r>
                    <a:rPr lang="en-US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Supermercados       </a:t>
                  </a:r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Estable</a:t>
                  </a:r>
                  <a:r>
                    <a:rPr lang="en-US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/     </a:t>
                  </a:r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participación</a:t>
                  </a:r>
                  <a:endPara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101" name="Imagen 100">
                  <a:extLst>
                    <a:ext uri="{FF2B5EF4-FFF2-40B4-BE49-F238E27FC236}">
                      <a16:creationId xmlns:a16="http://schemas.microsoft.com/office/drawing/2014/main" id="{47B5C354-DC11-1B45-F5C2-03D5397DDB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BEBA8EAE-BF5A-486C-A8C5-ECC9F3942E4B}">
                      <a14:imgProps xmlns:a14="http://schemas.microsoft.com/office/drawing/2010/main">
                        <a14:imgLayer r:embed="rId9"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828800" y="7373616"/>
                  <a:ext cx="208284" cy="208284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102" name="Imagen 101">
                  <a:extLst>
                    <a:ext uri="{FF2B5EF4-FFF2-40B4-BE49-F238E27FC236}">
                      <a16:creationId xmlns:a16="http://schemas.microsoft.com/office/drawing/2014/main" id="{E2263C3B-0FFC-4DF6-2C06-608D21AA14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print"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2667000" y="7352957"/>
                  <a:ext cx="208284" cy="208284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106" name="Imagen 105">
                  <a:extLst>
                    <a:ext uri="{FF2B5EF4-FFF2-40B4-BE49-F238E27FC236}">
                      <a16:creationId xmlns:a16="http://schemas.microsoft.com/office/drawing/2014/main" id="{39D8A003-2D81-C2D4-F022-FD2771F083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816608" y="6960108"/>
                  <a:ext cx="164592" cy="164592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107" name="Imagen 106">
                  <a:extLst>
                    <a:ext uri="{FF2B5EF4-FFF2-40B4-BE49-F238E27FC236}">
                      <a16:creationId xmlns:a16="http://schemas.microsoft.com/office/drawing/2014/main" id="{D02F49FE-A5E4-AEA5-7871-EA41DCFAB2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816608" y="6502908"/>
                  <a:ext cx="164592" cy="164592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pic>
            <p:nvPicPr>
              <p:cNvPr id="121" name="Imagen 120">
                <a:extLst>
                  <a:ext uri="{FF2B5EF4-FFF2-40B4-BE49-F238E27FC236}">
                    <a16:creationId xmlns:a16="http://schemas.microsoft.com/office/drawing/2014/main" id="{CD719DEF-4A10-C4A5-C440-591A9F1021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9237" y="6411742"/>
                <a:ext cx="301818" cy="296334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22" name="Imagen 121">
                <a:extLst>
                  <a:ext uri="{FF2B5EF4-FFF2-40B4-BE49-F238E27FC236}">
                    <a16:creationId xmlns:a16="http://schemas.microsoft.com/office/drawing/2014/main" id="{1D3B1CC7-5476-D795-2518-C4127E025C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48783" y="7295750"/>
                <a:ext cx="282727" cy="296334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23" name="Imagen 122">
                <a:extLst>
                  <a:ext uri="{FF2B5EF4-FFF2-40B4-BE49-F238E27FC236}">
                    <a16:creationId xmlns:a16="http://schemas.microsoft.com/office/drawing/2014/main" id="{F5EF3DE4-D0BC-AA0A-0F48-A65BB8029C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4839" y="6864834"/>
                <a:ext cx="290614" cy="285333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126" name="CuadroTexto 125">
              <a:extLst>
                <a:ext uri="{FF2B5EF4-FFF2-40B4-BE49-F238E27FC236}">
                  <a16:creationId xmlns:a16="http://schemas.microsoft.com/office/drawing/2014/main" id="{552280B5-3809-E0A1-3139-E1918328494E}"/>
                </a:ext>
              </a:extLst>
            </p:cNvPr>
            <p:cNvSpPr txBox="1"/>
            <p:nvPr/>
          </p:nvSpPr>
          <p:spPr>
            <a:xfrm>
              <a:off x="369011" y="5372100"/>
              <a:ext cx="33937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Restaurantes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y electronica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ganan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participación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y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transacciones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,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mientras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supermercados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pierde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fuerza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relativa</a:t>
              </a:r>
              <a:endParaRPr lang="es-DO" sz="1200" i="1" dirty="0"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  <p:grpSp>
        <p:nvGrpSpPr>
          <p:cNvPr id="1477" name="Grupo 1476">
            <a:extLst>
              <a:ext uri="{FF2B5EF4-FFF2-40B4-BE49-F238E27FC236}">
                <a16:creationId xmlns:a16="http://schemas.microsoft.com/office/drawing/2014/main" id="{33183ECD-F5E3-6AA1-FDF7-EDD44D8441FE}"/>
              </a:ext>
            </a:extLst>
          </p:cNvPr>
          <p:cNvGrpSpPr/>
          <p:nvPr/>
        </p:nvGrpSpPr>
        <p:grpSpPr>
          <a:xfrm>
            <a:off x="11055096" y="4616380"/>
            <a:ext cx="3575304" cy="5031774"/>
            <a:chOff x="11055096" y="4616380"/>
            <a:chExt cx="3575304" cy="5031774"/>
          </a:xfrm>
        </p:grpSpPr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B1103F20-7523-0E50-4A31-BA913439034B}"/>
                </a:ext>
              </a:extLst>
            </p:cNvPr>
            <p:cNvGrpSpPr/>
            <p:nvPr/>
          </p:nvGrpSpPr>
          <p:grpSpPr>
            <a:xfrm>
              <a:off x="11055096" y="4616380"/>
              <a:ext cx="3511296" cy="5031774"/>
              <a:chOff x="126246" y="5541455"/>
              <a:chExt cx="3511296" cy="5031774"/>
            </a:xfrm>
          </p:grpSpPr>
          <p:sp>
            <p:nvSpPr>
              <p:cNvPr id="1384" name="Rectángulo 1383">
                <a:extLst>
                  <a:ext uri="{FF2B5EF4-FFF2-40B4-BE49-F238E27FC236}">
                    <a16:creationId xmlns:a16="http://schemas.microsoft.com/office/drawing/2014/main" id="{E721454F-CEE4-B4D6-AA87-7AB6BD662826}"/>
                  </a:ext>
                </a:extLst>
              </p:cNvPr>
              <p:cNvSpPr/>
              <p:nvPr/>
            </p:nvSpPr>
            <p:spPr>
              <a:xfrm>
                <a:off x="126246" y="5544029"/>
                <a:ext cx="3511296" cy="5029200"/>
              </a:xfrm>
              <a:prstGeom prst="rect">
                <a:avLst/>
              </a:prstGeom>
              <a:solidFill>
                <a:srgbClr val="FBF9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385" name="Freeform 16">
                <a:extLst>
                  <a:ext uri="{FF2B5EF4-FFF2-40B4-BE49-F238E27FC236}">
                    <a16:creationId xmlns:a16="http://schemas.microsoft.com/office/drawing/2014/main" id="{0E100114-359F-DFB5-5F4E-470D6CE0F7FB}"/>
                  </a:ext>
                </a:extLst>
              </p:cNvPr>
              <p:cNvSpPr/>
              <p:nvPr/>
            </p:nvSpPr>
            <p:spPr>
              <a:xfrm>
                <a:off x="126246" y="5541455"/>
                <a:ext cx="3493008" cy="356616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1C3F60"/>
              </a:solidFill>
            </p:spPr>
            <p:txBody>
              <a:bodyPr lIns="0" rIns="0" anchor="ctr"/>
              <a:lstStyle/>
              <a:p>
                <a:pPr algn="ctr"/>
                <a:r>
                  <a:rPr lang="es-DO" sz="1400" b="1" dirty="0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4. Masivo principal motor del negocio</a:t>
                </a:r>
              </a:p>
            </p:txBody>
          </p:sp>
        </p:grpSp>
        <p:grpSp>
          <p:nvGrpSpPr>
            <p:cNvPr id="1475" name="Grupo 1474">
              <a:extLst>
                <a:ext uri="{FF2B5EF4-FFF2-40B4-BE49-F238E27FC236}">
                  <a16:creationId xmlns:a16="http://schemas.microsoft.com/office/drawing/2014/main" id="{33CF7A61-4795-560B-1204-6EA7683F57E8}"/>
                </a:ext>
              </a:extLst>
            </p:cNvPr>
            <p:cNvGrpSpPr/>
            <p:nvPr/>
          </p:nvGrpSpPr>
          <p:grpSpPr>
            <a:xfrm>
              <a:off x="11371582" y="7757466"/>
              <a:ext cx="3258818" cy="1640534"/>
              <a:chOff x="11371582" y="7757466"/>
              <a:chExt cx="3258818" cy="1640534"/>
            </a:xfrm>
          </p:grpSpPr>
          <p:grpSp>
            <p:nvGrpSpPr>
              <p:cNvPr id="1368" name="Grupo 1367">
                <a:extLst>
                  <a:ext uri="{FF2B5EF4-FFF2-40B4-BE49-F238E27FC236}">
                    <a16:creationId xmlns:a16="http://schemas.microsoft.com/office/drawing/2014/main" id="{6880EF9F-B8BF-5513-0965-186B2203D6BA}"/>
                  </a:ext>
                </a:extLst>
              </p:cNvPr>
              <p:cNvGrpSpPr/>
              <p:nvPr/>
            </p:nvGrpSpPr>
            <p:grpSpPr>
              <a:xfrm>
                <a:off x="11371582" y="8945463"/>
                <a:ext cx="3167902" cy="452537"/>
                <a:chOff x="5836460" y="8025454"/>
                <a:chExt cx="3167902" cy="452537"/>
              </a:xfrm>
            </p:grpSpPr>
            <p:pic>
              <p:nvPicPr>
                <p:cNvPr id="1377" name="Imagen 1376">
                  <a:extLst>
                    <a:ext uri="{FF2B5EF4-FFF2-40B4-BE49-F238E27FC236}">
                      <a16:creationId xmlns:a16="http://schemas.microsoft.com/office/drawing/2014/main" id="{5D80B862-981E-2D6B-D50B-397FB3EF5E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5836460" y="8025454"/>
                  <a:ext cx="419808" cy="452537"/>
                </a:xfrm>
                <a:prstGeom prst="rect">
                  <a:avLst/>
                </a:prstGeom>
              </p:spPr>
            </p:pic>
            <p:sp>
              <p:nvSpPr>
                <p:cNvPr id="1382" name="CuadroTexto 1381">
                  <a:extLst>
                    <a:ext uri="{FF2B5EF4-FFF2-40B4-BE49-F238E27FC236}">
                      <a16:creationId xmlns:a16="http://schemas.microsoft.com/office/drawing/2014/main" id="{83964FF0-9E73-6BF2-2856-60CDAB728611}"/>
                    </a:ext>
                  </a:extLst>
                </p:cNvPr>
                <p:cNvSpPr txBox="1"/>
                <p:nvPr/>
              </p:nvSpPr>
              <p:spPr>
                <a:xfrm>
                  <a:off x="6625634" y="8106096"/>
                  <a:ext cx="2378728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15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de las transacciones totales (8,924)</a:t>
                  </a:r>
                </a:p>
              </p:txBody>
            </p:sp>
            <p:sp>
              <p:nvSpPr>
                <p:cNvPr id="1383" name="CuadroTexto 1382">
                  <a:extLst>
                    <a:ext uri="{FF2B5EF4-FFF2-40B4-BE49-F238E27FC236}">
                      <a16:creationId xmlns:a16="http://schemas.microsoft.com/office/drawing/2014/main" id="{FAABA1AA-BDDB-0B40-25DB-192FD213B9D1}"/>
                    </a:ext>
                  </a:extLst>
                </p:cNvPr>
                <p:cNvSpPr txBox="1"/>
                <p:nvPr/>
              </p:nvSpPr>
              <p:spPr>
                <a:xfrm>
                  <a:off x="6207639" y="8101676"/>
                  <a:ext cx="55128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45%</a:t>
                  </a:r>
                  <a:endParaRPr lang="es-DO" sz="1600" b="1" dirty="0"/>
                </a:p>
              </p:txBody>
            </p:sp>
          </p:grpSp>
          <p:grpSp>
            <p:nvGrpSpPr>
              <p:cNvPr id="1369" name="Grupo 1368">
                <a:extLst>
                  <a:ext uri="{FF2B5EF4-FFF2-40B4-BE49-F238E27FC236}">
                    <a16:creationId xmlns:a16="http://schemas.microsoft.com/office/drawing/2014/main" id="{D280AEB2-5878-1676-8202-3A12B539E864}"/>
                  </a:ext>
                </a:extLst>
              </p:cNvPr>
              <p:cNvGrpSpPr/>
              <p:nvPr/>
            </p:nvGrpSpPr>
            <p:grpSpPr>
              <a:xfrm>
                <a:off x="11371582" y="8339501"/>
                <a:ext cx="2764278" cy="457851"/>
                <a:chOff x="5836460" y="7432519"/>
                <a:chExt cx="2764278" cy="457851"/>
              </a:xfrm>
            </p:grpSpPr>
            <p:pic>
              <p:nvPicPr>
                <p:cNvPr id="1374" name="Imagen 1373">
                  <a:extLst>
                    <a:ext uri="{FF2B5EF4-FFF2-40B4-BE49-F238E27FC236}">
                      <a16:creationId xmlns:a16="http://schemas.microsoft.com/office/drawing/2014/main" id="{D41D79CC-6740-2AAA-4D6D-30C98AC9A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5836460" y="7432519"/>
                  <a:ext cx="419808" cy="452537"/>
                </a:xfrm>
                <a:prstGeom prst="rect">
                  <a:avLst/>
                </a:prstGeom>
              </p:spPr>
            </p:pic>
            <p:sp>
              <p:nvSpPr>
                <p:cNvPr id="1375" name="CuadroTexto 1374">
                  <a:extLst>
                    <a:ext uri="{FF2B5EF4-FFF2-40B4-BE49-F238E27FC236}">
                      <a16:creationId xmlns:a16="http://schemas.microsoft.com/office/drawing/2014/main" id="{32C7981B-56A9-D657-7892-CE5B59B42167}"/>
                    </a:ext>
                  </a:extLst>
                </p:cNvPr>
                <p:cNvSpPr txBox="1"/>
                <p:nvPr/>
              </p:nvSpPr>
              <p:spPr>
                <a:xfrm>
                  <a:off x="6625634" y="7537284"/>
                  <a:ext cx="1975104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15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de los clientes activos</a:t>
                  </a:r>
                </a:p>
              </p:txBody>
            </p:sp>
            <p:sp>
              <p:nvSpPr>
                <p:cNvPr id="1376" name="CuadroTexto 1375">
                  <a:extLst>
                    <a:ext uri="{FF2B5EF4-FFF2-40B4-BE49-F238E27FC236}">
                      <a16:creationId xmlns:a16="http://schemas.microsoft.com/office/drawing/2014/main" id="{9EE52FCA-A344-06A8-B0D3-8182E3883574}"/>
                    </a:ext>
                  </a:extLst>
                </p:cNvPr>
                <p:cNvSpPr txBox="1"/>
                <p:nvPr/>
              </p:nvSpPr>
              <p:spPr>
                <a:xfrm>
                  <a:off x="6208962" y="7551816"/>
                  <a:ext cx="54864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45%</a:t>
                  </a:r>
                  <a:endParaRPr lang="es-DO" sz="1600" b="1" dirty="0"/>
                </a:p>
              </p:txBody>
            </p:sp>
          </p:grpSp>
          <p:grpSp>
            <p:nvGrpSpPr>
              <p:cNvPr id="1370" name="Grupo 1369">
                <a:extLst>
                  <a:ext uri="{FF2B5EF4-FFF2-40B4-BE49-F238E27FC236}">
                    <a16:creationId xmlns:a16="http://schemas.microsoft.com/office/drawing/2014/main" id="{F46D406F-F33E-8749-5917-E97AB50E26B8}"/>
                  </a:ext>
                </a:extLst>
              </p:cNvPr>
              <p:cNvGrpSpPr/>
              <p:nvPr/>
            </p:nvGrpSpPr>
            <p:grpSpPr>
              <a:xfrm>
                <a:off x="11371582" y="7757466"/>
                <a:ext cx="3258818" cy="452537"/>
                <a:chOff x="5836460" y="6825703"/>
                <a:chExt cx="3258818" cy="452537"/>
              </a:xfrm>
            </p:grpSpPr>
            <p:pic>
              <p:nvPicPr>
                <p:cNvPr id="1371" name="Imagen 1370">
                  <a:extLst>
                    <a:ext uri="{FF2B5EF4-FFF2-40B4-BE49-F238E27FC236}">
                      <a16:creationId xmlns:a16="http://schemas.microsoft.com/office/drawing/2014/main" id="{E9D4A967-ED31-C8E6-89D0-74503F3B47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5836460" y="6825703"/>
                  <a:ext cx="419808" cy="452537"/>
                </a:xfrm>
                <a:prstGeom prst="rect">
                  <a:avLst/>
                </a:prstGeom>
              </p:spPr>
            </p:pic>
            <p:sp>
              <p:nvSpPr>
                <p:cNvPr id="1372" name="CuadroTexto 1371">
                  <a:extLst>
                    <a:ext uri="{FF2B5EF4-FFF2-40B4-BE49-F238E27FC236}">
                      <a16:creationId xmlns:a16="http://schemas.microsoft.com/office/drawing/2014/main" id="{49BCC5F5-4CCD-90D5-3D54-8FB68ACF072A}"/>
                    </a:ext>
                  </a:extLst>
                </p:cNvPr>
                <p:cNvSpPr txBox="1"/>
                <p:nvPr/>
              </p:nvSpPr>
              <p:spPr>
                <a:xfrm>
                  <a:off x="6625634" y="6935252"/>
                  <a:ext cx="2469644" cy="269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15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del monto total transado</a:t>
                  </a:r>
                </a:p>
              </p:txBody>
            </p:sp>
            <p:sp>
              <p:nvSpPr>
                <p:cNvPr id="1373" name="CuadroTexto 1372">
                  <a:extLst>
                    <a:ext uri="{FF2B5EF4-FFF2-40B4-BE49-F238E27FC236}">
                      <a16:creationId xmlns:a16="http://schemas.microsoft.com/office/drawing/2014/main" id="{C8B94F12-23EC-E85E-ACD5-C60BAE328CAB}"/>
                    </a:ext>
                  </a:extLst>
                </p:cNvPr>
                <p:cNvSpPr txBox="1"/>
                <p:nvPr/>
              </p:nvSpPr>
              <p:spPr>
                <a:xfrm>
                  <a:off x="6208962" y="6906133"/>
                  <a:ext cx="54864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45%</a:t>
                  </a:r>
                  <a:endParaRPr lang="es-DO" sz="1600" b="1" dirty="0"/>
                </a:p>
              </p:txBody>
            </p:sp>
          </p:grpSp>
        </p:grpSp>
        <p:grpSp>
          <p:nvGrpSpPr>
            <p:cNvPr id="1344" name="Grupo 1343">
              <a:extLst>
                <a:ext uri="{FF2B5EF4-FFF2-40B4-BE49-F238E27FC236}">
                  <a16:creationId xmlns:a16="http://schemas.microsoft.com/office/drawing/2014/main" id="{440DDEA9-CA23-1BC7-1A37-F8E6872FAB17}"/>
                </a:ext>
              </a:extLst>
            </p:cNvPr>
            <p:cNvGrpSpPr/>
            <p:nvPr/>
          </p:nvGrpSpPr>
          <p:grpSpPr>
            <a:xfrm>
              <a:off x="11664695" y="5981700"/>
              <a:ext cx="2383417" cy="1752600"/>
              <a:chOff x="2971800" y="6774987"/>
              <a:chExt cx="2637638" cy="2026113"/>
            </a:xfrm>
          </p:grpSpPr>
          <p:grpSp>
            <p:nvGrpSpPr>
              <p:cNvPr id="1346" name="Grupo 1345">
                <a:extLst>
                  <a:ext uri="{FF2B5EF4-FFF2-40B4-BE49-F238E27FC236}">
                    <a16:creationId xmlns:a16="http://schemas.microsoft.com/office/drawing/2014/main" id="{C54565BA-86A8-306E-82EF-73FDEAE953E2}"/>
                  </a:ext>
                </a:extLst>
              </p:cNvPr>
              <p:cNvGrpSpPr/>
              <p:nvPr/>
            </p:nvGrpSpPr>
            <p:grpSpPr>
              <a:xfrm>
                <a:off x="2971800" y="6774987"/>
                <a:ext cx="2637638" cy="2026113"/>
                <a:chOff x="3097180" y="6666962"/>
                <a:chExt cx="2637638" cy="2026113"/>
              </a:xfrm>
            </p:grpSpPr>
            <p:grpSp>
              <p:nvGrpSpPr>
                <p:cNvPr id="1350" name="Grupo 1349">
                  <a:extLst>
                    <a:ext uri="{FF2B5EF4-FFF2-40B4-BE49-F238E27FC236}">
                      <a16:creationId xmlns:a16="http://schemas.microsoft.com/office/drawing/2014/main" id="{111DDB08-B2CE-79FE-AD24-6FB683FD1E4C}"/>
                    </a:ext>
                  </a:extLst>
                </p:cNvPr>
                <p:cNvGrpSpPr/>
                <p:nvPr/>
              </p:nvGrpSpPr>
              <p:grpSpPr>
                <a:xfrm>
                  <a:off x="3468315" y="7303536"/>
                  <a:ext cx="727111" cy="766266"/>
                  <a:chOff x="3468315" y="7303536"/>
                  <a:chExt cx="727111" cy="766266"/>
                </a:xfrm>
              </p:grpSpPr>
              <p:sp>
                <p:nvSpPr>
                  <p:cNvPr id="1366" name="Hexágono 1365">
                    <a:extLst>
                      <a:ext uri="{FF2B5EF4-FFF2-40B4-BE49-F238E27FC236}">
                        <a16:creationId xmlns:a16="http://schemas.microsoft.com/office/drawing/2014/main" id="{3E5F2A1E-A9A0-ED47-1EBE-A9A660E38F4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448738" y="7323113"/>
                    <a:ext cx="766266" cy="727111"/>
                  </a:xfrm>
                  <a:prstGeom prst="hexagon">
                    <a:avLst/>
                  </a:prstGeom>
                  <a:solidFill>
                    <a:schemeClr val="bg2"/>
                  </a:solidFill>
                  <a:ln>
                    <a:solidFill>
                      <a:srgbClr val="F9FAFD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DO"/>
                  </a:p>
                </p:txBody>
              </p:sp>
              <p:pic>
                <p:nvPicPr>
                  <p:cNvPr id="1367" name="Imagen 1366">
                    <a:extLst>
                      <a:ext uri="{FF2B5EF4-FFF2-40B4-BE49-F238E27FC236}">
                        <a16:creationId xmlns:a16="http://schemas.microsoft.com/office/drawing/2014/main" id="{EF6AF5EA-A8B0-6DBE-D3D9-9923C84E877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3584547" y="7432749"/>
                    <a:ext cx="449405" cy="44940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1" name="Grupo 1350">
                  <a:extLst>
                    <a:ext uri="{FF2B5EF4-FFF2-40B4-BE49-F238E27FC236}">
                      <a16:creationId xmlns:a16="http://schemas.microsoft.com/office/drawing/2014/main" id="{E2D7B2F8-26F4-CF32-0E30-83DCA85790EF}"/>
                    </a:ext>
                  </a:extLst>
                </p:cNvPr>
                <p:cNvGrpSpPr/>
                <p:nvPr/>
              </p:nvGrpSpPr>
              <p:grpSpPr>
                <a:xfrm>
                  <a:off x="4614588" y="7926809"/>
                  <a:ext cx="727111" cy="766266"/>
                  <a:chOff x="4614588" y="7926809"/>
                  <a:chExt cx="727111" cy="766266"/>
                </a:xfrm>
              </p:grpSpPr>
              <p:sp>
                <p:nvSpPr>
                  <p:cNvPr id="1364" name="Hexágono 1363">
                    <a:extLst>
                      <a:ext uri="{FF2B5EF4-FFF2-40B4-BE49-F238E27FC236}">
                        <a16:creationId xmlns:a16="http://schemas.microsoft.com/office/drawing/2014/main" id="{384F4FE6-721C-4340-045E-06762B19DCC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595011" y="7946386"/>
                    <a:ext cx="766266" cy="727111"/>
                  </a:xfrm>
                  <a:prstGeom prst="hexagon">
                    <a:avLst/>
                  </a:prstGeom>
                  <a:solidFill>
                    <a:schemeClr val="bg2"/>
                  </a:solidFill>
                  <a:ln>
                    <a:solidFill>
                      <a:srgbClr val="F9FAFD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DO"/>
                  </a:p>
                </p:txBody>
              </p:sp>
              <p:pic>
                <p:nvPicPr>
                  <p:cNvPr id="1365" name="Imagen 1364">
                    <a:extLst>
                      <a:ext uri="{FF2B5EF4-FFF2-40B4-BE49-F238E27FC236}">
                        <a16:creationId xmlns:a16="http://schemas.microsoft.com/office/drawing/2014/main" id="{348CFC96-4DC0-29F4-80B6-C1D9BAC8CF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4753567" y="8100343"/>
                    <a:ext cx="446480" cy="44648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2" name="Grupo 1351">
                  <a:extLst>
                    <a:ext uri="{FF2B5EF4-FFF2-40B4-BE49-F238E27FC236}">
                      <a16:creationId xmlns:a16="http://schemas.microsoft.com/office/drawing/2014/main" id="{807F20C6-217D-9613-96EC-CC30C9B2793A}"/>
                    </a:ext>
                  </a:extLst>
                </p:cNvPr>
                <p:cNvGrpSpPr/>
                <p:nvPr/>
              </p:nvGrpSpPr>
              <p:grpSpPr>
                <a:xfrm>
                  <a:off x="4234222" y="7300973"/>
                  <a:ext cx="727111" cy="766266"/>
                  <a:chOff x="4234222" y="7300973"/>
                  <a:chExt cx="727111" cy="766266"/>
                </a:xfrm>
              </p:grpSpPr>
              <p:sp>
                <p:nvSpPr>
                  <p:cNvPr id="1362" name="Hexágono 1361">
                    <a:extLst>
                      <a:ext uri="{FF2B5EF4-FFF2-40B4-BE49-F238E27FC236}">
                        <a16:creationId xmlns:a16="http://schemas.microsoft.com/office/drawing/2014/main" id="{7C5C222C-8040-6CF2-9D5C-2B0BA91A249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214645" y="7320550"/>
                    <a:ext cx="766266" cy="727111"/>
                  </a:xfrm>
                  <a:prstGeom prst="hexagon">
                    <a:avLst/>
                  </a:prstGeom>
                  <a:solidFill>
                    <a:schemeClr val="bg2"/>
                  </a:solidFill>
                  <a:ln>
                    <a:solidFill>
                      <a:srgbClr val="F9FAFD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DO"/>
                  </a:p>
                </p:txBody>
              </p:sp>
              <p:pic>
                <p:nvPicPr>
                  <p:cNvPr id="1363" name="Imagen 1362">
                    <a:extLst>
                      <a:ext uri="{FF2B5EF4-FFF2-40B4-BE49-F238E27FC236}">
                        <a16:creationId xmlns:a16="http://schemas.microsoft.com/office/drawing/2014/main" id="{2F8B1EB9-FBE8-F9FA-E9AA-DF4657A33C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4361245" y="7465471"/>
                    <a:ext cx="480596" cy="48059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4" name="Grupo 1353">
                  <a:extLst>
                    <a:ext uri="{FF2B5EF4-FFF2-40B4-BE49-F238E27FC236}">
                      <a16:creationId xmlns:a16="http://schemas.microsoft.com/office/drawing/2014/main" id="{EE2499E4-F15B-B7BE-6B31-5E7CD8723C11}"/>
                    </a:ext>
                  </a:extLst>
                </p:cNvPr>
                <p:cNvGrpSpPr/>
                <p:nvPr/>
              </p:nvGrpSpPr>
              <p:grpSpPr>
                <a:xfrm>
                  <a:off x="5007707" y="7300973"/>
                  <a:ext cx="727111" cy="766266"/>
                  <a:chOff x="5007707" y="7300973"/>
                  <a:chExt cx="727111" cy="766266"/>
                </a:xfrm>
              </p:grpSpPr>
              <p:sp>
                <p:nvSpPr>
                  <p:cNvPr id="1360" name="Hexágono 1359">
                    <a:extLst>
                      <a:ext uri="{FF2B5EF4-FFF2-40B4-BE49-F238E27FC236}">
                        <a16:creationId xmlns:a16="http://schemas.microsoft.com/office/drawing/2014/main" id="{09519BDC-93EE-5B76-C4FF-8F70B085E71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988130" y="7320550"/>
                    <a:ext cx="766266" cy="727111"/>
                  </a:xfrm>
                  <a:prstGeom prst="hexagon">
                    <a:avLst/>
                  </a:prstGeom>
                  <a:solidFill>
                    <a:schemeClr val="bg2"/>
                  </a:solidFill>
                  <a:ln>
                    <a:solidFill>
                      <a:srgbClr val="F9FAFD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DO"/>
                  </a:p>
                </p:txBody>
              </p:sp>
              <p:pic>
                <p:nvPicPr>
                  <p:cNvPr id="1361" name="Imagen 1360">
                    <a:extLst>
                      <a:ext uri="{FF2B5EF4-FFF2-40B4-BE49-F238E27FC236}">
                        <a16:creationId xmlns:a16="http://schemas.microsoft.com/office/drawing/2014/main" id="{43129534-48B7-3905-3EF2-7D4879CFB2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5103826" y="7446663"/>
                    <a:ext cx="507749" cy="50774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5" name="Grupo 1354">
                  <a:extLst>
                    <a:ext uri="{FF2B5EF4-FFF2-40B4-BE49-F238E27FC236}">
                      <a16:creationId xmlns:a16="http://schemas.microsoft.com/office/drawing/2014/main" id="{4AF8C4A6-D08C-36A6-1529-C8EC0A275F9F}"/>
                    </a:ext>
                  </a:extLst>
                </p:cNvPr>
                <p:cNvGrpSpPr/>
                <p:nvPr/>
              </p:nvGrpSpPr>
              <p:grpSpPr>
                <a:xfrm>
                  <a:off x="3097180" y="6666962"/>
                  <a:ext cx="727111" cy="766266"/>
                  <a:chOff x="3097180" y="6666962"/>
                  <a:chExt cx="727111" cy="766266"/>
                </a:xfrm>
              </p:grpSpPr>
              <p:sp>
                <p:nvSpPr>
                  <p:cNvPr id="1358" name="Hexágono 1357">
                    <a:extLst>
                      <a:ext uri="{FF2B5EF4-FFF2-40B4-BE49-F238E27FC236}">
                        <a16:creationId xmlns:a16="http://schemas.microsoft.com/office/drawing/2014/main" id="{0D69757A-4017-9199-E2DF-8CF1603FC52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077603" y="6686539"/>
                    <a:ext cx="766266" cy="727111"/>
                  </a:xfrm>
                  <a:prstGeom prst="hexagon">
                    <a:avLst/>
                  </a:prstGeom>
                  <a:solidFill>
                    <a:schemeClr val="bg2"/>
                  </a:solidFill>
                  <a:ln>
                    <a:solidFill>
                      <a:srgbClr val="F9FAFD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DO"/>
                  </a:p>
                </p:txBody>
              </p:sp>
              <p:pic>
                <p:nvPicPr>
                  <p:cNvPr id="1359" name="Imagen 1358">
                    <a:extLst>
                      <a:ext uri="{FF2B5EF4-FFF2-40B4-BE49-F238E27FC236}">
                        <a16:creationId xmlns:a16="http://schemas.microsoft.com/office/drawing/2014/main" id="{B96D31D3-2F61-9D27-346D-9514118CBF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3243135" y="6864968"/>
                    <a:ext cx="402074" cy="402074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349" name="CuadroTexto 1348">
                <a:extLst>
                  <a:ext uri="{FF2B5EF4-FFF2-40B4-BE49-F238E27FC236}">
                    <a16:creationId xmlns:a16="http://schemas.microsoft.com/office/drawing/2014/main" id="{937E51B0-B6D6-3ED7-BBE0-BA788D6B8184}"/>
                  </a:ext>
                </a:extLst>
              </p:cNvPr>
              <p:cNvSpPr txBox="1"/>
              <p:nvPr/>
            </p:nvSpPr>
            <p:spPr>
              <a:xfrm>
                <a:off x="3574681" y="6805875"/>
                <a:ext cx="1371600" cy="510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 </a:t>
                </a:r>
                <a:r>
                  <a:rPr lang="en-US" dirty="0" err="1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Masivo</a:t>
                </a:r>
                <a:endParaRPr lang="es-DO" sz="2000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1345" name="CuadroTexto 1344">
              <a:extLst>
                <a:ext uri="{FF2B5EF4-FFF2-40B4-BE49-F238E27FC236}">
                  <a16:creationId xmlns:a16="http://schemas.microsoft.com/office/drawing/2014/main" id="{D1BBEA65-FFBC-08B9-DC70-7B7991E3648C}"/>
                </a:ext>
              </a:extLst>
            </p:cNvPr>
            <p:cNvSpPr txBox="1"/>
            <p:nvPr/>
          </p:nvSpPr>
          <p:spPr>
            <a:xfrm>
              <a:off x="11207496" y="5219700"/>
              <a:ext cx="3276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Cualquier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cambio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en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masivo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impacta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significativamente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el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resultado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global.</a:t>
              </a:r>
              <a:endParaRPr lang="es-DO" sz="1200" i="1" dirty="0"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5990449F-3EEA-F446-7D60-2B08AC41B1AC}"/>
              </a:ext>
            </a:extLst>
          </p:cNvPr>
          <p:cNvGrpSpPr/>
          <p:nvPr/>
        </p:nvGrpSpPr>
        <p:grpSpPr>
          <a:xfrm>
            <a:off x="244150" y="698911"/>
            <a:ext cx="17495661" cy="3869319"/>
            <a:chOff x="402750" y="470563"/>
            <a:chExt cx="17495661" cy="3869319"/>
          </a:xfrm>
        </p:grpSpPr>
        <p:grpSp>
          <p:nvGrpSpPr>
            <p:cNvPr id="178" name="Group 2">
              <a:extLst>
                <a:ext uri="{FF2B5EF4-FFF2-40B4-BE49-F238E27FC236}">
                  <a16:creationId xmlns:a16="http://schemas.microsoft.com/office/drawing/2014/main" id="{FB72F242-5876-1F99-DBF5-35B5489C943D}"/>
                </a:ext>
              </a:extLst>
            </p:cNvPr>
            <p:cNvGrpSpPr/>
            <p:nvPr/>
          </p:nvGrpSpPr>
          <p:grpSpPr>
            <a:xfrm>
              <a:off x="10125169" y="3298241"/>
              <a:ext cx="4692426" cy="626964"/>
              <a:chOff x="0" y="0"/>
              <a:chExt cx="818182" cy="267928"/>
            </a:xfrm>
            <a:solidFill>
              <a:srgbClr val="DFE1E6"/>
            </a:solidFill>
          </p:grpSpPr>
          <p:sp>
            <p:nvSpPr>
              <p:cNvPr id="179" name="Freeform 3">
                <a:extLst>
                  <a:ext uri="{FF2B5EF4-FFF2-40B4-BE49-F238E27FC236}">
                    <a16:creationId xmlns:a16="http://schemas.microsoft.com/office/drawing/2014/main" id="{A913BA5C-AE1C-C7B8-9A79-337624509AAF}"/>
                  </a:ext>
                </a:extLst>
              </p:cNvPr>
              <p:cNvSpPr/>
              <p:nvPr/>
            </p:nvSpPr>
            <p:spPr>
              <a:xfrm>
                <a:off x="0" y="0"/>
                <a:ext cx="818182" cy="267928"/>
              </a:xfrm>
              <a:custGeom>
                <a:avLst/>
                <a:gdLst/>
                <a:ahLst/>
                <a:cxnLst/>
                <a:rect l="l" t="t" r="r" b="b"/>
                <a:pathLst>
                  <a:path w="818182" h="267928">
                    <a:moveTo>
                      <a:pt x="0" y="0"/>
                    </a:moveTo>
                    <a:lnTo>
                      <a:pt x="818182" y="0"/>
                    </a:lnTo>
                    <a:lnTo>
                      <a:pt x="818182" y="267928"/>
                    </a:lnTo>
                    <a:lnTo>
                      <a:pt x="0" y="267928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DO"/>
              </a:p>
            </p:txBody>
          </p:sp>
          <p:sp>
            <p:nvSpPr>
              <p:cNvPr id="180" name="TextBox 4">
                <a:extLst>
                  <a:ext uri="{FF2B5EF4-FFF2-40B4-BE49-F238E27FC236}">
                    <a16:creationId xmlns:a16="http://schemas.microsoft.com/office/drawing/2014/main" id="{4FAA5AB5-8EB8-772F-5A0F-324EC8B7A0F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18182" cy="29650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grpSp>
          <p:nvGrpSpPr>
            <p:cNvPr id="184" name="Group 7">
              <a:extLst>
                <a:ext uri="{FF2B5EF4-FFF2-40B4-BE49-F238E27FC236}">
                  <a16:creationId xmlns:a16="http://schemas.microsoft.com/office/drawing/2014/main" id="{EB129033-29A2-EC71-D8D6-1664FC5A139C}"/>
                </a:ext>
              </a:extLst>
            </p:cNvPr>
            <p:cNvGrpSpPr/>
            <p:nvPr/>
          </p:nvGrpSpPr>
          <p:grpSpPr>
            <a:xfrm>
              <a:off x="806230" y="3298240"/>
              <a:ext cx="9318938" cy="626963"/>
              <a:chOff x="0" y="0"/>
              <a:chExt cx="2582108" cy="267928"/>
            </a:xfrm>
            <a:solidFill>
              <a:srgbClr val="DFE1E6"/>
            </a:solidFill>
          </p:grpSpPr>
          <p:sp>
            <p:nvSpPr>
              <p:cNvPr id="185" name="Freeform 8">
                <a:extLst>
                  <a:ext uri="{FF2B5EF4-FFF2-40B4-BE49-F238E27FC236}">
                    <a16:creationId xmlns:a16="http://schemas.microsoft.com/office/drawing/2014/main" id="{FD5DE9FF-C7B3-E4DD-F1E5-41157CF28AAF}"/>
                  </a:ext>
                </a:extLst>
              </p:cNvPr>
              <p:cNvSpPr/>
              <p:nvPr/>
            </p:nvSpPr>
            <p:spPr>
              <a:xfrm>
                <a:off x="0" y="0"/>
                <a:ext cx="2582108" cy="267928"/>
              </a:xfrm>
              <a:custGeom>
                <a:avLst/>
                <a:gdLst/>
                <a:ahLst/>
                <a:cxnLst/>
                <a:rect l="l" t="t" r="r" b="b"/>
                <a:pathLst>
                  <a:path w="2582108" h="267928">
                    <a:moveTo>
                      <a:pt x="0" y="0"/>
                    </a:moveTo>
                    <a:lnTo>
                      <a:pt x="2582108" y="0"/>
                    </a:lnTo>
                    <a:lnTo>
                      <a:pt x="2582108" y="267928"/>
                    </a:lnTo>
                    <a:lnTo>
                      <a:pt x="0" y="267928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DO"/>
              </a:p>
            </p:txBody>
          </p:sp>
          <p:sp>
            <p:nvSpPr>
              <p:cNvPr id="640" name="TextBox 9">
                <a:extLst>
                  <a:ext uri="{FF2B5EF4-FFF2-40B4-BE49-F238E27FC236}">
                    <a16:creationId xmlns:a16="http://schemas.microsoft.com/office/drawing/2014/main" id="{861DB674-748A-A850-89D7-2851DF591C6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82108" cy="2965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 dirty="0"/>
              </a:p>
            </p:txBody>
          </p:sp>
        </p:grpSp>
        <p:sp>
          <p:nvSpPr>
            <p:cNvPr id="671" name="Freeform 29">
              <a:extLst>
                <a:ext uri="{FF2B5EF4-FFF2-40B4-BE49-F238E27FC236}">
                  <a16:creationId xmlns:a16="http://schemas.microsoft.com/office/drawing/2014/main" id="{C04B5F88-BB3C-7CEF-CD89-2536329D28DE}"/>
                </a:ext>
              </a:extLst>
            </p:cNvPr>
            <p:cNvSpPr/>
            <p:nvPr/>
          </p:nvSpPr>
          <p:spPr>
            <a:xfrm rot="16200000">
              <a:off x="14264603" y="3239616"/>
              <a:ext cx="1470026" cy="553882"/>
            </a:xfrm>
            <a:custGeom>
              <a:avLst/>
              <a:gdLst/>
              <a:ahLst/>
              <a:cxnLst/>
              <a:rect l="l" t="t" r="r" b="b"/>
              <a:pathLst>
                <a:path w="600197" h="226144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/>
            <a:lstStyle/>
            <a:p>
              <a:endParaRPr lang="es-DO" dirty="0"/>
            </a:p>
          </p:txBody>
        </p:sp>
        <p:grpSp>
          <p:nvGrpSpPr>
            <p:cNvPr id="1119" name="Grupo 1118">
              <a:extLst>
                <a:ext uri="{FF2B5EF4-FFF2-40B4-BE49-F238E27FC236}">
                  <a16:creationId xmlns:a16="http://schemas.microsoft.com/office/drawing/2014/main" id="{22CFBA5F-4AE2-2802-8036-176B57A074C0}"/>
                </a:ext>
              </a:extLst>
            </p:cNvPr>
            <p:cNvGrpSpPr/>
            <p:nvPr/>
          </p:nvGrpSpPr>
          <p:grpSpPr>
            <a:xfrm>
              <a:off x="11528779" y="3128936"/>
              <a:ext cx="2540131" cy="998996"/>
              <a:chOff x="11528779" y="3128936"/>
              <a:chExt cx="2540131" cy="998996"/>
            </a:xfrm>
          </p:grpSpPr>
          <p:sp>
            <p:nvSpPr>
              <p:cNvPr id="1095" name="Freeform 17">
                <a:extLst>
                  <a:ext uri="{FF2B5EF4-FFF2-40B4-BE49-F238E27FC236}">
                    <a16:creationId xmlns:a16="http://schemas.microsoft.com/office/drawing/2014/main" id="{11E4B9D7-FA0A-2DA5-D4FD-E6B7D781512B}"/>
                  </a:ext>
                </a:extLst>
              </p:cNvPr>
              <p:cNvSpPr/>
              <p:nvPr/>
            </p:nvSpPr>
            <p:spPr>
              <a:xfrm>
                <a:off x="11687656" y="3128936"/>
                <a:ext cx="2381254" cy="998996"/>
              </a:xfrm>
              <a:prstGeom prst="roundRect">
                <a:avLst>
                  <a:gd name="adj" fmla="val 18513"/>
                </a:avLst>
              </a:prstGeom>
              <a:solidFill>
                <a:srgbClr val="FBF9F7"/>
              </a:solidFill>
              <a:ln>
                <a:noFill/>
              </a:ln>
            </p:spPr>
            <p:txBody>
              <a:bodyPr lIns="274320" rIns="45720" anchor="ctr"/>
              <a:lstStyle/>
              <a:p>
                <a:pPr algn="r"/>
                <a:r>
                  <a:rPr lang="es-DO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Motor del negocio</a:t>
                </a:r>
              </a:p>
            </p:txBody>
          </p:sp>
          <p:sp>
            <p:nvSpPr>
              <p:cNvPr id="1106" name="Diagrama de flujo: conector 1105">
                <a:extLst>
                  <a:ext uri="{FF2B5EF4-FFF2-40B4-BE49-F238E27FC236}">
                    <a16:creationId xmlns:a16="http://schemas.microsoft.com/office/drawing/2014/main" id="{35D4BE80-C42E-A44E-48E1-3E13552CB442}"/>
                  </a:ext>
                </a:extLst>
              </p:cNvPr>
              <p:cNvSpPr/>
              <p:nvPr/>
            </p:nvSpPr>
            <p:spPr>
              <a:xfrm>
                <a:off x="11528779" y="3482340"/>
                <a:ext cx="365760" cy="365760"/>
              </a:xfrm>
              <a:prstGeom prst="flowChartConnector">
                <a:avLst/>
              </a:prstGeom>
              <a:solidFill>
                <a:srgbClr val="1C3F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4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457" name="Imagen 1456">
                <a:extLst>
                  <a:ext uri="{FF2B5EF4-FFF2-40B4-BE49-F238E27FC236}">
                    <a16:creationId xmlns:a16="http://schemas.microsoft.com/office/drawing/2014/main" id="{8F46B0E2-2EB2-8B58-FE8A-B7A744EE0A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952240" y="3366678"/>
                <a:ext cx="519142" cy="519142"/>
              </a:xfrm>
              <a:prstGeom prst="rect">
                <a:avLst/>
              </a:prstGeom>
            </p:spPr>
          </p:pic>
        </p:grpSp>
        <p:grpSp>
          <p:nvGrpSpPr>
            <p:cNvPr id="112" name="Grupo 111">
              <a:extLst>
                <a:ext uri="{FF2B5EF4-FFF2-40B4-BE49-F238E27FC236}">
                  <a16:creationId xmlns:a16="http://schemas.microsoft.com/office/drawing/2014/main" id="{3E2D3B28-5938-D0D7-01C6-80FC4269F44C}"/>
                </a:ext>
              </a:extLst>
            </p:cNvPr>
            <p:cNvGrpSpPr/>
            <p:nvPr/>
          </p:nvGrpSpPr>
          <p:grpSpPr>
            <a:xfrm>
              <a:off x="15331440" y="3099155"/>
              <a:ext cx="2566971" cy="998996"/>
              <a:chOff x="15331440" y="3099155"/>
              <a:chExt cx="2566971" cy="998996"/>
            </a:xfrm>
          </p:grpSpPr>
          <p:sp>
            <p:nvSpPr>
              <p:cNvPr id="1098" name="Freeform 17">
                <a:extLst>
                  <a:ext uri="{FF2B5EF4-FFF2-40B4-BE49-F238E27FC236}">
                    <a16:creationId xmlns:a16="http://schemas.microsoft.com/office/drawing/2014/main" id="{6869D997-CB81-7A5A-75F3-68A4A6BC725B}"/>
                  </a:ext>
                </a:extLst>
              </p:cNvPr>
              <p:cNvSpPr/>
              <p:nvPr/>
            </p:nvSpPr>
            <p:spPr>
              <a:xfrm>
                <a:off x="15517157" y="3099155"/>
                <a:ext cx="2381254" cy="998996"/>
              </a:xfrm>
              <a:prstGeom prst="roundRect">
                <a:avLst>
                  <a:gd name="adj" fmla="val 18513"/>
                </a:avLst>
              </a:prstGeom>
              <a:solidFill>
                <a:srgbClr val="EEECE1"/>
              </a:solidFill>
            </p:spPr>
            <p:txBody>
              <a:bodyPr lIns="274320" rIns="45720" anchor="ctr"/>
              <a:lstStyle/>
              <a:p>
                <a:pPr algn="r"/>
                <a:r>
                  <a:rPr lang="es-DO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Nichos prioritarios</a:t>
                </a:r>
              </a:p>
            </p:txBody>
          </p:sp>
          <p:sp>
            <p:nvSpPr>
              <p:cNvPr id="1107" name="Diagrama de flujo: conector 1106">
                <a:extLst>
                  <a:ext uri="{FF2B5EF4-FFF2-40B4-BE49-F238E27FC236}">
                    <a16:creationId xmlns:a16="http://schemas.microsoft.com/office/drawing/2014/main" id="{71FE7309-4F04-0350-1FD1-DEAF35130584}"/>
                  </a:ext>
                </a:extLst>
              </p:cNvPr>
              <p:cNvSpPr/>
              <p:nvPr/>
            </p:nvSpPr>
            <p:spPr>
              <a:xfrm>
                <a:off x="15331440" y="3480234"/>
                <a:ext cx="365760" cy="365760"/>
              </a:xfrm>
              <a:prstGeom prst="flowChartConnector">
                <a:avLst/>
              </a:prstGeom>
              <a:solidFill>
                <a:srgbClr val="1C3F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5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110" name="Imagen 1109">
                <a:extLst>
                  <a:ext uri="{FF2B5EF4-FFF2-40B4-BE49-F238E27FC236}">
                    <a16:creationId xmlns:a16="http://schemas.microsoft.com/office/drawing/2014/main" id="{EC6F88CB-BAEA-7734-D138-A930632490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5826598" y="3355773"/>
                <a:ext cx="519142" cy="519142"/>
              </a:xfrm>
              <a:prstGeom prst="rect">
                <a:avLst/>
              </a:prstGeom>
            </p:spPr>
          </p:pic>
        </p:grpSp>
        <p:grpSp>
          <p:nvGrpSpPr>
            <p:cNvPr id="111" name="Grupo 110">
              <a:extLst>
                <a:ext uri="{FF2B5EF4-FFF2-40B4-BE49-F238E27FC236}">
                  <a16:creationId xmlns:a16="http://schemas.microsoft.com/office/drawing/2014/main" id="{429BF629-4EED-69EE-B103-BA34AC0E278F}"/>
                </a:ext>
              </a:extLst>
            </p:cNvPr>
            <p:cNvGrpSpPr/>
            <p:nvPr/>
          </p:nvGrpSpPr>
          <p:grpSpPr>
            <a:xfrm>
              <a:off x="5969488" y="3120340"/>
              <a:ext cx="2541023" cy="998996"/>
              <a:chOff x="5969488" y="3120340"/>
              <a:chExt cx="2541023" cy="998996"/>
            </a:xfrm>
          </p:grpSpPr>
          <p:sp>
            <p:nvSpPr>
              <p:cNvPr id="703" name="Freeform 17">
                <a:extLst>
                  <a:ext uri="{FF2B5EF4-FFF2-40B4-BE49-F238E27FC236}">
                    <a16:creationId xmlns:a16="http://schemas.microsoft.com/office/drawing/2014/main" id="{8C15A112-1806-E3BF-11CD-97346578469A}"/>
                  </a:ext>
                </a:extLst>
              </p:cNvPr>
              <p:cNvSpPr/>
              <p:nvPr/>
            </p:nvSpPr>
            <p:spPr>
              <a:xfrm>
                <a:off x="6129257" y="3120340"/>
                <a:ext cx="2381254" cy="998996"/>
              </a:xfrm>
              <a:prstGeom prst="roundRect">
                <a:avLst>
                  <a:gd name="adj" fmla="val 18513"/>
                </a:avLst>
              </a:prstGeom>
              <a:solidFill>
                <a:srgbClr val="FBF9F7"/>
              </a:solidFill>
              <a:ln>
                <a:noFill/>
              </a:ln>
            </p:spPr>
            <p:txBody>
              <a:bodyPr lIns="274320" rIns="45720" anchor="ctr"/>
              <a:lstStyle/>
              <a:p>
                <a:pPr algn="r"/>
                <a:r>
                  <a:rPr lang="es-DO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Diferencias entre segmentos</a:t>
                </a:r>
              </a:p>
            </p:txBody>
          </p:sp>
          <p:sp>
            <p:nvSpPr>
              <p:cNvPr id="1103" name="Diagrama de flujo: conector 1102">
                <a:extLst>
                  <a:ext uri="{FF2B5EF4-FFF2-40B4-BE49-F238E27FC236}">
                    <a16:creationId xmlns:a16="http://schemas.microsoft.com/office/drawing/2014/main" id="{B7C35CB2-F033-E302-A0B3-BDF539022286}"/>
                  </a:ext>
                </a:extLst>
              </p:cNvPr>
              <p:cNvSpPr/>
              <p:nvPr/>
            </p:nvSpPr>
            <p:spPr>
              <a:xfrm>
                <a:off x="5969488" y="3480234"/>
                <a:ext cx="365760" cy="365760"/>
              </a:xfrm>
              <a:prstGeom prst="flowChartConnector">
                <a:avLst/>
              </a:prstGeom>
              <a:solidFill>
                <a:srgbClr val="1C3F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3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112" name="Imagen 1111">
                <a:extLst>
                  <a:ext uri="{FF2B5EF4-FFF2-40B4-BE49-F238E27FC236}">
                    <a16:creationId xmlns:a16="http://schemas.microsoft.com/office/drawing/2014/main" id="{49A6D587-46E3-DBEE-30DF-68F6A15775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453655" y="3339082"/>
                <a:ext cx="519142" cy="519142"/>
              </a:xfrm>
              <a:prstGeom prst="rect">
                <a:avLst/>
              </a:prstGeom>
            </p:spPr>
          </p:pic>
        </p:grpSp>
        <p:grpSp>
          <p:nvGrpSpPr>
            <p:cNvPr id="109" name="Grupo 108">
              <a:extLst>
                <a:ext uri="{FF2B5EF4-FFF2-40B4-BE49-F238E27FC236}">
                  <a16:creationId xmlns:a16="http://schemas.microsoft.com/office/drawing/2014/main" id="{94C4D3D8-6B87-4C74-6F33-F7769CCB4FA7}"/>
                </a:ext>
              </a:extLst>
            </p:cNvPr>
            <p:cNvGrpSpPr/>
            <p:nvPr/>
          </p:nvGrpSpPr>
          <p:grpSpPr>
            <a:xfrm>
              <a:off x="3170448" y="3120340"/>
              <a:ext cx="2559532" cy="998996"/>
              <a:chOff x="3170448" y="3120340"/>
              <a:chExt cx="2559532" cy="998996"/>
            </a:xfrm>
          </p:grpSpPr>
          <p:sp>
            <p:nvSpPr>
              <p:cNvPr id="691" name="Freeform 17">
                <a:extLst>
                  <a:ext uri="{FF2B5EF4-FFF2-40B4-BE49-F238E27FC236}">
                    <a16:creationId xmlns:a16="http://schemas.microsoft.com/office/drawing/2014/main" id="{1711A773-F2AA-0E33-A013-A2CD4C18AAAA}"/>
                  </a:ext>
                </a:extLst>
              </p:cNvPr>
              <p:cNvSpPr/>
              <p:nvPr/>
            </p:nvSpPr>
            <p:spPr>
              <a:xfrm>
                <a:off x="3348726" y="3120340"/>
                <a:ext cx="2381254" cy="998996"/>
              </a:xfrm>
              <a:prstGeom prst="roundRect">
                <a:avLst>
                  <a:gd name="adj" fmla="val 18513"/>
                </a:avLst>
              </a:prstGeom>
              <a:solidFill>
                <a:srgbClr val="FBF9F7"/>
              </a:solidFill>
              <a:ln>
                <a:noFill/>
              </a:ln>
            </p:spPr>
            <p:txBody>
              <a:bodyPr lIns="274320" rIns="45720" anchor="ctr"/>
              <a:lstStyle/>
              <a:p>
                <a:pPr algn="r"/>
                <a:r>
                  <a:rPr lang="es-DO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Rol del comercio</a:t>
                </a:r>
              </a:p>
            </p:txBody>
          </p:sp>
          <p:sp>
            <p:nvSpPr>
              <p:cNvPr id="1102" name="Diagrama de flujo: conector 1101">
                <a:extLst>
                  <a:ext uri="{FF2B5EF4-FFF2-40B4-BE49-F238E27FC236}">
                    <a16:creationId xmlns:a16="http://schemas.microsoft.com/office/drawing/2014/main" id="{DF980C69-3AE7-BCDD-11F9-4E6BEB7220B6}"/>
                  </a:ext>
                </a:extLst>
              </p:cNvPr>
              <p:cNvSpPr/>
              <p:nvPr/>
            </p:nvSpPr>
            <p:spPr>
              <a:xfrm>
                <a:off x="3170448" y="3480234"/>
                <a:ext cx="365760" cy="365760"/>
              </a:xfrm>
              <a:prstGeom prst="flowChartConnector">
                <a:avLst/>
              </a:prstGeom>
              <a:solidFill>
                <a:srgbClr val="1C3F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2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116" name="Imagen 1115">
                <a:extLst>
                  <a:ext uri="{FF2B5EF4-FFF2-40B4-BE49-F238E27FC236}">
                    <a16:creationId xmlns:a16="http://schemas.microsoft.com/office/drawing/2014/main" id="{82513CDE-647C-E4E7-AE12-598A408033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641657" y="3373406"/>
                <a:ext cx="519142" cy="519142"/>
              </a:xfrm>
              <a:prstGeom prst="rect">
                <a:avLst/>
              </a:prstGeom>
            </p:spPr>
          </p:pic>
        </p:grpSp>
        <p:grpSp>
          <p:nvGrpSpPr>
            <p:cNvPr id="1135" name="Grupo 1134">
              <a:extLst>
                <a:ext uri="{FF2B5EF4-FFF2-40B4-BE49-F238E27FC236}">
                  <a16:creationId xmlns:a16="http://schemas.microsoft.com/office/drawing/2014/main" id="{84F37D36-1042-16C3-EECF-F3DF815560D4}"/>
                </a:ext>
              </a:extLst>
            </p:cNvPr>
            <p:cNvGrpSpPr/>
            <p:nvPr/>
          </p:nvGrpSpPr>
          <p:grpSpPr>
            <a:xfrm>
              <a:off x="8043043" y="470563"/>
              <a:ext cx="4065721" cy="3869319"/>
              <a:chOff x="8050078" y="485894"/>
              <a:chExt cx="4065721" cy="3869319"/>
            </a:xfrm>
          </p:grpSpPr>
          <p:grpSp>
            <p:nvGrpSpPr>
              <p:cNvPr id="1134" name="Grupo 1133">
                <a:extLst>
                  <a:ext uri="{FF2B5EF4-FFF2-40B4-BE49-F238E27FC236}">
                    <a16:creationId xmlns:a16="http://schemas.microsoft.com/office/drawing/2014/main" id="{0A29947A-7EA3-FB44-3C6E-2C2F891AFC25}"/>
                  </a:ext>
                </a:extLst>
              </p:cNvPr>
              <p:cNvGrpSpPr/>
              <p:nvPr/>
            </p:nvGrpSpPr>
            <p:grpSpPr>
              <a:xfrm>
                <a:off x="8050078" y="485894"/>
                <a:ext cx="4065721" cy="3869319"/>
                <a:chOff x="13551788" y="-89071"/>
                <a:chExt cx="4901139" cy="4901136"/>
              </a:xfrm>
            </p:grpSpPr>
            <p:pic>
              <p:nvPicPr>
                <p:cNvPr id="1133" name="Picture 6">
                  <a:extLst>
                    <a:ext uri="{FF2B5EF4-FFF2-40B4-BE49-F238E27FC236}">
                      <a16:creationId xmlns:a16="http://schemas.microsoft.com/office/drawing/2014/main" id="{88261043-3737-AE1A-7D65-535DB42FD8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 rot="16200000">
                  <a:off x="13551790" y="-89073"/>
                  <a:ext cx="4901136" cy="4901139"/>
                </a:xfrm>
                <a:prstGeom prst="rect">
                  <a:avLst/>
                </a:prstGeom>
              </p:spPr>
            </p:pic>
            <p:sp>
              <p:nvSpPr>
                <p:cNvPr id="642" name="Freeform 11">
                  <a:extLst>
                    <a:ext uri="{FF2B5EF4-FFF2-40B4-BE49-F238E27FC236}">
                      <a16:creationId xmlns:a16="http://schemas.microsoft.com/office/drawing/2014/main" id="{35E34CD4-6588-017B-9C62-C4E190568B42}"/>
                    </a:ext>
                  </a:extLst>
                </p:cNvPr>
                <p:cNvSpPr/>
                <p:nvPr/>
              </p:nvSpPr>
              <p:spPr>
                <a:xfrm>
                  <a:off x="13848496" y="2302505"/>
                  <a:ext cx="1281732" cy="492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197" h="226144">
                      <a:moveTo>
                        <a:pt x="300099" y="226144"/>
                      </a:moveTo>
                      <a:lnTo>
                        <a:pt x="600197" y="0"/>
                      </a:lnTo>
                      <a:lnTo>
                        <a:pt x="0" y="0"/>
                      </a:lnTo>
                      <a:lnTo>
                        <a:pt x="300099" y="226144"/>
                      </a:lnTo>
                      <a:close/>
                    </a:path>
                  </a:pathLst>
                </a:custGeom>
                <a:solidFill>
                  <a:srgbClr val="1C3F60"/>
                </a:solidFill>
              </p:spPr>
              <p:txBody>
                <a:bodyPr/>
                <a:lstStyle/>
                <a:p>
                  <a:endParaRPr lang="es-DO"/>
                </a:p>
              </p:txBody>
            </p:sp>
          </p:grpSp>
          <p:pic>
            <p:nvPicPr>
              <p:cNvPr id="1130" name="Imagen 1129">
                <a:extLst>
                  <a:ext uri="{FF2B5EF4-FFF2-40B4-BE49-F238E27FC236}">
                    <a16:creationId xmlns:a16="http://schemas.microsoft.com/office/drawing/2014/main" id="{DCA39EC4-BC57-7B88-2C96-D696BC0ACC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312773" y="1620986"/>
                <a:ext cx="1596825" cy="1596825"/>
              </a:xfrm>
              <a:prstGeom prst="rect">
                <a:avLst/>
              </a:prstGeom>
            </p:spPr>
          </p:pic>
        </p:grpSp>
        <p:grpSp>
          <p:nvGrpSpPr>
            <p:cNvPr id="108" name="Grupo 107">
              <a:extLst>
                <a:ext uri="{FF2B5EF4-FFF2-40B4-BE49-F238E27FC236}">
                  <a16:creationId xmlns:a16="http://schemas.microsoft.com/office/drawing/2014/main" id="{36C8910B-467F-72C4-E911-DDD1BDE50CCD}"/>
                </a:ext>
              </a:extLst>
            </p:cNvPr>
            <p:cNvGrpSpPr/>
            <p:nvPr/>
          </p:nvGrpSpPr>
          <p:grpSpPr>
            <a:xfrm>
              <a:off x="402750" y="3111194"/>
              <a:ext cx="2582931" cy="998996"/>
              <a:chOff x="402750" y="3111194"/>
              <a:chExt cx="2582931" cy="998996"/>
            </a:xfrm>
          </p:grpSpPr>
          <p:sp>
            <p:nvSpPr>
              <p:cNvPr id="650" name="Freeform 17">
                <a:extLst>
                  <a:ext uri="{FF2B5EF4-FFF2-40B4-BE49-F238E27FC236}">
                    <a16:creationId xmlns:a16="http://schemas.microsoft.com/office/drawing/2014/main" id="{4FEAF4DC-9672-CBEB-CC44-D7A23B7B9167}"/>
                  </a:ext>
                </a:extLst>
              </p:cNvPr>
              <p:cNvSpPr/>
              <p:nvPr/>
            </p:nvSpPr>
            <p:spPr>
              <a:xfrm>
                <a:off x="604427" y="3111194"/>
                <a:ext cx="2381254" cy="998996"/>
              </a:xfrm>
              <a:prstGeom prst="roundRect">
                <a:avLst>
                  <a:gd name="adj" fmla="val 18513"/>
                </a:avLst>
              </a:prstGeom>
              <a:solidFill>
                <a:srgbClr val="FBF9F7"/>
              </a:solidFill>
              <a:ln>
                <a:noFill/>
              </a:ln>
            </p:spPr>
            <p:txBody>
              <a:bodyPr lIns="274320" rIns="45720" anchor="ctr"/>
              <a:lstStyle/>
              <a:p>
                <a:pPr algn="r"/>
                <a:r>
                  <a:rPr lang="es-DO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Migración del </a:t>
                </a:r>
              </a:p>
              <a:p>
                <a:pPr lvl="2" algn="r"/>
                <a:r>
                  <a:rPr lang="es-DO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consumo</a:t>
                </a:r>
              </a:p>
            </p:txBody>
          </p:sp>
          <p:sp>
            <p:nvSpPr>
              <p:cNvPr id="1101" name="Diagrama de flujo: conector 1100">
                <a:extLst>
                  <a:ext uri="{FF2B5EF4-FFF2-40B4-BE49-F238E27FC236}">
                    <a16:creationId xmlns:a16="http://schemas.microsoft.com/office/drawing/2014/main" id="{9328A214-5B5A-0FD6-A26B-299029BCB7E2}"/>
                  </a:ext>
                </a:extLst>
              </p:cNvPr>
              <p:cNvSpPr/>
              <p:nvPr/>
            </p:nvSpPr>
            <p:spPr>
              <a:xfrm>
                <a:off x="402750" y="3480234"/>
                <a:ext cx="365760" cy="365760"/>
              </a:xfrm>
              <a:prstGeom prst="flowChartConnector">
                <a:avLst/>
              </a:prstGeom>
              <a:solidFill>
                <a:srgbClr val="1C3F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1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05" name="Imagen 104">
                <a:extLst>
                  <a:ext uri="{FF2B5EF4-FFF2-40B4-BE49-F238E27FC236}">
                    <a16:creationId xmlns:a16="http://schemas.microsoft.com/office/drawing/2014/main" id="{69E4B572-0F40-966E-F8BF-41A2E78633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08018" y="3295344"/>
                <a:ext cx="629258" cy="629258"/>
              </a:xfrm>
              <a:prstGeom prst="rect">
                <a:avLst/>
              </a:prstGeom>
            </p:spPr>
          </p:pic>
        </p:grpSp>
      </p:grpSp>
      <p:grpSp>
        <p:nvGrpSpPr>
          <p:cNvPr id="1215" name="Grupo 1214">
            <a:extLst>
              <a:ext uri="{FF2B5EF4-FFF2-40B4-BE49-F238E27FC236}">
                <a16:creationId xmlns:a16="http://schemas.microsoft.com/office/drawing/2014/main" id="{0AAA04A2-EC87-51A5-5ACA-42447E066521}"/>
              </a:ext>
            </a:extLst>
          </p:cNvPr>
          <p:cNvGrpSpPr/>
          <p:nvPr/>
        </p:nvGrpSpPr>
        <p:grpSpPr>
          <a:xfrm>
            <a:off x="3886061" y="4616379"/>
            <a:ext cx="3511296" cy="5031727"/>
            <a:chOff x="3886061" y="4768779"/>
            <a:chExt cx="3511296" cy="5031727"/>
          </a:xfrm>
        </p:grpSpPr>
        <p:grpSp>
          <p:nvGrpSpPr>
            <p:cNvPr id="137" name="Grupo 136">
              <a:extLst>
                <a:ext uri="{FF2B5EF4-FFF2-40B4-BE49-F238E27FC236}">
                  <a16:creationId xmlns:a16="http://schemas.microsoft.com/office/drawing/2014/main" id="{3577BF75-3F96-1145-4946-416B6AEB9363}"/>
                </a:ext>
              </a:extLst>
            </p:cNvPr>
            <p:cNvGrpSpPr/>
            <p:nvPr/>
          </p:nvGrpSpPr>
          <p:grpSpPr>
            <a:xfrm>
              <a:off x="3886061" y="4768779"/>
              <a:ext cx="3511296" cy="5031727"/>
              <a:chOff x="126246" y="5541454"/>
              <a:chExt cx="3511296" cy="5122698"/>
            </a:xfrm>
          </p:grpSpPr>
          <p:sp>
            <p:nvSpPr>
              <p:cNvPr id="55" name="Rectángulo 54">
                <a:extLst>
                  <a:ext uri="{FF2B5EF4-FFF2-40B4-BE49-F238E27FC236}">
                    <a16:creationId xmlns:a16="http://schemas.microsoft.com/office/drawing/2014/main" id="{233BA8EA-35A6-B046-120A-93C4C24A613F}"/>
                  </a:ext>
                </a:extLst>
              </p:cNvPr>
              <p:cNvSpPr/>
              <p:nvPr/>
            </p:nvSpPr>
            <p:spPr>
              <a:xfrm>
                <a:off x="126246" y="5544027"/>
                <a:ext cx="3511296" cy="5120125"/>
              </a:xfrm>
              <a:prstGeom prst="rect">
                <a:avLst/>
              </a:prstGeom>
              <a:solidFill>
                <a:srgbClr val="FBF9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172" name="Freeform 16">
                <a:extLst>
                  <a:ext uri="{FF2B5EF4-FFF2-40B4-BE49-F238E27FC236}">
                    <a16:creationId xmlns:a16="http://schemas.microsoft.com/office/drawing/2014/main" id="{F987B62A-3E7A-B072-59E6-969F0B01BE0F}"/>
                  </a:ext>
                </a:extLst>
              </p:cNvPr>
              <p:cNvSpPr/>
              <p:nvPr/>
            </p:nvSpPr>
            <p:spPr>
              <a:xfrm>
                <a:off x="126246" y="5541454"/>
                <a:ext cx="3493008" cy="356616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s-DO" sz="1400" b="1" dirty="0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2. Cada comercio juega un rol distinto</a:t>
                </a:r>
              </a:p>
            </p:txBody>
          </p:sp>
        </p:grpSp>
        <p:grpSp>
          <p:nvGrpSpPr>
            <p:cNvPr id="1462" name="Grupo 1461">
              <a:extLst>
                <a:ext uri="{FF2B5EF4-FFF2-40B4-BE49-F238E27FC236}">
                  <a16:creationId xmlns:a16="http://schemas.microsoft.com/office/drawing/2014/main" id="{44DF1BB3-13AA-7621-2305-AE1BFCA7B22F}"/>
                </a:ext>
              </a:extLst>
            </p:cNvPr>
            <p:cNvGrpSpPr/>
            <p:nvPr/>
          </p:nvGrpSpPr>
          <p:grpSpPr>
            <a:xfrm>
              <a:off x="4070561" y="5361770"/>
              <a:ext cx="2025439" cy="530953"/>
              <a:chOff x="4184015" y="5395595"/>
              <a:chExt cx="2025439" cy="540552"/>
            </a:xfrm>
          </p:grpSpPr>
          <p:pic>
            <p:nvPicPr>
              <p:cNvPr id="1347" name="Imagen 1346">
                <a:extLst>
                  <a:ext uri="{FF2B5EF4-FFF2-40B4-BE49-F238E27FC236}">
                    <a16:creationId xmlns:a16="http://schemas.microsoft.com/office/drawing/2014/main" id="{BBFB85BB-B409-6FE4-6CF1-CD0534A0C4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184015" y="5497560"/>
                <a:ext cx="419808" cy="419808"/>
              </a:xfrm>
              <a:prstGeom prst="rect">
                <a:avLst/>
              </a:prstGeom>
            </p:spPr>
          </p:pic>
          <p:grpSp>
            <p:nvGrpSpPr>
              <p:cNvPr id="1444" name="Grupo 1443">
                <a:extLst>
                  <a:ext uri="{FF2B5EF4-FFF2-40B4-BE49-F238E27FC236}">
                    <a16:creationId xmlns:a16="http://schemas.microsoft.com/office/drawing/2014/main" id="{A9FD9233-B406-0F77-7922-F65CF91543AB}"/>
                  </a:ext>
                </a:extLst>
              </p:cNvPr>
              <p:cNvGrpSpPr/>
              <p:nvPr/>
            </p:nvGrpSpPr>
            <p:grpSpPr>
              <a:xfrm>
                <a:off x="4639553" y="5395595"/>
                <a:ext cx="1569901" cy="540552"/>
                <a:chOff x="4590410" y="5395595"/>
                <a:chExt cx="1569901" cy="540552"/>
              </a:xfrm>
            </p:grpSpPr>
            <p:sp>
              <p:nvSpPr>
                <p:cNvPr id="1348" name="CuadroTexto 1347">
                  <a:extLst>
                    <a:ext uri="{FF2B5EF4-FFF2-40B4-BE49-F238E27FC236}">
                      <a16:creationId xmlns:a16="http://schemas.microsoft.com/office/drawing/2014/main" id="{FE9994CC-F65D-54BC-0234-D86767D02562}"/>
                    </a:ext>
                  </a:extLst>
                </p:cNvPr>
                <p:cNvSpPr txBox="1"/>
                <p:nvPr/>
              </p:nvSpPr>
              <p:spPr>
                <a:xfrm>
                  <a:off x="4599057" y="5661827"/>
                  <a:ext cx="1561254" cy="2743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Retención y volumen</a:t>
                  </a:r>
                </a:p>
              </p:txBody>
            </p:sp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485ED916-1582-A69D-E4B7-70ADE97F5507}"/>
                    </a:ext>
                  </a:extLst>
                </p:cNvPr>
                <p:cNvSpPr txBox="1"/>
                <p:nvPr/>
              </p:nvSpPr>
              <p:spPr>
                <a:xfrm>
                  <a:off x="4590410" y="5395595"/>
                  <a:ext cx="156990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Supermercados</a:t>
                  </a:r>
                  <a:endParaRPr lang="es-DO" sz="1300" b="1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</p:grpSp>
        <p:grpSp>
          <p:nvGrpSpPr>
            <p:cNvPr id="1461" name="Grupo 1460">
              <a:extLst>
                <a:ext uri="{FF2B5EF4-FFF2-40B4-BE49-F238E27FC236}">
                  <a16:creationId xmlns:a16="http://schemas.microsoft.com/office/drawing/2014/main" id="{F4475DDB-32C3-F755-357C-E5C44D5EF6F8}"/>
                </a:ext>
              </a:extLst>
            </p:cNvPr>
            <p:cNvGrpSpPr/>
            <p:nvPr/>
          </p:nvGrpSpPr>
          <p:grpSpPr>
            <a:xfrm>
              <a:off x="4163687" y="6228564"/>
              <a:ext cx="2313313" cy="530953"/>
              <a:chOff x="4087487" y="6131923"/>
              <a:chExt cx="2313313" cy="540552"/>
            </a:xfrm>
          </p:grpSpPr>
          <p:pic>
            <p:nvPicPr>
              <p:cNvPr id="1353" name="Imagen 1352">
                <a:extLst>
                  <a:ext uri="{FF2B5EF4-FFF2-40B4-BE49-F238E27FC236}">
                    <a16:creationId xmlns:a16="http://schemas.microsoft.com/office/drawing/2014/main" id="{1F502BBA-1201-5981-2C3F-BF9727F6FE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087487" y="6192295"/>
                <a:ext cx="419808" cy="419808"/>
              </a:xfrm>
              <a:prstGeom prst="rect">
                <a:avLst/>
              </a:prstGeom>
            </p:spPr>
          </p:pic>
          <p:grpSp>
            <p:nvGrpSpPr>
              <p:cNvPr id="1445" name="Grupo 1444">
                <a:extLst>
                  <a:ext uri="{FF2B5EF4-FFF2-40B4-BE49-F238E27FC236}">
                    <a16:creationId xmlns:a16="http://schemas.microsoft.com/office/drawing/2014/main" id="{E0FB54F9-DFCA-041B-0014-5112874D7650}"/>
                  </a:ext>
                </a:extLst>
              </p:cNvPr>
              <p:cNvGrpSpPr/>
              <p:nvPr/>
            </p:nvGrpSpPr>
            <p:grpSpPr>
              <a:xfrm>
                <a:off x="4594943" y="6131923"/>
                <a:ext cx="1805857" cy="540552"/>
                <a:chOff x="4590410" y="5395595"/>
                <a:chExt cx="1805857" cy="540552"/>
              </a:xfrm>
            </p:grpSpPr>
            <p:sp>
              <p:nvSpPr>
                <p:cNvPr id="1446" name="CuadroTexto 1445">
                  <a:extLst>
                    <a:ext uri="{FF2B5EF4-FFF2-40B4-BE49-F238E27FC236}">
                      <a16:creationId xmlns:a16="http://schemas.microsoft.com/office/drawing/2014/main" id="{21DA11A8-BEAB-558E-E404-25E1E52F04ED}"/>
                    </a:ext>
                  </a:extLst>
                </p:cNvPr>
                <p:cNvSpPr txBox="1"/>
                <p:nvPr/>
              </p:nvSpPr>
              <p:spPr>
                <a:xfrm>
                  <a:off x="4599057" y="5661827"/>
                  <a:ext cx="1797210" cy="2743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Activación y adquisición</a:t>
                  </a:r>
                </a:p>
              </p:txBody>
            </p:sp>
            <p:sp>
              <p:nvSpPr>
                <p:cNvPr id="1447" name="CuadroTexto 1446">
                  <a:extLst>
                    <a:ext uri="{FF2B5EF4-FFF2-40B4-BE49-F238E27FC236}">
                      <a16:creationId xmlns:a16="http://schemas.microsoft.com/office/drawing/2014/main" id="{F5F9B3C7-3E90-C565-BB4E-B02B31725FEA}"/>
                    </a:ext>
                  </a:extLst>
                </p:cNvPr>
                <p:cNvSpPr txBox="1"/>
                <p:nvPr/>
              </p:nvSpPr>
              <p:spPr>
                <a:xfrm>
                  <a:off x="4590410" y="5395595"/>
                  <a:ext cx="156990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 err="1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Restaurantes</a:t>
                  </a:r>
                  <a:endParaRPr lang="es-DO" sz="1300" b="1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</p:grpSp>
        <p:grpSp>
          <p:nvGrpSpPr>
            <p:cNvPr id="1460" name="Grupo 1459">
              <a:extLst>
                <a:ext uri="{FF2B5EF4-FFF2-40B4-BE49-F238E27FC236}">
                  <a16:creationId xmlns:a16="http://schemas.microsoft.com/office/drawing/2014/main" id="{23C16EC5-108E-D40A-2B32-DF262EEBAAD1}"/>
                </a:ext>
              </a:extLst>
            </p:cNvPr>
            <p:cNvGrpSpPr/>
            <p:nvPr/>
          </p:nvGrpSpPr>
          <p:grpSpPr>
            <a:xfrm>
              <a:off x="4239887" y="7095358"/>
              <a:ext cx="2694313" cy="530953"/>
              <a:chOff x="4087487" y="6839381"/>
              <a:chExt cx="2694313" cy="540552"/>
            </a:xfrm>
          </p:grpSpPr>
          <p:pic>
            <p:nvPicPr>
              <p:cNvPr id="1356" name="Imagen 1355">
                <a:extLst>
                  <a:ext uri="{FF2B5EF4-FFF2-40B4-BE49-F238E27FC236}">
                    <a16:creationId xmlns:a16="http://schemas.microsoft.com/office/drawing/2014/main" id="{B21CCDF6-3074-3251-FFF0-B957221288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087487" y="6899753"/>
                <a:ext cx="419808" cy="419808"/>
              </a:xfrm>
              <a:prstGeom prst="rect">
                <a:avLst/>
              </a:prstGeom>
            </p:spPr>
          </p:pic>
          <p:grpSp>
            <p:nvGrpSpPr>
              <p:cNvPr id="1448" name="Grupo 1447">
                <a:extLst>
                  <a:ext uri="{FF2B5EF4-FFF2-40B4-BE49-F238E27FC236}">
                    <a16:creationId xmlns:a16="http://schemas.microsoft.com/office/drawing/2014/main" id="{A9923235-C3C9-EF50-EF2A-0BC8E3962B50}"/>
                  </a:ext>
                </a:extLst>
              </p:cNvPr>
              <p:cNvGrpSpPr/>
              <p:nvPr/>
            </p:nvGrpSpPr>
            <p:grpSpPr>
              <a:xfrm>
                <a:off x="4639553" y="6839381"/>
                <a:ext cx="2142247" cy="540552"/>
                <a:chOff x="4590410" y="5395595"/>
                <a:chExt cx="2142247" cy="540552"/>
              </a:xfrm>
            </p:grpSpPr>
            <p:sp>
              <p:nvSpPr>
                <p:cNvPr id="1449" name="CuadroTexto 1448">
                  <a:extLst>
                    <a:ext uri="{FF2B5EF4-FFF2-40B4-BE49-F238E27FC236}">
                      <a16:creationId xmlns:a16="http://schemas.microsoft.com/office/drawing/2014/main" id="{BDAAA8A0-2070-4CE9-A7D2-DDAB42F38082}"/>
                    </a:ext>
                  </a:extLst>
                </p:cNvPr>
                <p:cNvSpPr txBox="1"/>
                <p:nvPr/>
              </p:nvSpPr>
              <p:spPr>
                <a:xfrm>
                  <a:off x="4599057" y="5661827"/>
                  <a:ext cx="2133600" cy="2743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Monetización y crecimiento</a:t>
                  </a:r>
                </a:p>
              </p:txBody>
            </p:sp>
            <p:sp>
              <p:nvSpPr>
                <p:cNvPr id="1450" name="CuadroTexto 1449">
                  <a:extLst>
                    <a:ext uri="{FF2B5EF4-FFF2-40B4-BE49-F238E27FC236}">
                      <a16:creationId xmlns:a16="http://schemas.microsoft.com/office/drawing/2014/main" id="{06CA07F5-F9CD-126D-CE8A-A12F0495B5DD}"/>
                    </a:ext>
                  </a:extLst>
                </p:cNvPr>
                <p:cNvSpPr txBox="1"/>
                <p:nvPr/>
              </p:nvSpPr>
              <p:spPr>
                <a:xfrm>
                  <a:off x="4590410" y="5395595"/>
                  <a:ext cx="156990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Electronica</a:t>
                  </a:r>
                  <a:endParaRPr lang="es-DO" sz="1300" b="1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</p:grpSp>
        <p:grpSp>
          <p:nvGrpSpPr>
            <p:cNvPr id="1459" name="Grupo 1458">
              <a:extLst>
                <a:ext uri="{FF2B5EF4-FFF2-40B4-BE49-F238E27FC236}">
                  <a16:creationId xmlns:a16="http://schemas.microsoft.com/office/drawing/2014/main" id="{E2145472-6233-04BD-016A-1F8A53403E33}"/>
                </a:ext>
              </a:extLst>
            </p:cNvPr>
            <p:cNvGrpSpPr/>
            <p:nvPr/>
          </p:nvGrpSpPr>
          <p:grpSpPr>
            <a:xfrm>
              <a:off x="4392287" y="7962152"/>
              <a:ext cx="2389513" cy="530953"/>
              <a:chOff x="4087487" y="7542795"/>
              <a:chExt cx="2389513" cy="540552"/>
            </a:xfrm>
          </p:grpSpPr>
          <p:pic>
            <p:nvPicPr>
              <p:cNvPr id="1441" name="Imagen 1440">
                <a:extLst>
                  <a:ext uri="{FF2B5EF4-FFF2-40B4-BE49-F238E27FC236}">
                    <a16:creationId xmlns:a16="http://schemas.microsoft.com/office/drawing/2014/main" id="{93B55D5B-E842-93D9-A11C-51E24C654F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087487" y="7583088"/>
                <a:ext cx="419808" cy="419808"/>
              </a:xfrm>
              <a:prstGeom prst="rect">
                <a:avLst/>
              </a:prstGeom>
            </p:spPr>
          </p:pic>
          <p:grpSp>
            <p:nvGrpSpPr>
              <p:cNvPr id="1451" name="Grupo 1450">
                <a:extLst>
                  <a:ext uri="{FF2B5EF4-FFF2-40B4-BE49-F238E27FC236}">
                    <a16:creationId xmlns:a16="http://schemas.microsoft.com/office/drawing/2014/main" id="{C5D90E27-70C0-B8F3-F99A-FEB0074C1CD2}"/>
                  </a:ext>
                </a:extLst>
              </p:cNvPr>
              <p:cNvGrpSpPr/>
              <p:nvPr/>
            </p:nvGrpSpPr>
            <p:grpSpPr>
              <a:xfrm>
                <a:off x="4594943" y="7542795"/>
                <a:ext cx="1882057" cy="540552"/>
                <a:chOff x="4590410" y="5395595"/>
                <a:chExt cx="1882057" cy="540552"/>
              </a:xfrm>
            </p:grpSpPr>
            <p:sp>
              <p:nvSpPr>
                <p:cNvPr id="1452" name="CuadroTexto 1451">
                  <a:extLst>
                    <a:ext uri="{FF2B5EF4-FFF2-40B4-BE49-F238E27FC236}">
                      <a16:creationId xmlns:a16="http://schemas.microsoft.com/office/drawing/2014/main" id="{B92C0975-18A9-7F10-0B74-C3720C14B8A2}"/>
                    </a:ext>
                  </a:extLst>
                </p:cNvPr>
                <p:cNvSpPr txBox="1"/>
                <p:nvPr/>
              </p:nvSpPr>
              <p:spPr>
                <a:xfrm>
                  <a:off x="4599057" y="5661827"/>
                  <a:ext cx="1873410" cy="2743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Recurrencia y estabilidad</a:t>
                  </a:r>
                </a:p>
              </p:txBody>
            </p:sp>
            <p:sp>
              <p:nvSpPr>
                <p:cNvPr id="1453" name="CuadroTexto 1452">
                  <a:extLst>
                    <a:ext uri="{FF2B5EF4-FFF2-40B4-BE49-F238E27FC236}">
                      <a16:creationId xmlns:a16="http://schemas.microsoft.com/office/drawing/2014/main" id="{E3F02112-FBD0-AFE1-A01C-1B41B28DBDDB}"/>
                    </a:ext>
                  </a:extLst>
                </p:cNvPr>
                <p:cNvSpPr txBox="1"/>
                <p:nvPr/>
              </p:nvSpPr>
              <p:spPr>
                <a:xfrm>
                  <a:off x="4590410" y="5395595"/>
                  <a:ext cx="156990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 err="1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Farmacias</a:t>
                  </a:r>
                  <a:endParaRPr lang="es-DO" sz="1300" b="1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</p:grpSp>
        <p:grpSp>
          <p:nvGrpSpPr>
            <p:cNvPr id="1458" name="Grupo 1457">
              <a:extLst>
                <a:ext uri="{FF2B5EF4-FFF2-40B4-BE49-F238E27FC236}">
                  <a16:creationId xmlns:a16="http://schemas.microsoft.com/office/drawing/2014/main" id="{D25C1671-55D4-C5B0-809D-83BDC469061F}"/>
                </a:ext>
              </a:extLst>
            </p:cNvPr>
            <p:cNvGrpSpPr/>
            <p:nvPr/>
          </p:nvGrpSpPr>
          <p:grpSpPr>
            <a:xfrm>
              <a:off x="4544687" y="8828947"/>
              <a:ext cx="2846713" cy="530953"/>
              <a:chOff x="4087487" y="8228141"/>
              <a:chExt cx="2846713" cy="540552"/>
            </a:xfrm>
          </p:grpSpPr>
          <p:pic>
            <p:nvPicPr>
              <p:cNvPr id="1437" name="Imagen 1436">
                <a:extLst>
                  <a:ext uri="{FF2B5EF4-FFF2-40B4-BE49-F238E27FC236}">
                    <a16:creationId xmlns:a16="http://schemas.microsoft.com/office/drawing/2014/main" id="{77B336B0-1BD3-E2C2-C005-416AD6453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087487" y="8290546"/>
                <a:ext cx="419808" cy="419808"/>
              </a:xfrm>
              <a:prstGeom prst="rect">
                <a:avLst/>
              </a:prstGeom>
            </p:spPr>
          </p:pic>
          <p:grpSp>
            <p:nvGrpSpPr>
              <p:cNvPr id="1454" name="Grupo 1453">
                <a:extLst>
                  <a:ext uri="{FF2B5EF4-FFF2-40B4-BE49-F238E27FC236}">
                    <a16:creationId xmlns:a16="http://schemas.microsoft.com/office/drawing/2014/main" id="{6BC29C22-4A33-834A-E9EC-D7F36E83343F}"/>
                  </a:ext>
                </a:extLst>
              </p:cNvPr>
              <p:cNvGrpSpPr/>
              <p:nvPr/>
            </p:nvGrpSpPr>
            <p:grpSpPr>
              <a:xfrm>
                <a:off x="4562100" y="8228141"/>
                <a:ext cx="2372100" cy="540552"/>
                <a:chOff x="4590410" y="5395595"/>
                <a:chExt cx="2372100" cy="540552"/>
              </a:xfrm>
            </p:grpSpPr>
            <p:sp>
              <p:nvSpPr>
                <p:cNvPr id="1455" name="CuadroTexto 1454">
                  <a:extLst>
                    <a:ext uri="{FF2B5EF4-FFF2-40B4-BE49-F238E27FC236}">
                      <a16:creationId xmlns:a16="http://schemas.microsoft.com/office/drawing/2014/main" id="{9ADC3992-410C-1365-5168-5DDE2A7EDF42}"/>
                    </a:ext>
                  </a:extLst>
                </p:cNvPr>
                <p:cNvSpPr txBox="1"/>
                <p:nvPr/>
              </p:nvSpPr>
              <p:spPr>
                <a:xfrm>
                  <a:off x="4599057" y="5661827"/>
                  <a:ext cx="2363453" cy="2743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Ticket alto y monetización digital</a:t>
                  </a:r>
                </a:p>
              </p:txBody>
            </p:sp>
            <p:sp>
              <p:nvSpPr>
                <p:cNvPr id="1456" name="CuadroTexto 1455">
                  <a:extLst>
                    <a:ext uri="{FF2B5EF4-FFF2-40B4-BE49-F238E27FC236}">
                      <a16:creationId xmlns:a16="http://schemas.microsoft.com/office/drawing/2014/main" id="{02203476-E8E8-67F0-13CA-7025043E99D7}"/>
                    </a:ext>
                  </a:extLst>
                </p:cNvPr>
                <p:cNvSpPr txBox="1"/>
                <p:nvPr/>
              </p:nvSpPr>
              <p:spPr>
                <a:xfrm>
                  <a:off x="4590410" y="5395595"/>
                  <a:ext cx="156990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Ecommerce</a:t>
                  </a:r>
                  <a:endParaRPr lang="es-DO" sz="1300" b="1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</p:grpSp>
      </p:grpSp>
      <p:grpSp>
        <p:nvGrpSpPr>
          <p:cNvPr id="1214" name="Grupo 1213">
            <a:extLst>
              <a:ext uri="{FF2B5EF4-FFF2-40B4-BE49-F238E27FC236}">
                <a16:creationId xmlns:a16="http://schemas.microsoft.com/office/drawing/2014/main" id="{ADF73429-3806-FE1D-D922-24F56A8D1E44}"/>
              </a:ext>
            </a:extLst>
          </p:cNvPr>
          <p:cNvGrpSpPr/>
          <p:nvPr/>
        </p:nvGrpSpPr>
        <p:grpSpPr>
          <a:xfrm>
            <a:off x="7467600" y="4610100"/>
            <a:ext cx="3511296" cy="5031774"/>
            <a:chOff x="7467600" y="4762500"/>
            <a:chExt cx="3511296" cy="5031774"/>
          </a:xfrm>
        </p:grpSpPr>
        <p:grpSp>
          <p:nvGrpSpPr>
            <p:cNvPr id="1387" name="Grupo 1386">
              <a:extLst>
                <a:ext uri="{FF2B5EF4-FFF2-40B4-BE49-F238E27FC236}">
                  <a16:creationId xmlns:a16="http://schemas.microsoft.com/office/drawing/2014/main" id="{DAD09894-2C22-D5E5-0CFB-C75413E83B96}"/>
                </a:ext>
              </a:extLst>
            </p:cNvPr>
            <p:cNvGrpSpPr/>
            <p:nvPr/>
          </p:nvGrpSpPr>
          <p:grpSpPr>
            <a:xfrm>
              <a:off x="7467600" y="4762500"/>
              <a:ext cx="3511296" cy="5031774"/>
              <a:chOff x="126246" y="5541455"/>
              <a:chExt cx="3511296" cy="5031774"/>
            </a:xfrm>
          </p:grpSpPr>
          <p:sp>
            <p:nvSpPr>
              <p:cNvPr id="85" name="Rectángulo 84">
                <a:extLst>
                  <a:ext uri="{FF2B5EF4-FFF2-40B4-BE49-F238E27FC236}">
                    <a16:creationId xmlns:a16="http://schemas.microsoft.com/office/drawing/2014/main" id="{F0E088A0-8FEE-BC3B-6A09-AE9DDD33AE2B}"/>
                  </a:ext>
                </a:extLst>
              </p:cNvPr>
              <p:cNvSpPr/>
              <p:nvPr/>
            </p:nvSpPr>
            <p:spPr>
              <a:xfrm>
                <a:off x="126246" y="5544029"/>
                <a:ext cx="3511296" cy="5029200"/>
              </a:xfrm>
              <a:prstGeom prst="rect">
                <a:avLst/>
              </a:prstGeom>
              <a:solidFill>
                <a:srgbClr val="FBF9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93" name="Freeform 16">
                <a:extLst>
                  <a:ext uri="{FF2B5EF4-FFF2-40B4-BE49-F238E27FC236}">
                    <a16:creationId xmlns:a16="http://schemas.microsoft.com/office/drawing/2014/main" id="{0BFAE3BA-A38A-8167-01EB-F9F7F107B9CD}"/>
                  </a:ext>
                </a:extLst>
              </p:cNvPr>
              <p:cNvSpPr/>
              <p:nvPr/>
            </p:nvSpPr>
            <p:spPr>
              <a:xfrm>
                <a:off x="126246" y="5541455"/>
                <a:ext cx="3493008" cy="356616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s-DO" sz="1400" b="1" dirty="0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3. Los segmentos compran </a:t>
                </a:r>
                <a:r>
                  <a:rPr lang="es-DO" sz="1400" b="1" dirty="0" err="1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disitinto</a:t>
                </a:r>
                <a:endParaRPr lang="es-DO" sz="14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p:grpSp>
        <p:sp>
          <p:nvSpPr>
            <p:cNvPr id="1390" name="CuadroTexto 1389">
              <a:extLst>
                <a:ext uri="{FF2B5EF4-FFF2-40B4-BE49-F238E27FC236}">
                  <a16:creationId xmlns:a16="http://schemas.microsoft.com/office/drawing/2014/main" id="{598E488C-6397-4701-8038-5ABC7125C65C}"/>
                </a:ext>
              </a:extLst>
            </p:cNvPr>
            <p:cNvSpPr txBox="1"/>
            <p:nvPr/>
          </p:nvSpPr>
          <p:spPr>
            <a:xfrm>
              <a:off x="7620000" y="5372100"/>
              <a:ext cx="3276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Las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diferencias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se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explican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más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por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afinidad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comercial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que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por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intensidad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de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consumo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</a:t>
              </a:r>
              <a:endParaRPr lang="es-DO" sz="1200" i="1" dirty="0"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grpSp>
          <p:nvGrpSpPr>
            <p:cNvPr id="1464" name="Grupo 1463">
              <a:extLst>
                <a:ext uri="{FF2B5EF4-FFF2-40B4-BE49-F238E27FC236}">
                  <a16:creationId xmlns:a16="http://schemas.microsoft.com/office/drawing/2014/main" id="{4A7CC544-0BA3-7D35-0D05-DC5ACA11C0B1}"/>
                </a:ext>
              </a:extLst>
            </p:cNvPr>
            <p:cNvGrpSpPr/>
            <p:nvPr/>
          </p:nvGrpSpPr>
          <p:grpSpPr>
            <a:xfrm>
              <a:off x="7956761" y="6134100"/>
              <a:ext cx="2787202" cy="543231"/>
              <a:chOff x="4184015" y="5395595"/>
              <a:chExt cx="2787202" cy="543231"/>
            </a:xfrm>
          </p:grpSpPr>
          <p:pic>
            <p:nvPicPr>
              <p:cNvPr id="1465" name="Imagen 1464">
                <a:extLst>
                  <a:ext uri="{FF2B5EF4-FFF2-40B4-BE49-F238E27FC236}">
                    <a16:creationId xmlns:a16="http://schemas.microsoft.com/office/drawing/2014/main" id="{46C24823-5DAC-7064-9FE5-D85575773F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184015" y="5497560"/>
                <a:ext cx="419808" cy="419808"/>
              </a:xfrm>
              <a:prstGeom prst="rect">
                <a:avLst/>
              </a:prstGeom>
            </p:spPr>
          </p:pic>
          <p:grpSp>
            <p:nvGrpSpPr>
              <p:cNvPr id="1466" name="Grupo 1465">
                <a:extLst>
                  <a:ext uri="{FF2B5EF4-FFF2-40B4-BE49-F238E27FC236}">
                    <a16:creationId xmlns:a16="http://schemas.microsoft.com/office/drawing/2014/main" id="{53BF66AF-CEB0-7FBF-08A6-2BFEC32CF03F}"/>
                  </a:ext>
                </a:extLst>
              </p:cNvPr>
              <p:cNvGrpSpPr/>
              <p:nvPr/>
            </p:nvGrpSpPr>
            <p:grpSpPr>
              <a:xfrm>
                <a:off x="4639553" y="5395595"/>
                <a:ext cx="2331664" cy="543231"/>
                <a:chOff x="4590410" y="5395595"/>
                <a:chExt cx="2331664" cy="543231"/>
              </a:xfrm>
            </p:grpSpPr>
            <p:sp>
              <p:nvSpPr>
                <p:cNvPr id="1467" name="CuadroTexto 1466">
                  <a:extLst>
                    <a:ext uri="{FF2B5EF4-FFF2-40B4-BE49-F238E27FC236}">
                      <a16:creationId xmlns:a16="http://schemas.microsoft.com/office/drawing/2014/main" id="{CF252B5A-05C0-9734-E02A-FD30D1729653}"/>
                    </a:ext>
                  </a:extLst>
                </p:cNvPr>
                <p:cNvSpPr txBox="1"/>
                <p:nvPr/>
              </p:nvSpPr>
              <p:spPr>
                <a:xfrm>
                  <a:off x="4599056" y="5661827"/>
                  <a:ext cx="232301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≈ 3 </a:t>
                  </a:r>
                  <a:r>
                    <a:rPr lang="en-US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T</a:t>
                  </a:r>
                  <a:r>
                    <a:rPr lang="es-DO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ransacciones</a:t>
                  </a:r>
                  <a:r>
                    <a:rPr lang="es-DO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por clientes</a:t>
                  </a:r>
                </a:p>
              </p:txBody>
            </p:sp>
            <p:sp>
              <p:nvSpPr>
                <p:cNvPr id="1468" name="CuadroTexto 1467">
                  <a:extLst>
                    <a:ext uri="{FF2B5EF4-FFF2-40B4-BE49-F238E27FC236}">
                      <a16:creationId xmlns:a16="http://schemas.microsoft.com/office/drawing/2014/main" id="{AD5F3302-F687-39FB-8A95-1B8AB5F99703}"/>
                    </a:ext>
                  </a:extLst>
                </p:cNvPr>
                <p:cNvSpPr txBox="1"/>
                <p:nvPr/>
              </p:nvSpPr>
              <p:spPr>
                <a:xfrm>
                  <a:off x="4590410" y="5395595"/>
                  <a:ext cx="187470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Frecuencia </a:t>
                  </a:r>
                  <a:r>
                    <a:rPr lang="en-US" sz="1300" b="1" dirty="0" err="1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promedio</a:t>
                  </a:r>
                  <a:endParaRPr lang="es-DO" sz="1300" b="1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</p:grpSp>
        <p:grpSp>
          <p:nvGrpSpPr>
            <p:cNvPr id="1469" name="Grupo 1468">
              <a:extLst>
                <a:ext uri="{FF2B5EF4-FFF2-40B4-BE49-F238E27FC236}">
                  <a16:creationId xmlns:a16="http://schemas.microsoft.com/office/drawing/2014/main" id="{60B1CC76-C64E-C9A3-0C6B-5AFDEE076758}"/>
                </a:ext>
              </a:extLst>
            </p:cNvPr>
            <p:cNvGrpSpPr/>
            <p:nvPr/>
          </p:nvGrpSpPr>
          <p:grpSpPr>
            <a:xfrm>
              <a:off x="8126087" y="6943006"/>
              <a:ext cx="2313313" cy="540552"/>
              <a:chOff x="4087487" y="6131923"/>
              <a:chExt cx="2313313" cy="540552"/>
            </a:xfrm>
          </p:grpSpPr>
          <p:pic>
            <p:nvPicPr>
              <p:cNvPr id="1470" name="Imagen 1469">
                <a:extLst>
                  <a:ext uri="{FF2B5EF4-FFF2-40B4-BE49-F238E27FC236}">
                    <a16:creationId xmlns:a16="http://schemas.microsoft.com/office/drawing/2014/main" id="{C1255915-D6BB-E1C9-B987-1A39BA2264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087487" y="6192295"/>
                <a:ext cx="419808" cy="419808"/>
              </a:xfrm>
              <a:prstGeom prst="rect">
                <a:avLst/>
              </a:prstGeom>
            </p:spPr>
          </p:pic>
          <p:grpSp>
            <p:nvGrpSpPr>
              <p:cNvPr id="1471" name="Grupo 1470">
                <a:extLst>
                  <a:ext uri="{FF2B5EF4-FFF2-40B4-BE49-F238E27FC236}">
                    <a16:creationId xmlns:a16="http://schemas.microsoft.com/office/drawing/2014/main" id="{FFA66839-F1A3-10CA-F4BC-1BF839C54B52}"/>
                  </a:ext>
                </a:extLst>
              </p:cNvPr>
              <p:cNvGrpSpPr/>
              <p:nvPr/>
            </p:nvGrpSpPr>
            <p:grpSpPr>
              <a:xfrm>
                <a:off x="4594943" y="6131923"/>
                <a:ext cx="1805857" cy="540552"/>
                <a:chOff x="4590410" y="5395595"/>
                <a:chExt cx="1805857" cy="540552"/>
              </a:xfrm>
            </p:grpSpPr>
            <p:sp>
              <p:nvSpPr>
                <p:cNvPr id="128" name="CuadroTexto 127">
                  <a:extLst>
                    <a:ext uri="{FF2B5EF4-FFF2-40B4-BE49-F238E27FC236}">
                      <a16:creationId xmlns:a16="http://schemas.microsoft.com/office/drawing/2014/main" id="{7A0D99FE-7019-17DF-BD41-A095F4B395B2}"/>
                    </a:ext>
                  </a:extLst>
                </p:cNvPr>
                <p:cNvSpPr txBox="1"/>
                <p:nvPr/>
              </p:nvSpPr>
              <p:spPr>
                <a:xfrm>
                  <a:off x="4599057" y="5661827"/>
                  <a:ext cx="1797210" cy="2743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RD$2.0K – 2.1K</a:t>
                  </a:r>
                </a:p>
              </p:txBody>
            </p:sp>
            <p:sp>
              <p:nvSpPr>
                <p:cNvPr id="129" name="CuadroTexto 128">
                  <a:extLst>
                    <a:ext uri="{FF2B5EF4-FFF2-40B4-BE49-F238E27FC236}">
                      <a16:creationId xmlns:a16="http://schemas.microsoft.com/office/drawing/2014/main" id="{328540F9-7A30-49EF-2208-0E51133745FF}"/>
                    </a:ext>
                  </a:extLst>
                </p:cNvPr>
                <p:cNvSpPr txBox="1"/>
                <p:nvPr/>
              </p:nvSpPr>
              <p:spPr>
                <a:xfrm>
                  <a:off x="4590410" y="5395595"/>
                  <a:ext cx="156990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Ticket </a:t>
                  </a:r>
                  <a:r>
                    <a:rPr lang="en-US" sz="1300" b="1" dirty="0" err="1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promedio</a:t>
                  </a:r>
                  <a:endParaRPr lang="es-DO" sz="1300" b="1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</p:grpSp>
        <p:grpSp>
          <p:nvGrpSpPr>
            <p:cNvPr id="130" name="Grupo 129">
              <a:extLst>
                <a:ext uri="{FF2B5EF4-FFF2-40B4-BE49-F238E27FC236}">
                  <a16:creationId xmlns:a16="http://schemas.microsoft.com/office/drawing/2014/main" id="{560C6D74-43DC-6FEA-25D1-6853E8773C1B}"/>
                </a:ext>
              </a:extLst>
            </p:cNvPr>
            <p:cNvGrpSpPr/>
            <p:nvPr/>
          </p:nvGrpSpPr>
          <p:grpSpPr>
            <a:xfrm>
              <a:off x="8202287" y="7838579"/>
              <a:ext cx="2694313" cy="540552"/>
              <a:chOff x="4087487" y="6839381"/>
              <a:chExt cx="2694313" cy="540552"/>
            </a:xfrm>
          </p:grpSpPr>
          <p:pic>
            <p:nvPicPr>
              <p:cNvPr id="131" name="Imagen 130">
                <a:extLst>
                  <a:ext uri="{FF2B5EF4-FFF2-40B4-BE49-F238E27FC236}">
                    <a16:creationId xmlns:a16="http://schemas.microsoft.com/office/drawing/2014/main" id="{5BF22997-3120-9A6A-2577-B98B926359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087487" y="6899753"/>
                <a:ext cx="419808" cy="419808"/>
              </a:xfrm>
              <a:prstGeom prst="rect">
                <a:avLst/>
              </a:prstGeom>
            </p:spPr>
          </p:pic>
          <p:grpSp>
            <p:nvGrpSpPr>
              <p:cNvPr id="132" name="Grupo 131">
                <a:extLst>
                  <a:ext uri="{FF2B5EF4-FFF2-40B4-BE49-F238E27FC236}">
                    <a16:creationId xmlns:a16="http://schemas.microsoft.com/office/drawing/2014/main" id="{19896907-E5D1-FF61-58EA-77E5795D74CE}"/>
                  </a:ext>
                </a:extLst>
              </p:cNvPr>
              <p:cNvGrpSpPr/>
              <p:nvPr/>
            </p:nvGrpSpPr>
            <p:grpSpPr>
              <a:xfrm>
                <a:off x="4639553" y="6839381"/>
                <a:ext cx="2142247" cy="540552"/>
                <a:chOff x="4590410" y="5395595"/>
                <a:chExt cx="2142247" cy="540552"/>
              </a:xfrm>
            </p:grpSpPr>
            <p:sp>
              <p:nvSpPr>
                <p:cNvPr id="133" name="CuadroTexto 132">
                  <a:extLst>
                    <a:ext uri="{FF2B5EF4-FFF2-40B4-BE49-F238E27FC236}">
                      <a16:creationId xmlns:a16="http://schemas.microsoft.com/office/drawing/2014/main" id="{7C049855-B010-EDA0-5E99-1AF53848B177}"/>
                    </a:ext>
                  </a:extLst>
                </p:cNvPr>
                <p:cNvSpPr txBox="1"/>
                <p:nvPr/>
              </p:nvSpPr>
              <p:spPr>
                <a:xfrm>
                  <a:off x="4599057" y="5661827"/>
                  <a:ext cx="2133600" cy="2743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40-45 días</a:t>
                  </a:r>
                </a:p>
              </p:txBody>
            </p:sp>
            <p:sp>
              <p:nvSpPr>
                <p:cNvPr id="134" name="CuadroTexto 133">
                  <a:extLst>
                    <a:ext uri="{FF2B5EF4-FFF2-40B4-BE49-F238E27FC236}">
                      <a16:creationId xmlns:a16="http://schemas.microsoft.com/office/drawing/2014/main" id="{2A6F8472-7BD9-86EC-C68A-9C3A50A75532}"/>
                    </a:ext>
                  </a:extLst>
                </p:cNvPr>
                <p:cNvSpPr txBox="1"/>
                <p:nvPr/>
              </p:nvSpPr>
              <p:spPr>
                <a:xfrm>
                  <a:off x="4590410" y="5395595"/>
                  <a:ext cx="2142247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 err="1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Recencia</a:t>
                  </a:r>
                  <a:r>
                    <a:rPr lang="en-US" sz="13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 (</a:t>
                  </a:r>
                  <a:r>
                    <a:rPr lang="en-US" sz="1300" b="1" dirty="0" err="1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promedio</a:t>
                  </a:r>
                  <a:r>
                    <a:rPr lang="en-US" sz="13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 días)</a:t>
                  </a:r>
                  <a:endParaRPr lang="es-DO" sz="1300" b="1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</p:grpSp>
      </p:grpSp>
      <p:grpSp>
        <p:nvGrpSpPr>
          <p:cNvPr id="176" name="Grupo 175">
            <a:extLst>
              <a:ext uri="{FF2B5EF4-FFF2-40B4-BE49-F238E27FC236}">
                <a16:creationId xmlns:a16="http://schemas.microsoft.com/office/drawing/2014/main" id="{2365C406-11C0-718A-6A84-242BC0ED704C}"/>
              </a:ext>
            </a:extLst>
          </p:cNvPr>
          <p:cNvGrpSpPr/>
          <p:nvPr/>
        </p:nvGrpSpPr>
        <p:grpSpPr>
          <a:xfrm>
            <a:off x="14656379" y="4610100"/>
            <a:ext cx="3511296" cy="5031774"/>
            <a:chOff x="126246" y="5541455"/>
            <a:chExt cx="3511296" cy="5031774"/>
          </a:xfrm>
        </p:grpSpPr>
        <p:sp>
          <p:nvSpPr>
            <p:cNvPr id="1121" name="Rectángulo 1120">
              <a:extLst>
                <a:ext uri="{FF2B5EF4-FFF2-40B4-BE49-F238E27FC236}">
                  <a16:creationId xmlns:a16="http://schemas.microsoft.com/office/drawing/2014/main" id="{8ECE2B10-0496-356F-2CF5-9E9CBA426833}"/>
                </a:ext>
              </a:extLst>
            </p:cNvPr>
            <p:cNvSpPr/>
            <p:nvPr/>
          </p:nvSpPr>
          <p:spPr>
            <a:xfrm>
              <a:off x="126246" y="5544029"/>
              <a:ext cx="3511296" cy="5029200"/>
            </a:xfrm>
            <a:prstGeom prst="rect">
              <a:avLst/>
            </a:prstGeom>
            <a:solidFill>
              <a:srgbClr val="FBF9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>
                <a:latin typeface="Aptos" panose="020B0004020202020204" pitchFamily="34" charset="0"/>
              </a:endParaRPr>
            </a:p>
          </p:txBody>
        </p:sp>
        <p:sp>
          <p:nvSpPr>
            <p:cNvPr id="1122" name="Freeform 16">
              <a:extLst>
                <a:ext uri="{FF2B5EF4-FFF2-40B4-BE49-F238E27FC236}">
                  <a16:creationId xmlns:a16="http://schemas.microsoft.com/office/drawing/2014/main" id="{9F7A13D0-4FDF-314F-0F0D-7BCF8F5877C8}"/>
                </a:ext>
              </a:extLst>
            </p:cNvPr>
            <p:cNvSpPr/>
            <p:nvPr/>
          </p:nvSpPr>
          <p:spPr>
            <a:xfrm>
              <a:off x="126246" y="5541455"/>
              <a:ext cx="3493008" cy="356616"/>
            </a:xfrm>
            <a:custGeom>
              <a:avLst/>
              <a:gdLst/>
              <a:ahLst/>
              <a:cxnLst/>
              <a:rect l="l" t="t" r="r" b="b"/>
              <a:pathLst>
                <a:path w="4741590" h="780608">
                  <a:moveTo>
                    <a:pt x="0" y="0"/>
                  </a:moveTo>
                  <a:lnTo>
                    <a:pt x="4741590" y="0"/>
                  </a:lnTo>
                  <a:lnTo>
                    <a:pt x="4741590" y="780608"/>
                  </a:lnTo>
                  <a:lnTo>
                    <a:pt x="0" y="780608"/>
                  </a:lnTo>
                  <a:close/>
                </a:path>
              </a:pathLst>
            </a:custGeom>
            <a:solidFill>
              <a:srgbClr val="1C3F60"/>
            </a:solidFill>
          </p:spPr>
          <p:txBody>
            <a:bodyPr anchor="ctr"/>
            <a:lstStyle/>
            <a:p>
              <a:pPr algn="ctr"/>
              <a:r>
                <a:rPr lang="es-DO" sz="14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5. Nichos comercio-segmento</a:t>
              </a:r>
            </a:p>
          </p:txBody>
        </p:sp>
      </p:grpSp>
      <p:grpSp>
        <p:nvGrpSpPr>
          <p:cNvPr id="1547" name="Grupo 1546">
            <a:extLst>
              <a:ext uri="{FF2B5EF4-FFF2-40B4-BE49-F238E27FC236}">
                <a16:creationId xmlns:a16="http://schemas.microsoft.com/office/drawing/2014/main" id="{A1A18E51-E7E5-D932-B827-C0A155D19009}"/>
              </a:ext>
            </a:extLst>
          </p:cNvPr>
          <p:cNvGrpSpPr/>
          <p:nvPr/>
        </p:nvGrpSpPr>
        <p:grpSpPr>
          <a:xfrm>
            <a:off x="14726084" y="5176772"/>
            <a:ext cx="3303224" cy="731520"/>
            <a:chOff x="14726084" y="5070092"/>
            <a:chExt cx="3303224" cy="731520"/>
          </a:xfrm>
        </p:grpSpPr>
        <p:sp>
          <p:nvSpPr>
            <p:cNvPr id="1137" name="Diagrama de flujo: proceso alternativo 1136">
              <a:extLst>
                <a:ext uri="{FF2B5EF4-FFF2-40B4-BE49-F238E27FC236}">
                  <a16:creationId xmlns:a16="http://schemas.microsoft.com/office/drawing/2014/main" id="{DCC5FB75-8A84-F6DD-4B9E-6A3DB4C74C81}"/>
                </a:ext>
              </a:extLst>
            </p:cNvPr>
            <p:cNvSpPr/>
            <p:nvPr/>
          </p:nvSpPr>
          <p:spPr>
            <a:xfrm>
              <a:off x="14726084" y="5070092"/>
              <a:ext cx="3291840" cy="731520"/>
            </a:xfrm>
            <a:prstGeom prst="flowChartAlternateProcess">
              <a:avLst/>
            </a:prstGeom>
            <a:solidFill>
              <a:srgbClr val="EEEC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   </a:t>
              </a:r>
              <a:endParaRPr lang="es-DO" sz="130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pic>
          <p:nvPicPr>
            <p:cNvPr id="1099" name="Imagen 1098">
              <a:extLst>
                <a:ext uri="{FF2B5EF4-FFF2-40B4-BE49-F238E27FC236}">
                  <a16:creationId xmlns:a16="http://schemas.microsoft.com/office/drawing/2014/main" id="{231D961C-BD4C-292F-F4F3-000B7897C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790754" y="5078796"/>
              <a:ext cx="327204" cy="327204"/>
            </a:xfrm>
            <a:prstGeom prst="rect">
              <a:avLst/>
            </a:prstGeom>
          </p:spPr>
        </p:pic>
        <p:grpSp>
          <p:nvGrpSpPr>
            <p:cNvPr id="1534" name="Grupo 1533">
              <a:extLst>
                <a:ext uri="{FF2B5EF4-FFF2-40B4-BE49-F238E27FC236}">
                  <a16:creationId xmlns:a16="http://schemas.microsoft.com/office/drawing/2014/main" id="{91710AA5-C6C0-EECB-9E5B-5DC8953F30E4}"/>
                </a:ext>
              </a:extLst>
            </p:cNvPr>
            <p:cNvGrpSpPr/>
            <p:nvPr/>
          </p:nvGrpSpPr>
          <p:grpSpPr>
            <a:xfrm>
              <a:off x="15582997" y="5181394"/>
              <a:ext cx="2446311" cy="460750"/>
              <a:chOff x="15557069" y="5122434"/>
              <a:chExt cx="2446311" cy="460750"/>
            </a:xfrm>
          </p:grpSpPr>
          <p:sp>
            <p:nvSpPr>
              <p:cNvPr id="1146" name="CuadroTexto 1145">
                <a:extLst>
                  <a:ext uri="{FF2B5EF4-FFF2-40B4-BE49-F238E27FC236}">
                    <a16:creationId xmlns:a16="http://schemas.microsoft.com/office/drawing/2014/main" id="{43BCCC02-4235-9FAB-976D-E5A5575DA664}"/>
                  </a:ext>
                </a:extLst>
              </p:cNvPr>
              <p:cNvSpPr txBox="1"/>
              <p:nvPr/>
            </p:nvSpPr>
            <p:spPr>
              <a:xfrm>
                <a:off x="16752009" y="5155958"/>
                <a:ext cx="742369" cy="276999"/>
              </a:xfrm>
              <a:prstGeom prst="rect">
                <a:avLst/>
              </a:prstGeom>
              <a:noFill/>
            </p:spPr>
            <p:txBody>
              <a:bodyPr wrap="square" lIns="27432" rIns="27432" rtlCol="0">
                <a:spAutoFit/>
              </a:bodyPr>
              <a:lstStyle/>
              <a:p>
                <a:pPr algn="ctr"/>
                <a:r>
                  <a:rPr lang="en-US" sz="11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Premium </a:t>
                </a:r>
                <a:r>
                  <a:rPr lang="en-US" sz="1200" b="1" dirty="0">
                    <a:solidFill>
                      <a:schemeClr val="tx2">
                        <a:lumMod val="50000"/>
                      </a:schemeClr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+</a:t>
                </a:r>
                <a:endParaRPr lang="es-DO" sz="800" b="1" dirty="0">
                  <a:solidFill>
                    <a:schemeClr val="tx2">
                      <a:lumMod val="50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142" name="CuadroTexto 1141">
                <a:extLst>
                  <a:ext uri="{FF2B5EF4-FFF2-40B4-BE49-F238E27FC236}">
                    <a16:creationId xmlns:a16="http://schemas.microsoft.com/office/drawing/2014/main" id="{F0AD78DA-D961-94B8-9B50-231CABA7A6B5}"/>
                  </a:ext>
                </a:extLst>
              </p:cNvPr>
              <p:cNvSpPr txBox="1"/>
              <p:nvPr/>
            </p:nvSpPr>
            <p:spPr>
              <a:xfrm>
                <a:off x="17424386" y="5163175"/>
                <a:ext cx="578994" cy="261610"/>
              </a:xfrm>
              <a:prstGeom prst="rect">
                <a:avLst/>
              </a:prstGeom>
              <a:noFill/>
            </p:spPr>
            <p:txBody>
              <a:bodyPr wrap="square" lIns="27432" rIns="27432" rtlCol="0">
                <a:spAutoFit/>
              </a:bodyPr>
              <a:lstStyle/>
              <a:p>
                <a:pPr algn="ctr"/>
                <a:r>
                  <a:rPr lang="en-US" sz="1100" b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</a:t>
                </a:r>
                <a:endParaRPr lang="es-DO" sz="800" b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105" name="CuadroTexto 1104">
                <a:extLst>
                  <a:ext uri="{FF2B5EF4-FFF2-40B4-BE49-F238E27FC236}">
                    <a16:creationId xmlns:a16="http://schemas.microsoft.com/office/drawing/2014/main" id="{C7C293EA-CD94-CE06-BA29-57BECA6DFDFF}"/>
                  </a:ext>
                </a:extLst>
              </p:cNvPr>
              <p:cNvSpPr txBox="1"/>
              <p:nvPr/>
            </p:nvSpPr>
            <p:spPr>
              <a:xfrm>
                <a:off x="15567840" y="5122434"/>
                <a:ext cx="1226533" cy="307777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lstStyle/>
              <a:p>
                <a:r>
                  <a:rPr lang="en-US" sz="1400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Electronica </a:t>
                </a:r>
                <a:r>
                  <a:rPr lang="es-DO" sz="1400" dirty="0"/>
                  <a:t>→</a:t>
                </a:r>
                <a:r>
                  <a:rPr lang="en-US" sz="1400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 </a:t>
                </a:r>
                <a:endParaRPr lang="es-DO" sz="1200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sp>
            <p:nvSpPr>
              <p:cNvPr id="1104" name="CuadroTexto 1103">
                <a:extLst>
                  <a:ext uri="{FF2B5EF4-FFF2-40B4-BE49-F238E27FC236}">
                    <a16:creationId xmlns:a16="http://schemas.microsoft.com/office/drawing/2014/main" id="{BDEB2DE2-9FF9-8446-30C7-656F02CA93F9}"/>
                  </a:ext>
                </a:extLst>
              </p:cNvPr>
              <p:cNvSpPr txBox="1"/>
              <p:nvPr/>
            </p:nvSpPr>
            <p:spPr>
              <a:xfrm>
                <a:off x="15557069" y="5367740"/>
                <a:ext cx="2171603" cy="215444"/>
              </a:xfrm>
              <a:prstGeom prst="rect">
                <a:avLst/>
              </a:prstGeom>
              <a:noFill/>
            </p:spPr>
            <p:txBody>
              <a:bodyPr wrap="square" bIns="0" rtlCol="0">
                <a:spAutoFit/>
              </a:bodyPr>
              <a:lstStyle/>
              <a:p>
                <a:r>
                  <a:rPr lang="es-DO" sz="110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Alto crecimiento + monetización.</a:t>
                </a:r>
              </a:p>
            </p:txBody>
          </p:sp>
        </p:grpSp>
        <p:pic>
          <p:nvPicPr>
            <p:cNvPr id="1546" name="Imagen 1545">
              <a:extLst>
                <a:ext uri="{FF2B5EF4-FFF2-40B4-BE49-F238E27FC236}">
                  <a16:creationId xmlns:a16="http://schemas.microsoft.com/office/drawing/2014/main" id="{7335578C-FBBC-1CAD-1B1D-AFE163B65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126766" y="5208659"/>
              <a:ext cx="468241" cy="468241"/>
            </a:xfrm>
            <a:prstGeom prst="rect">
              <a:avLst/>
            </a:prstGeom>
          </p:spPr>
        </p:pic>
      </p:grpSp>
      <p:grpSp>
        <p:nvGrpSpPr>
          <p:cNvPr id="1549" name="Grupo 1548">
            <a:extLst>
              <a:ext uri="{FF2B5EF4-FFF2-40B4-BE49-F238E27FC236}">
                <a16:creationId xmlns:a16="http://schemas.microsoft.com/office/drawing/2014/main" id="{01892604-FB1E-1D11-CED3-50CDA3284C2A}"/>
              </a:ext>
            </a:extLst>
          </p:cNvPr>
          <p:cNvGrpSpPr/>
          <p:nvPr/>
        </p:nvGrpSpPr>
        <p:grpSpPr>
          <a:xfrm>
            <a:off x="14766107" y="6013407"/>
            <a:ext cx="3291840" cy="732007"/>
            <a:chOff x="14766107" y="5983307"/>
            <a:chExt cx="3291840" cy="732007"/>
          </a:xfrm>
        </p:grpSpPr>
        <p:sp>
          <p:nvSpPr>
            <p:cNvPr id="652" name="Diagrama de flujo: proceso alternativo 651">
              <a:extLst>
                <a:ext uri="{FF2B5EF4-FFF2-40B4-BE49-F238E27FC236}">
                  <a16:creationId xmlns:a16="http://schemas.microsoft.com/office/drawing/2014/main" id="{5D676899-C2D0-88AF-E6A3-199FBAA02B9F}"/>
                </a:ext>
              </a:extLst>
            </p:cNvPr>
            <p:cNvSpPr/>
            <p:nvPr/>
          </p:nvSpPr>
          <p:spPr>
            <a:xfrm>
              <a:off x="14766107" y="5983794"/>
              <a:ext cx="3291840" cy="731520"/>
            </a:xfrm>
            <a:prstGeom prst="flowChartAlternateProcess">
              <a:avLst/>
            </a:prstGeom>
            <a:solidFill>
              <a:srgbClr val="EEEC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   </a:t>
              </a:r>
              <a:endParaRPr lang="es-DO" sz="130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pic>
          <p:nvPicPr>
            <p:cNvPr id="658" name="Imagen 657">
              <a:extLst>
                <a:ext uri="{FF2B5EF4-FFF2-40B4-BE49-F238E27FC236}">
                  <a16:creationId xmlns:a16="http://schemas.microsoft.com/office/drawing/2014/main" id="{4ED84BC8-C2E6-A54A-E6C0-FF2752EF3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825282" y="5983307"/>
              <a:ext cx="329184" cy="329184"/>
            </a:xfrm>
            <a:prstGeom prst="rect">
              <a:avLst/>
            </a:prstGeom>
          </p:spPr>
        </p:pic>
        <p:grpSp>
          <p:nvGrpSpPr>
            <p:cNvPr id="1490" name="Grupo 1489">
              <a:extLst>
                <a:ext uri="{FF2B5EF4-FFF2-40B4-BE49-F238E27FC236}">
                  <a16:creationId xmlns:a16="http://schemas.microsoft.com/office/drawing/2014/main" id="{5EBFB187-C47D-512D-26C0-A34225647009}"/>
                </a:ext>
              </a:extLst>
            </p:cNvPr>
            <p:cNvGrpSpPr/>
            <p:nvPr/>
          </p:nvGrpSpPr>
          <p:grpSpPr>
            <a:xfrm>
              <a:off x="15638407" y="6086377"/>
              <a:ext cx="2419540" cy="469727"/>
              <a:chOff x="15298704" y="5128199"/>
              <a:chExt cx="2419540" cy="469727"/>
            </a:xfrm>
          </p:grpSpPr>
          <p:grpSp>
            <p:nvGrpSpPr>
              <p:cNvPr id="1491" name="Grupo 1490">
                <a:extLst>
                  <a:ext uri="{FF2B5EF4-FFF2-40B4-BE49-F238E27FC236}">
                    <a16:creationId xmlns:a16="http://schemas.microsoft.com/office/drawing/2014/main" id="{62CBA8FF-9D7D-8FE6-6EA1-BC77002C984B}"/>
                  </a:ext>
                </a:extLst>
              </p:cNvPr>
              <p:cNvGrpSpPr/>
              <p:nvPr/>
            </p:nvGrpSpPr>
            <p:grpSpPr>
              <a:xfrm>
                <a:off x="15298704" y="5128199"/>
                <a:ext cx="2419540" cy="320158"/>
                <a:chOff x="15434433" y="5066656"/>
                <a:chExt cx="2419540" cy="320158"/>
              </a:xfrm>
            </p:grpSpPr>
            <p:sp>
              <p:nvSpPr>
                <p:cNvPr id="1493" name="CuadroTexto 1492">
                  <a:extLst>
                    <a:ext uri="{FF2B5EF4-FFF2-40B4-BE49-F238E27FC236}">
                      <a16:creationId xmlns:a16="http://schemas.microsoft.com/office/drawing/2014/main" id="{C5B2DDC0-1992-25C8-406D-C410041BE50E}"/>
                    </a:ext>
                  </a:extLst>
                </p:cNvPr>
                <p:cNvSpPr txBox="1"/>
                <p:nvPr/>
              </p:nvSpPr>
              <p:spPr>
                <a:xfrm>
                  <a:off x="16743771" y="5122630"/>
                  <a:ext cx="524692" cy="261610"/>
                </a:xfrm>
                <a:prstGeom prst="rect">
                  <a:avLst/>
                </a:prstGeom>
                <a:noFill/>
              </p:spPr>
              <p:txBody>
                <a:bodyPr wrap="square" lIns="27432" rIns="27432" rtlCol="0">
                  <a:spAutoFit/>
                </a:bodyPr>
                <a:lstStyle/>
                <a:p>
                  <a:pPr algn="ctr"/>
                  <a:r>
                    <a:rPr lang="en-US" sz="110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Joven</a:t>
                  </a:r>
                  <a:r>
                    <a:rPr lang="en-US" sz="100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</a:t>
                  </a:r>
                  <a:r>
                    <a:rPr lang="en-US" sz="1000" b="1" dirty="0">
                      <a:solidFill>
                        <a:schemeClr val="tx2">
                          <a:lumMod val="50000"/>
                        </a:schemeClr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+</a:t>
                  </a:r>
                  <a:endParaRPr lang="es-DO" sz="600" b="1" dirty="0">
                    <a:solidFill>
                      <a:schemeClr val="tx2">
                        <a:lumMod val="50000"/>
                      </a:schemeClr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sp>
              <p:nvSpPr>
                <p:cNvPr id="1494" name="CuadroTexto 1493">
                  <a:extLst>
                    <a:ext uri="{FF2B5EF4-FFF2-40B4-BE49-F238E27FC236}">
                      <a16:creationId xmlns:a16="http://schemas.microsoft.com/office/drawing/2014/main" id="{B3C45A86-B6CF-4674-08F2-979799493B55}"/>
                    </a:ext>
                  </a:extLst>
                </p:cNvPr>
                <p:cNvSpPr txBox="1"/>
                <p:nvPr/>
              </p:nvSpPr>
              <p:spPr>
                <a:xfrm>
                  <a:off x="17187032" y="5125204"/>
                  <a:ext cx="666941" cy="261610"/>
                </a:xfrm>
                <a:prstGeom prst="rect">
                  <a:avLst/>
                </a:prstGeom>
                <a:noFill/>
              </p:spPr>
              <p:txBody>
                <a:bodyPr wrap="square" lIns="27432" rIns="27432" rtlCol="0">
                  <a:spAutoFit/>
                </a:bodyPr>
                <a:lstStyle/>
                <a:p>
                  <a:pPr algn="ctr"/>
                  <a:r>
                    <a:rPr lang="en-US" sz="110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Premium</a:t>
                  </a:r>
                  <a:endParaRPr lang="es-DO" sz="8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sp>
              <p:nvSpPr>
                <p:cNvPr id="1495" name="CuadroTexto 1494">
                  <a:extLst>
                    <a:ext uri="{FF2B5EF4-FFF2-40B4-BE49-F238E27FC236}">
                      <a16:creationId xmlns:a16="http://schemas.microsoft.com/office/drawing/2014/main" id="{7FE5F29B-87B7-7218-87A1-AD2D297871BC}"/>
                    </a:ext>
                  </a:extLst>
                </p:cNvPr>
                <p:cNvSpPr txBox="1"/>
                <p:nvPr/>
              </p:nvSpPr>
              <p:spPr>
                <a:xfrm>
                  <a:off x="15434433" y="5066656"/>
                  <a:ext cx="1371600" cy="307777"/>
                </a:xfrm>
                <a:prstGeom prst="rect">
                  <a:avLst/>
                </a:prstGeom>
                <a:noFill/>
              </p:spPr>
              <p:txBody>
                <a:bodyPr wrap="square" rIns="0" rtlCol="0">
                  <a:spAutoFit/>
                </a:bodyPr>
                <a:lstStyle/>
                <a:p>
                  <a:r>
                    <a:rPr lang="en-US" sz="1400" dirty="0" err="1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Restaurantes</a:t>
                  </a:r>
                  <a:r>
                    <a:rPr lang="en-US" sz="1400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 </a:t>
                  </a:r>
                  <a:r>
                    <a:rPr lang="es-DO" sz="1200" dirty="0"/>
                    <a:t>→</a:t>
                  </a:r>
                  <a:endParaRPr lang="es-DO" sz="1200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  <p:sp>
            <p:nvSpPr>
              <p:cNvPr id="1492" name="CuadroTexto 1491">
                <a:extLst>
                  <a:ext uri="{FF2B5EF4-FFF2-40B4-BE49-F238E27FC236}">
                    <a16:creationId xmlns:a16="http://schemas.microsoft.com/office/drawing/2014/main" id="{81EC98C6-7260-6241-116A-AA12162D7B95}"/>
                  </a:ext>
                </a:extLst>
              </p:cNvPr>
              <p:cNvSpPr txBox="1"/>
              <p:nvPr/>
            </p:nvSpPr>
            <p:spPr>
              <a:xfrm>
                <a:off x="15324384" y="5382482"/>
                <a:ext cx="1590218" cy="215444"/>
              </a:xfrm>
              <a:prstGeom prst="rect">
                <a:avLst/>
              </a:prstGeom>
              <a:noFill/>
            </p:spPr>
            <p:txBody>
              <a:bodyPr wrap="square" bIns="0" rtlCol="0">
                <a:spAutoFit/>
              </a:bodyPr>
              <a:lstStyle/>
              <a:p>
                <a:r>
                  <a:rPr lang="es-DO" sz="110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Afinidad + expansión.</a:t>
                </a:r>
              </a:p>
            </p:txBody>
          </p:sp>
        </p:grpSp>
        <p:pic>
          <p:nvPicPr>
            <p:cNvPr id="1548" name="Imagen 1547">
              <a:extLst>
                <a:ext uri="{FF2B5EF4-FFF2-40B4-BE49-F238E27FC236}">
                  <a16:creationId xmlns:a16="http://schemas.microsoft.com/office/drawing/2014/main" id="{4FC41C6F-0C89-1546-B5DE-8E39CDF52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174075" y="6078370"/>
              <a:ext cx="468241" cy="468241"/>
            </a:xfrm>
            <a:prstGeom prst="rect">
              <a:avLst/>
            </a:prstGeom>
          </p:spPr>
        </p:pic>
      </p:grpSp>
      <p:grpSp>
        <p:nvGrpSpPr>
          <p:cNvPr id="1566" name="Grupo 1565">
            <a:extLst>
              <a:ext uri="{FF2B5EF4-FFF2-40B4-BE49-F238E27FC236}">
                <a16:creationId xmlns:a16="http://schemas.microsoft.com/office/drawing/2014/main" id="{402A9312-D228-A985-8186-9001C5CA695F}"/>
              </a:ext>
            </a:extLst>
          </p:cNvPr>
          <p:cNvGrpSpPr/>
          <p:nvPr/>
        </p:nvGrpSpPr>
        <p:grpSpPr>
          <a:xfrm>
            <a:off x="14782801" y="6850529"/>
            <a:ext cx="3291840" cy="734501"/>
            <a:chOff x="14782801" y="6795698"/>
            <a:chExt cx="3291840" cy="734501"/>
          </a:xfrm>
        </p:grpSpPr>
        <p:sp>
          <p:nvSpPr>
            <p:cNvPr id="667" name="Diagrama de flujo: proceso alternativo 666">
              <a:extLst>
                <a:ext uri="{FF2B5EF4-FFF2-40B4-BE49-F238E27FC236}">
                  <a16:creationId xmlns:a16="http://schemas.microsoft.com/office/drawing/2014/main" id="{1AD4CF1B-F2E8-72F3-0C2E-976964D0E623}"/>
                </a:ext>
              </a:extLst>
            </p:cNvPr>
            <p:cNvSpPr/>
            <p:nvPr/>
          </p:nvSpPr>
          <p:spPr>
            <a:xfrm>
              <a:off x="14782801" y="6798679"/>
              <a:ext cx="3291840" cy="731520"/>
            </a:xfrm>
            <a:prstGeom prst="flowChartAlternateProcess">
              <a:avLst/>
            </a:prstGeom>
            <a:solidFill>
              <a:srgbClr val="EEEC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   </a:t>
              </a:r>
              <a:endParaRPr lang="es-DO" sz="130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pic>
          <p:nvPicPr>
            <p:cNvPr id="674" name="Imagen 673">
              <a:extLst>
                <a:ext uri="{FF2B5EF4-FFF2-40B4-BE49-F238E27FC236}">
                  <a16:creationId xmlns:a16="http://schemas.microsoft.com/office/drawing/2014/main" id="{64695E5E-2847-D7D1-3216-2B364FEBC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904001" y="6795698"/>
              <a:ext cx="329184" cy="329184"/>
            </a:xfrm>
            <a:prstGeom prst="rect">
              <a:avLst/>
            </a:prstGeom>
          </p:spPr>
        </p:pic>
        <p:grpSp>
          <p:nvGrpSpPr>
            <p:cNvPr id="1496" name="Grupo 1495">
              <a:extLst>
                <a:ext uri="{FF2B5EF4-FFF2-40B4-BE49-F238E27FC236}">
                  <a16:creationId xmlns:a16="http://schemas.microsoft.com/office/drawing/2014/main" id="{B9C9DA8C-965C-B955-E7B4-A277683A0B8F}"/>
                </a:ext>
              </a:extLst>
            </p:cNvPr>
            <p:cNvGrpSpPr/>
            <p:nvPr/>
          </p:nvGrpSpPr>
          <p:grpSpPr>
            <a:xfrm>
              <a:off x="15683569" y="6896100"/>
              <a:ext cx="2301698" cy="469727"/>
              <a:chOff x="15298091" y="5204216"/>
              <a:chExt cx="2301698" cy="469727"/>
            </a:xfrm>
          </p:grpSpPr>
          <p:grpSp>
            <p:nvGrpSpPr>
              <p:cNvPr id="1497" name="Grupo 1496">
                <a:extLst>
                  <a:ext uri="{FF2B5EF4-FFF2-40B4-BE49-F238E27FC236}">
                    <a16:creationId xmlns:a16="http://schemas.microsoft.com/office/drawing/2014/main" id="{56E1513F-20E9-CBE4-9C54-2DBB5CE7D736}"/>
                  </a:ext>
                </a:extLst>
              </p:cNvPr>
              <p:cNvGrpSpPr/>
              <p:nvPr/>
            </p:nvGrpSpPr>
            <p:grpSpPr>
              <a:xfrm>
                <a:off x="15298091" y="5204216"/>
                <a:ext cx="2021691" cy="307777"/>
                <a:chOff x="15433820" y="5142673"/>
                <a:chExt cx="2021691" cy="307777"/>
              </a:xfrm>
            </p:grpSpPr>
            <p:sp>
              <p:nvSpPr>
                <p:cNvPr id="1499" name="CuadroTexto 1498">
                  <a:extLst>
                    <a:ext uri="{FF2B5EF4-FFF2-40B4-BE49-F238E27FC236}">
                      <a16:creationId xmlns:a16="http://schemas.microsoft.com/office/drawing/2014/main" id="{16A6834B-2920-1E29-287E-27BE8061D149}"/>
                    </a:ext>
                  </a:extLst>
                </p:cNvPr>
                <p:cNvSpPr txBox="1"/>
                <p:nvPr/>
              </p:nvSpPr>
              <p:spPr>
                <a:xfrm>
                  <a:off x="16930819" y="5173490"/>
                  <a:ext cx="524692" cy="261610"/>
                </a:xfrm>
                <a:prstGeom prst="rect">
                  <a:avLst/>
                </a:prstGeom>
                <a:noFill/>
              </p:spPr>
              <p:txBody>
                <a:bodyPr wrap="square" lIns="27432" rIns="27432" rtlCol="0">
                  <a:spAutoFit/>
                </a:bodyPr>
                <a:lstStyle/>
                <a:p>
                  <a:pPr algn="ctr"/>
                  <a:r>
                    <a:rPr lang="en-US" sz="110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Joven </a:t>
                  </a:r>
                  <a:endParaRPr lang="es-DO" sz="8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sp>
              <p:nvSpPr>
                <p:cNvPr id="1501" name="CuadroTexto 1500">
                  <a:extLst>
                    <a:ext uri="{FF2B5EF4-FFF2-40B4-BE49-F238E27FC236}">
                      <a16:creationId xmlns:a16="http://schemas.microsoft.com/office/drawing/2014/main" id="{97EF83CA-8B14-9CEA-3538-2752C63B483E}"/>
                    </a:ext>
                  </a:extLst>
                </p:cNvPr>
                <p:cNvSpPr txBox="1"/>
                <p:nvPr/>
              </p:nvSpPr>
              <p:spPr>
                <a:xfrm>
                  <a:off x="15433820" y="5142673"/>
                  <a:ext cx="1574806" cy="307777"/>
                </a:xfrm>
                <a:prstGeom prst="rect">
                  <a:avLst/>
                </a:prstGeom>
                <a:noFill/>
              </p:spPr>
              <p:txBody>
                <a:bodyPr wrap="square" rIns="0" rtlCol="0">
                  <a:spAutoFit/>
                </a:bodyPr>
                <a:lstStyle/>
                <a:p>
                  <a:r>
                    <a:rPr lang="en-US" sz="1400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Supermercados </a:t>
                  </a:r>
                  <a:r>
                    <a:rPr lang="es-DO" sz="1200" dirty="0"/>
                    <a:t>→</a:t>
                  </a:r>
                  <a:endParaRPr lang="es-DO" sz="1200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  <p:sp>
            <p:nvSpPr>
              <p:cNvPr id="1498" name="CuadroTexto 1497">
                <a:extLst>
                  <a:ext uri="{FF2B5EF4-FFF2-40B4-BE49-F238E27FC236}">
                    <a16:creationId xmlns:a16="http://schemas.microsoft.com/office/drawing/2014/main" id="{F8F3881A-DB2F-2F73-0025-98891493894B}"/>
                  </a:ext>
                </a:extLst>
              </p:cNvPr>
              <p:cNvSpPr txBox="1"/>
              <p:nvPr/>
            </p:nvSpPr>
            <p:spPr>
              <a:xfrm>
                <a:off x="15323771" y="5458499"/>
                <a:ext cx="2276018" cy="215444"/>
              </a:xfrm>
              <a:prstGeom prst="rect">
                <a:avLst/>
              </a:prstGeom>
              <a:noFill/>
            </p:spPr>
            <p:txBody>
              <a:bodyPr wrap="square" bIns="0" rtlCol="0">
                <a:spAutoFit/>
              </a:bodyPr>
              <a:lstStyle/>
              <a:p>
                <a:r>
                  <a:rPr lang="es-DO" sz="110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Mayor frecuencia + estabilidad.</a:t>
                </a:r>
              </a:p>
            </p:txBody>
          </p:sp>
        </p:grpSp>
        <p:pic>
          <p:nvPicPr>
            <p:cNvPr id="1550" name="Imagen 1549">
              <a:extLst>
                <a:ext uri="{FF2B5EF4-FFF2-40B4-BE49-F238E27FC236}">
                  <a16:creationId xmlns:a16="http://schemas.microsoft.com/office/drawing/2014/main" id="{E467C180-752B-FDF5-BD04-220D1E6DD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248550" y="6971802"/>
              <a:ext cx="416574" cy="416574"/>
            </a:xfrm>
            <a:prstGeom prst="rect">
              <a:avLst/>
            </a:prstGeom>
          </p:spPr>
        </p:pic>
      </p:grpSp>
      <p:grpSp>
        <p:nvGrpSpPr>
          <p:cNvPr id="1553" name="Grupo 1552">
            <a:extLst>
              <a:ext uri="{FF2B5EF4-FFF2-40B4-BE49-F238E27FC236}">
                <a16:creationId xmlns:a16="http://schemas.microsoft.com/office/drawing/2014/main" id="{4A15FBE5-04E7-3B98-50B9-F0F4A17F5550}"/>
              </a:ext>
            </a:extLst>
          </p:cNvPr>
          <p:cNvGrpSpPr/>
          <p:nvPr/>
        </p:nvGrpSpPr>
        <p:grpSpPr>
          <a:xfrm>
            <a:off x="14771988" y="7690145"/>
            <a:ext cx="3291840" cy="731520"/>
            <a:chOff x="14771988" y="7811198"/>
            <a:chExt cx="3291840" cy="731520"/>
          </a:xfrm>
        </p:grpSpPr>
        <p:sp>
          <p:nvSpPr>
            <p:cNvPr id="699" name="Diagrama de flujo: proceso alternativo 698">
              <a:extLst>
                <a:ext uri="{FF2B5EF4-FFF2-40B4-BE49-F238E27FC236}">
                  <a16:creationId xmlns:a16="http://schemas.microsoft.com/office/drawing/2014/main" id="{7A64C36F-C9DC-BF16-8108-859FC287D219}"/>
                </a:ext>
              </a:extLst>
            </p:cNvPr>
            <p:cNvSpPr/>
            <p:nvPr/>
          </p:nvSpPr>
          <p:spPr>
            <a:xfrm>
              <a:off x="14771988" y="7811198"/>
              <a:ext cx="3291840" cy="731520"/>
            </a:xfrm>
            <a:prstGeom prst="flowChartAlternateProcess">
              <a:avLst/>
            </a:prstGeom>
            <a:solidFill>
              <a:srgbClr val="EEEC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   </a:t>
              </a:r>
              <a:endParaRPr lang="es-DO" sz="130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grpSp>
          <p:nvGrpSpPr>
            <p:cNvPr id="1505" name="Grupo 1504">
              <a:extLst>
                <a:ext uri="{FF2B5EF4-FFF2-40B4-BE49-F238E27FC236}">
                  <a16:creationId xmlns:a16="http://schemas.microsoft.com/office/drawing/2014/main" id="{38FED780-56A5-F090-3A1F-42FA3D78FCC5}"/>
                </a:ext>
              </a:extLst>
            </p:cNvPr>
            <p:cNvGrpSpPr/>
            <p:nvPr/>
          </p:nvGrpSpPr>
          <p:grpSpPr>
            <a:xfrm>
              <a:off x="15693370" y="7950373"/>
              <a:ext cx="2301698" cy="469727"/>
              <a:chOff x="15247571" y="5191689"/>
              <a:chExt cx="2301698" cy="469727"/>
            </a:xfrm>
          </p:grpSpPr>
          <p:grpSp>
            <p:nvGrpSpPr>
              <p:cNvPr id="1506" name="Grupo 1505">
                <a:extLst>
                  <a:ext uri="{FF2B5EF4-FFF2-40B4-BE49-F238E27FC236}">
                    <a16:creationId xmlns:a16="http://schemas.microsoft.com/office/drawing/2014/main" id="{5D05F1CE-ACE2-E2B3-838D-A3F5249D9F42}"/>
                  </a:ext>
                </a:extLst>
              </p:cNvPr>
              <p:cNvGrpSpPr/>
              <p:nvPr/>
            </p:nvGrpSpPr>
            <p:grpSpPr>
              <a:xfrm>
                <a:off x="15247571" y="5191689"/>
                <a:ext cx="2004093" cy="317584"/>
                <a:chOff x="15383300" y="5130146"/>
                <a:chExt cx="2004093" cy="317584"/>
              </a:xfrm>
            </p:grpSpPr>
            <p:sp>
              <p:nvSpPr>
                <p:cNvPr id="1508" name="CuadroTexto 1507">
                  <a:extLst>
                    <a:ext uri="{FF2B5EF4-FFF2-40B4-BE49-F238E27FC236}">
                      <a16:creationId xmlns:a16="http://schemas.microsoft.com/office/drawing/2014/main" id="{BBD67586-D403-6557-7D25-F8DA3E641044}"/>
                    </a:ext>
                  </a:extLst>
                </p:cNvPr>
                <p:cNvSpPr txBox="1"/>
                <p:nvPr/>
              </p:nvSpPr>
              <p:spPr>
                <a:xfrm>
                  <a:off x="16453930" y="5186120"/>
                  <a:ext cx="933463" cy="261610"/>
                </a:xfrm>
                <a:prstGeom prst="rect">
                  <a:avLst/>
                </a:prstGeom>
                <a:noFill/>
              </p:spPr>
              <p:txBody>
                <a:bodyPr wrap="square" lIns="27432" rIns="27432" rtlCol="0">
                  <a:spAutoFit/>
                </a:bodyPr>
                <a:lstStyle/>
                <a:p>
                  <a:pPr algn="ctr"/>
                  <a:r>
                    <a:rPr lang="en-US" sz="110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Empresarial </a:t>
                  </a:r>
                  <a:endParaRPr lang="es-DO" sz="11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sp>
              <p:nvSpPr>
                <p:cNvPr id="1509" name="CuadroTexto 1508">
                  <a:extLst>
                    <a:ext uri="{FF2B5EF4-FFF2-40B4-BE49-F238E27FC236}">
                      <a16:creationId xmlns:a16="http://schemas.microsoft.com/office/drawing/2014/main" id="{3BDE8E08-215C-D0FC-32F8-139A23521CCD}"/>
                    </a:ext>
                  </a:extLst>
                </p:cNvPr>
                <p:cNvSpPr txBox="1"/>
                <p:nvPr/>
              </p:nvSpPr>
              <p:spPr>
                <a:xfrm>
                  <a:off x="15383300" y="5130146"/>
                  <a:ext cx="1574806" cy="307777"/>
                </a:xfrm>
                <a:prstGeom prst="rect">
                  <a:avLst/>
                </a:prstGeom>
                <a:noFill/>
              </p:spPr>
              <p:txBody>
                <a:bodyPr wrap="square" rIns="0" rtlCol="0">
                  <a:spAutoFit/>
                </a:bodyPr>
                <a:lstStyle/>
                <a:p>
                  <a:r>
                    <a:rPr lang="en-US" sz="1400" dirty="0" err="1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Farmacias</a:t>
                  </a:r>
                  <a:r>
                    <a:rPr lang="en-US" sz="1400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  </a:t>
                  </a:r>
                  <a:r>
                    <a:rPr lang="es-DO" sz="1200" dirty="0"/>
                    <a:t>→</a:t>
                  </a:r>
                  <a:endParaRPr lang="es-DO" sz="1200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  <p:sp>
            <p:nvSpPr>
              <p:cNvPr id="1507" name="CuadroTexto 1506">
                <a:extLst>
                  <a:ext uri="{FF2B5EF4-FFF2-40B4-BE49-F238E27FC236}">
                    <a16:creationId xmlns:a16="http://schemas.microsoft.com/office/drawing/2014/main" id="{D427DD3F-5CB8-934D-4CE5-C29ADD4D5FBB}"/>
                  </a:ext>
                </a:extLst>
              </p:cNvPr>
              <p:cNvSpPr txBox="1"/>
              <p:nvPr/>
            </p:nvSpPr>
            <p:spPr>
              <a:xfrm>
                <a:off x="15273251" y="5445972"/>
                <a:ext cx="2276018" cy="215444"/>
              </a:xfrm>
              <a:prstGeom prst="rect">
                <a:avLst/>
              </a:prstGeom>
              <a:noFill/>
            </p:spPr>
            <p:txBody>
              <a:bodyPr wrap="square" bIns="0" rtlCol="0">
                <a:spAutoFit/>
              </a:bodyPr>
              <a:lstStyle/>
              <a:p>
                <a:r>
                  <a:rPr lang="es-DO" sz="110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Mayor recurrencia.</a:t>
                </a:r>
              </a:p>
            </p:txBody>
          </p:sp>
        </p:grpSp>
        <p:pic>
          <p:nvPicPr>
            <p:cNvPr id="1525" name="Imagen 1524">
              <a:extLst>
                <a:ext uri="{FF2B5EF4-FFF2-40B4-BE49-F238E27FC236}">
                  <a16:creationId xmlns:a16="http://schemas.microsoft.com/office/drawing/2014/main" id="{36E803DD-CC3F-18BA-67EE-B8904FD9C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899549" y="7825644"/>
              <a:ext cx="237744" cy="237744"/>
            </a:xfrm>
            <a:prstGeom prst="rect">
              <a:avLst/>
            </a:prstGeom>
          </p:spPr>
        </p:pic>
        <p:pic>
          <p:nvPicPr>
            <p:cNvPr id="1552" name="Imagen 1551">
              <a:extLst>
                <a:ext uri="{FF2B5EF4-FFF2-40B4-BE49-F238E27FC236}">
                  <a16:creationId xmlns:a16="http://schemas.microsoft.com/office/drawing/2014/main" id="{FFB1A18D-EF2D-DD38-4F91-B93A4B257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258711" y="7931553"/>
              <a:ext cx="416574" cy="416574"/>
            </a:xfrm>
            <a:prstGeom prst="rect">
              <a:avLst/>
            </a:prstGeom>
          </p:spPr>
        </p:pic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E4408EF5-C063-A4A2-F983-F7BB2C2D66BD}"/>
              </a:ext>
            </a:extLst>
          </p:cNvPr>
          <p:cNvGrpSpPr/>
          <p:nvPr/>
        </p:nvGrpSpPr>
        <p:grpSpPr>
          <a:xfrm>
            <a:off x="14782801" y="8526780"/>
            <a:ext cx="3381821" cy="731520"/>
            <a:chOff x="14782801" y="8526780"/>
            <a:chExt cx="3381821" cy="731520"/>
          </a:xfrm>
        </p:grpSpPr>
        <p:sp>
          <p:nvSpPr>
            <p:cNvPr id="1163" name="Diagrama de flujo: proceso alternativo 1162">
              <a:extLst>
                <a:ext uri="{FF2B5EF4-FFF2-40B4-BE49-F238E27FC236}">
                  <a16:creationId xmlns:a16="http://schemas.microsoft.com/office/drawing/2014/main" id="{19D74E2F-ECBB-14E0-4971-5E58D210EFF7}"/>
                </a:ext>
              </a:extLst>
            </p:cNvPr>
            <p:cNvSpPr/>
            <p:nvPr/>
          </p:nvSpPr>
          <p:spPr>
            <a:xfrm>
              <a:off x="14782801" y="8526780"/>
              <a:ext cx="3291840" cy="731520"/>
            </a:xfrm>
            <a:prstGeom prst="flowChartAlternateProcess">
              <a:avLst/>
            </a:prstGeom>
            <a:solidFill>
              <a:srgbClr val="EEEC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   </a:t>
              </a:r>
              <a:endParaRPr lang="es-DO" sz="130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pic>
          <p:nvPicPr>
            <p:cNvPr id="1169" name="Imagen 1168">
              <a:extLst>
                <a:ext uri="{FF2B5EF4-FFF2-40B4-BE49-F238E27FC236}">
                  <a16:creationId xmlns:a16="http://schemas.microsoft.com/office/drawing/2014/main" id="{8AD16FBC-5B96-D9D2-FED5-4A9903BC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909135" y="8544856"/>
              <a:ext cx="237744" cy="237744"/>
            </a:xfrm>
            <a:prstGeom prst="rect">
              <a:avLst/>
            </a:prstGeom>
          </p:spPr>
        </p:pic>
        <p:sp>
          <p:nvSpPr>
            <p:cNvPr id="1523" name="CuadroTexto 1522">
              <a:extLst>
                <a:ext uri="{FF2B5EF4-FFF2-40B4-BE49-F238E27FC236}">
                  <a16:creationId xmlns:a16="http://schemas.microsoft.com/office/drawing/2014/main" id="{D6EC09A1-1717-DDE8-A65A-BC4D519BA615}"/>
                </a:ext>
              </a:extLst>
            </p:cNvPr>
            <p:cNvSpPr txBox="1"/>
            <p:nvPr/>
          </p:nvSpPr>
          <p:spPr>
            <a:xfrm>
              <a:off x="16867515" y="8648700"/>
              <a:ext cx="652792" cy="261610"/>
            </a:xfrm>
            <a:prstGeom prst="rect">
              <a:avLst/>
            </a:prstGeom>
            <a:noFill/>
          </p:spPr>
          <p:txBody>
            <a:bodyPr wrap="square" lIns="27432" rIns="27432" rtlCol="0">
              <a:spAutoFit/>
            </a:bodyPr>
            <a:lstStyle/>
            <a:p>
              <a:pPr algn="ctr"/>
              <a:r>
                <a:rPr lang="en-US" sz="1100" b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Todos </a:t>
              </a:r>
              <a:endParaRPr lang="es-DO" sz="800" b="1" dirty="0"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524" name="CuadroTexto 1523">
              <a:extLst>
                <a:ext uri="{FF2B5EF4-FFF2-40B4-BE49-F238E27FC236}">
                  <a16:creationId xmlns:a16="http://schemas.microsoft.com/office/drawing/2014/main" id="{99337FBC-4FCA-C895-FDF3-EDDD7BD017D7}"/>
                </a:ext>
              </a:extLst>
            </p:cNvPr>
            <p:cNvSpPr txBox="1"/>
            <p:nvPr/>
          </p:nvSpPr>
          <p:spPr>
            <a:xfrm>
              <a:off x="15693363" y="8613373"/>
              <a:ext cx="1688528" cy="30777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US" sz="14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Ecommerce  </a:t>
              </a:r>
              <a:r>
                <a:rPr lang="es-DO" sz="1200" dirty="0"/>
                <a:t>→</a:t>
              </a:r>
              <a:endParaRPr lang="es-DO" sz="1200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522" name="CuadroTexto 1521">
              <a:extLst>
                <a:ext uri="{FF2B5EF4-FFF2-40B4-BE49-F238E27FC236}">
                  <a16:creationId xmlns:a16="http://schemas.microsoft.com/office/drawing/2014/main" id="{2417DDA5-AC8C-A015-DF73-558D7BCF7C7A}"/>
                </a:ext>
              </a:extLst>
            </p:cNvPr>
            <p:cNvSpPr txBox="1"/>
            <p:nvPr/>
          </p:nvSpPr>
          <p:spPr>
            <a:xfrm>
              <a:off x="15724246" y="8873763"/>
              <a:ext cx="2440376" cy="215444"/>
            </a:xfrm>
            <a:prstGeom prst="rect">
              <a:avLst/>
            </a:prstGeom>
            <a:noFill/>
          </p:spPr>
          <p:txBody>
            <a:bodyPr wrap="square" bIns="0" rtlCol="0">
              <a:spAutoFit/>
            </a:bodyPr>
            <a:lstStyle/>
            <a:p>
              <a:r>
                <a:rPr lang="es-DO" sz="11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Ticket alto + baja transaccionalidad.</a:t>
              </a:r>
            </a:p>
          </p:txBody>
        </p:sp>
        <p:pic>
          <p:nvPicPr>
            <p:cNvPr id="1554" name="Imagen 1553">
              <a:extLst>
                <a:ext uri="{FF2B5EF4-FFF2-40B4-BE49-F238E27FC236}">
                  <a16:creationId xmlns:a16="http://schemas.microsoft.com/office/drawing/2014/main" id="{13948E36-970A-1741-CE19-C81762B3B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276788" y="8648617"/>
              <a:ext cx="416574" cy="416574"/>
            </a:xfrm>
            <a:prstGeom prst="rect">
              <a:avLst/>
            </a:prstGeom>
          </p:spPr>
        </p:pic>
      </p:grpSp>
      <p:sp>
        <p:nvSpPr>
          <p:cNvPr id="1575" name="CuadroTexto 1574">
            <a:extLst>
              <a:ext uri="{FF2B5EF4-FFF2-40B4-BE49-F238E27FC236}">
                <a16:creationId xmlns:a16="http://schemas.microsoft.com/office/drawing/2014/main" id="{7B7AC06B-6BC4-7FDC-FB8D-76C15ECC5D86}"/>
              </a:ext>
            </a:extLst>
          </p:cNvPr>
          <p:cNvSpPr txBox="1"/>
          <p:nvPr/>
        </p:nvSpPr>
        <p:spPr>
          <a:xfrm>
            <a:off x="521621" y="2241863"/>
            <a:ext cx="17649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DO" sz="1400" b="1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Consumo migra hacia rubros de mayor valor, los comercios cumplen roles distintos, los segmentos                                                                                 compran diferente y nichos concentran crecimiento, monetización y recurrencia.</a:t>
            </a:r>
          </a:p>
        </p:txBody>
      </p:sp>
    </p:spTree>
    <p:extLst>
      <p:ext uri="{BB962C8B-B14F-4D97-AF65-F5344CB8AC3E}">
        <p14:creationId xmlns:p14="http://schemas.microsoft.com/office/powerpoint/2010/main" val="229638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F7D5E-B8EF-AA83-F6E7-F0EB25181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7449D27-5C08-81D1-8C21-685015544936}"/>
              </a:ext>
            </a:extLst>
          </p:cNvPr>
          <p:cNvCxnSpPr>
            <a:cxnSpLocks/>
          </p:cNvCxnSpPr>
          <p:nvPr/>
        </p:nvCxnSpPr>
        <p:spPr>
          <a:xfrm>
            <a:off x="0" y="952500"/>
            <a:ext cx="18288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DB07520C-E574-CA1E-25F5-62A499D66F29}"/>
              </a:ext>
            </a:extLst>
          </p:cNvPr>
          <p:cNvSpPr txBox="1"/>
          <p:nvPr/>
        </p:nvSpPr>
        <p:spPr>
          <a:xfrm>
            <a:off x="3730922" y="214483"/>
            <a:ext cx="6614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DO" sz="140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¿Qué está cambiando? ¿Qué rubros están ganando o perdiendo relevancia?, ¿Cómo se comporta cada comercio?, ¿Qué rol juega cada rubro dentro del negocio?</a:t>
            </a:r>
            <a:endParaRPr lang="es-DO" sz="1400" i="1" dirty="0">
              <a:solidFill>
                <a:schemeClr val="tx2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644" name="Conector recto 643">
            <a:extLst>
              <a:ext uri="{FF2B5EF4-FFF2-40B4-BE49-F238E27FC236}">
                <a16:creationId xmlns:a16="http://schemas.microsoft.com/office/drawing/2014/main" id="{05C2B090-E127-754A-DABE-782141F0299B}"/>
              </a:ext>
            </a:extLst>
          </p:cNvPr>
          <p:cNvCxnSpPr/>
          <p:nvPr/>
        </p:nvCxnSpPr>
        <p:spPr>
          <a:xfrm>
            <a:off x="3596452" y="250213"/>
            <a:ext cx="0" cy="548640"/>
          </a:xfrm>
          <a:prstGeom prst="line">
            <a:avLst/>
          </a:prstGeom>
          <a:ln w="25400">
            <a:solidFill>
              <a:srgbClr val="1C3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upo 45">
            <a:extLst>
              <a:ext uri="{FF2B5EF4-FFF2-40B4-BE49-F238E27FC236}">
                <a16:creationId xmlns:a16="http://schemas.microsoft.com/office/drawing/2014/main" id="{9C2AECB0-AB11-E33E-687E-EB270942B42D}"/>
              </a:ext>
            </a:extLst>
          </p:cNvPr>
          <p:cNvGrpSpPr/>
          <p:nvPr/>
        </p:nvGrpSpPr>
        <p:grpSpPr>
          <a:xfrm>
            <a:off x="9144000" y="1333500"/>
            <a:ext cx="8983979" cy="8534401"/>
            <a:chOff x="11582400" y="1293976"/>
            <a:chExt cx="6553200" cy="12781762"/>
          </a:xfrm>
        </p:grpSpPr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C3DB837A-A550-5EE1-6B82-4753B8460476}"/>
                </a:ext>
              </a:extLst>
            </p:cNvPr>
            <p:cNvSpPr/>
            <p:nvPr/>
          </p:nvSpPr>
          <p:spPr>
            <a:xfrm>
              <a:off x="11582400" y="1333501"/>
              <a:ext cx="6553200" cy="12742237"/>
            </a:xfrm>
            <a:prstGeom prst="rect">
              <a:avLst/>
            </a:prstGeom>
            <a:solidFill>
              <a:srgbClr val="FBF9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>
                <a:latin typeface="Aptos" panose="020B0004020202020204" pitchFamily="34" charset="0"/>
              </a:endParaRPr>
            </a:p>
          </p:txBody>
        </p:sp>
        <p:grpSp>
          <p:nvGrpSpPr>
            <p:cNvPr id="59" name="Group 15">
              <a:extLst>
                <a:ext uri="{FF2B5EF4-FFF2-40B4-BE49-F238E27FC236}">
                  <a16:creationId xmlns:a16="http://schemas.microsoft.com/office/drawing/2014/main" id="{21B00A5C-A69B-3931-E7D4-8A70D76BF5AD}"/>
                </a:ext>
              </a:extLst>
            </p:cNvPr>
            <p:cNvGrpSpPr/>
            <p:nvPr/>
          </p:nvGrpSpPr>
          <p:grpSpPr>
            <a:xfrm>
              <a:off x="11582400" y="1293976"/>
              <a:ext cx="6553199" cy="726855"/>
              <a:chOff x="-2" y="-28572"/>
              <a:chExt cx="4866538" cy="1190713"/>
            </a:xfrm>
          </p:grpSpPr>
          <p:sp>
            <p:nvSpPr>
              <p:cNvPr id="60" name="Freeform 16">
                <a:extLst>
                  <a:ext uri="{FF2B5EF4-FFF2-40B4-BE49-F238E27FC236}">
                    <a16:creationId xmlns:a16="http://schemas.microsoft.com/office/drawing/2014/main" id="{3D7CA135-328A-A581-352D-32867EEE2565}"/>
                  </a:ext>
                </a:extLst>
              </p:cNvPr>
              <p:cNvSpPr/>
              <p:nvPr/>
            </p:nvSpPr>
            <p:spPr>
              <a:xfrm>
                <a:off x="-2" y="-2"/>
                <a:ext cx="4866538" cy="1132262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1C3F60"/>
              </a:solidFill>
            </p:spPr>
            <p:txBody>
              <a:bodyPr/>
              <a:lstStyle/>
              <a:p>
                <a:endParaRPr lang="es-DO">
                  <a:latin typeface="Aptos" panose="020B0004020202020204" pitchFamily="34" charset="0"/>
                </a:endParaRPr>
              </a:p>
            </p:txBody>
          </p:sp>
          <p:sp>
            <p:nvSpPr>
              <p:cNvPr id="61" name="TextBox 17">
                <a:extLst>
                  <a:ext uri="{FF2B5EF4-FFF2-40B4-BE49-F238E27FC236}">
                    <a16:creationId xmlns:a16="http://schemas.microsoft.com/office/drawing/2014/main" id="{9288005C-1925-2AAC-F7E1-3C8A3E62ED29}"/>
                  </a:ext>
                </a:extLst>
              </p:cNvPr>
              <p:cNvSpPr txBox="1"/>
              <p:nvPr/>
            </p:nvSpPr>
            <p:spPr>
              <a:xfrm>
                <a:off x="0" y="-28572"/>
                <a:ext cx="4866536" cy="1190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r>
                  <a:rPr lang="es-DO" sz="1600" b="1" dirty="0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¿Qué está cambiando en el consumo?</a:t>
                </a:r>
              </a:p>
            </p:txBody>
          </p:sp>
        </p:grpSp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C9C4BB9A-C9BA-9C23-F175-0513A5EE8E24}"/>
              </a:ext>
            </a:extLst>
          </p:cNvPr>
          <p:cNvGrpSpPr/>
          <p:nvPr/>
        </p:nvGrpSpPr>
        <p:grpSpPr>
          <a:xfrm>
            <a:off x="9274820" y="1866901"/>
            <a:ext cx="8750360" cy="1466775"/>
            <a:chOff x="255906" y="1980191"/>
            <a:chExt cx="8750360" cy="1466775"/>
          </a:xfrm>
        </p:grpSpPr>
        <p:grpSp>
          <p:nvGrpSpPr>
            <p:cNvPr id="1378" name="Grupo 1377">
              <a:extLst>
                <a:ext uri="{FF2B5EF4-FFF2-40B4-BE49-F238E27FC236}">
                  <a16:creationId xmlns:a16="http://schemas.microsoft.com/office/drawing/2014/main" id="{107CA6DF-91E0-659D-183E-71E71B98B256}"/>
                </a:ext>
              </a:extLst>
            </p:cNvPr>
            <p:cNvGrpSpPr/>
            <p:nvPr/>
          </p:nvGrpSpPr>
          <p:grpSpPr>
            <a:xfrm>
              <a:off x="255906" y="1980191"/>
              <a:ext cx="3799134" cy="521732"/>
              <a:chOff x="10972800" y="6515100"/>
              <a:chExt cx="3799134" cy="521732"/>
            </a:xfrm>
          </p:grpSpPr>
          <p:pic>
            <p:nvPicPr>
              <p:cNvPr id="1380" name="Gráfico 1379" descr="Lightbulb and gear contorno">
                <a:extLst>
                  <a:ext uri="{FF2B5EF4-FFF2-40B4-BE49-F238E27FC236}">
                    <a16:creationId xmlns:a16="http://schemas.microsoft.com/office/drawing/2014/main" id="{A41F6B37-E6BE-3D17-18E9-D497D7111B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972800" y="6515100"/>
                <a:ext cx="521732" cy="521732"/>
              </a:xfrm>
              <a:prstGeom prst="rect">
                <a:avLst/>
              </a:prstGeom>
            </p:spPr>
          </p:pic>
          <p:sp>
            <p:nvSpPr>
              <p:cNvPr id="1381" name="CuadroTexto 1380">
                <a:extLst>
                  <a:ext uri="{FF2B5EF4-FFF2-40B4-BE49-F238E27FC236}">
                    <a16:creationId xmlns:a16="http://schemas.microsoft.com/office/drawing/2014/main" id="{A15EA5C3-7D9E-BE15-D9E6-CBBD629255D1}"/>
                  </a:ext>
                </a:extLst>
              </p:cNvPr>
              <p:cNvSpPr txBox="1"/>
              <p:nvPr/>
            </p:nvSpPr>
            <p:spPr>
              <a:xfrm>
                <a:off x="11495334" y="6591300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DO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¿Qué significa?</a:t>
                </a:r>
              </a:p>
            </p:txBody>
          </p:sp>
        </p:grpSp>
        <p:sp>
          <p:nvSpPr>
            <p:cNvPr id="1379" name="Rectángulo 1378">
              <a:extLst>
                <a:ext uri="{FF2B5EF4-FFF2-40B4-BE49-F238E27FC236}">
                  <a16:creationId xmlns:a16="http://schemas.microsoft.com/office/drawing/2014/main" id="{AA781128-E9DB-23C9-78E9-7E461958BD8A}"/>
                </a:ext>
              </a:extLst>
            </p:cNvPr>
            <p:cNvSpPr/>
            <p:nvPr/>
          </p:nvSpPr>
          <p:spPr>
            <a:xfrm>
              <a:off x="701823" y="2487985"/>
              <a:ext cx="8304443" cy="958981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El </a:t>
              </a:r>
              <a:r>
                <a:rPr lang="es-DO" sz="1200" b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consumo migra parcialmente </a:t>
              </a:r>
              <a:r>
                <a: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desde rubros esenciales (Supermercados) hacia rubros experienciales (</a:t>
              </a:r>
              <a:r>
                <a:rPr lang="es-DO" sz="1200" b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Restaurantes</a:t>
              </a:r>
              <a:r>
                <a: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) y de alto valor (</a:t>
              </a:r>
              <a:r>
                <a:rPr lang="es-DO" sz="1200" b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Electrónica</a:t>
              </a:r>
              <a:r>
                <a: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), mientras </a:t>
              </a:r>
              <a:r>
                <a:rPr lang="es-DO" sz="1200" b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otros comercios muestran comportamientos diferenciados:</a:t>
              </a:r>
              <a:r>
                <a: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s-DO" sz="1200" b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Farmacias</a:t>
              </a:r>
              <a:r>
                <a: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como rubro estable de recurrencia y </a:t>
              </a:r>
              <a:r>
                <a:rPr lang="es-DO" sz="1200" b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Ecommerce</a:t>
              </a:r>
              <a:r>
                <a: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como canal de alta monetización pese a baja participación.</a:t>
              </a:r>
              <a:endParaRPr lang="en-US" sz="1200" dirty="0"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62860611-1ABA-851B-CA23-F78BBCA49343}"/>
              </a:ext>
            </a:extLst>
          </p:cNvPr>
          <p:cNvGrpSpPr/>
          <p:nvPr/>
        </p:nvGrpSpPr>
        <p:grpSpPr>
          <a:xfrm>
            <a:off x="9281160" y="8077603"/>
            <a:ext cx="8778240" cy="1561698"/>
            <a:chOff x="213360" y="3518582"/>
            <a:chExt cx="8778240" cy="1561698"/>
          </a:xfrm>
        </p:grpSpPr>
        <p:grpSp>
          <p:nvGrpSpPr>
            <p:cNvPr id="1387" name="Grupo 1386">
              <a:extLst>
                <a:ext uri="{FF2B5EF4-FFF2-40B4-BE49-F238E27FC236}">
                  <a16:creationId xmlns:a16="http://schemas.microsoft.com/office/drawing/2014/main" id="{43B89D62-CDA9-5417-ABE8-800B2BB1EED9}"/>
                </a:ext>
              </a:extLst>
            </p:cNvPr>
            <p:cNvGrpSpPr/>
            <p:nvPr/>
          </p:nvGrpSpPr>
          <p:grpSpPr>
            <a:xfrm>
              <a:off x="213360" y="3518582"/>
              <a:ext cx="8778240" cy="1561698"/>
              <a:chOff x="6437487" y="2003059"/>
              <a:chExt cx="4632471" cy="2991305"/>
            </a:xfrm>
          </p:grpSpPr>
          <p:sp>
            <p:nvSpPr>
              <p:cNvPr id="1385" name="Rectángulo 1384">
                <a:extLst>
                  <a:ext uri="{FF2B5EF4-FFF2-40B4-BE49-F238E27FC236}">
                    <a16:creationId xmlns:a16="http://schemas.microsoft.com/office/drawing/2014/main" id="{16A37711-2CFF-7846-DE2C-4D3337B1E2BA}"/>
                  </a:ext>
                </a:extLst>
              </p:cNvPr>
              <p:cNvSpPr/>
              <p:nvPr/>
            </p:nvSpPr>
            <p:spPr>
              <a:xfrm>
                <a:off x="6437506" y="2572852"/>
                <a:ext cx="4629838" cy="24215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  <p:sp>
            <p:nvSpPr>
              <p:cNvPr id="1384" name="CuadroTexto 1383">
                <a:extLst>
                  <a:ext uri="{FF2B5EF4-FFF2-40B4-BE49-F238E27FC236}">
                    <a16:creationId xmlns:a16="http://schemas.microsoft.com/office/drawing/2014/main" id="{97B4540C-A902-7EBD-372F-54852D5DC6E9}"/>
                  </a:ext>
                </a:extLst>
              </p:cNvPr>
              <p:cNvSpPr txBox="1"/>
              <p:nvPr/>
            </p:nvSpPr>
            <p:spPr>
              <a:xfrm>
                <a:off x="6437487" y="2003059"/>
                <a:ext cx="4632471" cy="618027"/>
              </a:xfrm>
              <a:prstGeom prst="round2SameRect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vert="horz" wrap="square" rtlCol="0" anchor="ctr">
                <a:spAutoFit/>
                <a:scene3d>
                  <a:camera prst="orthographicFront">
                    <a:rot lat="0" lon="0" rev="0"/>
                  </a:camera>
                  <a:lightRig rig="threePt" dir="t"/>
                </a:scene3d>
              </a:bodyPr>
              <a:lstStyle/>
              <a:p>
                <a:pPr algn="ctr"/>
                <a:r>
                  <a:rPr lang="en-US" sz="1400" b="1" dirty="0" err="1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Comportamientos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 </a:t>
                </a:r>
                <a:r>
                  <a:rPr lang="en-US" sz="1400" b="1" dirty="0" err="1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diferenciados</a:t>
                </a:r>
                <a:endParaRPr lang="es-DO" sz="14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p:grpSp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B2FCAB13-4798-2878-D302-292229DC2E19}"/>
                </a:ext>
              </a:extLst>
            </p:cNvPr>
            <p:cNvGrpSpPr/>
            <p:nvPr/>
          </p:nvGrpSpPr>
          <p:grpSpPr>
            <a:xfrm>
              <a:off x="4551524" y="4079769"/>
              <a:ext cx="3739955" cy="773260"/>
              <a:chOff x="4551524" y="4079769"/>
              <a:chExt cx="3739955" cy="773260"/>
            </a:xfrm>
          </p:grpSpPr>
          <p:grpSp>
            <p:nvGrpSpPr>
              <p:cNvPr id="103" name="Grupo 102">
                <a:extLst>
                  <a:ext uri="{FF2B5EF4-FFF2-40B4-BE49-F238E27FC236}">
                    <a16:creationId xmlns:a16="http://schemas.microsoft.com/office/drawing/2014/main" id="{EAE7904A-F2E0-0F9B-46FA-10AC6E2C3C65}"/>
                  </a:ext>
                </a:extLst>
              </p:cNvPr>
              <p:cNvGrpSpPr/>
              <p:nvPr/>
            </p:nvGrpSpPr>
            <p:grpSpPr>
              <a:xfrm>
                <a:off x="4551524" y="4079769"/>
                <a:ext cx="1183209" cy="773260"/>
                <a:chOff x="4551524" y="4079769"/>
                <a:chExt cx="1183209" cy="773260"/>
              </a:xfrm>
            </p:grpSpPr>
            <p:sp>
              <p:nvSpPr>
                <p:cNvPr id="1404" name="CuadroTexto 1403">
                  <a:extLst>
                    <a:ext uri="{FF2B5EF4-FFF2-40B4-BE49-F238E27FC236}">
                      <a16:creationId xmlns:a16="http://schemas.microsoft.com/office/drawing/2014/main" id="{E1C4F9E5-8480-F8CB-6E8C-167A3CC88FA1}"/>
                    </a:ext>
                  </a:extLst>
                </p:cNvPr>
                <p:cNvSpPr txBox="1"/>
                <p:nvPr/>
              </p:nvSpPr>
              <p:spPr>
                <a:xfrm>
                  <a:off x="4551524" y="4578709"/>
                  <a:ext cx="1183209" cy="274320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txBody>
                <a:bodyPr wrap="square" lIns="0" rIns="0" rtlCol="0">
                  <a:spAutoFit/>
                </a:bodyPr>
                <a:lstStyle/>
                <a:p>
                  <a:r>
                    <a:rPr lang="en-US" sz="1200" b="1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Farmacias</a:t>
                  </a:r>
                  <a:endPara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88" name="Imagen 87">
                  <a:extLst>
                    <a:ext uri="{FF2B5EF4-FFF2-40B4-BE49-F238E27FC236}">
                      <a16:creationId xmlns:a16="http://schemas.microsoft.com/office/drawing/2014/main" id="{FE03596E-FA73-E2AC-7BE5-D9CA7ACD01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4616714" y="4079769"/>
                  <a:ext cx="502911" cy="492594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</p:pic>
          </p:grpSp>
          <p:sp>
            <p:nvSpPr>
              <p:cNvPr id="1402" name="CuadroTexto 1401">
                <a:extLst>
                  <a:ext uri="{FF2B5EF4-FFF2-40B4-BE49-F238E27FC236}">
                    <a16:creationId xmlns:a16="http://schemas.microsoft.com/office/drawing/2014/main" id="{E81F37DE-F2FB-FD67-C967-302A6BFFCE63}"/>
                  </a:ext>
                </a:extLst>
              </p:cNvPr>
              <p:cNvSpPr txBox="1"/>
              <p:nvPr/>
            </p:nvSpPr>
            <p:spPr>
              <a:xfrm>
                <a:off x="5432394" y="4079769"/>
                <a:ext cx="2859085" cy="73152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lIns="54864" rtlCol="0">
                <a:spAutoFit/>
              </a:bodyPr>
              <a:lstStyle/>
              <a:p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-Crecimiento moderado en </a:t>
                </a:r>
                <a:r>
                  <a: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participación mensual transaccional </a:t>
                </a:r>
              </a:p>
              <a:p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-</a:t>
                </a:r>
                <a:r>
                  <a: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3</a:t>
                </a:r>
                <a:r>
                  <a:rPr lang="es-DO" sz="1200" b="1" baseline="300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er</a:t>
                </a:r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en número de transacciones</a:t>
                </a:r>
              </a:p>
            </p:txBody>
          </p:sp>
        </p:grpSp>
        <p:grpSp>
          <p:nvGrpSpPr>
            <p:cNvPr id="105" name="Grupo 104">
              <a:extLst>
                <a:ext uri="{FF2B5EF4-FFF2-40B4-BE49-F238E27FC236}">
                  <a16:creationId xmlns:a16="http://schemas.microsoft.com/office/drawing/2014/main" id="{E50C9384-197F-A0EE-9AFB-106D0921D6B9}"/>
                </a:ext>
              </a:extLst>
            </p:cNvPr>
            <p:cNvGrpSpPr/>
            <p:nvPr/>
          </p:nvGrpSpPr>
          <p:grpSpPr>
            <a:xfrm>
              <a:off x="381000" y="4063609"/>
              <a:ext cx="4086700" cy="864271"/>
              <a:chOff x="381000" y="4063609"/>
              <a:chExt cx="4086700" cy="864271"/>
            </a:xfrm>
          </p:grpSpPr>
          <p:sp>
            <p:nvSpPr>
              <p:cNvPr id="1394" name="CuadroTexto 1393">
                <a:extLst>
                  <a:ext uri="{FF2B5EF4-FFF2-40B4-BE49-F238E27FC236}">
                    <a16:creationId xmlns:a16="http://schemas.microsoft.com/office/drawing/2014/main" id="{CD6F4884-8505-B073-4F43-2C4908A896DD}"/>
                  </a:ext>
                </a:extLst>
              </p:cNvPr>
              <p:cNvSpPr txBox="1"/>
              <p:nvPr/>
            </p:nvSpPr>
            <p:spPr>
              <a:xfrm>
                <a:off x="1322761" y="4096883"/>
                <a:ext cx="314493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54864" rtlCol="0">
                <a:spAutoFit/>
              </a:bodyPr>
              <a:lstStyle/>
              <a:p>
                <a:r>
                  <a: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- 2</a:t>
                </a:r>
                <a:r>
                  <a:rPr lang="es-DO" sz="1200" b="1" baseline="300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do </a:t>
                </a:r>
                <a:r>
                  <a: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Ticket promedio </a:t>
                </a:r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más alto </a:t>
                </a:r>
              </a:p>
              <a:p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- </a:t>
                </a:r>
                <a:r>
                  <a: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3</a:t>
                </a:r>
                <a:r>
                  <a:rPr lang="es-DO" sz="1200" b="1" baseline="300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er</a:t>
                </a:r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en monto total transado.</a:t>
                </a:r>
              </a:p>
              <a:p>
                <a:r>
                  <a: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- Poca participación </a:t>
                </a:r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en número de transacciones </a:t>
                </a:r>
              </a:p>
            </p:txBody>
          </p:sp>
          <p:grpSp>
            <p:nvGrpSpPr>
              <p:cNvPr id="89" name="Grupo 88">
                <a:extLst>
                  <a:ext uri="{FF2B5EF4-FFF2-40B4-BE49-F238E27FC236}">
                    <a16:creationId xmlns:a16="http://schemas.microsoft.com/office/drawing/2014/main" id="{AB7ABFF8-2F9E-CC48-2B66-23E711CC3770}"/>
                  </a:ext>
                </a:extLst>
              </p:cNvPr>
              <p:cNvGrpSpPr/>
              <p:nvPr/>
            </p:nvGrpSpPr>
            <p:grpSpPr>
              <a:xfrm>
                <a:off x="381000" y="4063609"/>
                <a:ext cx="1234975" cy="814374"/>
                <a:chOff x="381000" y="4063609"/>
                <a:chExt cx="1234975" cy="814374"/>
              </a:xfrm>
            </p:grpSpPr>
            <p:sp>
              <p:nvSpPr>
                <p:cNvPr id="1396" name="CuadroTexto 1395">
                  <a:extLst>
                    <a:ext uri="{FF2B5EF4-FFF2-40B4-BE49-F238E27FC236}">
                      <a16:creationId xmlns:a16="http://schemas.microsoft.com/office/drawing/2014/main" id="{635E93FA-0362-058B-EFC0-77A9C567D11E}"/>
                    </a:ext>
                  </a:extLst>
                </p:cNvPr>
                <p:cNvSpPr txBox="1"/>
                <p:nvPr/>
              </p:nvSpPr>
              <p:spPr>
                <a:xfrm>
                  <a:off x="381000" y="4603663"/>
                  <a:ext cx="123497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rIns="0" rtlCol="0">
                  <a:spAutoFit/>
                </a:bodyPr>
                <a:lstStyle/>
                <a:p>
                  <a:r>
                    <a:rPr lang="en-US" sz="120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Ecommerce</a:t>
                  </a:r>
                  <a:endPara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87" name="Imagen 86">
                  <a:extLst>
                    <a:ext uri="{FF2B5EF4-FFF2-40B4-BE49-F238E27FC236}">
                      <a16:creationId xmlns:a16="http://schemas.microsoft.com/office/drawing/2014/main" id="{931AECC6-F533-33DE-E4A4-E4C687E07E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466295" y="4063609"/>
                  <a:ext cx="524913" cy="524914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</p:grp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65227F77-EBB7-B6F9-889D-62BE4D1632F8}"/>
                </a:ext>
              </a:extLst>
            </p:cNvPr>
            <p:cNvCxnSpPr/>
            <p:nvPr/>
          </p:nvCxnSpPr>
          <p:spPr>
            <a:xfrm>
              <a:off x="4343400" y="3963583"/>
              <a:ext cx="0" cy="9144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71AB7461-8C9A-91AF-633F-DD7A00B92A1C}"/>
              </a:ext>
            </a:extLst>
          </p:cNvPr>
          <p:cNvSpPr txBox="1"/>
          <p:nvPr/>
        </p:nvSpPr>
        <p:spPr>
          <a:xfrm>
            <a:off x="40657" y="10020300"/>
            <a:ext cx="43027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*</a:t>
            </a:r>
            <a:r>
              <a:rPr lang="es-DO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Transacciones promedio por cliente activo.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550C78B6-8C27-341F-AB35-57364AF64D35}"/>
              </a:ext>
            </a:extLst>
          </p:cNvPr>
          <p:cNvSpPr/>
          <p:nvPr/>
        </p:nvSpPr>
        <p:spPr>
          <a:xfrm>
            <a:off x="90200" y="1339477"/>
            <a:ext cx="8985639" cy="8508011"/>
          </a:xfrm>
          <a:prstGeom prst="rect">
            <a:avLst/>
          </a:prstGeom>
          <a:solidFill>
            <a:srgbClr val="FBF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>
              <a:latin typeface="Aptos" panose="020B0004020202020204" pitchFamily="34" charset="0"/>
            </a:endParaRPr>
          </a:p>
        </p:txBody>
      </p:sp>
      <p:sp>
        <p:nvSpPr>
          <p:cNvPr id="190" name="Freeform 16">
            <a:extLst>
              <a:ext uri="{FF2B5EF4-FFF2-40B4-BE49-F238E27FC236}">
                <a16:creationId xmlns:a16="http://schemas.microsoft.com/office/drawing/2014/main" id="{2480A859-9E95-FD19-960E-DF7DBE9FA4FC}"/>
              </a:ext>
            </a:extLst>
          </p:cNvPr>
          <p:cNvSpPr/>
          <p:nvPr/>
        </p:nvSpPr>
        <p:spPr>
          <a:xfrm>
            <a:off x="99790" y="1333501"/>
            <a:ext cx="8985638" cy="457977"/>
          </a:xfrm>
          <a:custGeom>
            <a:avLst/>
            <a:gdLst/>
            <a:ahLst/>
            <a:cxnLst/>
            <a:rect l="l" t="t" r="r" b="b"/>
            <a:pathLst>
              <a:path w="4741590" h="780608">
                <a:moveTo>
                  <a:pt x="0" y="0"/>
                </a:moveTo>
                <a:lnTo>
                  <a:pt x="4741590" y="0"/>
                </a:lnTo>
                <a:lnTo>
                  <a:pt x="4741590" y="780608"/>
                </a:lnTo>
                <a:lnTo>
                  <a:pt x="0" y="780608"/>
                </a:lnTo>
                <a:close/>
              </a:path>
            </a:pathLst>
          </a:custGeom>
          <a:solidFill>
            <a:srgbClr val="1C3F60"/>
          </a:solidFill>
        </p:spPr>
        <p:txBody>
          <a:bodyPr anchor="ctr"/>
          <a:lstStyle/>
          <a:p>
            <a:pPr algn="ctr"/>
            <a:r>
              <a:rPr lang="es-DO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Perfil de comportamiento por comercio</a:t>
            </a:r>
          </a:p>
        </p:txBody>
      </p:sp>
      <p:grpSp>
        <p:nvGrpSpPr>
          <p:cNvPr id="1088" name="Grupo 1087">
            <a:extLst>
              <a:ext uri="{FF2B5EF4-FFF2-40B4-BE49-F238E27FC236}">
                <a16:creationId xmlns:a16="http://schemas.microsoft.com/office/drawing/2014/main" id="{E24C5049-23EA-405E-BE6E-9B94773C9717}"/>
              </a:ext>
            </a:extLst>
          </p:cNvPr>
          <p:cNvGrpSpPr/>
          <p:nvPr/>
        </p:nvGrpSpPr>
        <p:grpSpPr>
          <a:xfrm>
            <a:off x="175990" y="8434685"/>
            <a:ext cx="8738053" cy="1280815"/>
            <a:chOff x="255906" y="2087033"/>
            <a:chExt cx="8738053" cy="1280815"/>
          </a:xfrm>
        </p:grpSpPr>
        <p:grpSp>
          <p:nvGrpSpPr>
            <p:cNvPr id="1089" name="Grupo 1088">
              <a:extLst>
                <a:ext uri="{FF2B5EF4-FFF2-40B4-BE49-F238E27FC236}">
                  <a16:creationId xmlns:a16="http://schemas.microsoft.com/office/drawing/2014/main" id="{7376043D-263E-0BED-51B3-0581B5CEF3AB}"/>
                </a:ext>
              </a:extLst>
            </p:cNvPr>
            <p:cNvGrpSpPr/>
            <p:nvPr/>
          </p:nvGrpSpPr>
          <p:grpSpPr>
            <a:xfrm>
              <a:off x="255906" y="2087033"/>
              <a:ext cx="3799134" cy="521732"/>
              <a:chOff x="10972800" y="6621942"/>
              <a:chExt cx="3799134" cy="521732"/>
            </a:xfrm>
          </p:grpSpPr>
          <p:pic>
            <p:nvPicPr>
              <p:cNvPr id="1091" name="Gráfico 1090" descr="Lightbulb and gear contorno">
                <a:extLst>
                  <a:ext uri="{FF2B5EF4-FFF2-40B4-BE49-F238E27FC236}">
                    <a16:creationId xmlns:a16="http://schemas.microsoft.com/office/drawing/2014/main" id="{58B13A6D-8DE2-FEAD-2755-8964315B63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972800" y="6621942"/>
                <a:ext cx="521732" cy="521732"/>
              </a:xfrm>
              <a:prstGeom prst="rect">
                <a:avLst/>
              </a:prstGeom>
            </p:spPr>
          </p:pic>
          <p:sp>
            <p:nvSpPr>
              <p:cNvPr id="1092" name="CuadroTexto 1091">
                <a:extLst>
                  <a:ext uri="{FF2B5EF4-FFF2-40B4-BE49-F238E27FC236}">
                    <a16:creationId xmlns:a16="http://schemas.microsoft.com/office/drawing/2014/main" id="{4D4A4675-0C85-8345-CCDC-507CFC9450B7}"/>
                  </a:ext>
                </a:extLst>
              </p:cNvPr>
              <p:cNvSpPr txBox="1"/>
              <p:nvPr/>
            </p:nvSpPr>
            <p:spPr>
              <a:xfrm>
                <a:off x="11495334" y="6698142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DO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¿Qué significa?</a:t>
                </a:r>
              </a:p>
            </p:txBody>
          </p:sp>
        </p:grpSp>
        <p:sp>
          <p:nvSpPr>
            <p:cNvPr id="1090" name="Rectángulo 1089">
              <a:extLst>
                <a:ext uri="{FF2B5EF4-FFF2-40B4-BE49-F238E27FC236}">
                  <a16:creationId xmlns:a16="http://schemas.microsoft.com/office/drawing/2014/main" id="{6C021804-090E-2192-5DD8-1F943AA5D1C1}"/>
                </a:ext>
              </a:extLst>
            </p:cNvPr>
            <p:cNvSpPr/>
            <p:nvPr/>
          </p:nvSpPr>
          <p:spPr>
            <a:xfrm>
              <a:off x="689516" y="2608766"/>
              <a:ext cx="8304443" cy="75908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No todos los comercios cumplen el mismo rol:  algunos funcionan como motores de volumen (Supermercados), otros de rentabilidad (Electrónica, </a:t>
              </a:r>
              <a:r>
                <a:rPr lang="es-DO" sz="1200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Ecommerce</a:t>
              </a:r>
              <a:r>
                <a: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), y otros de activación y recurrencia (Restaurantes, Farmacias).</a:t>
              </a:r>
              <a:endParaRPr lang="en-US" sz="1200" dirty="0"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1172" name="Freeform 16">
            <a:extLst>
              <a:ext uri="{FF2B5EF4-FFF2-40B4-BE49-F238E27FC236}">
                <a16:creationId xmlns:a16="http://schemas.microsoft.com/office/drawing/2014/main" id="{21CD9395-45FA-C0B1-24B4-9CD36E0070FF}"/>
              </a:ext>
            </a:extLst>
          </p:cNvPr>
          <p:cNvSpPr/>
          <p:nvPr/>
        </p:nvSpPr>
        <p:spPr>
          <a:xfrm>
            <a:off x="99788" y="5050260"/>
            <a:ext cx="8985638" cy="457977"/>
          </a:xfrm>
          <a:custGeom>
            <a:avLst/>
            <a:gdLst/>
            <a:ahLst/>
            <a:cxnLst/>
            <a:rect l="l" t="t" r="r" b="b"/>
            <a:pathLst>
              <a:path w="4741590" h="780608">
                <a:moveTo>
                  <a:pt x="0" y="0"/>
                </a:moveTo>
                <a:lnTo>
                  <a:pt x="4741590" y="0"/>
                </a:lnTo>
                <a:lnTo>
                  <a:pt x="4741590" y="780608"/>
                </a:lnTo>
                <a:lnTo>
                  <a:pt x="0" y="780608"/>
                </a:lnTo>
                <a:close/>
              </a:path>
            </a:pathLst>
          </a:custGeom>
          <a:solidFill>
            <a:srgbClr val="1C3F60"/>
          </a:solidFill>
        </p:spPr>
        <p:txBody>
          <a:bodyPr anchor="ctr"/>
          <a:lstStyle/>
          <a:p>
            <a:pPr algn="ctr"/>
            <a:r>
              <a:rPr lang="es-DO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Nichos de oportunidad por comercio-segmento</a:t>
            </a:r>
          </a:p>
        </p:txBody>
      </p:sp>
      <p:grpSp>
        <p:nvGrpSpPr>
          <p:cNvPr id="1166" name="Grupo 1165">
            <a:extLst>
              <a:ext uri="{FF2B5EF4-FFF2-40B4-BE49-F238E27FC236}">
                <a16:creationId xmlns:a16="http://schemas.microsoft.com/office/drawing/2014/main" id="{AA82108C-F807-DA9E-D067-82F2C7F00525}"/>
              </a:ext>
            </a:extLst>
          </p:cNvPr>
          <p:cNvGrpSpPr/>
          <p:nvPr/>
        </p:nvGrpSpPr>
        <p:grpSpPr>
          <a:xfrm>
            <a:off x="304800" y="7391400"/>
            <a:ext cx="5151119" cy="457200"/>
            <a:chOff x="304800" y="5676900"/>
            <a:chExt cx="5151119" cy="457200"/>
          </a:xfrm>
        </p:grpSpPr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DAEDEAE9-DE69-E445-8054-95C5767CBAD5}"/>
                </a:ext>
              </a:extLst>
            </p:cNvPr>
            <p:cNvGrpSpPr/>
            <p:nvPr/>
          </p:nvGrpSpPr>
          <p:grpSpPr>
            <a:xfrm>
              <a:off x="304800" y="5676900"/>
              <a:ext cx="1645919" cy="457200"/>
              <a:chOff x="125080" y="6236473"/>
              <a:chExt cx="1645919" cy="457200"/>
            </a:xfrm>
            <a:solidFill>
              <a:schemeClr val="bg1"/>
            </a:solidFill>
            <a:effectLst/>
          </p:grpSpPr>
          <p:sp>
            <p:nvSpPr>
              <p:cNvPr id="36" name="Diagrama de flujo: proceso alternativo 35">
                <a:extLst>
                  <a:ext uri="{FF2B5EF4-FFF2-40B4-BE49-F238E27FC236}">
                    <a16:creationId xmlns:a16="http://schemas.microsoft.com/office/drawing/2014/main" id="{CF9C7B17-5112-71C5-CEF0-56F80B1A338A}"/>
                  </a:ext>
                </a:extLst>
              </p:cNvPr>
              <p:cNvSpPr/>
              <p:nvPr/>
            </p:nvSpPr>
            <p:spPr>
              <a:xfrm>
                <a:off x="125080" y="6236473"/>
                <a:ext cx="1645919" cy="457200"/>
              </a:xfrm>
              <a:prstGeom prst="flowChartAlternateProcess">
                <a:avLst/>
              </a:prstGeom>
              <a:solidFill>
                <a:srgbClr val="EEECE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Electronica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AE288B84-26BA-2C63-8C32-D5AD7CEEC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5427" y="6236473"/>
                <a:ext cx="454477" cy="4486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8" name="Grupo 187">
              <a:extLst>
                <a:ext uri="{FF2B5EF4-FFF2-40B4-BE49-F238E27FC236}">
                  <a16:creationId xmlns:a16="http://schemas.microsoft.com/office/drawing/2014/main" id="{4B61780A-59D3-E938-FE26-CE5B5EA2DBB9}"/>
                </a:ext>
              </a:extLst>
            </p:cNvPr>
            <p:cNvGrpSpPr/>
            <p:nvPr/>
          </p:nvGrpSpPr>
          <p:grpSpPr>
            <a:xfrm>
              <a:off x="3810000" y="5676900"/>
              <a:ext cx="1645919" cy="457200"/>
              <a:chOff x="205024" y="7170567"/>
              <a:chExt cx="1645919" cy="457200"/>
            </a:xfrm>
          </p:grpSpPr>
          <p:sp>
            <p:nvSpPr>
              <p:cNvPr id="154" name="Diagrama de flujo: proceso alternativo 153">
                <a:extLst>
                  <a:ext uri="{FF2B5EF4-FFF2-40B4-BE49-F238E27FC236}">
                    <a16:creationId xmlns:a16="http://schemas.microsoft.com/office/drawing/2014/main" id="{87229094-D821-6DAE-0C80-D431D2262D23}"/>
                  </a:ext>
                </a:extLst>
              </p:cNvPr>
              <p:cNvSpPr/>
              <p:nvPr/>
            </p:nvSpPr>
            <p:spPr>
              <a:xfrm>
                <a:off x="205024" y="7170567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Premium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51" name="Imagen 150">
                <a:extLst>
                  <a:ext uri="{FF2B5EF4-FFF2-40B4-BE49-F238E27FC236}">
                    <a16:creationId xmlns:a16="http://schemas.microsoft.com/office/drawing/2014/main" id="{79F72139-567F-785E-A31B-31E70F10A6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7274460"/>
                <a:ext cx="269372" cy="269372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grpSp>
          <p:nvGrpSpPr>
            <p:cNvPr id="189" name="Grupo 188">
              <a:extLst>
                <a:ext uri="{FF2B5EF4-FFF2-40B4-BE49-F238E27FC236}">
                  <a16:creationId xmlns:a16="http://schemas.microsoft.com/office/drawing/2014/main" id="{3622155C-9CDB-B37E-409B-0628B7D1F4BB}"/>
                </a:ext>
              </a:extLst>
            </p:cNvPr>
            <p:cNvGrpSpPr/>
            <p:nvPr/>
          </p:nvGrpSpPr>
          <p:grpSpPr>
            <a:xfrm>
              <a:off x="2057400" y="5676900"/>
              <a:ext cx="1645919" cy="457200"/>
              <a:chOff x="205025" y="6516696"/>
              <a:chExt cx="1645919" cy="457200"/>
            </a:xfrm>
          </p:grpSpPr>
          <p:sp>
            <p:nvSpPr>
              <p:cNvPr id="153" name="Diagrama de flujo: proceso alternativo 152">
                <a:extLst>
                  <a:ext uri="{FF2B5EF4-FFF2-40B4-BE49-F238E27FC236}">
                    <a16:creationId xmlns:a16="http://schemas.microsoft.com/office/drawing/2014/main" id="{8E4E1A13-EFE7-1A60-A084-7BDD923FFFD0}"/>
                  </a:ext>
                </a:extLst>
              </p:cNvPr>
              <p:cNvSpPr/>
              <p:nvPr/>
            </p:nvSpPr>
            <p:spPr>
              <a:xfrm>
                <a:off x="205025" y="6516696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52" name="Imagen 151">
                <a:extLst>
                  <a:ext uri="{FF2B5EF4-FFF2-40B4-BE49-F238E27FC236}">
                    <a16:creationId xmlns:a16="http://schemas.microsoft.com/office/drawing/2014/main" id="{A7A1FE87-9A6A-74FD-5C74-4C041DE20A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6617562"/>
                <a:ext cx="269372" cy="269111"/>
              </a:xfrm>
              <a:prstGeom prst="rect">
                <a:avLst/>
              </a:prstGeom>
            </p:spPr>
          </p:pic>
        </p:grpSp>
      </p:grpSp>
      <p:grpSp>
        <p:nvGrpSpPr>
          <p:cNvPr id="1167" name="Grupo 1166">
            <a:extLst>
              <a:ext uri="{FF2B5EF4-FFF2-40B4-BE49-F238E27FC236}">
                <a16:creationId xmlns:a16="http://schemas.microsoft.com/office/drawing/2014/main" id="{E90C2C00-0A17-4483-36F3-441839511AF0}"/>
              </a:ext>
            </a:extLst>
          </p:cNvPr>
          <p:cNvGrpSpPr/>
          <p:nvPr/>
        </p:nvGrpSpPr>
        <p:grpSpPr>
          <a:xfrm>
            <a:off x="304800" y="6819900"/>
            <a:ext cx="6903719" cy="457200"/>
            <a:chOff x="304800" y="6248400"/>
            <a:chExt cx="6903719" cy="457200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1978C39A-428D-F721-B63A-22D3B0184E34}"/>
                </a:ext>
              </a:extLst>
            </p:cNvPr>
            <p:cNvGrpSpPr/>
            <p:nvPr/>
          </p:nvGrpSpPr>
          <p:grpSpPr>
            <a:xfrm>
              <a:off x="304800" y="6248400"/>
              <a:ext cx="1645920" cy="457200"/>
              <a:chOff x="2065598" y="7259452"/>
              <a:chExt cx="1645920" cy="457200"/>
            </a:xfrm>
            <a:solidFill>
              <a:schemeClr val="bg1"/>
            </a:solidFill>
          </p:grpSpPr>
          <p:sp>
            <p:nvSpPr>
              <p:cNvPr id="35" name="Diagrama de flujo: proceso alternativo 34">
                <a:extLst>
                  <a:ext uri="{FF2B5EF4-FFF2-40B4-BE49-F238E27FC236}">
                    <a16:creationId xmlns:a16="http://schemas.microsoft.com/office/drawing/2014/main" id="{ADE3F589-D1D0-9050-00AB-C356D2431807}"/>
                  </a:ext>
                </a:extLst>
              </p:cNvPr>
              <p:cNvSpPr/>
              <p:nvPr/>
            </p:nvSpPr>
            <p:spPr>
              <a:xfrm>
                <a:off x="2065598" y="7259452"/>
                <a:ext cx="1645920" cy="457200"/>
              </a:xfrm>
              <a:prstGeom prst="flowChartAlternateProcess">
                <a:avLst/>
              </a:prstGeom>
              <a:solidFill>
                <a:srgbClr val="EEECE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</a:t>
                </a:r>
                <a:r>
                  <a:rPr lang="en-US" sz="13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Restaurantes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31" name="Imagen 30">
                <a:extLst>
                  <a:ext uri="{FF2B5EF4-FFF2-40B4-BE49-F238E27FC236}">
                    <a16:creationId xmlns:a16="http://schemas.microsoft.com/office/drawing/2014/main" id="{7042661E-4255-4F00-DC16-50CBC5E54F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119242" y="7308601"/>
                <a:ext cx="378443" cy="3784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68" name="Grupo 667">
              <a:extLst>
                <a:ext uri="{FF2B5EF4-FFF2-40B4-BE49-F238E27FC236}">
                  <a16:creationId xmlns:a16="http://schemas.microsoft.com/office/drawing/2014/main" id="{21A93F91-830C-D694-8B96-0AE6594A14E0}"/>
                </a:ext>
              </a:extLst>
            </p:cNvPr>
            <p:cNvGrpSpPr/>
            <p:nvPr/>
          </p:nvGrpSpPr>
          <p:grpSpPr>
            <a:xfrm>
              <a:off x="2057400" y="6248400"/>
              <a:ext cx="1645919" cy="457200"/>
              <a:chOff x="205024" y="7170567"/>
              <a:chExt cx="1645919" cy="457200"/>
            </a:xfrm>
          </p:grpSpPr>
          <p:sp>
            <p:nvSpPr>
              <p:cNvPr id="669" name="Diagrama de flujo: proceso alternativo 668">
                <a:extLst>
                  <a:ext uri="{FF2B5EF4-FFF2-40B4-BE49-F238E27FC236}">
                    <a16:creationId xmlns:a16="http://schemas.microsoft.com/office/drawing/2014/main" id="{28CC9ECC-65C5-8473-C65D-1B450820E01B}"/>
                  </a:ext>
                </a:extLst>
              </p:cNvPr>
              <p:cNvSpPr/>
              <p:nvPr/>
            </p:nvSpPr>
            <p:spPr>
              <a:xfrm>
                <a:off x="205024" y="7170567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Premium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671" name="Imagen 670">
                <a:extLst>
                  <a:ext uri="{FF2B5EF4-FFF2-40B4-BE49-F238E27FC236}">
                    <a16:creationId xmlns:a16="http://schemas.microsoft.com/office/drawing/2014/main" id="{9A4479B9-B275-AABA-8E9E-D0E1CA5B85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7274460"/>
                <a:ext cx="269372" cy="269372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grpSp>
          <p:nvGrpSpPr>
            <p:cNvPr id="672" name="Grupo 671">
              <a:extLst>
                <a:ext uri="{FF2B5EF4-FFF2-40B4-BE49-F238E27FC236}">
                  <a16:creationId xmlns:a16="http://schemas.microsoft.com/office/drawing/2014/main" id="{2E4A6B99-9BA7-B60D-A176-29ECC4596A03}"/>
                </a:ext>
              </a:extLst>
            </p:cNvPr>
            <p:cNvGrpSpPr/>
            <p:nvPr/>
          </p:nvGrpSpPr>
          <p:grpSpPr>
            <a:xfrm>
              <a:off x="3810000" y="6248400"/>
              <a:ext cx="1645919" cy="457200"/>
              <a:chOff x="205024" y="7170567"/>
              <a:chExt cx="1645919" cy="457200"/>
            </a:xfrm>
          </p:grpSpPr>
          <p:sp>
            <p:nvSpPr>
              <p:cNvPr id="674" name="Diagrama de flujo: proceso alternativo 673">
                <a:extLst>
                  <a:ext uri="{FF2B5EF4-FFF2-40B4-BE49-F238E27FC236}">
                    <a16:creationId xmlns:a16="http://schemas.microsoft.com/office/drawing/2014/main" id="{BE2E9EFD-F7A1-05EA-F230-A9074C771B37}"/>
                  </a:ext>
                </a:extLst>
              </p:cNvPr>
              <p:cNvSpPr/>
              <p:nvPr/>
            </p:nvSpPr>
            <p:spPr>
              <a:xfrm>
                <a:off x="205024" y="7170567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Joven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686" name="Imagen 685">
                <a:extLst>
                  <a:ext uri="{FF2B5EF4-FFF2-40B4-BE49-F238E27FC236}">
                    <a16:creationId xmlns:a16="http://schemas.microsoft.com/office/drawing/2014/main" id="{04DB151D-4F6F-2CF0-2AF9-798AD187DE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7277453"/>
                <a:ext cx="269372" cy="263385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grpSp>
          <p:nvGrpSpPr>
            <p:cNvPr id="688" name="Grupo 687">
              <a:extLst>
                <a:ext uri="{FF2B5EF4-FFF2-40B4-BE49-F238E27FC236}">
                  <a16:creationId xmlns:a16="http://schemas.microsoft.com/office/drawing/2014/main" id="{42D9F484-5CBE-30DF-4734-7540904EED2A}"/>
                </a:ext>
              </a:extLst>
            </p:cNvPr>
            <p:cNvGrpSpPr/>
            <p:nvPr/>
          </p:nvGrpSpPr>
          <p:grpSpPr>
            <a:xfrm>
              <a:off x="5562600" y="6248400"/>
              <a:ext cx="1645919" cy="457200"/>
              <a:chOff x="205025" y="6516696"/>
              <a:chExt cx="1645919" cy="457200"/>
            </a:xfrm>
          </p:grpSpPr>
          <p:sp>
            <p:nvSpPr>
              <p:cNvPr id="692" name="Diagrama de flujo: proceso alternativo 691">
                <a:extLst>
                  <a:ext uri="{FF2B5EF4-FFF2-40B4-BE49-F238E27FC236}">
                    <a16:creationId xmlns:a16="http://schemas.microsoft.com/office/drawing/2014/main" id="{8610B8C9-39F9-EDC1-1FBC-FBF420FD8850}"/>
                  </a:ext>
                </a:extLst>
              </p:cNvPr>
              <p:cNvSpPr/>
              <p:nvPr/>
            </p:nvSpPr>
            <p:spPr>
              <a:xfrm>
                <a:off x="205025" y="6516696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699" name="Imagen 698">
                <a:extLst>
                  <a:ext uri="{FF2B5EF4-FFF2-40B4-BE49-F238E27FC236}">
                    <a16:creationId xmlns:a16="http://schemas.microsoft.com/office/drawing/2014/main" id="{1E0052E4-973F-A64B-AB96-40C9C62403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6617562"/>
                <a:ext cx="269372" cy="269111"/>
              </a:xfrm>
              <a:prstGeom prst="rect">
                <a:avLst/>
              </a:prstGeom>
            </p:spPr>
          </p:pic>
        </p:grpSp>
      </p:grpSp>
      <p:grpSp>
        <p:nvGrpSpPr>
          <p:cNvPr id="1168" name="Grupo 1167">
            <a:extLst>
              <a:ext uri="{FF2B5EF4-FFF2-40B4-BE49-F238E27FC236}">
                <a16:creationId xmlns:a16="http://schemas.microsoft.com/office/drawing/2014/main" id="{B73173D9-E293-0E08-CB3C-929401D3A7D0}"/>
              </a:ext>
            </a:extLst>
          </p:cNvPr>
          <p:cNvGrpSpPr/>
          <p:nvPr/>
        </p:nvGrpSpPr>
        <p:grpSpPr>
          <a:xfrm>
            <a:off x="304800" y="5676900"/>
            <a:ext cx="8656319" cy="457200"/>
            <a:chOff x="304800" y="6819900"/>
            <a:chExt cx="8656319" cy="457200"/>
          </a:xfrm>
        </p:grpSpPr>
        <p:grpSp>
          <p:nvGrpSpPr>
            <p:cNvPr id="94" name="Grupo 93">
              <a:extLst>
                <a:ext uri="{FF2B5EF4-FFF2-40B4-BE49-F238E27FC236}">
                  <a16:creationId xmlns:a16="http://schemas.microsoft.com/office/drawing/2014/main" id="{B51CBC7D-E65F-5EB9-A22D-AB067DFC231E}"/>
                </a:ext>
              </a:extLst>
            </p:cNvPr>
            <p:cNvGrpSpPr/>
            <p:nvPr/>
          </p:nvGrpSpPr>
          <p:grpSpPr>
            <a:xfrm>
              <a:off x="304800" y="6819900"/>
              <a:ext cx="1645920" cy="457200"/>
              <a:chOff x="3855720" y="7308601"/>
              <a:chExt cx="1554480" cy="457200"/>
            </a:xfrm>
            <a:solidFill>
              <a:schemeClr val="bg1"/>
            </a:solidFill>
          </p:grpSpPr>
          <p:sp>
            <p:nvSpPr>
              <p:cNvPr id="41" name="Diagrama de flujo: proceso alternativo 40">
                <a:extLst>
                  <a:ext uri="{FF2B5EF4-FFF2-40B4-BE49-F238E27FC236}">
                    <a16:creationId xmlns:a16="http://schemas.microsoft.com/office/drawing/2014/main" id="{B141EE62-7F65-9EF9-CFED-B864FE3083F6}"/>
                  </a:ext>
                </a:extLst>
              </p:cNvPr>
              <p:cNvSpPr/>
              <p:nvPr/>
            </p:nvSpPr>
            <p:spPr>
              <a:xfrm>
                <a:off x="3855720" y="7308601"/>
                <a:ext cx="1554480" cy="457200"/>
              </a:xfrm>
              <a:prstGeom prst="flowChartAlternateProcess">
                <a:avLst/>
              </a:prstGeom>
              <a:solidFill>
                <a:srgbClr val="EEECE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Supermercados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42" name="Imagen 41">
                <a:extLst>
                  <a:ext uri="{FF2B5EF4-FFF2-40B4-BE49-F238E27FC236}">
                    <a16:creationId xmlns:a16="http://schemas.microsoft.com/office/drawing/2014/main" id="{0DE2424E-50AC-DC37-3C1C-A854A09F9C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923000" y="7343307"/>
                <a:ext cx="372008" cy="4006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00" name="Grupo 699">
              <a:extLst>
                <a:ext uri="{FF2B5EF4-FFF2-40B4-BE49-F238E27FC236}">
                  <a16:creationId xmlns:a16="http://schemas.microsoft.com/office/drawing/2014/main" id="{085E1F46-5BFA-66D6-863E-723A3F37CDD5}"/>
                </a:ext>
              </a:extLst>
            </p:cNvPr>
            <p:cNvGrpSpPr/>
            <p:nvPr/>
          </p:nvGrpSpPr>
          <p:grpSpPr>
            <a:xfrm>
              <a:off x="3810000" y="6819900"/>
              <a:ext cx="1645919" cy="457200"/>
              <a:chOff x="205024" y="7170567"/>
              <a:chExt cx="1645919" cy="457200"/>
            </a:xfrm>
          </p:grpSpPr>
          <p:sp>
            <p:nvSpPr>
              <p:cNvPr id="701" name="Diagrama de flujo: proceso alternativo 700">
                <a:extLst>
                  <a:ext uri="{FF2B5EF4-FFF2-40B4-BE49-F238E27FC236}">
                    <a16:creationId xmlns:a16="http://schemas.microsoft.com/office/drawing/2014/main" id="{81BBA405-045C-B31E-83FA-58F3E47B973D}"/>
                  </a:ext>
                </a:extLst>
              </p:cNvPr>
              <p:cNvSpPr/>
              <p:nvPr/>
            </p:nvSpPr>
            <p:spPr>
              <a:xfrm>
                <a:off x="205024" y="7170567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Premium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702" name="Imagen 701">
                <a:extLst>
                  <a:ext uri="{FF2B5EF4-FFF2-40B4-BE49-F238E27FC236}">
                    <a16:creationId xmlns:a16="http://schemas.microsoft.com/office/drawing/2014/main" id="{BC9008FB-E8D7-AD34-40AE-7179009560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7274460"/>
                <a:ext cx="269372" cy="269372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grpSp>
          <p:nvGrpSpPr>
            <p:cNvPr id="703" name="Grupo 702">
              <a:extLst>
                <a:ext uri="{FF2B5EF4-FFF2-40B4-BE49-F238E27FC236}">
                  <a16:creationId xmlns:a16="http://schemas.microsoft.com/office/drawing/2014/main" id="{3C85A632-AA53-C815-0C45-6934444B1A8A}"/>
                </a:ext>
              </a:extLst>
            </p:cNvPr>
            <p:cNvGrpSpPr/>
            <p:nvPr/>
          </p:nvGrpSpPr>
          <p:grpSpPr>
            <a:xfrm>
              <a:off x="2057400" y="6819900"/>
              <a:ext cx="1645919" cy="457200"/>
              <a:chOff x="205024" y="7170567"/>
              <a:chExt cx="1645919" cy="457200"/>
            </a:xfrm>
          </p:grpSpPr>
          <p:sp>
            <p:nvSpPr>
              <p:cNvPr id="1093" name="Diagrama de flujo: proceso alternativo 1092">
                <a:extLst>
                  <a:ext uri="{FF2B5EF4-FFF2-40B4-BE49-F238E27FC236}">
                    <a16:creationId xmlns:a16="http://schemas.microsoft.com/office/drawing/2014/main" id="{798058DA-14D9-FA3C-28BB-B846EEFB22E6}"/>
                  </a:ext>
                </a:extLst>
              </p:cNvPr>
              <p:cNvSpPr/>
              <p:nvPr/>
            </p:nvSpPr>
            <p:spPr>
              <a:xfrm>
                <a:off x="205024" y="7170567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Joven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094" name="Imagen 1093">
                <a:extLst>
                  <a:ext uri="{FF2B5EF4-FFF2-40B4-BE49-F238E27FC236}">
                    <a16:creationId xmlns:a16="http://schemas.microsoft.com/office/drawing/2014/main" id="{56B70634-A1FE-E3AB-78DB-4CB0B47796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7277453"/>
                <a:ext cx="269372" cy="263385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grpSp>
          <p:nvGrpSpPr>
            <p:cNvPr id="1095" name="Grupo 1094">
              <a:extLst>
                <a:ext uri="{FF2B5EF4-FFF2-40B4-BE49-F238E27FC236}">
                  <a16:creationId xmlns:a16="http://schemas.microsoft.com/office/drawing/2014/main" id="{A7CD19F4-1BB3-1927-82D5-D5D61AD8FE0F}"/>
                </a:ext>
              </a:extLst>
            </p:cNvPr>
            <p:cNvGrpSpPr/>
            <p:nvPr/>
          </p:nvGrpSpPr>
          <p:grpSpPr>
            <a:xfrm>
              <a:off x="5562600" y="6819900"/>
              <a:ext cx="1645919" cy="457200"/>
              <a:chOff x="205025" y="6516696"/>
              <a:chExt cx="1645919" cy="457200"/>
            </a:xfrm>
          </p:grpSpPr>
          <p:sp>
            <p:nvSpPr>
              <p:cNvPr id="1096" name="Diagrama de flujo: proceso alternativo 1095">
                <a:extLst>
                  <a:ext uri="{FF2B5EF4-FFF2-40B4-BE49-F238E27FC236}">
                    <a16:creationId xmlns:a16="http://schemas.microsoft.com/office/drawing/2014/main" id="{50311EE6-B49F-E7B6-4BB2-627BFF15ABEE}"/>
                  </a:ext>
                </a:extLst>
              </p:cNvPr>
              <p:cNvSpPr/>
              <p:nvPr/>
            </p:nvSpPr>
            <p:spPr>
              <a:xfrm>
                <a:off x="205025" y="6516696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097" name="Imagen 1096">
                <a:extLst>
                  <a:ext uri="{FF2B5EF4-FFF2-40B4-BE49-F238E27FC236}">
                    <a16:creationId xmlns:a16="http://schemas.microsoft.com/office/drawing/2014/main" id="{B79AB9E6-992A-91AF-E299-FB2355FC1D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6617562"/>
                <a:ext cx="269372" cy="269111"/>
              </a:xfrm>
              <a:prstGeom prst="rect">
                <a:avLst/>
              </a:prstGeom>
            </p:spPr>
          </p:pic>
        </p:grpSp>
        <p:grpSp>
          <p:nvGrpSpPr>
            <p:cNvPr id="1098" name="Grupo 1097">
              <a:extLst>
                <a:ext uri="{FF2B5EF4-FFF2-40B4-BE49-F238E27FC236}">
                  <a16:creationId xmlns:a16="http://schemas.microsoft.com/office/drawing/2014/main" id="{6A3ACC39-9723-49BA-8F33-43529C0769B4}"/>
                </a:ext>
              </a:extLst>
            </p:cNvPr>
            <p:cNvGrpSpPr/>
            <p:nvPr/>
          </p:nvGrpSpPr>
          <p:grpSpPr>
            <a:xfrm>
              <a:off x="7315200" y="6819900"/>
              <a:ext cx="1645919" cy="457200"/>
              <a:chOff x="205025" y="6516696"/>
              <a:chExt cx="1645919" cy="457200"/>
            </a:xfrm>
          </p:grpSpPr>
          <p:sp>
            <p:nvSpPr>
              <p:cNvPr id="1099" name="Diagrama de flujo: proceso alternativo 1098">
                <a:extLst>
                  <a:ext uri="{FF2B5EF4-FFF2-40B4-BE49-F238E27FC236}">
                    <a16:creationId xmlns:a16="http://schemas.microsoft.com/office/drawing/2014/main" id="{C748C507-F5E4-8C25-69D4-8724269E4682}"/>
                  </a:ext>
                </a:extLst>
              </p:cNvPr>
              <p:cNvSpPr/>
              <p:nvPr/>
            </p:nvSpPr>
            <p:spPr>
              <a:xfrm>
                <a:off x="205025" y="6516696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Empresarial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100" name="Imagen 1099">
                <a:extLst>
                  <a:ext uri="{FF2B5EF4-FFF2-40B4-BE49-F238E27FC236}">
                    <a16:creationId xmlns:a16="http://schemas.microsoft.com/office/drawing/2014/main" id="{F962F5B1-DEE6-1168-6883-FDB6F5828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6617432"/>
                <a:ext cx="269372" cy="269372"/>
              </a:xfrm>
              <a:prstGeom prst="rect">
                <a:avLst/>
              </a:prstGeom>
            </p:spPr>
          </p:pic>
        </p:grpSp>
      </p:grpSp>
      <p:grpSp>
        <p:nvGrpSpPr>
          <p:cNvPr id="1169" name="Grupo 1168">
            <a:extLst>
              <a:ext uri="{FF2B5EF4-FFF2-40B4-BE49-F238E27FC236}">
                <a16:creationId xmlns:a16="http://schemas.microsoft.com/office/drawing/2014/main" id="{72094D6F-6C8B-FDDB-8093-AE8D818C4E6B}"/>
              </a:ext>
            </a:extLst>
          </p:cNvPr>
          <p:cNvGrpSpPr/>
          <p:nvPr/>
        </p:nvGrpSpPr>
        <p:grpSpPr>
          <a:xfrm>
            <a:off x="304800" y="6248400"/>
            <a:ext cx="8656319" cy="457200"/>
            <a:chOff x="304800" y="7391400"/>
            <a:chExt cx="8656319" cy="457200"/>
          </a:xfrm>
        </p:grpSpPr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288FC0AE-A46B-2463-FF61-9F036E8CF139}"/>
                </a:ext>
              </a:extLst>
            </p:cNvPr>
            <p:cNvGrpSpPr/>
            <p:nvPr/>
          </p:nvGrpSpPr>
          <p:grpSpPr>
            <a:xfrm>
              <a:off x="304800" y="7391400"/>
              <a:ext cx="1645920" cy="457200"/>
              <a:chOff x="5646420" y="7343307"/>
              <a:chExt cx="1554480" cy="457200"/>
            </a:xfrm>
            <a:solidFill>
              <a:srgbClr val="EEECE1"/>
            </a:solidFill>
          </p:grpSpPr>
          <p:sp>
            <p:nvSpPr>
              <p:cNvPr id="44" name="Diagrama de flujo: proceso alternativo 43">
                <a:extLst>
                  <a:ext uri="{FF2B5EF4-FFF2-40B4-BE49-F238E27FC236}">
                    <a16:creationId xmlns:a16="http://schemas.microsoft.com/office/drawing/2014/main" id="{D490D503-97CE-4C05-B2FE-F83482704454}"/>
                  </a:ext>
                </a:extLst>
              </p:cNvPr>
              <p:cNvSpPr/>
              <p:nvPr/>
            </p:nvSpPr>
            <p:spPr>
              <a:xfrm>
                <a:off x="5646420" y="7343307"/>
                <a:ext cx="1554480" cy="457200"/>
              </a:xfrm>
              <a:prstGeom prst="flowChartAlternateProcess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Ecommerce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45" name="Imagen 44">
                <a:extLst>
                  <a:ext uri="{FF2B5EF4-FFF2-40B4-BE49-F238E27FC236}">
                    <a16:creationId xmlns:a16="http://schemas.microsoft.com/office/drawing/2014/main" id="{04680C51-0FE5-B640-1CD2-AFFFD7247B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744656" y="7391400"/>
                <a:ext cx="371007" cy="371007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  <p:grpSp>
          <p:nvGrpSpPr>
            <p:cNvPr id="1113" name="Grupo 1112">
              <a:extLst>
                <a:ext uri="{FF2B5EF4-FFF2-40B4-BE49-F238E27FC236}">
                  <a16:creationId xmlns:a16="http://schemas.microsoft.com/office/drawing/2014/main" id="{BEE53AC1-0154-20BA-A35A-8A86BA3B3A35}"/>
                </a:ext>
              </a:extLst>
            </p:cNvPr>
            <p:cNvGrpSpPr/>
            <p:nvPr/>
          </p:nvGrpSpPr>
          <p:grpSpPr>
            <a:xfrm>
              <a:off x="3810000" y="7391400"/>
              <a:ext cx="1645919" cy="457200"/>
              <a:chOff x="205024" y="7170567"/>
              <a:chExt cx="1645919" cy="457200"/>
            </a:xfrm>
          </p:grpSpPr>
          <p:sp>
            <p:nvSpPr>
              <p:cNvPr id="1114" name="Diagrama de flujo: proceso alternativo 1113">
                <a:extLst>
                  <a:ext uri="{FF2B5EF4-FFF2-40B4-BE49-F238E27FC236}">
                    <a16:creationId xmlns:a16="http://schemas.microsoft.com/office/drawing/2014/main" id="{D3F847F9-2846-8BAC-0C50-EC2B2A28DE10}"/>
                  </a:ext>
                </a:extLst>
              </p:cNvPr>
              <p:cNvSpPr/>
              <p:nvPr/>
            </p:nvSpPr>
            <p:spPr>
              <a:xfrm>
                <a:off x="205024" y="7170567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Premium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115" name="Imagen 1114">
                <a:extLst>
                  <a:ext uri="{FF2B5EF4-FFF2-40B4-BE49-F238E27FC236}">
                    <a16:creationId xmlns:a16="http://schemas.microsoft.com/office/drawing/2014/main" id="{6DE8E183-BC46-92F3-0EF7-D6D63B0791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7274460"/>
                <a:ext cx="269372" cy="269372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grpSp>
          <p:nvGrpSpPr>
            <p:cNvPr id="1116" name="Grupo 1115">
              <a:extLst>
                <a:ext uri="{FF2B5EF4-FFF2-40B4-BE49-F238E27FC236}">
                  <a16:creationId xmlns:a16="http://schemas.microsoft.com/office/drawing/2014/main" id="{93A20A74-BBEA-025F-B409-DC9CAA493A84}"/>
                </a:ext>
              </a:extLst>
            </p:cNvPr>
            <p:cNvGrpSpPr/>
            <p:nvPr/>
          </p:nvGrpSpPr>
          <p:grpSpPr>
            <a:xfrm>
              <a:off x="7315200" y="7391400"/>
              <a:ext cx="1645919" cy="457200"/>
              <a:chOff x="205024" y="7170567"/>
              <a:chExt cx="1645919" cy="457200"/>
            </a:xfrm>
          </p:grpSpPr>
          <p:sp>
            <p:nvSpPr>
              <p:cNvPr id="1117" name="Diagrama de flujo: proceso alternativo 1116">
                <a:extLst>
                  <a:ext uri="{FF2B5EF4-FFF2-40B4-BE49-F238E27FC236}">
                    <a16:creationId xmlns:a16="http://schemas.microsoft.com/office/drawing/2014/main" id="{FB3147E7-CDCE-18BB-FB7A-5113BD4C6061}"/>
                  </a:ext>
                </a:extLst>
              </p:cNvPr>
              <p:cNvSpPr/>
              <p:nvPr/>
            </p:nvSpPr>
            <p:spPr>
              <a:xfrm>
                <a:off x="205024" y="7170567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Joven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118" name="Imagen 1117">
                <a:extLst>
                  <a:ext uri="{FF2B5EF4-FFF2-40B4-BE49-F238E27FC236}">
                    <a16:creationId xmlns:a16="http://schemas.microsoft.com/office/drawing/2014/main" id="{A27A1935-330F-8423-F78E-3A5A68C72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7277453"/>
                <a:ext cx="269372" cy="263385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grpSp>
          <p:nvGrpSpPr>
            <p:cNvPr id="1119" name="Grupo 1118">
              <a:extLst>
                <a:ext uri="{FF2B5EF4-FFF2-40B4-BE49-F238E27FC236}">
                  <a16:creationId xmlns:a16="http://schemas.microsoft.com/office/drawing/2014/main" id="{CF5352D7-8911-99D2-8E74-FF2A791BED17}"/>
                </a:ext>
              </a:extLst>
            </p:cNvPr>
            <p:cNvGrpSpPr/>
            <p:nvPr/>
          </p:nvGrpSpPr>
          <p:grpSpPr>
            <a:xfrm>
              <a:off x="5562600" y="7391400"/>
              <a:ext cx="1645919" cy="457200"/>
              <a:chOff x="205025" y="6516696"/>
              <a:chExt cx="1645919" cy="457200"/>
            </a:xfrm>
          </p:grpSpPr>
          <p:sp>
            <p:nvSpPr>
              <p:cNvPr id="1120" name="Diagrama de flujo: proceso alternativo 1119">
                <a:extLst>
                  <a:ext uri="{FF2B5EF4-FFF2-40B4-BE49-F238E27FC236}">
                    <a16:creationId xmlns:a16="http://schemas.microsoft.com/office/drawing/2014/main" id="{B0996D57-20FE-3B92-3C4C-F83B92AA05FB}"/>
                  </a:ext>
                </a:extLst>
              </p:cNvPr>
              <p:cNvSpPr/>
              <p:nvPr/>
            </p:nvSpPr>
            <p:spPr>
              <a:xfrm>
                <a:off x="205025" y="6516696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121" name="Imagen 1120">
                <a:extLst>
                  <a:ext uri="{FF2B5EF4-FFF2-40B4-BE49-F238E27FC236}">
                    <a16:creationId xmlns:a16="http://schemas.microsoft.com/office/drawing/2014/main" id="{BF12A11C-246D-C758-25C2-CBA1116C32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6617562"/>
                <a:ext cx="269372" cy="269111"/>
              </a:xfrm>
              <a:prstGeom prst="rect">
                <a:avLst/>
              </a:prstGeom>
            </p:spPr>
          </p:pic>
        </p:grpSp>
        <p:grpSp>
          <p:nvGrpSpPr>
            <p:cNvPr id="1122" name="Grupo 1121">
              <a:extLst>
                <a:ext uri="{FF2B5EF4-FFF2-40B4-BE49-F238E27FC236}">
                  <a16:creationId xmlns:a16="http://schemas.microsoft.com/office/drawing/2014/main" id="{7B1BAECE-4A85-A1FD-9CF2-62D1FA182699}"/>
                </a:ext>
              </a:extLst>
            </p:cNvPr>
            <p:cNvGrpSpPr/>
            <p:nvPr/>
          </p:nvGrpSpPr>
          <p:grpSpPr>
            <a:xfrm>
              <a:off x="2057400" y="7391400"/>
              <a:ext cx="1645919" cy="457200"/>
              <a:chOff x="205025" y="6516696"/>
              <a:chExt cx="1645919" cy="457200"/>
            </a:xfrm>
          </p:grpSpPr>
          <p:sp>
            <p:nvSpPr>
              <p:cNvPr id="1123" name="Diagrama de flujo: proceso alternativo 1122">
                <a:extLst>
                  <a:ext uri="{FF2B5EF4-FFF2-40B4-BE49-F238E27FC236}">
                    <a16:creationId xmlns:a16="http://schemas.microsoft.com/office/drawing/2014/main" id="{899EE410-CF5C-4E29-4CBD-2EE07DBD26A0}"/>
                  </a:ext>
                </a:extLst>
              </p:cNvPr>
              <p:cNvSpPr/>
              <p:nvPr/>
            </p:nvSpPr>
            <p:spPr>
              <a:xfrm>
                <a:off x="205025" y="6516696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Empresarial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124" name="Imagen 1123">
                <a:extLst>
                  <a:ext uri="{FF2B5EF4-FFF2-40B4-BE49-F238E27FC236}">
                    <a16:creationId xmlns:a16="http://schemas.microsoft.com/office/drawing/2014/main" id="{1717BB69-219C-89B4-BA4D-30DF83E6A7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6617432"/>
                <a:ext cx="269372" cy="269372"/>
              </a:xfrm>
              <a:prstGeom prst="rect">
                <a:avLst/>
              </a:prstGeom>
            </p:spPr>
          </p:pic>
        </p:grpSp>
      </p:grpSp>
      <p:grpSp>
        <p:nvGrpSpPr>
          <p:cNvPr id="1170" name="Grupo 1169">
            <a:extLst>
              <a:ext uri="{FF2B5EF4-FFF2-40B4-BE49-F238E27FC236}">
                <a16:creationId xmlns:a16="http://schemas.microsoft.com/office/drawing/2014/main" id="{E40D6BAA-C497-865C-8390-A285889120DB}"/>
              </a:ext>
            </a:extLst>
          </p:cNvPr>
          <p:cNvGrpSpPr/>
          <p:nvPr/>
        </p:nvGrpSpPr>
        <p:grpSpPr>
          <a:xfrm>
            <a:off x="304800" y="7962900"/>
            <a:ext cx="3398519" cy="457200"/>
            <a:chOff x="304800" y="7962900"/>
            <a:chExt cx="3398519" cy="457200"/>
          </a:xfrm>
        </p:grpSpPr>
        <p:grpSp>
          <p:nvGrpSpPr>
            <p:cNvPr id="99" name="Grupo 98">
              <a:extLst>
                <a:ext uri="{FF2B5EF4-FFF2-40B4-BE49-F238E27FC236}">
                  <a16:creationId xmlns:a16="http://schemas.microsoft.com/office/drawing/2014/main" id="{C51B1F16-AF5C-5D8A-2682-4F2652023B7D}"/>
                </a:ext>
              </a:extLst>
            </p:cNvPr>
            <p:cNvGrpSpPr/>
            <p:nvPr/>
          </p:nvGrpSpPr>
          <p:grpSpPr>
            <a:xfrm>
              <a:off x="304800" y="7962900"/>
              <a:ext cx="1632095" cy="457200"/>
              <a:chOff x="7437119" y="7353300"/>
              <a:chExt cx="1632095" cy="457200"/>
            </a:xfrm>
            <a:solidFill>
              <a:schemeClr val="bg1"/>
            </a:solidFill>
          </p:grpSpPr>
          <p:sp>
            <p:nvSpPr>
              <p:cNvPr id="49" name="Diagrama de flujo: proceso alternativo 48">
                <a:extLst>
                  <a:ext uri="{FF2B5EF4-FFF2-40B4-BE49-F238E27FC236}">
                    <a16:creationId xmlns:a16="http://schemas.microsoft.com/office/drawing/2014/main" id="{10D9F912-0F5C-8F76-BD95-364473320D34}"/>
                  </a:ext>
                </a:extLst>
              </p:cNvPr>
              <p:cNvSpPr/>
              <p:nvPr/>
            </p:nvSpPr>
            <p:spPr>
              <a:xfrm>
                <a:off x="7437119" y="7353300"/>
                <a:ext cx="1632095" cy="457200"/>
              </a:xfrm>
              <a:prstGeom prst="flowChartAlternateProcess">
                <a:avLst/>
              </a:prstGeom>
              <a:solidFill>
                <a:srgbClr val="EEECE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</a:t>
                </a:r>
                <a:r>
                  <a:rPr lang="en-US" sz="13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Farmacias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50" name="Imagen 49">
                <a:extLst>
                  <a:ext uri="{FF2B5EF4-FFF2-40B4-BE49-F238E27FC236}">
                    <a16:creationId xmlns:a16="http://schemas.microsoft.com/office/drawing/2014/main" id="{07F8D010-C825-6556-E33D-6FE666E587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562361" y="7395029"/>
                <a:ext cx="391342" cy="383515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  <p:grpSp>
          <p:nvGrpSpPr>
            <p:cNvPr id="1125" name="Grupo 1124">
              <a:extLst>
                <a:ext uri="{FF2B5EF4-FFF2-40B4-BE49-F238E27FC236}">
                  <a16:creationId xmlns:a16="http://schemas.microsoft.com/office/drawing/2014/main" id="{7D71A71D-FEDA-320A-9F59-04D64CC0A472}"/>
                </a:ext>
              </a:extLst>
            </p:cNvPr>
            <p:cNvGrpSpPr/>
            <p:nvPr/>
          </p:nvGrpSpPr>
          <p:grpSpPr>
            <a:xfrm>
              <a:off x="2057400" y="7962900"/>
              <a:ext cx="1645919" cy="457200"/>
              <a:chOff x="205025" y="6516696"/>
              <a:chExt cx="1645919" cy="457200"/>
            </a:xfrm>
          </p:grpSpPr>
          <p:sp>
            <p:nvSpPr>
              <p:cNvPr id="1126" name="Diagrama de flujo: proceso alternativo 1125">
                <a:extLst>
                  <a:ext uri="{FF2B5EF4-FFF2-40B4-BE49-F238E27FC236}">
                    <a16:creationId xmlns:a16="http://schemas.microsoft.com/office/drawing/2014/main" id="{06BEF724-D064-D087-1AF2-1F7C8603B74A}"/>
                  </a:ext>
                </a:extLst>
              </p:cNvPr>
              <p:cNvSpPr/>
              <p:nvPr/>
            </p:nvSpPr>
            <p:spPr>
              <a:xfrm>
                <a:off x="205025" y="6516696"/>
                <a:ext cx="1645919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Empresarial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127" name="Imagen 1126">
                <a:extLst>
                  <a:ext uri="{FF2B5EF4-FFF2-40B4-BE49-F238E27FC236}">
                    <a16:creationId xmlns:a16="http://schemas.microsoft.com/office/drawing/2014/main" id="{999AF022-56E9-B2C3-0F57-3E21F96D5E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33259" y="6617432"/>
                <a:ext cx="269372" cy="269372"/>
              </a:xfrm>
              <a:prstGeom prst="rect">
                <a:avLst/>
              </a:prstGeom>
            </p:spPr>
          </p:pic>
        </p:grpSp>
      </p:grpSp>
      <p:grpSp>
        <p:nvGrpSpPr>
          <p:cNvPr id="1183" name="Grupo 1182">
            <a:extLst>
              <a:ext uri="{FF2B5EF4-FFF2-40B4-BE49-F238E27FC236}">
                <a16:creationId xmlns:a16="http://schemas.microsoft.com/office/drawing/2014/main" id="{F12FD618-575A-DCE9-69BD-85D62EB7433E}"/>
              </a:ext>
            </a:extLst>
          </p:cNvPr>
          <p:cNvGrpSpPr/>
          <p:nvPr/>
        </p:nvGrpSpPr>
        <p:grpSpPr>
          <a:xfrm>
            <a:off x="220427" y="1866900"/>
            <a:ext cx="8847373" cy="3060973"/>
            <a:chOff x="37259" y="1866900"/>
            <a:chExt cx="8847373" cy="3060973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928E3A9F-2546-680B-3A37-BC5EC6CCE4AF}"/>
                </a:ext>
              </a:extLst>
            </p:cNvPr>
            <p:cNvGrpSpPr/>
            <p:nvPr/>
          </p:nvGrpSpPr>
          <p:grpSpPr>
            <a:xfrm>
              <a:off x="37259" y="1866900"/>
              <a:ext cx="8847373" cy="3060973"/>
              <a:chOff x="37259" y="1974108"/>
              <a:chExt cx="8847373" cy="3060973"/>
            </a:xfrm>
          </p:grpSpPr>
          <p:sp>
            <p:nvSpPr>
              <p:cNvPr id="698" name="Rectángulo 697">
                <a:extLst>
                  <a:ext uri="{FF2B5EF4-FFF2-40B4-BE49-F238E27FC236}">
                    <a16:creationId xmlns:a16="http://schemas.microsoft.com/office/drawing/2014/main" id="{C1A9055B-2CE3-659E-164C-126558AA3D71}"/>
                  </a:ext>
                </a:extLst>
              </p:cNvPr>
              <p:cNvSpPr/>
              <p:nvPr/>
            </p:nvSpPr>
            <p:spPr>
              <a:xfrm>
                <a:off x="6576790" y="1976973"/>
                <a:ext cx="2283129" cy="601928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Resumen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85" name="Rectángulo 684">
                <a:extLst>
                  <a:ext uri="{FF2B5EF4-FFF2-40B4-BE49-F238E27FC236}">
                    <a16:creationId xmlns:a16="http://schemas.microsoft.com/office/drawing/2014/main" id="{C1CB67E3-4189-5EFC-B94C-5AD1D57E320C}"/>
                  </a:ext>
                </a:extLst>
              </p:cNvPr>
              <p:cNvSpPr/>
              <p:nvPr/>
            </p:nvSpPr>
            <p:spPr>
              <a:xfrm>
                <a:off x="1526387" y="2578622"/>
                <a:ext cx="7335582" cy="24464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pic>
            <p:nvPicPr>
              <p:cNvPr id="1143" name="Imagen 1142">
                <a:extLst>
                  <a:ext uri="{FF2B5EF4-FFF2-40B4-BE49-F238E27FC236}">
                    <a16:creationId xmlns:a16="http://schemas.microsoft.com/office/drawing/2014/main" id="{9B42A7C1-A80E-5D75-C285-AC33A0BCA2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17986" y="2699883"/>
                <a:ext cx="249808" cy="249808"/>
              </a:xfrm>
              <a:prstGeom prst="rect">
                <a:avLst/>
              </a:prstGeom>
            </p:spPr>
          </p:pic>
          <p:pic>
            <p:nvPicPr>
              <p:cNvPr id="1146" name="Imagen 1145">
                <a:extLst>
                  <a:ext uri="{FF2B5EF4-FFF2-40B4-BE49-F238E27FC236}">
                    <a16:creationId xmlns:a16="http://schemas.microsoft.com/office/drawing/2014/main" id="{8BE7A48D-6C92-1F40-2729-FD3019A66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17986" y="3154871"/>
                <a:ext cx="249808" cy="249808"/>
              </a:xfrm>
              <a:prstGeom prst="rect">
                <a:avLst/>
              </a:prstGeom>
            </p:spPr>
          </p:pic>
          <p:grpSp>
            <p:nvGrpSpPr>
              <p:cNvPr id="1151" name="Grupo 1150">
                <a:extLst>
                  <a:ext uri="{FF2B5EF4-FFF2-40B4-BE49-F238E27FC236}">
                    <a16:creationId xmlns:a16="http://schemas.microsoft.com/office/drawing/2014/main" id="{3D261556-4C63-0656-846A-8CB3C07E74F3}"/>
                  </a:ext>
                </a:extLst>
              </p:cNvPr>
              <p:cNvGrpSpPr/>
              <p:nvPr/>
            </p:nvGrpSpPr>
            <p:grpSpPr>
              <a:xfrm>
                <a:off x="1882658" y="3645122"/>
                <a:ext cx="655532" cy="277578"/>
                <a:chOff x="10622068" y="4861174"/>
                <a:chExt cx="655532" cy="277578"/>
              </a:xfrm>
            </p:grpSpPr>
            <p:pic>
              <p:nvPicPr>
                <p:cNvPr id="1149" name="Imagen 1148">
                  <a:extLst>
                    <a:ext uri="{FF2B5EF4-FFF2-40B4-BE49-F238E27FC236}">
                      <a16:creationId xmlns:a16="http://schemas.microsoft.com/office/drawing/2014/main" id="{86F569A4-C52B-69FB-0423-8D1BDC0571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22068" y="4861174"/>
                  <a:ext cx="249808" cy="249808"/>
                </a:xfrm>
                <a:prstGeom prst="rect">
                  <a:avLst/>
                </a:prstGeom>
              </p:spPr>
            </p:pic>
            <p:sp>
              <p:nvSpPr>
                <p:cNvPr id="1150" name="CuadroTexto 1149">
                  <a:extLst>
                    <a:ext uri="{FF2B5EF4-FFF2-40B4-BE49-F238E27FC236}">
                      <a16:creationId xmlns:a16="http://schemas.microsoft.com/office/drawing/2014/main" id="{800CF1EC-9A79-2D3A-8434-D95856AD4114}"/>
                    </a:ext>
                  </a:extLst>
                </p:cNvPr>
                <p:cNvSpPr txBox="1"/>
                <p:nvPr/>
              </p:nvSpPr>
              <p:spPr>
                <a:xfrm>
                  <a:off x="10820095" y="4861753"/>
                  <a:ext cx="457505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leve</a:t>
                  </a:r>
                  <a:endPara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p:grpSp>
          <p:grpSp>
            <p:nvGrpSpPr>
              <p:cNvPr id="642" name="Grupo 641">
                <a:extLst>
                  <a:ext uri="{FF2B5EF4-FFF2-40B4-BE49-F238E27FC236}">
                    <a16:creationId xmlns:a16="http://schemas.microsoft.com/office/drawing/2014/main" id="{A1153DB1-90B1-861D-36EA-2A88B9F8B8F1}"/>
                  </a:ext>
                </a:extLst>
              </p:cNvPr>
              <p:cNvGrpSpPr/>
              <p:nvPr/>
            </p:nvGrpSpPr>
            <p:grpSpPr>
              <a:xfrm>
                <a:off x="2802896" y="2699883"/>
                <a:ext cx="499616" cy="249808"/>
                <a:chOff x="11408792" y="2933700"/>
                <a:chExt cx="499616" cy="249808"/>
              </a:xfrm>
            </p:grpSpPr>
            <p:pic>
              <p:nvPicPr>
                <p:cNvPr id="640" name="Imagen 639">
                  <a:extLst>
                    <a:ext uri="{FF2B5EF4-FFF2-40B4-BE49-F238E27FC236}">
                      <a16:creationId xmlns:a16="http://schemas.microsoft.com/office/drawing/2014/main" id="{D5BCDC79-DFBC-B116-667A-3C1D88721F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08792" y="2933700"/>
                  <a:ext cx="249808" cy="249808"/>
                </a:xfrm>
                <a:prstGeom prst="rect">
                  <a:avLst/>
                </a:prstGeom>
              </p:spPr>
            </p:pic>
            <p:pic>
              <p:nvPicPr>
                <p:cNvPr id="641" name="Imagen 640">
                  <a:extLst>
                    <a:ext uri="{FF2B5EF4-FFF2-40B4-BE49-F238E27FC236}">
                      <a16:creationId xmlns:a16="http://schemas.microsoft.com/office/drawing/2014/main" id="{3EAE1A98-08D4-DD84-389C-B010226CA8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58600" y="2933700"/>
                  <a:ext cx="249808" cy="249808"/>
                </a:xfrm>
                <a:prstGeom prst="rect">
                  <a:avLst/>
                </a:prstGeom>
              </p:spPr>
            </p:pic>
          </p:grpSp>
          <p:pic>
            <p:nvPicPr>
              <p:cNvPr id="643" name="Imagen 642">
                <a:extLst>
                  <a:ext uri="{FF2B5EF4-FFF2-40B4-BE49-F238E27FC236}">
                    <a16:creationId xmlns:a16="http://schemas.microsoft.com/office/drawing/2014/main" id="{FADDF69B-DFDB-77FC-8366-84D34B1EAE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27800" y="3154871"/>
                <a:ext cx="249808" cy="249808"/>
              </a:xfrm>
              <a:prstGeom prst="rect">
                <a:avLst/>
              </a:prstGeom>
            </p:spPr>
          </p:pic>
          <p:grpSp>
            <p:nvGrpSpPr>
              <p:cNvPr id="647" name="Grupo 646">
                <a:extLst>
                  <a:ext uri="{FF2B5EF4-FFF2-40B4-BE49-F238E27FC236}">
                    <a16:creationId xmlns:a16="http://schemas.microsoft.com/office/drawing/2014/main" id="{7BA4871A-A58E-9541-5CB5-D3DB848E68C2}"/>
                  </a:ext>
                </a:extLst>
              </p:cNvPr>
              <p:cNvGrpSpPr/>
              <p:nvPr/>
            </p:nvGrpSpPr>
            <p:grpSpPr>
              <a:xfrm>
                <a:off x="2797058" y="3645122"/>
                <a:ext cx="655532" cy="277578"/>
                <a:chOff x="10622068" y="4861174"/>
                <a:chExt cx="655532" cy="277578"/>
              </a:xfrm>
            </p:grpSpPr>
            <p:pic>
              <p:nvPicPr>
                <p:cNvPr id="650" name="Imagen 649">
                  <a:extLst>
                    <a:ext uri="{FF2B5EF4-FFF2-40B4-BE49-F238E27FC236}">
                      <a16:creationId xmlns:a16="http://schemas.microsoft.com/office/drawing/2014/main" id="{DDF39E7C-0D1F-75A2-869A-60AEB80146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22068" y="4861174"/>
                  <a:ext cx="249808" cy="249808"/>
                </a:xfrm>
                <a:prstGeom prst="rect">
                  <a:avLst/>
                </a:prstGeom>
              </p:spPr>
            </p:pic>
            <p:sp>
              <p:nvSpPr>
                <p:cNvPr id="651" name="CuadroTexto 650">
                  <a:extLst>
                    <a:ext uri="{FF2B5EF4-FFF2-40B4-BE49-F238E27FC236}">
                      <a16:creationId xmlns:a16="http://schemas.microsoft.com/office/drawing/2014/main" id="{9C71678F-B4C9-95FA-2B3E-59EE2E1DA817}"/>
                    </a:ext>
                  </a:extLst>
                </p:cNvPr>
                <p:cNvSpPr txBox="1"/>
                <p:nvPr/>
              </p:nvSpPr>
              <p:spPr>
                <a:xfrm>
                  <a:off x="10820095" y="4861753"/>
                  <a:ext cx="457505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leve</a:t>
                  </a:r>
                  <a:endPara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p:grpSp>
          <p:sp>
            <p:nvSpPr>
              <p:cNvPr id="655" name="CuadroTexto 654">
                <a:extLst>
                  <a:ext uri="{FF2B5EF4-FFF2-40B4-BE49-F238E27FC236}">
                    <a16:creationId xmlns:a16="http://schemas.microsoft.com/office/drawing/2014/main" id="{7DB791C2-AD76-0EF4-D912-4A58172C64BF}"/>
                  </a:ext>
                </a:extLst>
              </p:cNvPr>
              <p:cNvSpPr txBox="1"/>
              <p:nvPr/>
            </p:nvSpPr>
            <p:spPr>
              <a:xfrm>
                <a:off x="3845089" y="2699883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046D22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Alto</a:t>
                </a:r>
                <a:endParaRPr lang="es-DO" sz="1400" b="1" dirty="0">
                  <a:solidFill>
                    <a:srgbClr val="046D22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62" name="CuadroTexto 661">
                <a:extLst>
                  <a:ext uri="{FF2B5EF4-FFF2-40B4-BE49-F238E27FC236}">
                    <a16:creationId xmlns:a16="http://schemas.microsoft.com/office/drawing/2014/main" id="{B1680C6A-24E9-6EE9-2FBC-3E59D560E174}"/>
                  </a:ext>
                </a:extLst>
              </p:cNvPr>
              <p:cNvSpPr txBox="1"/>
              <p:nvPr/>
            </p:nvSpPr>
            <p:spPr>
              <a:xfrm>
                <a:off x="3845089" y="4690945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046D22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Alto</a:t>
                </a:r>
                <a:endParaRPr lang="es-DO" sz="1200" b="1" dirty="0">
                  <a:solidFill>
                    <a:srgbClr val="046D22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65" name="CuadroTexto 664">
                <a:extLst>
                  <a:ext uri="{FF2B5EF4-FFF2-40B4-BE49-F238E27FC236}">
                    <a16:creationId xmlns:a16="http://schemas.microsoft.com/office/drawing/2014/main" id="{6B2A279B-C1B2-01E2-282F-06D4922195F6}"/>
                  </a:ext>
                </a:extLst>
              </p:cNvPr>
              <p:cNvSpPr txBox="1"/>
              <p:nvPr/>
            </p:nvSpPr>
            <p:spPr>
              <a:xfrm>
                <a:off x="4755779" y="4154316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046D22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Alto</a:t>
                </a:r>
                <a:endParaRPr lang="es-DO" sz="1400" b="1" dirty="0">
                  <a:solidFill>
                    <a:srgbClr val="046D22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70" name="CuadroTexto 669">
                <a:extLst>
                  <a:ext uri="{FF2B5EF4-FFF2-40B4-BE49-F238E27FC236}">
                    <a16:creationId xmlns:a16="http://schemas.microsoft.com/office/drawing/2014/main" id="{CEE00FD3-A3AD-33E2-32B0-ECF097D98E44}"/>
                  </a:ext>
                </a:extLst>
              </p:cNvPr>
              <p:cNvSpPr txBox="1"/>
              <p:nvPr/>
            </p:nvSpPr>
            <p:spPr>
              <a:xfrm>
                <a:off x="5816682" y="2699883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046D22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Alto</a:t>
                </a:r>
                <a:endParaRPr lang="es-DO" sz="1200" b="1" dirty="0">
                  <a:solidFill>
                    <a:srgbClr val="046D22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73" name="CuadroTexto 672">
                <a:extLst>
                  <a:ext uri="{FF2B5EF4-FFF2-40B4-BE49-F238E27FC236}">
                    <a16:creationId xmlns:a16="http://schemas.microsoft.com/office/drawing/2014/main" id="{A0F820D5-431D-36D7-7CBB-354C0F326A19}"/>
                  </a:ext>
                </a:extLst>
              </p:cNvPr>
              <p:cNvSpPr txBox="1"/>
              <p:nvPr/>
            </p:nvSpPr>
            <p:spPr>
              <a:xfrm>
                <a:off x="5830431" y="4141162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rgbClr val="046D22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Alto</a:t>
                </a:r>
                <a:endParaRPr lang="es-DO" sz="1400" b="1" dirty="0">
                  <a:solidFill>
                    <a:srgbClr val="046D22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75" name="CuadroTexto 674">
                <a:extLst>
                  <a:ext uri="{FF2B5EF4-FFF2-40B4-BE49-F238E27FC236}">
                    <a16:creationId xmlns:a16="http://schemas.microsoft.com/office/drawing/2014/main" id="{62498141-3353-95E8-B35A-E93F6CD8FABC}"/>
                  </a:ext>
                </a:extLst>
              </p:cNvPr>
              <p:cNvSpPr txBox="1"/>
              <p:nvPr/>
            </p:nvSpPr>
            <p:spPr>
              <a:xfrm>
                <a:off x="6629400" y="2699883"/>
                <a:ext cx="217962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Alto </a:t>
                </a:r>
                <a:r>
                  <a:rPr lang="en-US" sz="12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crecimiento</a:t>
                </a:r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+ </a:t>
                </a:r>
                <a:r>
                  <a:rPr lang="en-US" sz="12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monetización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76" name="CuadroTexto 675">
                <a:extLst>
                  <a:ext uri="{FF2B5EF4-FFF2-40B4-BE49-F238E27FC236}">
                    <a16:creationId xmlns:a16="http://schemas.microsoft.com/office/drawing/2014/main" id="{BD84D9B9-8CC5-1400-D739-318FC67DCC21}"/>
                  </a:ext>
                </a:extLst>
              </p:cNvPr>
              <p:cNvSpPr txBox="1"/>
              <p:nvPr/>
            </p:nvSpPr>
            <p:spPr>
              <a:xfrm>
                <a:off x="6669908" y="3148970"/>
                <a:ext cx="22098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Crecimiento</a:t>
                </a:r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transversal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77" name="CuadroTexto 676">
                <a:extLst>
                  <a:ext uri="{FF2B5EF4-FFF2-40B4-BE49-F238E27FC236}">
                    <a16:creationId xmlns:a16="http://schemas.microsoft.com/office/drawing/2014/main" id="{A2B469A6-56F5-C17D-A0CC-AD242A724270}"/>
                  </a:ext>
                </a:extLst>
              </p:cNvPr>
              <p:cNvSpPr txBox="1"/>
              <p:nvPr/>
            </p:nvSpPr>
            <p:spPr>
              <a:xfrm>
                <a:off x="6663946" y="3645122"/>
                <a:ext cx="22098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Recurrencia</a:t>
                </a:r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y </a:t>
                </a:r>
                <a:r>
                  <a:rPr lang="en-US" sz="12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estabilidad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78" name="CuadroTexto 677">
                <a:extLst>
                  <a:ext uri="{FF2B5EF4-FFF2-40B4-BE49-F238E27FC236}">
                    <a16:creationId xmlns:a16="http://schemas.microsoft.com/office/drawing/2014/main" id="{E4EC1B44-E5F5-17DA-0BC9-BA997D61B8D2}"/>
                  </a:ext>
                </a:extLst>
              </p:cNvPr>
              <p:cNvSpPr txBox="1"/>
              <p:nvPr/>
            </p:nvSpPr>
            <p:spPr>
              <a:xfrm>
                <a:off x="6615334" y="4141162"/>
                <a:ext cx="225841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12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Lidera</a:t>
                </a:r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</a:t>
                </a:r>
                <a:r>
                  <a:rPr lang="en-US" sz="12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volumen</a:t>
                </a:r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, no </a:t>
                </a:r>
                <a:r>
                  <a:rPr lang="en-US" sz="12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crecimiento</a:t>
                </a:r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79" name="CuadroTexto 678">
                <a:extLst>
                  <a:ext uri="{FF2B5EF4-FFF2-40B4-BE49-F238E27FC236}">
                    <a16:creationId xmlns:a16="http://schemas.microsoft.com/office/drawing/2014/main" id="{8B569777-573F-CBCD-DB31-33B817D658C9}"/>
                  </a:ext>
                </a:extLst>
              </p:cNvPr>
              <p:cNvSpPr txBox="1"/>
              <p:nvPr/>
            </p:nvSpPr>
            <p:spPr>
              <a:xfrm>
                <a:off x="6674832" y="4639986"/>
                <a:ext cx="22098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Alto valor, baja </a:t>
                </a:r>
                <a:r>
                  <a:rPr lang="en-US" sz="12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visibilidad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80" name="Rectángulo 679">
                <a:extLst>
                  <a:ext uri="{FF2B5EF4-FFF2-40B4-BE49-F238E27FC236}">
                    <a16:creationId xmlns:a16="http://schemas.microsoft.com/office/drawing/2014/main" id="{22F41330-4DEC-1BCD-0FB9-CD6F46C21E14}"/>
                  </a:ext>
                </a:extLst>
              </p:cNvPr>
              <p:cNvSpPr/>
              <p:nvPr/>
            </p:nvSpPr>
            <p:spPr>
              <a:xfrm>
                <a:off x="37259" y="2578901"/>
                <a:ext cx="1479789" cy="457200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Electronica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81" name="Rectángulo 680">
                <a:extLst>
                  <a:ext uri="{FF2B5EF4-FFF2-40B4-BE49-F238E27FC236}">
                    <a16:creationId xmlns:a16="http://schemas.microsoft.com/office/drawing/2014/main" id="{3EE9C42D-3FBB-2CDC-FC19-9EC7AAF47B89}"/>
                  </a:ext>
                </a:extLst>
              </p:cNvPr>
              <p:cNvSpPr/>
              <p:nvPr/>
            </p:nvSpPr>
            <p:spPr>
              <a:xfrm>
                <a:off x="37259" y="3022392"/>
                <a:ext cx="1484181" cy="530153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</a:t>
                </a:r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Restaurantes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82" name="Rectángulo 681">
                <a:extLst>
                  <a:ext uri="{FF2B5EF4-FFF2-40B4-BE49-F238E27FC236}">
                    <a16:creationId xmlns:a16="http://schemas.microsoft.com/office/drawing/2014/main" id="{F0C77B9D-CC01-8FB8-576C-6FD853C1B7EE}"/>
                  </a:ext>
                </a:extLst>
              </p:cNvPr>
              <p:cNvSpPr/>
              <p:nvPr/>
            </p:nvSpPr>
            <p:spPr>
              <a:xfrm>
                <a:off x="37259" y="3548445"/>
                <a:ext cx="1479788" cy="530153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Farmacias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83" name="Rectángulo 682">
                <a:extLst>
                  <a:ext uri="{FF2B5EF4-FFF2-40B4-BE49-F238E27FC236}">
                    <a16:creationId xmlns:a16="http://schemas.microsoft.com/office/drawing/2014/main" id="{7BE449F1-8E9B-8498-80AD-4D919F7EF14F}"/>
                  </a:ext>
                </a:extLst>
              </p:cNvPr>
              <p:cNvSpPr/>
              <p:nvPr/>
            </p:nvSpPr>
            <p:spPr>
              <a:xfrm>
                <a:off x="37259" y="4074498"/>
                <a:ext cx="1475090" cy="419995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 Supermercados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84" name="Rectángulo 683">
                <a:extLst>
                  <a:ext uri="{FF2B5EF4-FFF2-40B4-BE49-F238E27FC236}">
                    <a16:creationId xmlns:a16="http://schemas.microsoft.com/office/drawing/2014/main" id="{31106F57-8E2A-AE0C-9CFF-EDEF80919295}"/>
                  </a:ext>
                </a:extLst>
              </p:cNvPr>
              <p:cNvSpPr/>
              <p:nvPr/>
            </p:nvSpPr>
            <p:spPr>
              <a:xfrm>
                <a:off x="37259" y="4494493"/>
                <a:ext cx="1480313" cy="540588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Ecommerce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cxnSp>
            <p:nvCxnSpPr>
              <p:cNvPr id="687" name="Conector recto 686">
                <a:extLst>
                  <a:ext uri="{FF2B5EF4-FFF2-40B4-BE49-F238E27FC236}">
                    <a16:creationId xmlns:a16="http://schemas.microsoft.com/office/drawing/2014/main" id="{C0D7455F-9292-D75A-C301-3BB8591B6D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32772" y="3036101"/>
                <a:ext cx="7335582" cy="13709"/>
              </a:xfrm>
              <a:prstGeom prst="line">
                <a:avLst/>
              </a:prstGeom>
              <a:ln w="12700">
                <a:solidFill>
                  <a:srgbClr val="10253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9" name="Conector recto 688">
                <a:extLst>
                  <a:ext uri="{FF2B5EF4-FFF2-40B4-BE49-F238E27FC236}">
                    <a16:creationId xmlns:a16="http://schemas.microsoft.com/office/drawing/2014/main" id="{DD6609FA-7028-8DA5-FA41-27C201E8F8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47590" y="3493301"/>
                <a:ext cx="7335582" cy="13709"/>
              </a:xfrm>
              <a:prstGeom prst="line">
                <a:avLst/>
              </a:prstGeom>
              <a:ln w="12700">
                <a:solidFill>
                  <a:srgbClr val="10253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0" name="Conector recto 689">
                <a:extLst>
                  <a:ext uri="{FF2B5EF4-FFF2-40B4-BE49-F238E27FC236}">
                    <a16:creationId xmlns:a16="http://schemas.microsoft.com/office/drawing/2014/main" id="{F8C1882B-8055-028C-4E11-51491837AC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21937" y="4020719"/>
                <a:ext cx="7335582" cy="13709"/>
              </a:xfrm>
              <a:prstGeom prst="line">
                <a:avLst/>
              </a:prstGeom>
              <a:ln w="12700">
                <a:solidFill>
                  <a:srgbClr val="10253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1" name="Conector recto 690">
                <a:extLst>
                  <a:ext uri="{FF2B5EF4-FFF2-40B4-BE49-F238E27FC236}">
                    <a16:creationId xmlns:a16="http://schemas.microsoft.com/office/drawing/2014/main" id="{9F4751E0-546B-1A99-0D12-E35D8202D6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21937" y="4577233"/>
                <a:ext cx="7335582" cy="13709"/>
              </a:xfrm>
              <a:prstGeom prst="line">
                <a:avLst/>
              </a:prstGeom>
              <a:ln w="12700">
                <a:solidFill>
                  <a:srgbClr val="10253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4" name="Rectángulo 693">
                <a:extLst>
                  <a:ext uri="{FF2B5EF4-FFF2-40B4-BE49-F238E27FC236}">
                    <a16:creationId xmlns:a16="http://schemas.microsoft.com/office/drawing/2014/main" id="{12A5A444-D1E9-D2B5-FECE-3EA96A0B1798}"/>
                  </a:ext>
                </a:extLst>
              </p:cNvPr>
              <p:cNvSpPr/>
              <p:nvPr/>
            </p:nvSpPr>
            <p:spPr>
              <a:xfrm>
                <a:off x="2538190" y="1974108"/>
                <a:ext cx="1069848" cy="604793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Transacciones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93" name="Rectángulo 692">
                <a:extLst>
                  <a:ext uri="{FF2B5EF4-FFF2-40B4-BE49-F238E27FC236}">
                    <a16:creationId xmlns:a16="http://schemas.microsoft.com/office/drawing/2014/main" id="{13359524-2625-77E4-ECFA-F566CC68F0B9}"/>
                  </a:ext>
                </a:extLst>
              </p:cNvPr>
              <p:cNvSpPr/>
              <p:nvPr/>
            </p:nvSpPr>
            <p:spPr>
              <a:xfrm>
                <a:off x="1531777" y="1974108"/>
                <a:ext cx="1097280" cy="604793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Participación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97" name="Rectángulo 696">
                <a:extLst>
                  <a:ext uri="{FF2B5EF4-FFF2-40B4-BE49-F238E27FC236}">
                    <a16:creationId xmlns:a16="http://schemas.microsoft.com/office/drawing/2014/main" id="{2C1E469C-3636-2A8A-9556-F12B9F21650E}"/>
                  </a:ext>
                </a:extLst>
              </p:cNvPr>
              <p:cNvSpPr/>
              <p:nvPr/>
            </p:nvSpPr>
            <p:spPr>
              <a:xfrm>
                <a:off x="5427405" y="1974108"/>
                <a:ext cx="1152144" cy="604793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Monto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96" name="Rectángulo 695">
                <a:extLst>
                  <a:ext uri="{FF2B5EF4-FFF2-40B4-BE49-F238E27FC236}">
                    <a16:creationId xmlns:a16="http://schemas.microsoft.com/office/drawing/2014/main" id="{10281A07-44A9-C12D-F677-1E3CF8594B6B}"/>
                  </a:ext>
                </a:extLst>
              </p:cNvPr>
              <p:cNvSpPr/>
              <p:nvPr/>
            </p:nvSpPr>
            <p:spPr>
              <a:xfrm>
                <a:off x="4513005" y="1974109"/>
                <a:ext cx="905256" cy="601928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Frecuencia*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95" name="Rectángulo 694">
                <a:extLst>
                  <a:ext uri="{FF2B5EF4-FFF2-40B4-BE49-F238E27FC236}">
                    <a16:creationId xmlns:a16="http://schemas.microsoft.com/office/drawing/2014/main" id="{1664C1DE-F73C-8A7F-DCD5-410350044511}"/>
                  </a:ext>
                </a:extLst>
              </p:cNvPr>
              <p:cNvSpPr/>
              <p:nvPr/>
            </p:nvSpPr>
            <p:spPr>
              <a:xfrm>
                <a:off x="3604990" y="1974108"/>
                <a:ext cx="905256" cy="604793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Ticket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grpSp>
            <p:nvGrpSpPr>
              <p:cNvPr id="1180" name="Grupo 1179">
                <a:extLst>
                  <a:ext uri="{FF2B5EF4-FFF2-40B4-BE49-F238E27FC236}">
                    <a16:creationId xmlns:a16="http://schemas.microsoft.com/office/drawing/2014/main" id="{B48166C6-4522-B8DC-C0E2-65F9C8052A55}"/>
                  </a:ext>
                </a:extLst>
              </p:cNvPr>
              <p:cNvGrpSpPr/>
              <p:nvPr/>
            </p:nvGrpSpPr>
            <p:grpSpPr>
              <a:xfrm>
                <a:off x="4663215" y="3632921"/>
                <a:ext cx="858288" cy="290983"/>
                <a:chOff x="13774752" y="3708969"/>
                <a:chExt cx="858288" cy="290983"/>
              </a:xfrm>
            </p:grpSpPr>
            <p:sp>
              <p:nvSpPr>
                <p:cNvPr id="664" name="CuadroTexto 663">
                  <a:extLst>
                    <a:ext uri="{FF2B5EF4-FFF2-40B4-BE49-F238E27FC236}">
                      <a16:creationId xmlns:a16="http://schemas.microsoft.com/office/drawing/2014/main" id="{57571D08-6CE5-867B-AF25-75E56DF52C93}"/>
                    </a:ext>
                  </a:extLst>
                </p:cNvPr>
                <p:cNvSpPr txBox="1"/>
                <p:nvPr/>
              </p:nvSpPr>
              <p:spPr>
                <a:xfrm>
                  <a:off x="14019297" y="3722953"/>
                  <a:ext cx="61374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rtlCol="0">
                  <a:spAutoFit/>
                </a:bodyPr>
                <a:lstStyle/>
                <a:p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Estable</a:t>
                  </a:r>
                  <a:endParaRPr lang="es-DO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1175" name="Imagen 1174">
                  <a:extLst>
                    <a:ext uri="{FF2B5EF4-FFF2-40B4-BE49-F238E27FC236}">
                      <a16:creationId xmlns:a16="http://schemas.microsoft.com/office/drawing/2014/main" id="{29B66302-85AF-2207-5A20-54625C5F11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3774752" y="3708969"/>
                  <a:ext cx="269580" cy="269580"/>
                </a:xfrm>
                <a:prstGeom prst="rect">
                  <a:avLst/>
                </a:prstGeom>
              </p:spPr>
            </p:pic>
          </p:grpSp>
          <p:grpSp>
            <p:nvGrpSpPr>
              <p:cNvPr id="1185" name="Grupo 1184">
                <a:extLst>
                  <a:ext uri="{FF2B5EF4-FFF2-40B4-BE49-F238E27FC236}">
                    <a16:creationId xmlns:a16="http://schemas.microsoft.com/office/drawing/2014/main" id="{E3EECC5C-168F-6FCC-ACC3-A0462235D4A8}"/>
                  </a:ext>
                </a:extLst>
              </p:cNvPr>
              <p:cNvGrpSpPr/>
              <p:nvPr/>
            </p:nvGrpSpPr>
            <p:grpSpPr>
              <a:xfrm>
                <a:off x="2703447" y="4150303"/>
                <a:ext cx="858288" cy="290983"/>
                <a:chOff x="13774752" y="3708969"/>
                <a:chExt cx="858288" cy="290983"/>
              </a:xfrm>
            </p:grpSpPr>
            <p:sp>
              <p:nvSpPr>
                <p:cNvPr id="1186" name="CuadroTexto 1185">
                  <a:extLst>
                    <a:ext uri="{FF2B5EF4-FFF2-40B4-BE49-F238E27FC236}">
                      <a16:creationId xmlns:a16="http://schemas.microsoft.com/office/drawing/2014/main" id="{26C17154-9DDE-4E5D-6D20-E2C78CCE3BEB}"/>
                    </a:ext>
                  </a:extLst>
                </p:cNvPr>
                <p:cNvSpPr txBox="1"/>
                <p:nvPr/>
              </p:nvSpPr>
              <p:spPr>
                <a:xfrm>
                  <a:off x="14019297" y="3722953"/>
                  <a:ext cx="61374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rtlCol="0">
                  <a:spAutoFit/>
                </a:bodyPr>
                <a:lstStyle/>
                <a:p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Estable</a:t>
                  </a:r>
                  <a:endParaRPr lang="es-DO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1187" name="Imagen 1186">
                  <a:extLst>
                    <a:ext uri="{FF2B5EF4-FFF2-40B4-BE49-F238E27FC236}">
                      <a16:creationId xmlns:a16="http://schemas.microsoft.com/office/drawing/2014/main" id="{69FC8A0E-D7B0-D62C-B553-9BE42E76D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3774752" y="3708969"/>
                  <a:ext cx="269580" cy="269580"/>
                </a:xfrm>
                <a:prstGeom prst="rect">
                  <a:avLst/>
                </a:prstGeom>
              </p:spPr>
            </p:pic>
          </p:grpSp>
          <p:grpSp>
            <p:nvGrpSpPr>
              <p:cNvPr id="1188" name="Grupo 1187">
                <a:extLst>
                  <a:ext uri="{FF2B5EF4-FFF2-40B4-BE49-F238E27FC236}">
                    <a16:creationId xmlns:a16="http://schemas.microsoft.com/office/drawing/2014/main" id="{C07C9FF3-3B1F-C796-7ED6-B58D9F9D89D3}"/>
                  </a:ext>
                </a:extLst>
              </p:cNvPr>
              <p:cNvGrpSpPr/>
              <p:nvPr/>
            </p:nvGrpSpPr>
            <p:grpSpPr>
              <a:xfrm>
                <a:off x="1762966" y="4133240"/>
                <a:ext cx="858288" cy="290983"/>
                <a:chOff x="13774752" y="3708969"/>
                <a:chExt cx="858288" cy="290983"/>
              </a:xfrm>
            </p:grpSpPr>
            <p:sp>
              <p:nvSpPr>
                <p:cNvPr id="1189" name="CuadroTexto 1188">
                  <a:extLst>
                    <a:ext uri="{FF2B5EF4-FFF2-40B4-BE49-F238E27FC236}">
                      <a16:creationId xmlns:a16="http://schemas.microsoft.com/office/drawing/2014/main" id="{B5A22EF1-4466-A79B-FFD3-F05DAEBBD12F}"/>
                    </a:ext>
                  </a:extLst>
                </p:cNvPr>
                <p:cNvSpPr txBox="1"/>
                <p:nvPr/>
              </p:nvSpPr>
              <p:spPr>
                <a:xfrm>
                  <a:off x="14019297" y="3722953"/>
                  <a:ext cx="61374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rtlCol="0">
                  <a:spAutoFit/>
                </a:bodyPr>
                <a:lstStyle/>
                <a:p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Estable</a:t>
                  </a:r>
                  <a:endParaRPr lang="es-DO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1190" name="Imagen 1189">
                  <a:extLst>
                    <a:ext uri="{FF2B5EF4-FFF2-40B4-BE49-F238E27FC236}">
                      <a16:creationId xmlns:a16="http://schemas.microsoft.com/office/drawing/2014/main" id="{6B4C92F1-D683-21F7-BC39-B81224FAC7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3774752" y="3708969"/>
                  <a:ext cx="269580" cy="269580"/>
                </a:xfrm>
                <a:prstGeom prst="rect">
                  <a:avLst/>
                </a:prstGeom>
              </p:spPr>
            </p:pic>
          </p:grpSp>
          <p:grpSp>
            <p:nvGrpSpPr>
              <p:cNvPr id="1191" name="Grupo 1190">
                <a:extLst>
                  <a:ext uri="{FF2B5EF4-FFF2-40B4-BE49-F238E27FC236}">
                    <a16:creationId xmlns:a16="http://schemas.microsoft.com/office/drawing/2014/main" id="{62961BB8-175B-2170-8930-CF8C8FB84062}"/>
                  </a:ext>
                </a:extLst>
              </p:cNvPr>
              <p:cNvGrpSpPr/>
              <p:nvPr/>
            </p:nvGrpSpPr>
            <p:grpSpPr>
              <a:xfrm>
                <a:off x="1764868" y="4666757"/>
                <a:ext cx="858288" cy="290983"/>
                <a:chOff x="13774752" y="3708969"/>
                <a:chExt cx="858288" cy="290983"/>
              </a:xfrm>
            </p:grpSpPr>
            <p:sp>
              <p:nvSpPr>
                <p:cNvPr id="1192" name="CuadroTexto 1191">
                  <a:extLst>
                    <a:ext uri="{FF2B5EF4-FFF2-40B4-BE49-F238E27FC236}">
                      <a16:creationId xmlns:a16="http://schemas.microsoft.com/office/drawing/2014/main" id="{CD3B2512-F287-A06F-FBED-0B89C5A99CA2}"/>
                    </a:ext>
                  </a:extLst>
                </p:cNvPr>
                <p:cNvSpPr txBox="1"/>
                <p:nvPr/>
              </p:nvSpPr>
              <p:spPr>
                <a:xfrm>
                  <a:off x="14019297" y="3722953"/>
                  <a:ext cx="613743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rtlCol="0">
                  <a:spAutoFit/>
                </a:bodyPr>
                <a:lstStyle/>
                <a:p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Estable</a:t>
                  </a:r>
                  <a:endParaRPr lang="es-DO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1193" name="Imagen 1192">
                  <a:extLst>
                    <a:ext uri="{FF2B5EF4-FFF2-40B4-BE49-F238E27FC236}">
                      <a16:creationId xmlns:a16="http://schemas.microsoft.com/office/drawing/2014/main" id="{24F19E76-2BAE-EC5C-97C5-191D926F6D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3774752" y="3708969"/>
                  <a:ext cx="269580" cy="269580"/>
                </a:xfrm>
                <a:prstGeom prst="rect">
                  <a:avLst/>
                </a:prstGeom>
              </p:spPr>
            </p:pic>
          </p:grpSp>
          <p:sp>
            <p:nvSpPr>
              <p:cNvPr id="656" name="CuadroTexto 655">
                <a:extLst>
                  <a:ext uri="{FF2B5EF4-FFF2-40B4-BE49-F238E27FC236}">
                    <a16:creationId xmlns:a16="http://schemas.microsoft.com/office/drawing/2014/main" id="{8AAC544B-BE11-1AEA-C2A4-F29FC6D9D6D9}"/>
                  </a:ext>
                </a:extLst>
              </p:cNvPr>
              <p:cNvSpPr txBox="1"/>
              <p:nvPr/>
            </p:nvSpPr>
            <p:spPr>
              <a:xfrm>
                <a:off x="3784824" y="3154143"/>
                <a:ext cx="6802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6">
                        <a:lumMod val="50000"/>
                      </a:schemeClr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Medio</a:t>
                </a:r>
                <a:endParaRPr lang="es-DO" sz="1200" b="1" dirty="0">
                  <a:solidFill>
                    <a:schemeClr val="accent6">
                      <a:lumMod val="50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198" name="CuadroTexto 1197">
                <a:extLst>
                  <a:ext uri="{FF2B5EF4-FFF2-40B4-BE49-F238E27FC236}">
                    <a16:creationId xmlns:a16="http://schemas.microsoft.com/office/drawing/2014/main" id="{2CE27EE1-8D31-6E80-DF44-A72CEEC3285F}"/>
                  </a:ext>
                </a:extLst>
              </p:cNvPr>
              <p:cNvSpPr txBox="1"/>
              <p:nvPr/>
            </p:nvSpPr>
            <p:spPr>
              <a:xfrm>
                <a:off x="4751704" y="3154143"/>
                <a:ext cx="6802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6">
                        <a:lumMod val="50000"/>
                      </a:schemeClr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Medio</a:t>
                </a:r>
                <a:endParaRPr lang="es-DO" sz="1200" b="1" dirty="0">
                  <a:solidFill>
                    <a:schemeClr val="accent6">
                      <a:lumMod val="50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201" name="CuadroTexto 1200">
                <a:extLst>
                  <a:ext uri="{FF2B5EF4-FFF2-40B4-BE49-F238E27FC236}">
                    <a16:creationId xmlns:a16="http://schemas.microsoft.com/office/drawing/2014/main" id="{1DCE94D0-BF59-048A-AB27-FD569582F462}"/>
                  </a:ext>
                </a:extLst>
              </p:cNvPr>
              <p:cNvSpPr txBox="1"/>
              <p:nvPr/>
            </p:nvSpPr>
            <p:spPr>
              <a:xfrm>
                <a:off x="5791650" y="3648133"/>
                <a:ext cx="6802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6">
                        <a:lumMod val="50000"/>
                      </a:schemeClr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Medio</a:t>
                </a:r>
                <a:endParaRPr lang="es-DO" sz="1200" b="1" dirty="0">
                  <a:solidFill>
                    <a:schemeClr val="accent6">
                      <a:lumMod val="50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204" name="CuadroTexto 1203">
                <a:extLst>
                  <a:ext uri="{FF2B5EF4-FFF2-40B4-BE49-F238E27FC236}">
                    <a16:creationId xmlns:a16="http://schemas.microsoft.com/office/drawing/2014/main" id="{09CFCCBE-65FA-AF93-7DF3-860A1A34A627}"/>
                  </a:ext>
                </a:extLst>
              </p:cNvPr>
              <p:cNvSpPr txBox="1"/>
              <p:nvPr/>
            </p:nvSpPr>
            <p:spPr>
              <a:xfrm>
                <a:off x="5793828" y="4644894"/>
                <a:ext cx="6802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6">
                        <a:lumMod val="50000"/>
                      </a:schemeClr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Medio</a:t>
                </a:r>
                <a:endParaRPr lang="es-DO" sz="1200" b="1" dirty="0">
                  <a:solidFill>
                    <a:schemeClr val="accent6">
                      <a:lumMod val="50000"/>
                    </a:schemeClr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60" name="CuadroTexto 659">
                <a:extLst>
                  <a:ext uri="{FF2B5EF4-FFF2-40B4-BE49-F238E27FC236}">
                    <a16:creationId xmlns:a16="http://schemas.microsoft.com/office/drawing/2014/main" id="{4153E26B-2F9F-8ECA-C989-3EF2DEAE480C}"/>
                  </a:ext>
                </a:extLst>
              </p:cNvPr>
              <p:cNvSpPr txBox="1"/>
              <p:nvPr/>
            </p:nvSpPr>
            <p:spPr>
              <a:xfrm>
                <a:off x="3836492" y="4164797"/>
                <a:ext cx="4726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Bajo</a:t>
                </a:r>
                <a:endParaRPr lang="es-DO" sz="1200" b="1" dirty="0">
                  <a:solidFill>
                    <a:schemeClr val="accent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210" name="CuadroTexto 1209">
                <a:extLst>
                  <a:ext uri="{FF2B5EF4-FFF2-40B4-BE49-F238E27FC236}">
                    <a16:creationId xmlns:a16="http://schemas.microsoft.com/office/drawing/2014/main" id="{FE7F02A8-FA50-0522-9396-2E95296F6A87}"/>
                  </a:ext>
                </a:extLst>
              </p:cNvPr>
              <p:cNvSpPr txBox="1"/>
              <p:nvPr/>
            </p:nvSpPr>
            <p:spPr>
              <a:xfrm>
                <a:off x="3842619" y="3639383"/>
                <a:ext cx="4726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Bajo</a:t>
                </a:r>
                <a:endParaRPr lang="es-DO" sz="1200" b="1" dirty="0">
                  <a:solidFill>
                    <a:schemeClr val="accent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213" name="CuadroTexto 1212">
                <a:extLst>
                  <a:ext uri="{FF2B5EF4-FFF2-40B4-BE49-F238E27FC236}">
                    <a16:creationId xmlns:a16="http://schemas.microsoft.com/office/drawing/2014/main" id="{DB60DC65-966D-CF6D-ABAE-B6AFE886609E}"/>
                  </a:ext>
                </a:extLst>
              </p:cNvPr>
              <p:cNvSpPr txBox="1"/>
              <p:nvPr/>
            </p:nvSpPr>
            <p:spPr>
              <a:xfrm>
                <a:off x="4747990" y="4669474"/>
                <a:ext cx="4726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Bajo</a:t>
                </a:r>
                <a:endParaRPr lang="es-DO" sz="1200" b="1" dirty="0">
                  <a:solidFill>
                    <a:schemeClr val="accent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704" name="CuadroTexto 703">
                <a:extLst>
                  <a:ext uri="{FF2B5EF4-FFF2-40B4-BE49-F238E27FC236}">
                    <a16:creationId xmlns:a16="http://schemas.microsoft.com/office/drawing/2014/main" id="{D449FB8E-E73B-2F43-8A07-2F6CE83CA7FC}"/>
                  </a:ext>
                </a:extLst>
              </p:cNvPr>
              <p:cNvSpPr txBox="1"/>
              <p:nvPr/>
            </p:nvSpPr>
            <p:spPr>
              <a:xfrm>
                <a:off x="5801007" y="3141343"/>
                <a:ext cx="4726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Bajo</a:t>
                </a:r>
                <a:endParaRPr lang="es-DO" sz="1200" b="1" dirty="0">
                  <a:solidFill>
                    <a:schemeClr val="accent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707" name="CuadroTexto 706">
                <a:extLst>
                  <a:ext uri="{FF2B5EF4-FFF2-40B4-BE49-F238E27FC236}">
                    <a16:creationId xmlns:a16="http://schemas.microsoft.com/office/drawing/2014/main" id="{4DF6F375-07C5-1F31-C117-9992CD39CFAE}"/>
                  </a:ext>
                </a:extLst>
              </p:cNvPr>
              <p:cNvSpPr txBox="1"/>
              <p:nvPr/>
            </p:nvSpPr>
            <p:spPr>
              <a:xfrm>
                <a:off x="4828929" y="2678902"/>
                <a:ext cx="4726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Bajo</a:t>
                </a:r>
                <a:endParaRPr lang="es-DO" sz="1200" b="1" dirty="0">
                  <a:solidFill>
                    <a:schemeClr val="accent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710" name="CuadroTexto 709">
                <a:extLst>
                  <a:ext uri="{FF2B5EF4-FFF2-40B4-BE49-F238E27FC236}">
                    <a16:creationId xmlns:a16="http://schemas.microsoft.com/office/drawing/2014/main" id="{2D6238F1-5269-15CD-CA36-2C5736C7C635}"/>
                  </a:ext>
                </a:extLst>
              </p:cNvPr>
              <p:cNvSpPr txBox="1"/>
              <p:nvPr/>
            </p:nvSpPr>
            <p:spPr>
              <a:xfrm>
                <a:off x="2976188" y="4688869"/>
                <a:ext cx="4726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Bajo</a:t>
                </a:r>
                <a:endParaRPr lang="es-DO" sz="1200" b="1" dirty="0">
                  <a:solidFill>
                    <a:schemeClr val="accent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pic>
          <p:nvPicPr>
            <p:cNvPr id="1171" name="Imagen 1170">
              <a:extLst>
                <a:ext uri="{FF2B5EF4-FFF2-40B4-BE49-F238E27FC236}">
                  <a16:creationId xmlns:a16="http://schemas.microsoft.com/office/drawing/2014/main" id="{25BFAF64-F66B-6CE3-0BA7-8107621E2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32" y="2523666"/>
              <a:ext cx="341444" cy="337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3" name="Imagen 1172">
              <a:extLst>
                <a:ext uri="{FF2B5EF4-FFF2-40B4-BE49-F238E27FC236}">
                  <a16:creationId xmlns:a16="http://schemas.microsoft.com/office/drawing/2014/main" id="{25DE811F-3BFF-1E3A-433D-B62151E8C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1632" y="2972352"/>
              <a:ext cx="346409" cy="3464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6" name="Imagen 1175">
              <a:extLst>
                <a:ext uri="{FF2B5EF4-FFF2-40B4-BE49-F238E27FC236}">
                  <a16:creationId xmlns:a16="http://schemas.microsoft.com/office/drawing/2014/main" id="{08840AA5-1CB0-0352-8849-A76B3737C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1632" y="3497898"/>
              <a:ext cx="341297" cy="3344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pic>
          <p:nvPicPr>
            <p:cNvPr id="1179" name="Imagen 1178">
              <a:extLst>
                <a:ext uri="{FF2B5EF4-FFF2-40B4-BE49-F238E27FC236}">
                  <a16:creationId xmlns:a16="http://schemas.microsoft.com/office/drawing/2014/main" id="{75DC7384-47A9-C466-6809-FAAAA8EA8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1632" y="4008536"/>
              <a:ext cx="318152" cy="323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1" name="Imagen 1180">
              <a:extLst>
                <a:ext uri="{FF2B5EF4-FFF2-40B4-BE49-F238E27FC236}">
                  <a16:creationId xmlns:a16="http://schemas.microsoft.com/office/drawing/2014/main" id="{5AD9C2DE-5D51-95BF-F1A6-1FA749CFD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1632" y="4519725"/>
              <a:ext cx="287297" cy="271336"/>
            </a:xfrm>
            <a:prstGeom prst="rect">
              <a:avLst/>
            </a:prstGeom>
            <a:solidFill>
              <a:srgbClr val="EEECE1"/>
            </a:solidFill>
            <a:ln>
              <a:noFill/>
            </a:ln>
          </p:spPr>
        </p:pic>
      </p:grpSp>
      <p:pic>
        <p:nvPicPr>
          <p:cNvPr id="1196" name="Imagen 1195">
            <a:extLst>
              <a:ext uri="{FF2B5EF4-FFF2-40B4-BE49-F238E27FC236}">
                <a16:creationId xmlns:a16="http://schemas.microsoft.com/office/drawing/2014/main" id="{57632865-39D5-BB45-447A-EFEF9A7858E9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055" y="1866900"/>
            <a:ext cx="553945" cy="55394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3610E3A-6C37-1FB8-AEB2-22F5D8779064}"/>
              </a:ext>
            </a:extLst>
          </p:cNvPr>
          <p:cNvSpPr txBox="1"/>
          <p:nvPr/>
        </p:nvSpPr>
        <p:spPr>
          <a:xfrm>
            <a:off x="304800" y="106859"/>
            <a:ext cx="31949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Evolución</a:t>
            </a:r>
            <a:r>
              <a:rPr lang="en-US" sz="2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del</a:t>
            </a:r>
          </a:p>
          <a:p>
            <a:pPr algn="ctr"/>
            <a:r>
              <a:rPr lang="en-US" sz="220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consumo</a:t>
            </a:r>
            <a:endParaRPr lang="en-US" sz="2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2F7ABCED-BFF7-26E0-AED7-16AA6D7EA7E4}"/>
              </a:ext>
            </a:extLst>
          </p:cNvPr>
          <p:cNvGrpSpPr/>
          <p:nvPr/>
        </p:nvGrpSpPr>
        <p:grpSpPr>
          <a:xfrm>
            <a:off x="9220200" y="3556502"/>
            <a:ext cx="8804043" cy="6997195"/>
            <a:chOff x="9220200" y="3556502"/>
            <a:chExt cx="8804043" cy="6997195"/>
          </a:xfrm>
        </p:grpSpPr>
        <p:grpSp>
          <p:nvGrpSpPr>
            <p:cNvPr id="1407" name="Grupo 1406">
              <a:extLst>
                <a:ext uri="{FF2B5EF4-FFF2-40B4-BE49-F238E27FC236}">
                  <a16:creationId xmlns:a16="http://schemas.microsoft.com/office/drawing/2014/main" id="{0C61613B-2952-FB4E-35FE-5F03CDFF0A11}"/>
                </a:ext>
              </a:extLst>
            </p:cNvPr>
            <p:cNvGrpSpPr/>
            <p:nvPr/>
          </p:nvGrpSpPr>
          <p:grpSpPr>
            <a:xfrm>
              <a:off x="9220200" y="3556502"/>
              <a:ext cx="8804043" cy="4346109"/>
              <a:chOff x="184666" y="3839072"/>
              <a:chExt cx="5660731" cy="3072939"/>
            </a:xfrm>
          </p:grpSpPr>
          <p:sp>
            <p:nvSpPr>
              <p:cNvPr id="1406" name="Rectángulo 1405">
                <a:extLst>
                  <a:ext uri="{FF2B5EF4-FFF2-40B4-BE49-F238E27FC236}">
                    <a16:creationId xmlns:a16="http://schemas.microsoft.com/office/drawing/2014/main" id="{83733B61-B57D-821F-45F1-95A30D6B3780}"/>
                  </a:ext>
                </a:extLst>
              </p:cNvPr>
              <p:cNvSpPr/>
              <p:nvPr/>
            </p:nvSpPr>
            <p:spPr>
              <a:xfrm>
                <a:off x="184666" y="3902116"/>
                <a:ext cx="5660731" cy="300989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1376" name="CuadroTexto 1375">
                <a:extLst>
                  <a:ext uri="{FF2B5EF4-FFF2-40B4-BE49-F238E27FC236}">
                    <a16:creationId xmlns:a16="http://schemas.microsoft.com/office/drawing/2014/main" id="{3775CBC2-507D-2FBC-6F05-0A7DA5933706}"/>
                  </a:ext>
                </a:extLst>
              </p:cNvPr>
              <p:cNvSpPr txBox="1"/>
              <p:nvPr/>
            </p:nvSpPr>
            <p:spPr>
              <a:xfrm>
                <a:off x="193167" y="3839072"/>
                <a:ext cx="5640943" cy="228138"/>
              </a:xfrm>
              <a:prstGeom prst="round2SameRect">
                <a:avLst/>
              </a:prstGeom>
              <a:solidFill>
                <a:srgbClr val="1F497D"/>
              </a:solidFill>
              <a:ln>
                <a:noFill/>
              </a:ln>
            </p:spPr>
            <p:txBody>
              <a:bodyPr vert="horz" wrap="square" rtlCol="0" anchor="ctr">
                <a:spAutoFit/>
                <a:scene3d>
                  <a:camera prst="orthographicFront">
                    <a:rot lat="0" lon="0" rev="0"/>
                  </a:camera>
                  <a:lightRig rig="threePt" dir="t"/>
                </a:scene3d>
              </a:bodyPr>
              <a:lstStyle/>
              <a:p>
                <a:pPr algn="ctr"/>
                <a:r>
                  <a:rPr lang="en-US" sz="1400" b="1" dirty="0" err="1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Migración</a:t>
                </a:r>
                <a:endParaRPr lang="es-DO" sz="22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p:grpSp>
        <p:grpSp>
          <p:nvGrpSpPr>
            <p:cNvPr id="1375" name="Grupo 1374">
              <a:extLst>
                <a:ext uri="{FF2B5EF4-FFF2-40B4-BE49-F238E27FC236}">
                  <a16:creationId xmlns:a16="http://schemas.microsoft.com/office/drawing/2014/main" id="{CCAD7517-2B0A-175F-A010-0576805B4DE9}"/>
                </a:ext>
              </a:extLst>
            </p:cNvPr>
            <p:cNvGrpSpPr/>
            <p:nvPr/>
          </p:nvGrpSpPr>
          <p:grpSpPr>
            <a:xfrm>
              <a:off x="9233418" y="5480206"/>
              <a:ext cx="5397151" cy="5073491"/>
              <a:chOff x="97176" y="4400871"/>
              <a:chExt cx="5618688" cy="5250282"/>
            </a:xfrm>
          </p:grpSpPr>
          <p:grpSp>
            <p:nvGrpSpPr>
              <p:cNvPr id="1374" name="Grupo 1373">
                <a:extLst>
                  <a:ext uri="{FF2B5EF4-FFF2-40B4-BE49-F238E27FC236}">
                    <a16:creationId xmlns:a16="http://schemas.microsoft.com/office/drawing/2014/main" id="{6A196679-839F-4E29-10C8-7D9CE42604B3}"/>
                  </a:ext>
                </a:extLst>
              </p:cNvPr>
              <p:cNvGrpSpPr/>
              <p:nvPr/>
            </p:nvGrpSpPr>
            <p:grpSpPr>
              <a:xfrm>
                <a:off x="97176" y="4400871"/>
                <a:ext cx="5618688" cy="5250282"/>
                <a:chOff x="97176" y="4400871"/>
                <a:chExt cx="5618688" cy="5250282"/>
              </a:xfrm>
            </p:grpSpPr>
            <p:sp>
              <p:nvSpPr>
                <p:cNvPr id="1351" name="Círculo parcial 1350">
                  <a:extLst>
                    <a:ext uri="{FF2B5EF4-FFF2-40B4-BE49-F238E27FC236}">
                      <a16:creationId xmlns:a16="http://schemas.microsoft.com/office/drawing/2014/main" id="{6ED47D40-B0B5-C90A-2C3F-2375BEFD4C93}"/>
                    </a:ext>
                  </a:extLst>
                </p:cNvPr>
                <p:cNvSpPr/>
                <p:nvPr/>
              </p:nvSpPr>
              <p:spPr>
                <a:xfrm rot="10800000">
                  <a:off x="97176" y="4400871"/>
                  <a:ext cx="5618688" cy="5250282"/>
                </a:xfrm>
                <a:prstGeom prst="pie">
                  <a:avLst>
                    <a:gd name="adj1" fmla="val 0"/>
                    <a:gd name="adj2" fmla="val 10750367"/>
                  </a:avLst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DO" dirty="0"/>
                </a:p>
              </p:txBody>
            </p:sp>
            <p:grpSp>
              <p:nvGrpSpPr>
                <p:cNvPr id="1371" name="Grupo 1370">
                  <a:extLst>
                    <a:ext uri="{FF2B5EF4-FFF2-40B4-BE49-F238E27FC236}">
                      <a16:creationId xmlns:a16="http://schemas.microsoft.com/office/drawing/2014/main" id="{F2A3F6A4-D8A0-D284-BD4C-C942268B3866}"/>
                    </a:ext>
                  </a:extLst>
                </p:cNvPr>
                <p:cNvGrpSpPr/>
                <p:nvPr/>
              </p:nvGrpSpPr>
              <p:grpSpPr>
                <a:xfrm>
                  <a:off x="3097871" y="4576162"/>
                  <a:ext cx="1103300" cy="974520"/>
                  <a:chOff x="2933450" y="4576162"/>
                  <a:chExt cx="1103300" cy="974520"/>
                </a:xfrm>
              </p:grpSpPr>
              <p:pic>
                <p:nvPicPr>
                  <p:cNvPr id="1358" name="Imagen 1357">
                    <a:extLst>
                      <a:ext uri="{FF2B5EF4-FFF2-40B4-BE49-F238E27FC236}">
                        <a16:creationId xmlns:a16="http://schemas.microsoft.com/office/drawing/2014/main" id="{D6783939-354E-CF99-32EC-855EBDB50E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043636" y="4576162"/>
                    <a:ext cx="756316" cy="756316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sp>
                <p:nvSpPr>
                  <p:cNvPr id="1370" name="CuadroTexto 1369">
                    <a:extLst>
                      <a:ext uri="{FF2B5EF4-FFF2-40B4-BE49-F238E27FC236}">
                        <a16:creationId xmlns:a16="http://schemas.microsoft.com/office/drawing/2014/main" id="{0EA21158-9A90-A971-5128-299D23B8A3F8}"/>
                      </a:ext>
                    </a:extLst>
                  </p:cNvPr>
                  <p:cNvSpPr txBox="1"/>
                  <p:nvPr/>
                </p:nvSpPr>
                <p:spPr>
                  <a:xfrm>
                    <a:off x="2933450" y="5242905"/>
                    <a:ext cx="1103300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chemeClr val="bg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Electronica</a:t>
                    </a:r>
                    <a:endParaRPr lang="es-DO" sz="1400" b="1" dirty="0">
                      <a:solidFill>
                        <a:schemeClr val="bg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  <p:grpSp>
              <p:nvGrpSpPr>
                <p:cNvPr id="1373" name="Grupo 1372">
                  <a:extLst>
                    <a:ext uri="{FF2B5EF4-FFF2-40B4-BE49-F238E27FC236}">
                      <a16:creationId xmlns:a16="http://schemas.microsoft.com/office/drawing/2014/main" id="{7D2FDC63-1100-5121-C79F-6731B674CAEF}"/>
                    </a:ext>
                  </a:extLst>
                </p:cNvPr>
                <p:cNvGrpSpPr/>
                <p:nvPr/>
              </p:nvGrpSpPr>
              <p:grpSpPr>
                <a:xfrm>
                  <a:off x="4199454" y="5523975"/>
                  <a:ext cx="1221788" cy="1067325"/>
                  <a:chOff x="4129440" y="5523975"/>
                  <a:chExt cx="1221788" cy="1067325"/>
                </a:xfrm>
              </p:grpSpPr>
              <p:pic>
                <p:nvPicPr>
                  <p:cNvPr id="1357" name="Imagen 1356">
                    <a:extLst>
                      <a:ext uri="{FF2B5EF4-FFF2-40B4-BE49-F238E27FC236}">
                        <a16:creationId xmlns:a16="http://schemas.microsoft.com/office/drawing/2014/main" id="{D57ABF5E-A86D-5996-5225-484EAD669C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4279719" y="5523975"/>
                    <a:ext cx="749236" cy="749236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sp>
                <p:nvSpPr>
                  <p:cNvPr id="1372" name="CuadroTexto 1371">
                    <a:extLst>
                      <a:ext uri="{FF2B5EF4-FFF2-40B4-BE49-F238E27FC236}">
                        <a16:creationId xmlns:a16="http://schemas.microsoft.com/office/drawing/2014/main" id="{E4E34012-8069-0DEC-5FBA-45C22D4E9D56}"/>
                      </a:ext>
                    </a:extLst>
                  </p:cNvPr>
                  <p:cNvSpPr txBox="1"/>
                  <p:nvPr/>
                </p:nvSpPr>
                <p:spPr>
                  <a:xfrm>
                    <a:off x="4129440" y="6283523"/>
                    <a:ext cx="1221788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 err="1">
                        <a:solidFill>
                          <a:schemeClr val="bg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Restaurantes</a:t>
                    </a:r>
                    <a:endParaRPr lang="es-DO" sz="1400" b="1" dirty="0">
                      <a:solidFill>
                        <a:schemeClr val="bg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sp>
            <p:nvSpPr>
              <p:cNvPr id="1352" name="Círculo parcial 1351">
                <a:extLst>
                  <a:ext uri="{FF2B5EF4-FFF2-40B4-BE49-F238E27FC236}">
                    <a16:creationId xmlns:a16="http://schemas.microsoft.com/office/drawing/2014/main" id="{1BAC0833-B3E8-E78B-AC0E-59839356F03B}"/>
                  </a:ext>
                </a:extLst>
              </p:cNvPr>
              <p:cNvSpPr/>
              <p:nvPr/>
            </p:nvSpPr>
            <p:spPr>
              <a:xfrm rot="10800000">
                <a:off x="97677" y="5064799"/>
                <a:ext cx="3650077" cy="3812500"/>
              </a:xfrm>
              <a:prstGeom prst="pie">
                <a:avLst>
                  <a:gd name="adj1" fmla="val 0"/>
                  <a:gd name="adj2" fmla="val 10750367"/>
                </a:avLst>
              </a:prstGeom>
              <a:solidFill>
                <a:schemeClr val="tx2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  <p:grpSp>
            <p:nvGrpSpPr>
              <p:cNvPr id="1369" name="Grupo 1368">
                <a:extLst>
                  <a:ext uri="{FF2B5EF4-FFF2-40B4-BE49-F238E27FC236}">
                    <a16:creationId xmlns:a16="http://schemas.microsoft.com/office/drawing/2014/main" id="{C6B723EE-1322-246B-9F75-25A3A430B368}"/>
                  </a:ext>
                </a:extLst>
              </p:cNvPr>
              <p:cNvGrpSpPr/>
              <p:nvPr/>
            </p:nvGrpSpPr>
            <p:grpSpPr>
              <a:xfrm>
                <a:off x="294240" y="5749560"/>
                <a:ext cx="2372760" cy="2362201"/>
                <a:chOff x="294240" y="5749560"/>
                <a:chExt cx="2372760" cy="2362201"/>
              </a:xfrm>
            </p:grpSpPr>
            <p:sp>
              <p:nvSpPr>
                <p:cNvPr id="1353" name="Círculo parcial 1352">
                  <a:extLst>
                    <a:ext uri="{FF2B5EF4-FFF2-40B4-BE49-F238E27FC236}">
                      <a16:creationId xmlns:a16="http://schemas.microsoft.com/office/drawing/2014/main" id="{51510A4D-FE58-75C9-B8DD-2A2B733230CB}"/>
                    </a:ext>
                  </a:extLst>
                </p:cNvPr>
                <p:cNvSpPr/>
                <p:nvPr/>
              </p:nvSpPr>
              <p:spPr>
                <a:xfrm rot="10800000">
                  <a:off x="294240" y="5749560"/>
                  <a:ext cx="2372760" cy="2362201"/>
                </a:xfrm>
                <a:prstGeom prst="pie">
                  <a:avLst>
                    <a:gd name="adj1" fmla="val 0"/>
                    <a:gd name="adj2" fmla="val 10819332"/>
                  </a:avLst>
                </a:prstGeom>
                <a:solidFill>
                  <a:srgbClr val="BFC8D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DO" dirty="0"/>
                </a:p>
              </p:txBody>
            </p:sp>
            <p:grpSp>
              <p:nvGrpSpPr>
                <p:cNvPr id="1368" name="Grupo 1367">
                  <a:extLst>
                    <a:ext uri="{FF2B5EF4-FFF2-40B4-BE49-F238E27FC236}">
                      <a16:creationId xmlns:a16="http://schemas.microsoft.com/office/drawing/2014/main" id="{CF8290A8-2987-9461-F2E3-977C200D3603}"/>
                    </a:ext>
                  </a:extLst>
                </p:cNvPr>
                <p:cNvGrpSpPr/>
                <p:nvPr/>
              </p:nvGrpSpPr>
              <p:grpSpPr>
                <a:xfrm>
                  <a:off x="708091" y="5905500"/>
                  <a:ext cx="1684113" cy="993577"/>
                  <a:chOff x="708091" y="5905500"/>
                  <a:chExt cx="1684113" cy="993577"/>
                </a:xfrm>
              </p:grpSpPr>
              <p:pic>
                <p:nvPicPr>
                  <p:cNvPr id="1354" name="Imagen 1353">
                    <a:extLst>
                      <a:ext uri="{FF2B5EF4-FFF2-40B4-BE49-F238E27FC236}">
                        <a16:creationId xmlns:a16="http://schemas.microsoft.com/office/drawing/2014/main" id="{3F411932-9750-477D-4DA8-C4E6897612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087489" y="5905500"/>
                    <a:ext cx="686290" cy="732629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sp>
                <p:nvSpPr>
                  <p:cNvPr id="1367" name="CuadroTexto 1366">
                    <a:extLst>
                      <a:ext uri="{FF2B5EF4-FFF2-40B4-BE49-F238E27FC236}">
                        <a16:creationId xmlns:a16="http://schemas.microsoft.com/office/drawing/2014/main" id="{39971148-E1A2-5028-4459-1EE18FB6C7BF}"/>
                      </a:ext>
                    </a:extLst>
                  </p:cNvPr>
                  <p:cNvSpPr txBox="1"/>
                  <p:nvPr/>
                </p:nvSpPr>
                <p:spPr>
                  <a:xfrm>
                    <a:off x="708091" y="6591300"/>
                    <a:ext cx="1684113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Supermercados</a:t>
                    </a:r>
                    <a:endParaRPr lang="es-DO" sz="140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</p:grpSp>
        <p:grpSp>
          <p:nvGrpSpPr>
            <p:cNvPr id="168" name="Grupo 167">
              <a:extLst>
                <a:ext uri="{FF2B5EF4-FFF2-40B4-BE49-F238E27FC236}">
                  <a16:creationId xmlns:a16="http://schemas.microsoft.com/office/drawing/2014/main" id="{9C276087-828A-501B-2EFB-4FCA17BB5671}"/>
                </a:ext>
              </a:extLst>
            </p:cNvPr>
            <p:cNvGrpSpPr/>
            <p:nvPr/>
          </p:nvGrpSpPr>
          <p:grpSpPr>
            <a:xfrm>
              <a:off x="14478000" y="4000501"/>
              <a:ext cx="3370868" cy="3124200"/>
              <a:chOff x="5346412" y="3972699"/>
              <a:chExt cx="3370868" cy="3124200"/>
            </a:xfrm>
          </p:grpSpPr>
          <p:grpSp>
            <p:nvGrpSpPr>
              <p:cNvPr id="133" name="Grupo 132">
                <a:extLst>
                  <a:ext uri="{FF2B5EF4-FFF2-40B4-BE49-F238E27FC236}">
                    <a16:creationId xmlns:a16="http://schemas.microsoft.com/office/drawing/2014/main" id="{5B41D435-72BE-8E88-E4A4-6D594166D301}"/>
                  </a:ext>
                </a:extLst>
              </p:cNvPr>
              <p:cNvGrpSpPr/>
              <p:nvPr/>
            </p:nvGrpSpPr>
            <p:grpSpPr>
              <a:xfrm>
                <a:off x="5608320" y="3972699"/>
                <a:ext cx="3108960" cy="2834640"/>
                <a:chOff x="2285997" y="2031998"/>
                <a:chExt cx="8283636" cy="9690321"/>
              </a:xfrm>
            </p:grpSpPr>
            <p:cxnSp>
              <p:nvCxnSpPr>
                <p:cNvPr id="160" name="Conector recto de flecha 159">
                  <a:extLst>
                    <a:ext uri="{FF2B5EF4-FFF2-40B4-BE49-F238E27FC236}">
                      <a16:creationId xmlns:a16="http://schemas.microsoft.com/office/drawing/2014/main" id="{35B25AAD-A3FE-20E7-927E-725FD8B31AAB}"/>
                    </a:ext>
                  </a:extLst>
                </p:cNvPr>
                <p:cNvCxnSpPr/>
                <p:nvPr/>
              </p:nvCxnSpPr>
              <p:spPr>
                <a:xfrm>
                  <a:off x="2285997" y="11670221"/>
                  <a:ext cx="828363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Conector recto de flecha 160">
                  <a:extLst>
                    <a:ext uri="{FF2B5EF4-FFF2-40B4-BE49-F238E27FC236}">
                      <a16:creationId xmlns:a16="http://schemas.microsoft.com/office/drawing/2014/main" id="{BF0A0495-C438-1913-E33D-37728B9091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86000" y="2031998"/>
                  <a:ext cx="0" cy="969032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2" name="CuadroTexto 161">
                <a:extLst>
                  <a:ext uri="{FF2B5EF4-FFF2-40B4-BE49-F238E27FC236}">
                    <a16:creationId xmlns:a16="http://schemas.microsoft.com/office/drawing/2014/main" id="{48FF0AB3-F62A-CCBB-D5BC-6586027CAB17}"/>
                  </a:ext>
                </a:extLst>
              </p:cNvPr>
              <p:cNvSpPr txBox="1"/>
              <p:nvPr/>
            </p:nvSpPr>
            <p:spPr>
              <a:xfrm>
                <a:off x="5956012" y="6819900"/>
                <a:ext cx="22098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Frecuencia </a:t>
                </a:r>
                <a:r>
                  <a:rPr lang="en-US" sz="12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promedio</a:t>
                </a:r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*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63" name="CuadroTexto 162">
                <a:extLst>
                  <a:ext uri="{FF2B5EF4-FFF2-40B4-BE49-F238E27FC236}">
                    <a16:creationId xmlns:a16="http://schemas.microsoft.com/office/drawing/2014/main" id="{A3FC2753-BF4E-2F05-01C7-C1AB877CF281}"/>
                  </a:ext>
                </a:extLst>
              </p:cNvPr>
              <p:cNvSpPr txBox="1"/>
              <p:nvPr/>
            </p:nvSpPr>
            <p:spPr>
              <a:xfrm rot="16200000">
                <a:off x="4322862" y="5301050"/>
                <a:ext cx="23240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Ticket </a:t>
                </a:r>
                <a:r>
                  <a:rPr lang="en-US" sz="12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promedio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71" name="Grupo 170">
              <a:extLst>
                <a:ext uri="{FF2B5EF4-FFF2-40B4-BE49-F238E27FC236}">
                  <a16:creationId xmlns:a16="http://schemas.microsoft.com/office/drawing/2014/main" id="{938D16F5-6C8F-F851-619C-ADA6909F205D}"/>
                </a:ext>
              </a:extLst>
            </p:cNvPr>
            <p:cNvGrpSpPr/>
            <p:nvPr/>
          </p:nvGrpSpPr>
          <p:grpSpPr>
            <a:xfrm>
              <a:off x="14782800" y="5905501"/>
              <a:ext cx="1617711" cy="804923"/>
              <a:chOff x="5693930" y="5450603"/>
              <a:chExt cx="1617711" cy="804923"/>
            </a:xfrm>
          </p:grpSpPr>
          <p:pic>
            <p:nvPicPr>
              <p:cNvPr id="169" name="Imagen 168">
                <a:extLst>
                  <a:ext uri="{FF2B5EF4-FFF2-40B4-BE49-F238E27FC236}">
                    <a16:creationId xmlns:a16="http://schemas.microsoft.com/office/drawing/2014/main" id="{B09E6FB9-9F4E-FE23-06AA-9C62BFE33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001798" y="5450603"/>
                <a:ext cx="399002" cy="42849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70" name="CuadroTexto 169">
                <a:extLst>
                  <a:ext uri="{FF2B5EF4-FFF2-40B4-BE49-F238E27FC236}">
                    <a16:creationId xmlns:a16="http://schemas.microsoft.com/office/drawing/2014/main" id="{0212FE17-48BA-6BCF-4674-BDED14E80064}"/>
                  </a:ext>
                </a:extLst>
              </p:cNvPr>
              <p:cNvSpPr txBox="1"/>
              <p:nvPr/>
            </p:nvSpPr>
            <p:spPr>
              <a:xfrm>
                <a:off x="5693930" y="5832333"/>
                <a:ext cx="1617711" cy="423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Supermercados</a:t>
                </a:r>
              </a:p>
              <a:p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(Mucho </a:t>
                </a:r>
                <a:r>
                  <a:rPr lang="en-US" sz="1050" i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volumen</a:t>
                </a:r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)</a:t>
                </a:r>
                <a:endParaRPr lang="es-DO" sz="1100" i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72" name="Grupo 171">
              <a:extLst>
                <a:ext uri="{FF2B5EF4-FFF2-40B4-BE49-F238E27FC236}">
                  <a16:creationId xmlns:a16="http://schemas.microsoft.com/office/drawing/2014/main" id="{7A9B89FE-E505-EBA2-00EE-32FCA9C49606}"/>
                </a:ext>
              </a:extLst>
            </p:cNvPr>
            <p:cNvGrpSpPr/>
            <p:nvPr/>
          </p:nvGrpSpPr>
          <p:grpSpPr>
            <a:xfrm>
              <a:off x="16136889" y="5372101"/>
              <a:ext cx="1617711" cy="791867"/>
              <a:chOff x="5693930" y="5463659"/>
              <a:chExt cx="1617711" cy="791867"/>
            </a:xfrm>
          </p:grpSpPr>
          <p:pic>
            <p:nvPicPr>
              <p:cNvPr id="173" name="Imagen 172">
                <a:extLst>
                  <a:ext uri="{FF2B5EF4-FFF2-40B4-BE49-F238E27FC236}">
                    <a16:creationId xmlns:a16="http://schemas.microsoft.com/office/drawing/2014/main" id="{22209912-FF55-07E2-3E47-9C2FF20BF1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001798" y="5463659"/>
                <a:ext cx="399002" cy="402383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74" name="CuadroTexto 173">
                <a:extLst>
                  <a:ext uri="{FF2B5EF4-FFF2-40B4-BE49-F238E27FC236}">
                    <a16:creationId xmlns:a16="http://schemas.microsoft.com/office/drawing/2014/main" id="{C7E13A2A-493C-EB50-DEF7-8C4D6BE43CA0}"/>
                  </a:ext>
                </a:extLst>
              </p:cNvPr>
              <p:cNvSpPr txBox="1"/>
              <p:nvPr/>
            </p:nvSpPr>
            <p:spPr>
              <a:xfrm>
                <a:off x="5693930" y="5832333"/>
                <a:ext cx="1617711" cy="423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</a:t>
                </a:r>
                <a:r>
                  <a:rPr lang="en-US" sz="1050" b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Restaurantes</a:t>
                </a:r>
                <a:endParaRPr lang="en-US" sz="1050" b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  <a:p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(</a:t>
                </a:r>
                <a:r>
                  <a:rPr lang="en-US" sz="1050" i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creciendo</a:t>
                </a:r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)</a:t>
                </a:r>
                <a:endParaRPr lang="es-DO" sz="1100" i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75" name="Grupo 174">
              <a:extLst>
                <a:ext uri="{FF2B5EF4-FFF2-40B4-BE49-F238E27FC236}">
                  <a16:creationId xmlns:a16="http://schemas.microsoft.com/office/drawing/2014/main" id="{A9BABB09-4C5E-8492-67CC-B9A1FA85B903}"/>
                </a:ext>
              </a:extLst>
            </p:cNvPr>
            <p:cNvGrpSpPr/>
            <p:nvPr/>
          </p:nvGrpSpPr>
          <p:grpSpPr>
            <a:xfrm>
              <a:off x="15544800" y="4961234"/>
              <a:ext cx="1617711" cy="868067"/>
              <a:chOff x="5693930" y="5387459"/>
              <a:chExt cx="1617711" cy="868067"/>
            </a:xfrm>
          </p:grpSpPr>
          <p:pic>
            <p:nvPicPr>
              <p:cNvPr id="176" name="Imagen 175">
                <a:extLst>
                  <a:ext uri="{FF2B5EF4-FFF2-40B4-BE49-F238E27FC236}">
                    <a16:creationId xmlns:a16="http://schemas.microsoft.com/office/drawing/2014/main" id="{C8A87994-7FDC-465B-54AF-83650C0018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980728" y="5387459"/>
                <a:ext cx="399002" cy="39900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77" name="CuadroTexto 176">
                <a:extLst>
                  <a:ext uri="{FF2B5EF4-FFF2-40B4-BE49-F238E27FC236}">
                    <a16:creationId xmlns:a16="http://schemas.microsoft.com/office/drawing/2014/main" id="{490D4BEA-9EEC-08D2-9CEC-20A5BD87A19D}"/>
                  </a:ext>
                </a:extLst>
              </p:cNvPr>
              <p:cNvSpPr txBox="1"/>
              <p:nvPr/>
            </p:nvSpPr>
            <p:spPr>
              <a:xfrm>
                <a:off x="5693930" y="5832333"/>
                <a:ext cx="1617711" cy="423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Ecommerce</a:t>
                </a:r>
              </a:p>
              <a:p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(alto $)</a:t>
                </a:r>
                <a:endParaRPr lang="es-DO" sz="1100" i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78" name="Grupo 177">
              <a:extLst>
                <a:ext uri="{FF2B5EF4-FFF2-40B4-BE49-F238E27FC236}">
                  <a16:creationId xmlns:a16="http://schemas.microsoft.com/office/drawing/2014/main" id="{7374922F-A807-9E37-7DCE-C7CC107A04D3}"/>
                </a:ext>
              </a:extLst>
            </p:cNvPr>
            <p:cNvGrpSpPr/>
            <p:nvPr/>
          </p:nvGrpSpPr>
          <p:grpSpPr>
            <a:xfrm>
              <a:off x="15316200" y="4037844"/>
              <a:ext cx="1617711" cy="868067"/>
              <a:chOff x="5693930" y="5387459"/>
              <a:chExt cx="1617711" cy="868067"/>
            </a:xfrm>
          </p:grpSpPr>
          <p:pic>
            <p:nvPicPr>
              <p:cNvPr id="180" name="Imagen 179">
                <a:extLst>
                  <a:ext uri="{FF2B5EF4-FFF2-40B4-BE49-F238E27FC236}">
                    <a16:creationId xmlns:a16="http://schemas.microsoft.com/office/drawing/2014/main" id="{4D06FA0D-6262-2ADC-A3AE-FFA8143E05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980728" y="5387459"/>
                <a:ext cx="399002" cy="39900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81" name="CuadroTexto 180">
                <a:extLst>
                  <a:ext uri="{FF2B5EF4-FFF2-40B4-BE49-F238E27FC236}">
                    <a16:creationId xmlns:a16="http://schemas.microsoft.com/office/drawing/2014/main" id="{F7CEB92E-B9AF-024C-4196-FE4C099A65C7}"/>
                  </a:ext>
                </a:extLst>
              </p:cNvPr>
              <p:cNvSpPr txBox="1"/>
              <p:nvPr/>
            </p:nvSpPr>
            <p:spPr>
              <a:xfrm>
                <a:off x="5693930" y="5832333"/>
                <a:ext cx="1617711" cy="423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Electronica</a:t>
                </a:r>
              </a:p>
              <a:p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(</a:t>
                </a:r>
                <a:r>
                  <a:rPr lang="en-US" sz="1050" i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muy</a:t>
                </a:r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alto $)</a:t>
                </a:r>
                <a:endParaRPr lang="es-DO" sz="1100" i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84" name="Grupo 183">
              <a:extLst>
                <a:ext uri="{FF2B5EF4-FFF2-40B4-BE49-F238E27FC236}">
                  <a16:creationId xmlns:a16="http://schemas.microsoft.com/office/drawing/2014/main" id="{A44ADCE3-DC96-F289-036A-F1822EE315A6}"/>
                </a:ext>
              </a:extLst>
            </p:cNvPr>
            <p:cNvGrpSpPr/>
            <p:nvPr/>
          </p:nvGrpSpPr>
          <p:grpSpPr>
            <a:xfrm>
              <a:off x="14706600" y="5073799"/>
              <a:ext cx="1617711" cy="785369"/>
              <a:chOff x="5693930" y="5470157"/>
              <a:chExt cx="1617711" cy="785369"/>
            </a:xfrm>
          </p:grpSpPr>
          <p:pic>
            <p:nvPicPr>
              <p:cNvPr id="185" name="Imagen 184">
                <a:extLst>
                  <a:ext uri="{FF2B5EF4-FFF2-40B4-BE49-F238E27FC236}">
                    <a16:creationId xmlns:a16="http://schemas.microsoft.com/office/drawing/2014/main" id="{933B6894-0D2E-DD7C-0A28-D9B5668164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001798" y="5470157"/>
                <a:ext cx="399002" cy="389387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86" name="CuadroTexto 185">
                <a:extLst>
                  <a:ext uri="{FF2B5EF4-FFF2-40B4-BE49-F238E27FC236}">
                    <a16:creationId xmlns:a16="http://schemas.microsoft.com/office/drawing/2014/main" id="{D2BC3AD5-9EA4-54C5-6BA5-9BEF2DFBD2E7}"/>
                  </a:ext>
                </a:extLst>
              </p:cNvPr>
              <p:cNvSpPr txBox="1"/>
              <p:nvPr/>
            </p:nvSpPr>
            <p:spPr>
              <a:xfrm>
                <a:off x="5693930" y="5832333"/>
                <a:ext cx="1617711" cy="423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</a:t>
                </a:r>
                <a:r>
                  <a:rPr lang="en-US" sz="1050" b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Farmacias</a:t>
                </a:r>
                <a:endParaRPr lang="en-US" sz="1050" b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  <a:p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(</a:t>
                </a:r>
                <a:r>
                  <a:rPr lang="en-US" sz="1050" i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recurrente</a:t>
                </a:r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)</a:t>
                </a:r>
                <a:endParaRPr lang="es-DO" sz="1100" i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7E85E7B3-5D4A-7BB1-3188-10DA6E743FF1}"/>
                </a:ext>
              </a:extLst>
            </p:cNvPr>
            <p:cNvGrpSpPr/>
            <p:nvPr/>
          </p:nvGrpSpPr>
          <p:grpSpPr>
            <a:xfrm>
              <a:off x="9948915" y="4398564"/>
              <a:ext cx="3386085" cy="973536"/>
              <a:chOff x="9796515" y="1946892"/>
              <a:chExt cx="3386085" cy="973536"/>
            </a:xfrm>
          </p:grpSpPr>
          <p:grpSp>
            <p:nvGrpSpPr>
              <p:cNvPr id="5" name="Grupo 4">
                <a:extLst>
                  <a:ext uri="{FF2B5EF4-FFF2-40B4-BE49-F238E27FC236}">
                    <a16:creationId xmlns:a16="http://schemas.microsoft.com/office/drawing/2014/main" id="{7B34BF79-0D32-9F4C-1AE4-64FFAE981CCE}"/>
                  </a:ext>
                </a:extLst>
              </p:cNvPr>
              <p:cNvGrpSpPr/>
              <p:nvPr/>
            </p:nvGrpSpPr>
            <p:grpSpPr>
              <a:xfrm>
                <a:off x="9997834" y="1946892"/>
                <a:ext cx="3184766" cy="973536"/>
                <a:chOff x="9301873" y="1946892"/>
                <a:chExt cx="3184766" cy="973536"/>
              </a:xfrm>
            </p:grpSpPr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F0292C1A-4E36-EFAF-F899-54C03A980FA9}"/>
                    </a:ext>
                  </a:extLst>
                </p:cNvPr>
                <p:cNvSpPr txBox="1"/>
                <p:nvPr/>
              </p:nvSpPr>
              <p:spPr>
                <a:xfrm>
                  <a:off x="9301873" y="1946892"/>
                  <a:ext cx="3184766" cy="9735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Restaurantes</a:t>
                  </a:r>
                  <a:r>
                    <a:rPr lang="en-US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           52% - 83%</a:t>
                  </a:r>
                </a:p>
                <a:p>
                  <a:pPr>
                    <a:lnSpc>
                      <a:spcPts val="2400"/>
                    </a:lnSpc>
                  </a:pPr>
                  <a:r>
                    <a:rPr lang="en-US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Electronica               93% - 141% </a:t>
                  </a:r>
                </a:p>
                <a:p>
                  <a:pPr>
                    <a:lnSpc>
                      <a:spcPts val="2400"/>
                    </a:lnSpc>
                  </a:pPr>
                  <a:r>
                    <a:rPr lang="en-US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Supermercados       </a:t>
                  </a:r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Estable</a:t>
                  </a:r>
                  <a:r>
                    <a:rPr lang="en-US" sz="12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/      </a:t>
                  </a:r>
                  <a:r>
                    <a:rPr lang="en-US" sz="12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participación</a:t>
                  </a:r>
                  <a:endPara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13" name="Imagen 12">
                  <a:extLst>
                    <a:ext uri="{FF2B5EF4-FFF2-40B4-BE49-F238E27FC236}">
                      <a16:creationId xmlns:a16="http://schemas.microsoft.com/office/drawing/2014/main" id="{F8E376A9-72D6-C256-35E8-AF42C143BC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2" cstate="print">
                  <a:extLst>
                    <a:ext uri="{BEBA8EAE-BF5A-486C-A8C5-ECC9F3942E4B}">
                      <a14:imgProps xmlns:a14="http://schemas.microsoft.com/office/drawing/2010/main">
                        <a14:imgLayer r:embed="rId33"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0452466" y="2682825"/>
                  <a:ext cx="208284" cy="208284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14" name="Imagen 13">
                  <a:extLst>
                    <a:ext uri="{FF2B5EF4-FFF2-40B4-BE49-F238E27FC236}">
                      <a16:creationId xmlns:a16="http://schemas.microsoft.com/office/drawing/2014/main" id="{C35996B8-77F6-18F2-B5A1-3AD8298A75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 cstate="print">
                  <a:extLst>
                    <a:ext uri="{BEBA8EAE-BF5A-486C-A8C5-ECC9F3942E4B}">
                      <a14:imgProps xmlns:a14="http://schemas.microsoft.com/office/drawing/2010/main">
                        <a14:imgLayer r:embed="rId35">
                          <a14:imgEffect>
                            <a14:saturation sat="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1244716" y="2678064"/>
                  <a:ext cx="208284" cy="208284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15" name="Imagen 14">
                  <a:extLst>
                    <a:ext uri="{FF2B5EF4-FFF2-40B4-BE49-F238E27FC236}">
                      <a16:creationId xmlns:a16="http://schemas.microsoft.com/office/drawing/2014/main" id="{76CF8374-7FED-0E10-B2CA-7DB309F394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0474312" y="2386480"/>
                  <a:ext cx="164592" cy="164592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16" name="Imagen 15">
                  <a:extLst>
                    <a:ext uri="{FF2B5EF4-FFF2-40B4-BE49-F238E27FC236}">
                      <a16:creationId xmlns:a16="http://schemas.microsoft.com/office/drawing/2014/main" id="{3F7774AC-684B-65CF-D765-8B6158F4E4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0474312" y="2093819"/>
                  <a:ext cx="164592" cy="164592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pic>
            <p:nvPicPr>
              <p:cNvPr id="6" name="Imagen 5">
                <a:extLst>
                  <a:ext uri="{FF2B5EF4-FFF2-40B4-BE49-F238E27FC236}">
                    <a16:creationId xmlns:a16="http://schemas.microsoft.com/office/drawing/2014/main" id="{0611347D-E1FC-7461-3782-75FC9634FF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796515" y="2056651"/>
                <a:ext cx="239454" cy="235103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9" name="Imagen 8">
                <a:extLst>
                  <a:ext uri="{FF2B5EF4-FFF2-40B4-BE49-F238E27FC236}">
                    <a16:creationId xmlns:a16="http://schemas.microsoft.com/office/drawing/2014/main" id="{E5EA96CC-30A0-8AA8-3298-E46AA0DADC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826176" y="2660828"/>
                <a:ext cx="214261" cy="224573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0" name="Imagen 9">
                <a:extLst>
                  <a:ext uri="{FF2B5EF4-FFF2-40B4-BE49-F238E27FC236}">
                    <a16:creationId xmlns:a16="http://schemas.microsoft.com/office/drawing/2014/main" id="{A271CC89-60AF-1BB3-67A5-6669BC4B1D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99641" y="2354165"/>
                <a:ext cx="239454" cy="235103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C00A76B6-9FB7-3807-5C22-06E7AB1A0CAE}"/>
                </a:ext>
              </a:extLst>
            </p:cNvPr>
            <p:cNvSpPr txBox="1"/>
            <p:nvPr/>
          </p:nvSpPr>
          <p:spPr>
            <a:xfrm>
              <a:off x="9333246" y="3939498"/>
              <a:ext cx="43027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Restaurantes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y electronica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ganan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participación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y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transacciones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,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mientras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supermercados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pierde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i="1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fuerza</a:t>
              </a:r>
              <a:r>
                <a:rPr lang="en-US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relativa</a:t>
              </a:r>
              <a:endParaRPr lang="es-DO" sz="1200" i="1" dirty="0"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  <p:pic>
        <p:nvPicPr>
          <p:cNvPr id="7" name="Imagen 6">
            <a:hlinkClick r:id="rId40" tooltip="Click para visitar perfil en gitgub"/>
            <a:extLst>
              <a:ext uri="{FF2B5EF4-FFF2-40B4-BE49-F238E27FC236}">
                <a16:creationId xmlns:a16="http://schemas.microsoft.com/office/drawing/2014/main" id="{179C6B9B-12E7-6FA2-ED95-E9E2D5C1B912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1622" y="1"/>
            <a:ext cx="1096379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27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EC5D-A062-E991-1C90-86DF45DC0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C85FBF8-46C8-595B-8198-14B2A729C77A}"/>
              </a:ext>
            </a:extLst>
          </p:cNvPr>
          <p:cNvCxnSpPr>
            <a:cxnSpLocks/>
          </p:cNvCxnSpPr>
          <p:nvPr/>
        </p:nvCxnSpPr>
        <p:spPr>
          <a:xfrm>
            <a:off x="0" y="916987"/>
            <a:ext cx="18288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11296F2-CD70-995C-884E-505035EE16FC}"/>
              </a:ext>
            </a:extLst>
          </p:cNvPr>
          <p:cNvSpPr txBox="1"/>
          <p:nvPr/>
        </p:nvSpPr>
        <p:spPr>
          <a:xfrm>
            <a:off x="304800" y="106859"/>
            <a:ext cx="31949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DO" sz="2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Segmentos y patrones de consumo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8F9712-7C76-3362-37D1-EEA09062574E}"/>
              </a:ext>
            </a:extLst>
          </p:cNvPr>
          <p:cNvSpPr txBox="1"/>
          <p:nvPr/>
        </p:nvSpPr>
        <p:spPr>
          <a:xfrm>
            <a:off x="3672258" y="286789"/>
            <a:ext cx="6995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DO" sz="14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¿Cómo se comportan los segmentos y qué rol juega cada comercio? </a:t>
            </a:r>
            <a:r>
              <a:rPr lang="es-DO" sz="140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¿Qué diferencias existen entre segmentos?, ¿Qué comercios dominan cada perfil de cliente?</a:t>
            </a:r>
            <a:endParaRPr lang="es-DO" sz="1400" i="1" dirty="0">
              <a:solidFill>
                <a:schemeClr val="tx2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644" name="Conector recto 643">
            <a:extLst>
              <a:ext uri="{FF2B5EF4-FFF2-40B4-BE49-F238E27FC236}">
                <a16:creationId xmlns:a16="http://schemas.microsoft.com/office/drawing/2014/main" id="{4AF3EE22-F7F6-9D01-D21D-7C5792BEF5AA}"/>
              </a:ext>
            </a:extLst>
          </p:cNvPr>
          <p:cNvCxnSpPr/>
          <p:nvPr/>
        </p:nvCxnSpPr>
        <p:spPr>
          <a:xfrm>
            <a:off x="3596452" y="250213"/>
            <a:ext cx="0" cy="548640"/>
          </a:xfrm>
          <a:prstGeom prst="line">
            <a:avLst/>
          </a:prstGeom>
          <a:ln w="25400">
            <a:solidFill>
              <a:srgbClr val="1C3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3CAA3EAF-08A7-D824-0733-4769BF966963}"/>
              </a:ext>
            </a:extLst>
          </p:cNvPr>
          <p:cNvSpPr txBox="1"/>
          <p:nvPr/>
        </p:nvSpPr>
        <p:spPr>
          <a:xfrm>
            <a:off x="40657" y="10020300"/>
            <a:ext cx="43027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*</a:t>
            </a:r>
            <a:r>
              <a:rPr lang="es-DO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Promedio</a:t>
            </a:r>
          </a:p>
        </p:txBody>
      </p:sp>
      <p:grpSp>
        <p:nvGrpSpPr>
          <p:cNvPr id="1156" name="Grupo 1155">
            <a:extLst>
              <a:ext uri="{FF2B5EF4-FFF2-40B4-BE49-F238E27FC236}">
                <a16:creationId xmlns:a16="http://schemas.microsoft.com/office/drawing/2014/main" id="{6F9D87C4-BBD8-F6F3-CD0F-055212E10CC5}"/>
              </a:ext>
            </a:extLst>
          </p:cNvPr>
          <p:cNvGrpSpPr/>
          <p:nvPr/>
        </p:nvGrpSpPr>
        <p:grpSpPr>
          <a:xfrm>
            <a:off x="9206569" y="1274000"/>
            <a:ext cx="9005231" cy="6765099"/>
            <a:chOff x="9121099" y="1274000"/>
            <a:chExt cx="9005231" cy="6765099"/>
          </a:xfrm>
        </p:grpSpPr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5ED2AF23-7020-2AA9-D8FD-0A6B2D594536}"/>
                </a:ext>
              </a:extLst>
            </p:cNvPr>
            <p:cNvSpPr/>
            <p:nvPr/>
          </p:nvSpPr>
          <p:spPr>
            <a:xfrm>
              <a:off x="9121099" y="1274000"/>
              <a:ext cx="8983979" cy="6765099"/>
            </a:xfrm>
            <a:prstGeom prst="rect">
              <a:avLst/>
            </a:prstGeom>
            <a:solidFill>
              <a:srgbClr val="FBF9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>
                <a:latin typeface="Aptos" panose="020B0004020202020204" pitchFamily="34" charset="0"/>
              </a:endParaRPr>
            </a:p>
          </p:txBody>
        </p:sp>
        <p:grpSp>
          <p:nvGrpSpPr>
            <p:cNvPr id="59" name="Group 15">
              <a:extLst>
                <a:ext uri="{FF2B5EF4-FFF2-40B4-BE49-F238E27FC236}">
                  <a16:creationId xmlns:a16="http://schemas.microsoft.com/office/drawing/2014/main" id="{518FC4FA-9E16-BC70-AB0B-151911651142}"/>
                </a:ext>
              </a:extLst>
            </p:cNvPr>
            <p:cNvGrpSpPr/>
            <p:nvPr/>
          </p:nvGrpSpPr>
          <p:grpSpPr>
            <a:xfrm>
              <a:off x="9142352" y="1333501"/>
              <a:ext cx="8983978" cy="485322"/>
              <a:chOff x="-2" y="-28572"/>
              <a:chExt cx="4866538" cy="1190713"/>
            </a:xfrm>
          </p:grpSpPr>
          <p:sp>
            <p:nvSpPr>
              <p:cNvPr id="60" name="Freeform 16">
                <a:extLst>
                  <a:ext uri="{FF2B5EF4-FFF2-40B4-BE49-F238E27FC236}">
                    <a16:creationId xmlns:a16="http://schemas.microsoft.com/office/drawing/2014/main" id="{AEB816DD-FD77-9676-DCDD-0A4AE1311AFC}"/>
                  </a:ext>
                </a:extLst>
              </p:cNvPr>
              <p:cNvSpPr/>
              <p:nvPr/>
            </p:nvSpPr>
            <p:spPr>
              <a:xfrm>
                <a:off x="-2" y="-2"/>
                <a:ext cx="4866538" cy="1132262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1C3F60"/>
              </a:solidFill>
            </p:spPr>
            <p:txBody>
              <a:bodyPr/>
              <a:lstStyle/>
              <a:p>
                <a:endParaRPr lang="es-DO">
                  <a:latin typeface="Aptos" panose="020B0004020202020204" pitchFamily="34" charset="0"/>
                </a:endParaRPr>
              </a:p>
            </p:txBody>
          </p:sp>
          <p:sp>
            <p:nvSpPr>
              <p:cNvPr id="61" name="TextBox 17">
                <a:extLst>
                  <a:ext uri="{FF2B5EF4-FFF2-40B4-BE49-F238E27FC236}">
                    <a16:creationId xmlns:a16="http://schemas.microsoft.com/office/drawing/2014/main" id="{63F87840-D529-8721-E6A2-9A22503C806B}"/>
                  </a:ext>
                </a:extLst>
              </p:cNvPr>
              <p:cNvSpPr txBox="1"/>
              <p:nvPr/>
            </p:nvSpPr>
            <p:spPr>
              <a:xfrm>
                <a:off x="0" y="-28572"/>
                <a:ext cx="4866536" cy="1190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r>
                  <a:rPr lang="es-DO" sz="1600" b="1" dirty="0">
                    <a:solidFill>
                      <a:schemeClr val="bg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Afinidad comercial por segmento</a:t>
                </a:r>
              </a:p>
            </p:txBody>
          </p:sp>
        </p:grpSp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3A52F655-08A5-F81A-6F79-954B7A0FD7AB}"/>
                </a:ext>
              </a:extLst>
            </p:cNvPr>
            <p:cNvGrpSpPr/>
            <p:nvPr/>
          </p:nvGrpSpPr>
          <p:grpSpPr>
            <a:xfrm>
              <a:off x="9309040" y="6210300"/>
              <a:ext cx="8750360" cy="1466775"/>
              <a:chOff x="255906" y="1980191"/>
              <a:chExt cx="8750360" cy="1466775"/>
            </a:xfrm>
          </p:grpSpPr>
          <p:grpSp>
            <p:nvGrpSpPr>
              <p:cNvPr id="1378" name="Grupo 1377">
                <a:extLst>
                  <a:ext uri="{FF2B5EF4-FFF2-40B4-BE49-F238E27FC236}">
                    <a16:creationId xmlns:a16="http://schemas.microsoft.com/office/drawing/2014/main" id="{DB021FE2-8B3C-0CC6-EC93-771D48DC1C3D}"/>
                  </a:ext>
                </a:extLst>
              </p:cNvPr>
              <p:cNvGrpSpPr/>
              <p:nvPr/>
            </p:nvGrpSpPr>
            <p:grpSpPr>
              <a:xfrm>
                <a:off x="255906" y="1980191"/>
                <a:ext cx="3799134" cy="521732"/>
                <a:chOff x="10972800" y="6515100"/>
                <a:chExt cx="3799134" cy="521732"/>
              </a:xfrm>
            </p:grpSpPr>
            <p:pic>
              <p:nvPicPr>
                <p:cNvPr id="1380" name="Gráfico 1379" descr="Lightbulb and gear contorno">
                  <a:extLst>
                    <a:ext uri="{FF2B5EF4-FFF2-40B4-BE49-F238E27FC236}">
                      <a16:creationId xmlns:a16="http://schemas.microsoft.com/office/drawing/2014/main" id="{D7C03108-61D4-D639-E830-3FE216141A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72800" y="6515100"/>
                  <a:ext cx="521732" cy="521732"/>
                </a:xfrm>
                <a:prstGeom prst="rect">
                  <a:avLst/>
                </a:prstGeom>
              </p:spPr>
            </p:pic>
            <p:sp>
              <p:nvSpPr>
                <p:cNvPr id="1381" name="CuadroTexto 1380">
                  <a:extLst>
                    <a:ext uri="{FF2B5EF4-FFF2-40B4-BE49-F238E27FC236}">
                      <a16:creationId xmlns:a16="http://schemas.microsoft.com/office/drawing/2014/main" id="{E0F4E3AB-CB9C-EDF6-A738-4F11DED1AE20}"/>
                    </a:ext>
                  </a:extLst>
                </p:cNvPr>
                <p:cNvSpPr txBox="1"/>
                <p:nvPr/>
              </p:nvSpPr>
              <p:spPr>
                <a:xfrm>
                  <a:off x="11495334" y="6591300"/>
                  <a:ext cx="3276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¿Qué significa?</a:t>
                  </a:r>
                </a:p>
              </p:txBody>
            </p:sp>
          </p:grpSp>
          <p:sp>
            <p:nvSpPr>
              <p:cNvPr id="1379" name="Rectángulo 1378">
                <a:extLst>
                  <a:ext uri="{FF2B5EF4-FFF2-40B4-BE49-F238E27FC236}">
                    <a16:creationId xmlns:a16="http://schemas.microsoft.com/office/drawing/2014/main" id="{0159C6AB-8B1E-5013-5697-A932BD266C99}"/>
                  </a:ext>
                </a:extLst>
              </p:cNvPr>
              <p:cNvSpPr/>
              <p:nvPr/>
            </p:nvSpPr>
            <p:spPr>
              <a:xfrm>
                <a:off x="701823" y="2487985"/>
                <a:ext cx="8304443" cy="958981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Los segmentos se comportan de forma más parecida de lo esperado </a:t>
                </a:r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y las diferencias entre estos parecen explicarse más por: preferencias de comercio que por intensidad general de consumo. Es decir: los segmentos no compran mucho más o mucho menos; compran distinto.</a:t>
                </a:r>
                <a:endParaRPr lang="en-US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30" name="Grupo 129">
              <a:extLst>
                <a:ext uri="{FF2B5EF4-FFF2-40B4-BE49-F238E27FC236}">
                  <a16:creationId xmlns:a16="http://schemas.microsoft.com/office/drawing/2014/main" id="{4ECD6976-1F0B-1630-5B9D-67A68F21F58E}"/>
                </a:ext>
              </a:extLst>
            </p:cNvPr>
            <p:cNvGrpSpPr/>
            <p:nvPr/>
          </p:nvGrpSpPr>
          <p:grpSpPr>
            <a:xfrm>
              <a:off x="10937548" y="1943100"/>
              <a:ext cx="4835852" cy="457200"/>
              <a:chOff x="11166148" y="1943100"/>
              <a:chExt cx="4835852" cy="457200"/>
            </a:xfrm>
          </p:grpSpPr>
          <p:grpSp>
            <p:nvGrpSpPr>
              <p:cNvPr id="119" name="Grupo 118">
                <a:extLst>
                  <a:ext uri="{FF2B5EF4-FFF2-40B4-BE49-F238E27FC236}">
                    <a16:creationId xmlns:a16="http://schemas.microsoft.com/office/drawing/2014/main" id="{F3437D68-845C-F961-06C1-C7B54574302B}"/>
                  </a:ext>
                </a:extLst>
              </p:cNvPr>
              <p:cNvGrpSpPr/>
              <p:nvPr/>
            </p:nvGrpSpPr>
            <p:grpSpPr>
              <a:xfrm>
                <a:off x="12326774" y="1943100"/>
                <a:ext cx="1113854" cy="457200"/>
                <a:chOff x="12420600" y="1790700"/>
                <a:chExt cx="1113854" cy="457200"/>
              </a:xfrm>
              <a:noFill/>
            </p:grpSpPr>
            <p:sp>
              <p:nvSpPr>
                <p:cNvPr id="108" name="Diagrama de flujo: proceso alternativo 107">
                  <a:extLst>
                    <a:ext uri="{FF2B5EF4-FFF2-40B4-BE49-F238E27FC236}">
                      <a16:creationId xmlns:a16="http://schemas.microsoft.com/office/drawing/2014/main" id="{DF387AA4-2EBD-14F0-E4DA-9883350072A0}"/>
                    </a:ext>
                  </a:extLst>
                </p:cNvPr>
                <p:cNvSpPr/>
                <p:nvPr/>
              </p:nvSpPr>
              <p:spPr>
                <a:xfrm>
                  <a:off x="12420600" y="1790700"/>
                  <a:ext cx="1113854" cy="457200"/>
                </a:xfrm>
                <a:prstGeom prst="flowChartAlternateProcess">
                  <a:avLst/>
                </a:prstGeom>
                <a:grpFill/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   Premium</a:t>
                  </a:r>
                  <a:endParaRPr lang="es-DO" sz="105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113" name="Imagen 112">
                  <a:extLst>
                    <a:ext uri="{FF2B5EF4-FFF2-40B4-BE49-F238E27FC236}">
                      <a16:creationId xmlns:a16="http://schemas.microsoft.com/office/drawing/2014/main" id="{005AFFC8-3471-972F-8477-FC35DF9F0A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2514425" y="1899171"/>
                  <a:ext cx="269372" cy="269372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120" name="Grupo 119">
                <a:extLst>
                  <a:ext uri="{FF2B5EF4-FFF2-40B4-BE49-F238E27FC236}">
                    <a16:creationId xmlns:a16="http://schemas.microsoft.com/office/drawing/2014/main" id="{C40B8CA5-C920-A003-EFD1-B07E1C54785A}"/>
                  </a:ext>
                </a:extLst>
              </p:cNvPr>
              <p:cNvGrpSpPr/>
              <p:nvPr/>
            </p:nvGrpSpPr>
            <p:grpSpPr>
              <a:xfrm>
                <a:off x="11166148" y="1943100"/>
                <a:ext cx="1113853" cy="457200"/>
                <a:chOff x="11259974" y="1790700"/>
                <a:chExt cx="1113853" cy="457200"/>
              </a:xfrm>
              <a:noFill/>
            </p:grpSpPr>
            <p:sp>
              <p:nvSpPr>
                <p:cNvPr id="109" name="Diagrama de flujo: proceso alternativo 108">
                  <a:extLst>
                    <a:ext uri="{FF2B5EF4-FFF2-40B4-BE49-F238E27FC236}">
                      <a16:creationId xmlns:a16="http://schemas.microsoft.com/office/drawing/2014/main" id="{A09BC8E3-E449-99DD-1A87-3BD2936A66DF}"/>
                    </a:ext>
                  </a:extLst>
                </p:cNvPr>
                <p:cNvSpPr/>
                <p:nvPr/>
              </p:nvSpPr>
              <p:spPr>
                <a:xfrm>
                  <a:off x="11259974" y="1790700"/>
                  <a:ext cx="1113853" cy="457200"/>
                </a:xfrm>
                <a:prstGeom prst="flowChartAlternateProcess">
                  <a:avLst/>
                </a:prstGeom>
                <a:grpFill/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   Joven</a:t>
                  </a:r>
                  <a:endParaRPr lang="es-DO" sz="105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114" name="Imagen 113">
                  <a:extLst>
                    <a:ext uri="{FF2B5EF4-FFF2-40B4-BE49-F238E27FC236}">
                      <a16:creationId xmlns:a16="http://schemas.microsoft.com/office/drawing/2014/main" id="{4A6494C0-0F8E-A2A6-C640-B833FE7D63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1353800" y="1866900"/>
                  <a:ext cx="269372" cy="263385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118" name="Grupo 117">
                <a:extLst>
                  <a:ext uri="{FF2B5EF4-FFF2-40B4-BE49-F238E27FC236}">
                    <a16:creationId xmlns:a16="http://schemas.microsoft.com/office/drawing/2014/main" id="{3D61FDEF-C857-3170-9049-06AA12D8B3CA}"/>
                  </a:ext>
                </a:extLst>
              </p:cNvPr>
              <p:cNvGrpSpPr/>
              <p:nvPr/>
            </p:nvGrpSpPr>
            <p:grpSpPr>
              <a:xfrm>
                <a:off x="13469774" y="1943100"/>
                <a:ext cx="1236826" cy="457200"/>
                <a:chOff x="13563600" y="1790700"/>
                <a:chExt cx="1236826" cy="457200"/>
              </a:xfrm>
              <a:noFill/>
            </p:grpSpPr>
            <p:sp>
              <p:nvSpPr>
                <p:cNvPr id="111" name="Diagrama de flujo: proceso alternativo 110">
                  <a:extLst>
                    <a:ext uri="{FF2B5EF4-FFF2-40B4-BE49-F238E27FC236}">
                      <a16:creationId xmlns:a16="http://schemas.microsoft.com/office/drawing/2014/main" id="{8CA7DFEB-4810-068B-7AB7-159B0EA59DAF}"/>
                    </a:ext>
                  </a:extLst>
                </p:cNvPr>
                <p:cNvSpPr/>
                <p:nvPr/>
              </p:nvSpPr>
              <p:spPr>
                <a:xfrm>
                  <a:off x="13563600" y="1790700"/>
                  <a:ext cx="1236826" cy="457200"/>
                </a:xfrm>
                <a:prstGeom prst="flowChartAlternateProcess">
                  <a:avLst/>
                </a:prstGeom>
                <a:grpFill/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   </a:t>
                  </a:r>
                  <a:r>
                    <a:rPr lang="en-US" sz="105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Masivo</a:t>
                  </a:r>
                  <a:endParaRPr lang="es-DO" sz="105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115" name="Imagen 114">
                  <a:extLst>
                    <a:ext uri="{FF2B5EF4-FFF2-40B4-BE49-F238E27FC236}">
                      <a16:creationId xmlns:a16="http://schemas.microsoft.com/office/drawing/2014/main" id="{88BAC793-76F0-5CDE-2E1A-73DB330A5D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3692853" y="1899301"/>
                  <a:ext cx="269372" cy="269111"/>
                </a:xfrm>
                <a:prstGeom prst="rect">
                  <a:avLst/>
                </a:prstGeom>
                <a:grpFill/>
              </p:spPr>
            </p:pic>
          </p:grpSp>
          <p:grpSp>
            <p:nvGrpSpPr>
              <p:cNvPr id="117" name="Grupo 116">
                <a:extLst>
                  <a:ext uri="{FF2B5EF4-FFF2-40B4-BE49-F238E27FC236}">
                    <a16:creationId xmlns:a16="http://schemas.microsoft.com/office/drawing/2014/main" id="{40A86754-4E19-20A3-94A6-FD1F01D52301}"/>
                  </a:ext>
                </a:extLst>
              </p:cNvPr>
              <p:cNvGrpSpPr/>
              <p:nvPr/>
            </p:nvGrpSpPr>
            <p:grpSpPr>
              <a:xfrm>
                <a:off x="14765174" y="1943100"/>
                <a:ext cx="1236826" cy="457200"/>
                <a:chOff x="16511207" y="1790700"/>
                <a:chExt cx="1236826" cy="457200"/>
              </a:xfrm>
              <a:noFill/>
            </p:grpSpPr>
            <p:sp>
              <p:nvSpPr>
                <p:cNvPr id="112" name="Diagrama de flujo: proceso alternativo 111">
                  <a:extLst>
                    <a:ext uri="{FF2B5EF4-FFF2-40B4-BE49-F238E27FC236}">
                      <a16:creationId xmlns:a16="http://schemas.microsoft.com/office/drawing/2014/main" id="{05EF72B5-CEF9-9453-1F46-454EE5E0F5F5}"/>
                    </a:ext>
                  </a:extLst>
                </p:cNvPr>
                <p:cNvSpPr/>
                <p:nvPr/>
              </p:nvSpPr>
              <p:spPr>
                <a:xfrm>
                  <a:off x="16511207" y="1790700"/>
                  <a:ext cx="1236826" cy="457200"/>
                </a:xfrm>
                <a:prstGeom prst="flowChartAlternateProcess">
                  <a:avLst/>
                </a:prstGeom>
                <a:grpFill/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   Empresarial</a:t>
                  </a:r>
                  <a:endParaRPr lang="es-DO" sz="105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116" name="Imagen 115">
                  <a:extLst>
                    <a:ext uri="{FF2B5EF4-FFF2-40B4-BE49-F238E27FC236}">
                      <a16:creationId xmlns:a16="http://schemas.microsoft.com/office/drawing/2014/main" id="{71C1391D-52CA-99CA-541F-D16502630A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6570828" y="1899171"/>
                  <a:ext cx="269372" cy="269372"/>
                </a:xfrm>
                <a:prstGeom prst="rect">
                  <a:avLst/>
                </a:prstGeom>
                <a:grpFill/>
              </p:spPr>
            </p:pic>
          </p:grpSp>
        </p:grpSp>
        <p:grpSp>
          <p:nvGrpSpPr>
            <p:cNvPr id="1155" name="Grupo 1154">
              <a:extLst>
                <a:ext uri="{FF2B5EF4-FFF2-40B4-BE49-F238E27FC236}">
                  <a16:creationId xmlns:a16="http://schemas.microsoft.com/office/drawing/2014/main" id="{D725E661-E6D2-5510-B8B6-936A4CED3C07}"/>
                </a:ext>
              </a:extLst>
            </p:cNvPr>
            <p:cNvGrpSpPr/>
            <p:nvPr/>
          </p:nvGrpSpPr>
          <p:grpSpPr>
            <a:xfrm>
              <a:off x="9354974" y="2628900"/>
              <a:ext cx="8636841" cy="3276600"/>
              <a:chOff x="9354974" y="2705100"/>
              <a:chExt cx="8636841" cy="3276600"/>
            </a:xfrm>
          </p:grpSpPr>
          <p:grpSp>
            <p:nvGrpSpPr>
              <p:cNvPr id="652" name="Grupo 651">
                <a:extLst>
                  <a:ext uri="{FF2B5EF4-FFF2-40B4-BE49-F238E27FC236}">
                    <a16:creationId xmlns:a16="http://schemas.microsoft.com/office/drawing/2014/main" id="{44EA1070-1085-1E9C-9E24-C47A99154BCB}"/>
                  </a:ext>
                </a:extLst>
              </p:cNvPr>
              <p:cNvGrpSpPr/>
              <p:nvPr/>
            </p:nvGrpSpPr>
            <p:grpSpPr>
              <a:xfrm>
                <a:off x="9354974" y="4953000"/>
                <a:ext cx="6418426" cy="457200"/>
                <a:chOff x="9354974" y="4953000"/>
                <a:chExt cx="6418426" cy="457200"/>
              </a:xfrm>
            </p:grpSpPr>
            <p:grpSp>
              <p:nvGrpSpPr>
                <p:cNvPr id="38" name="Grupo 37">
                  <a:extLst>
                    <a:ext uri="{FF2B5EF4-FFF2-40B4-BE49-F238E27FC236}">
                      <a16:creationId xmlns:a16="http://schemas.microsoft.com/office/drawing/2014/main" id="{3105B4E0-508A-08F6-F584-9D6CA43737CE}"/>
                    </a:ext>
                  </a:extLst>
                </p:cNvPr>
                <p:cNvGrpSpPr/>
                <p:nvPr/>
              </p:nvGrpSpPr>
              <p:grpSpPr>
                <a:xfrm>
                  <a:off x="9354974" y="4953000"/>
                  <a:ext cx="1645919" cy="457200"/>
                  <a:chOff x="125080" y="6236473"/>
                  <a:chExt cx="1645919" cy="457200"/>
                </a:xfrm>
                <a:solidFill>
                  <a:schemeClr val="bg1"/>
                </a:solidFill>
                <a:effectLst/>
              </p:grpSpPr>
              <p:sp>
                <p:nvSpPr>
                  <p:cNvPr id="36" name="Diagrama de flujo: proceso alternativo 35">
                    <a:extLst>
                      <a:ext uri="{FF2B5EF4-FFF2-40B4-BE49-F238E27FC236}">
                        <a16:creationId xmlns:a16="http://schemas.microsoft.com/office/drawing/2014/main" id="{5B4D5787-5AD7-56EA-A440-B1F04ECFF5D6}"/>
                      </a:ext>
                    </a:extLst>
                  </p:cNvPr>
                  <p:cNvSpPr/>
                  <p:nvPr/>
                </p:nvSpPr>
                <p:spPr>
                  <a:xfrm>
                    <a:off x="125080" y="6236473"/>
                    <a:ext cx="1645919" cy="457200"/>
                  </a:xfrm>
                  <a:prstGeom prst="flowChartAlternateProcess">
                    <a:avLst/>
                  </a:prstGeom>
                  <a:solidFill>
                    <a:srgbClr val="EEECE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0"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       </a:t>
                    </a:r>
                    <a:r>
                      <a:rPr lang="en-US" sz="13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Electronica</a:t>
                    </a:r>
                    <a:endParaRPr lang="es-DO" sz="13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pic>
                <p:nvPicPr>
                  <p:cNvPr id="37" name="Imagen 36">
                    <a:extLst>
                      <a:ext uri="{FF2B5EF4-FFF2-40B4-BE49-F238E27FC236}">
                        <a16:creationId xmlns:a16="http://schemas.microsoft.com/office/drawing/2014/main" id="{486EDCBE-A0E2-2B92-2ECB-E8733F85C75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5427" y="6236473"/>
                    <a:ext cx="454477" cy="4486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649" name="Grupo 648">
                  <a:extLst>
                    <a:ext uri="{FF2B5EF4-FFF2-40B4-BE49-F238E27FC236}">
                      <a16:creationId xmlns:a16="http://schemas.microsoft.com/office/drawing/2014/main" id="{8AD281FC-267E-2F08-004F-6CADFE929BB2}"/>
                    </a:ext>
                  </a:extLst>
                </p:cNvPr>
                <p:cNvGrpSpPr/>
                <p:nvPr/>
              </p:nvGrpSpPr>
              <p:grpSpPr>
                <a:xfrm>
                  <a:off x="11107574" y="4953000"/>
                  <a:ext cx="4665826" cy="457200"/>
                  <a:chOff x="11107574" y="4953000"/>
                  <a:chExt cx="4665826" cy="457200"/>
                </a:xfrm>
              </p:grpSpPr>
              <p:grpSp>
                <p:nvGrpSpPr>
                  <p:cNvPr id="188" name="Grupo 187">
                    <a:extLst>
                      <a:ext uri="{FF2B5EF4-FFF2-40B4-BE49-F238E27FC236}">
                        <a16:creationId xmlns:a16="http://schemas.microsoft.com/office/drawing/2014/main" id="{BB9324E5-B76A-6BF1-712D-C888F246C6A8}"/>
                      </a:ext>
                    </a:extLst>
                  </p:cNvPr>
                  <p:cNvGrpSpPr/>
                  <p:nvPr/>
                </p:nvGrpSpPr>
                <p:grpSpPr>
                  <a:xfrm>
                    <a:off x="14127481" y="4953000"/>
                    <a:ext cx="1645919" cy="457200"/>
                    <a:chOff x="1472331" y="7170567"/>
                    <a:chExt cx="1645919" cy="457200"/>
                  </a:xfrm>
                </p:grpSpPr>
                <p:sp>
                  <p:nvSpPr>
                    <p:cNvPr id="154" name="Diagrama de flujo: proceso alternativo 153">
                      <a:extLst>
                        <a:ext uri="{FF2B5EF4-FFF2-40B4-BE49-F238E27FC236}">
                          <a16:creationId xmlns:a16="http://schemas.microsoft.com/office/drawing/2014/main" id="{F9D46939-EA2B-6B9B-FF32-F3A22505FA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72331" y="7170567"/>
                      <a:ext cx="1645919" cy="457200"/>
                    </a:xfrm>
                    <a:prstGeom prst="flowChartAlternateProcess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0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    </a:t>
                      </a:r>
                      <a:endParaRPr lang="es-DO" sz="13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p:txBody>
                </p:sp>
                <p:pic>
                  <p:nvPicPr>
                    <p:cNvPr id="151" name="Imagen 150">
                      <a:extLst>
                        <a:ext uri="{FF2B5EF4-FFF2-40B4-BE49-F238E27FC236}">
                          <a16:creationId xmlns:a16="http://schemas.microsoft.com/office/drawing/2014/main" id="{A5F892EA-5986-FA29-45BA-AED94366951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947157" y="7274460"/>
                      <a:ext cx="269372" cy="26937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</p:pic>
              </p:grpSp>
              <p:grpSp>
                <p:nvGrpSpPr>
                  <p:cNvPr id="189" name="Grupo 188">
                    <a:extLst>
                      <a:ext uri="{FF2B5EF4-FFF2-40B4-BE49-F238E27FC236}">
                        <a16:creationId xmlns:a16="http://schemas.microsoft.com/office/drawing/2014/main" id="{04F7FF36-27DA-38A6-DCA6-7D700CA451CE}"/>
                      </a:ext>
                    </a:extLst>
                  </p:cNvPr>
                  <p:cNvGrpSpPr/>
                  <p:nvPr/>
                </p:nvGrpSpPr>
                <p:grpSpPr>
                  <a:xfrm>
                    <a:off x="11107574" y="4953000"/>
                    <a:ext cx="3383105" cy="457200"/>
                    <a:chOff x="205025" y="6516696"/>
                    <a:chExt cx="3383105" cy="457200"/>
                  </a:xfrm>
                </p:grpSpPr>
                <p:sp>
                  <p:nvSpPr>
                    <p:cNvPr id="153" name="Diagrama de flujo: proceso alternativo 152">
                      <a:extLst>
                        <a:ext uri="{FF2B5EF4-FFF2-40B4-BE49-F238E27FC236}">
                          <a16:creationId xmlns:a16="http://schemas.microsoft.com/office/drawing/2014/main" id="{4E6FD3EB-BC76-F408-1006-2B20559646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5025" y="6516696"/>
                      <a:ext cx="2916290" cy="457200"/>
                    </a:xfrm>
                    <a:prstGeom prst="flowChartAlternateProcess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0" rtlCol="0" anchor="ctr"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    </a:t>
                      </a:r>
                      <a:r>
                        <a:rPr lang="es-DO" sz="1200" dirty="0">
                          <a:solidFill>
                            <a:schemeClr val="tx1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↑ participación, ↑ clientes, ticket más alto</a:t>
                      </a:r>
                    </a:p>
                  </p:txBody>
                </p:sp>
                <p:pic>
                  <p:nvPicPr>
                    <p:cNvPr id="152" name="Imagen 151">
                      <a:extLst>
                        <a:ext uri="{FF2B5EF4-FFF2-40B4-BE49-F238E27FC236}">
                          <a16:creationId xmlns:a16="http://schemas.microsoft.com/office/drawing/2014/main" id="{7500D0E4-A6DD-CC84-861F-C49B13648E7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3318758" y="6617562"/>
                      <a:ext cx="269372" cy="269111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142" name="Grupo 1141">
                <a:extLst>
                  <a:ext uri="{FF2B5EF4-FFF2-40B4-BE49-F238E27FC236}">
                    <a16:creationId xmlns:a16="http://schemas.microsoft.com/office/drawing/2014/main" id="{17B20E08-D8FD-0799-1F39-EFA1A52FC70C}"/>
                  </a:ext>
                </a:extLst>
              </p:cNvPr>
              <p:cNvGrpSpPr/>
              <p:nvPr/>
            </p:nvGrpSpPr>
            <p:grpSpPr>
              <a:xfrm>
                <a:off x="9354974" y="3222224"/>
                <a:ext cx="8628225" cy="457200"/>
                <a:chOff x="9354974" y="3222224"/>
                <a:chExt cx="8628225" cy="457200"/>
              </a:xfrm>
            </p:grpSpPr>
            <p:grpSp>
              <p:nvGrpSpPr>
                <p:cNvPr id="94" name="Grupo 93">
                  <a:extLst>
                    <a:ext uri="{FF2B5EF4-FFF2-40B4-BE49-F238E27FC236}">
                      <a16:creationId xmlns:a16="http://schemas.microsoft.com/office/drawing/2014/main" id="{EE338E5F-69DF-DFDB-1A85-1F5361C12E3C}"/>
                    </a:ext>
                  </a:extLst>
                </p:cNvPr>
                <p:cNvGrpSpPr/>
                <p:nvPr/>
              </p:nvGrpSpPr>
              <p:grpSpPr>
                <a:xfrm>
                  <a:off x="9354974" y="3222224"/>
                  <a:ext cx="1645920" cy="457200"/>
                  <a:chOff x="3855720" y="7308601"/>
                  <a:chExt cx="1554480" cy="457200"/>
                </a:xfrm>
                <a:solidFill>
                  <a:schemeClr val="bg1"/>
                </a:solidFill>
              </p:grpSpPr>
              <p:sp>
                <p:nvSpPr>
                  <p:cNvPr id="41" name="Diagrama de flujo: proceso alternativo 40">
                    <a:extLst>
                      <a:ext uri="{FF2B5EF4-FFF2-40B4-BE49-F238E27FC236}">
                        <a16:creationId xmlns:a16="http://schemas.microsoft.com/office/drawing/2014/main" id="{82CD3A3D-9157-D820-0D2F-2909D7B0A2CD}"/>
                      </a:ext>
                    </a:extLst>
                  </p:cNvPr>
                  <p:cNvSpPr/>
                  <p:nvPr/>
                </p:nvSpPr>
                <p:spPr>
                  <a:xfrm>
                    <a:off x="3855720" y="7308601"/>
                    <a:ext cx="1554480" cy="457200"/>
                  </a:xfrm>
                  <a:prstGeom prst="flowChartAlternateProcess">
                    <a:avLst/>
                  </a:prstGeom>
                  <a:solidFill>
                    <a:srgbClr val="EEECE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      </a:t>
                    </a:r>
                    <a:r>
                      <a:rPr lang="en-US" sz="13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Supermercados</a:t>
                    </a:r>
                    <a:endParaRPr lang="es-DO" sz="13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pic>
                <p:nvPicPr>
                  <p:cNvPr id="42" name="Imagen 41">
                    <a:extLst>
                      <a:ext uri="{FF2B5EF4-FFF2-40B4-BE49-F238E27FC236}">
                        <a16:creationId xmlns:a16="http://schemas.microsoft.com/office/drawing/2014/main" id="{A1C6C75A-4E6C-BD73-4AA5-6509D59C61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3923000" y="7343307"/>
                    <a:ext cx="372008" cy="4006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1093" name="Diagrama de flujo: proceso alternativo 1092">
                  <a:extLst>
                    <a:ext uri="{FF2B5EF4-FFF2-40B4-BE49-F238E27FC236}">
                      <a16:creationId xmlns:a16="http://schemas.microsoft.com/office/drawing/2014/main" id="{CFE2D4BD-06D3-FACE-393E-EAF68CD2F170}"/>
                    </a:ext>
                  </a:extLst>
                </p:cNvPr>
                <p:cNvSpPr/>
                <p:nvPr/>
              </p:nvSpPr>
              <p:spPr>
                <a:xfrm>
                  <a:off x="11107574" y="3222224"/>
                  <a:ext cx="2938608" cy="457200"/>
                </a:xfrm>
                <a:prstGeom prst="flowChartAlternateProcess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:r>
                    <a:rPr lang="es-DO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1</a:t>
                  </a:r>
                  <a:r>
                    <a:rPr lang="es-DO" sz="1200" baseline="300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er</a:t>
                  </a:r>
                  <a:r>
                    <a:rPr lang="es-DO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volumen, frecuencia alta</a:t>
                  </a:r>
                </a:p>
              </p:txBody>
            </p:sp>
            <p:sp>
              <p:nvSpPr>
                <p:cNvPr id="1096" name="Diagrama de flujo: proceso alternativo 1095">
                  <a:extLst>
                    <a:ext uri="{FF2B5EF4-FFF2-40B4-BE49-F238E27FC236}">
                      <a16:creationId xmlns:a16="http://schemas.microsoft.com/office/drawing/2014/main" id="{482A72E1-DB6F-EC06-A71A-1C6FE1D0E84B}"/>
                    </a:ext>
                  </a:extLst>
                </p:cNvPr>
                <p:cNvSpPr/>
                <p:nvPr/>
              </p:nvSpPr>
              <p:spPr>
                <a:xfrm>
                  <a:off x="15854698" y="3222224"/>
                  <a:ext cx="2128501" cy="457200"/>
                </a:xfrm>
                <a:prstGeom prst="flowChartAlternateProcess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Retención</a:t>
                  </a:r>
                  <a:r>
                    <a:rPr lang="en-US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y cross-sell</a:t>
                  </a:r>
                  <a:endParaRPr lang="es-DO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grpSp>
              <p:nvGrpSpPr>
                <p:cNvPr id="1131" name="Grupo 1130">
                  <a:extLst>
                    <a:ext uri="{FF2B5EF4-FFF2-40B4-BE49-F238E27FC236}">
                      <a16:creationId xmlns:a16="http://schemas.microsoft.com/office/drawing/2014/main" id="{8A2185CD-4B65-57EB-A679-8F25C6A75708}"/>
                    </a:ext>
                  </a:extLst>
                </p:cNvPr>
                <p:cNvGrpSpPr/>
                <p:nvPr/>
              </p:nvGrpSpPr>
              <p:grpSpPr>
                <a:xfrm>
                  <a:off x="14127481" y="3222224"/>
                  <a:ext cx="1645919" cy="457200"/>
                  <a:chOff x="14127481" y="3222224"/>
                  <a:chExt cx="1645919" cy="457200"/>
                </a:xfrm>
              </p:grpSpPr>
              <p:grpSp>
                <p:nvGrpSpPr>
                  <p:cNvPr id="700" name="Grupo 699">
                    <a:extLst>
                      <a:ext uri="{FF2B5EF4-FFF2-40B4-BE49-F238E27FC236}">
                        <a16:creationId xmlns:a16="http://schemas.microsoft.com/office/drawing/2014/main" id="{B2FC609F-1C5E-84A0-A7F3-3C1B7134AB81}"/>
                      </a:ext>
                    </a:extLst>
                  </p:cNvPr>
                  <p:cNvGrpSpPr/>
                  <p:nvPr/>
                </p:nvGrpSpPr>
                <p:grpSpPr>
                  <a:xfrm>
                    <a:off x="14127481" y="3222224"/>
                    <a:ext cx="1645919" cy="457200"/>
                    <a:chOff x="1472331" y="7170567"/>
                    <a:chExt cx="1645919" cy="457200"/>
                  </a:xfrm>
                </p:grpSpPr>
                <p:sp>
                  <p:nvSpPr>
                    <p:cNvPr id="701" name="Diagrama de flujo: proceso alternativo 700">
                      <a:extLst>
                        <a:ext uri="{FF2B5EF4-FFF2-40B4-BE49-F238E27FC236}">
                          <a16:creationId xmlns:a16="http://schemas.microsoft.com/office/drawing/2014/main" id="{2998CC60-DB98-E2A1-8B29-24AD613E38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72331" y="7170567"/>
                      <a:ext cx="1645919" cy="457200"/>
                    </a:xfrm>
                    <a:prstGeom prst="flowChartAlternateProcess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0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    </a:t>
                      </a:r>
                      <a:endParaRPr lang="es-DO" sz="13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p:txBody>
                </p:sp>
                <p:pic>
                  <p:nvPicPr>
                    <p:cNvPr id="702" name="Imagen 701">
                      <a:extLst>
                        <a:ext uri="{FF2B5EF4-FFF2-40B4-BE49-F238E27FC236}">
                          <a16:creationId xmlns:a16="http://schemas.microsoft.com/office/drawing/2014/main" id="{7ECAAE68-B666-1A44-2884-29C55C057DA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941998" y="7274460"/>
                      <a:ext cx="269372" cy="26937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</p:pic>
              </p:grpSp>
              <p:pic>
                <p:nvPicPr>
                  <p:cNvPr id="1094" name="Imagen 1093">
                    <a:extLst>
                      <a:ext uri="{FF2B5EF4-FFF2-40B4-BE49-F238E27FC236}">
                        <a16:creationId xmlns:a16="http://schemas.microsoft.com/office/drawing/2014/main" id="{68F7C215-2D2A-D7AE-A26C-23CEA0867A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4233954" y="3329110"/>
                    <a:ext cx="269372" cy="26338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</p:pic>
              <p:pic>
                <p:nvPicPr>
                  <p:cNvPr id="1097" name="Imagen 1096">
                    <a:extLst>
                      <a:ext uri="{FF2B5EF4-FFF2-40B4-BE49-F238E27FC236}">
                        <a16:creationId xmlns:a16="http://schemas.microsoft.com/office/drawing/2014/main" id="{ABA0CAC4-D9B7-E52A-FF69-00144AA936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4960342" y="3323090"/>
                    <a:ext cx="269372" cy="269111"/>
                  </a:xfrm>
                  <a:prstGeom prst="rect">
                    <a:avLst/>
                  </a:prstGeom>
                </p:spPr>
              </p:pic>
              <p:pic>
                <p:nvPicPr>
                  <p:cNvPr id="1100" name="Imagen 1099">
                    <a:extLst>
                      <a:ext uri="{FF2B5EF4-FFF2-40B4-BE49-F238E27FC236}">
                        <a16:creationId xmlns:a16="http://schemas.microsoft.com/office/drawing/2014/main" id="{57EDC669-E352-D9E6-358C-B093FDF005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5323535" y="3322960"/>
                    <a:ext cx="269372" cy="269372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144" name="Grupo 1143">
                <a:extLst>
                  <a:ext uri="{FF2B5EF4-FFF2-40B4-BE49-F238E27FC236}">
                    <a16:creationId xmlns:a16="http://schemas.microsoft.com/office/drawing/2014/main" id="{1DB0B780-C3E7-C161-ACFD-AE871C0EDA56}"/>
                  </a:ext>
                </a:extLst>
              </p:cNvPr>
              <p:cNvGrpSpPr/>
              <p:nvPr/>
            </p:nvGrpSpPr>
            <p:grpSpPr>
              <a:xfrm>
                <a:off x="9354974" y="3810000"/>
                <a:ext cx="8628226" cy="457200"/>
                <a:chOff x="9354974" y="3810000"/>
                <a:chExt cx="8628226" cy="457200"/>
              </a:xfrm>
            </p:grpSpPr>
            <p:grpSp>
              <p:nvGrpSpPr>
                <p:cNvPr id="95" name="Grupo 94">
                  <a:extLst>
                    <a:ext uri="{FF2B5EF4-FFF2-40B4-BE49-F238E27FC236}">
                      <a16:creationId xmlns:a16="http://schemas.microsoft.com/office/drawing/2014/main" id="{2AEE02CE-4DDB-097F-5914-4B3FBE50028F}"/>
                    </a:ext>
                  </a:extLst>
                </p:cNvPr>
                <p:cNvGrpSpPr/>
                <p:nvPr/>
              </p:nvGrpSpPr>
              <p:grpSpPr>
                <a:xfrm>
                  <a:off x="9354974" y="3810000"/>
                  <a:ext cx="1645920" cy="457200"/>
                  <a:chOff x="5646420" y="7343307"/>
                  <a:chExt cx="1554480" cy="457200"/>
                </a:xfrm>
                <a:solidFill>
                  <a:srgbClr val="EEECE1"/>
                </a:solidFill>
              </p:grpSpPr>
              <p:sp>
                <p:nvSpPr>
                  <p:cNvPr id="44" name="Diagrama de flujo: proceso alternativo 43">
                    <a:extLst>
                      <a:ext uri="{FF2B5EF4-FFF2-40B4-BE49-F238E27FC236}">
                        <a16:creationId xmlns:a16="http://schemas.microsoft.com/office/drawing/2014/main" id="{DDA3DDB3-CE56-80F9-AED6-909786CB5819}"/>
                      </a:ext>
                    </a:extLst>
                  </p:cNvPr>
                  <p:cNvSpPr/>
                  <p:nvPr/>
                </p:nvSpPr>
                <p:spPr>
                  <a:xfrm>
                    <a:off x="5646420" y="7343307"/>
                    <a:ext cx="1554480" cy="457200"/>
                  </a:xfrm>
                  <a:prstGeom prst="flowChartAlternateProcess">
                    <a:avLst/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0"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      </a:t>
                    </a:r>
                    <a:r>
                      <a:rPr lang="en-US" sz="13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Ecommerce</a:t>
                    </a:r>
                    <a:endParaRPr lang="es-DO" sz="13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pic>
                <p:nvPicPr>
                  <p:cNvPr id="45" name="Imagen 44">
                    <a:extLst>
                      <a:ext uri="{FF2B5EF4-FFF2-40B4-BE49-F238E27FC236}">
                        <a16:creationId xmlns:a16="http://schemas.microsoft.com/office/drawing/2014/main" id="{7E8AC99C-9DEB-18E8-18B7-EA55E60B947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5744656" y="7391400"/>
                    <a:ext cx="371007" cy="371007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</p:pic>
            </p:grpSp>
            <p:sp>
              <p:nvSpPr>
                <p:cNvPr id="1120" name="Diagrama de flujo: proceso alternativo 1119">
                  <a:extLst>
                    <a:ext uri="{FF2B5EF4-FFF2-40B4-BE49-F238E27FC236}">
                      <a16:creationId xmlns:a16="http://schemas.microsoft.com/office/drawing/2014/main" id="{88EFDF63-AB10-8A81-7CF1-55726A122F67}"/>
                    </a:ext>
                  </a:extLst>
                </p:cNvPr>
                <p:cNvSpPr/>
                <p:nvPr/>
              </p:nvSpPr>
              <p:spPr>
                <a:xfrm>
                  <a:off x="15854698" y="3810000"/>
                  <a:ext cx="2128502" cy="457200"/>
                </a:xfrm>
                <a:prstGeom prst="flowChartAlternateProcess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:r>
                    <a:rPr lang="en-US" sz="120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Monetización</a:t>
                  </a:r>
                  <a:r>
                    <a:rPr lang="en-US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digital</a:t>
                  </a:r>
                  <a:endParaRPr lang="es-DO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sp>
              <p:nvSpPr>
                <p:cNvPr id="1123" name="Diagrama de flujo: proceso alternativo 1122">
                  <a:extLst>
                    <a:ext uri="{FF2B5EF4-FFF2-40B4-BE49-F238E27FC236}">
                      <a16:creationId xmlns:a16="http://schemas.microsoft.com/office/drawing/2014/main" id="{BAC7A97B-F88D-19AE-AFC0-2EA0D82BE377}"/>
                    </a:ext>
                  </a:extLst>
                </p:cNvPr>
                <p:cNvSpPr/>
                <p:nvPr/>
              </p:nvSpPr>
              <p:spPr>
                <a:xfrm>
                  <a:off x="11107574" y="3810000"/>
                  <a:ext cx="2916290" cy="457200"/>
                </a:xfrm>
                <a:prstGeom prst="flowChartAlternateProcess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:r>
                    <a:rPr lang="es-DO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2</a:t>
                  </a:r>
                  <a:r>
                    <a:rPr lang="es-DO" sz="1200" baseline="300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do</a:t>
                  </a:r>
                  <a:r>
                    <a:rPr lang="es-DO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ticket, 3</a:t>
                  </a:r>
                  <a:r>
                    <a:rPr lang="es-DO" sz="1200" baseline="300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er</a:t>
                  </a:r>
                  <a:r>
                    <a:rPr lang="es-DO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monto</a:t>
                  </a:r>
                </a:p>
              </p:txBody>
            </p:sp>
            <p:grpSp>
              <p:nvGrpSpPr>
                <p:cNvPr id="1111" name="Grupo 1110">
                  <a:extLst>
                    <a:ext uri="{FF2B5EF4-FFF2-40B4-BE49-F238E27FC236}">
                      <a16:creationId xmlns:a16="http://schemas.microsoft.com/office/drawing/2014/main" id="{42D68090-A29A-3C84-073E-98F237D7D013}"/>
                    </a:ext>
                  </a:extLst>
                </p:cNvPr>
                <p:cNvGrpSpPr/>
                <p:nvPr/>
              </p:nvGrpSpPr>
              <p:grpSpPr>
                <a:xfrm>
                  <a:off x="14127481" y="3810000"/>
                  <a:ext cx="1645919" cy="457200"/>
                  <a:chOff x="14127481" y="3810000"/>
                  <a:chExt cx="1645919" cy="457200"/>
                </a:xfrm>
              </p:grpSpPr>
              <p:grpSp>
                <p:nvGrpSpPr>
                  <p:cNvPr id="1113" name="Grupo 1112">
                    <a:extLst>
                      <a:ext uri="{FF2B5EF4-FFF2-40B4-BE49-F238E27FC236}">
                        <a16:creationId xmlns:a16="http://schemas.microsoft.com/office/drawing/2014/main" id="{3AA5E3AD-821A-F7DA-A59E-3877EA6FC142}"/>
                      </a:ext>
                    </a:extLst>
                  </p:cNvPr>
                  <p:cNvGrpSpPr/>
                  <p:nvPr/>
                </p:nvGrpSpPr>
                <p:grpSpPr>
                  <a:xfrm>
                    <a:off x="14127481" y="3810000"/>
                    <a:ext cx="1645919" cy="457200"/>
                    <a:chOff x="1472331" y="7170567"/>
                    <a:chExt cx="1645919" cy="457200"/>
                  </a:xfrm>
                </p:grpSpPr>
                <p:sp>
                  <p:nvSpPr>
                    <p:cNvPr id="1114" name="Diagrama de flujo: proceso alternativo 1113">
                      <a:extLst>
                        <a:ext uri="{FF2B5EF4-FFF2-40B4-BE49-F238E27FC236}">
                          <a16:creationId xmlns:a16="http://schemas.microsoft.com/office/drawing/2014/main" id="{58FD5EF5-7219-AA7B-CBE8-298C2C7A20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72331" y="7170567"/>
                      <a:ext cx="1645919" cy="457200"/>
                    </a:xfrm>
                    <a:prstGeom prst="flowChartAlternateProcess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0" rtlCol="0" anchor="ctr"/>
                    <a:lstStyle/>
                    <a:p>
                      <a:pPr algn="ctr"/>
                      <a:endParaRPr lang="es-DO" sz="13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p:txBody>
                </p:sp>
                <p:pic>
                  <p:nvPicPr>
                    <p:cNvPr id="1115" name="Imagen 1114">
                      <a:extLst>
                        <a:ext uri="{FF2B5EF4-FFF2-40B4-BE49-F238E27FC236}">
                          <a16:creationId xmlns:a16="http://schemas.microsoft.com/office/drawing/2014/main" id="{E30E8A2D-9477-2348-7597-59CDB98CC36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947157" y="7274460"/>
                      <a:ext cx="269372" cy="26937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</p:pic>
              </p:grpSp>
              <p:pic>
                <p:nvPicPr>
                  <p:cNvPr id="1118" name="Imagen 1117">
                    <a:extLst>
                      <a:ext uri="{FF2B5EF4-FFF2-40B4-BE49-F238E27FC236}">
                        <a16:creationId xmlns:a16="http://schemas.microsoft.com/office/drawing/2014/main" id="{7B368DC8-6041-78CB-A19A-EF32DBF55A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5364307" y="3899333"/>
                    <a:ext cx="269372" cy="26338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</p:pic>
              <p:pic>
                <p:nvPicPr>
                  <p:cNvPr id="1121" name="Imagen 1120">
                    <a:extLst>
                      <a:ext uri="{FF2B5EF4-FFF2-40B4-BE49-F238E27FC236}">
                        <a16:creationId xmlns:a16="http://schemas.microsoft.com/office/drawing/2014/main" id="{9F9B3208-F22C-6612-7EB7-79A1C3CF1E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4942535" y="3910866"/>
                    <a:ext cx="269372" cy="269111"/>
                  </a:xfrm>
                  <a:prstGeom prst="rect">
                    <a:avLst/>
                  </a:prstGeom>
                </p:spPr>
              </p:pic>
              <p:pic>
                <p:nvPicPr>
                  <p:cNvPr id="1124" name="Imagen 1123">
                    <a:extLst>
                      <a:ext uri="{FF2B5EF4-FFF2-40B4-BE49-F238E27FC236}">
                        <a16:creationId xmlns:a16="http://schemas.microsoft.com/office/drawing/2014/main" id="{B8F21485-EF96-E4D8-FE78-40EB50146C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4256735" y="3910736"/>
                    <a:ext cx="269372" cy="269372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31" name="Diagrama de flujo: proceso alternativo 130">
                <a:extLst>
                  <a:ext uri="{FF2B5EF4-FFF2-40B4-BE49-F238E27FC236}">
                    <a16:creationId xmlns:a16="http://schemas.microsoft.com/office/drawing/2014/main" id="{BC5EB971-8C5D-9750-1AA2-C662541B5429}"/>
                  </a:ext>
                </a:extLst>
              </p:cNvPr>
              <p:cNvSpPr/>
              <p:nvPr/>
            </p:nvSpPr>
            <p:spPr>
              <a:xfrm>
                <a:off x="11125200" y="2705100"/>
                <a:ext cx="2920982" cy="457200"/>
              </a:xfrm>
              <a:prstGeom prst="flowChartAlternateProcess">
                <a:avLst/>
              </a:prstGeom>
              <a:solidFill>
                <a:srgbClr val="EEECE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3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Características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83" name="Diagrama de flujo: proceso alternativo 182">
                <a:extLst>
                  <a:ext uri="{FF2B5EF4-FFF2-40B4-BE49-F238E27FC236}">
                    <a16:creationId xmlns:a16="http://schemas.microsoft.com/office/drawing/2014/main" id="{6D943EA2-C2CC-C432-EF31-4E907A7DCA52}"/>
                  </a:ext>
                </a:extLst>
              </p:cNvPr>
              <p:cNvSpPr/>
              <p:nvPr/>
            </p:nvSpPr>
            <p:spPr>
              <a:xfrm>
                <a:off x="14127480" y="2705100"/>
                <a:ext cx="1645920" cy="457200"/>
              </a:xfrm>
              <a:prstGeom prst="flowChartAlternateProcess">
                <a:avLst/>
              </a:prstGeom>
              <a:solidFill>
                <a:srgbClr val="EEECE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3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Segmentos</a:t>
                </a:r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</a:t>
                </a:r>
                <a:r>
                  <a:rPr lang="en-US" sz="13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dominantes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grpSp>
            <p:nvGrpSpPr>
              <p:cNvPr id="1105" name="Grupo 1104">
                <a:extLst>
                  <a:ext uri="{FF2B5EF4-FFF2-40B4-BE49-F238E27FC236}">
                    <a16:creationId xmlns:a16="http://schemas.microsoft.com/office/drawing/2014/main" id="{8FEBE837-7B83-DC5C-C89D-DBA102791780}"/>
                  </a:ext>
                </a:extLst>
              </p:cNvPr>
              <p:cNvGrpSpPr/>
              <p:nvPr/>
            </p:nvGrpSpPr>
            <p:grpSpPr>
              <a:xfrm>
                <a:off x="9354974" y="4381500"/>
                <a:ext cx="8628226" cy="457200"/>
                <a:chOff x="9354974" y="4381500"/>
                <a:chExt cx="8628226" cy="457200"/>
              </a:xfrm>
            </p:grpSpPr>
            <p:grpSp>
              <p:nvGrpSpPr>
                <p:cNvPr id="93" name="Grupo 92">
                  <a:extLst>
                    <a:ext uri="{FF2B5EF4-FFF2-40B4-BE49-F238E27FC236}">
                      <a16:creationId xmlns:a16="http://schemas.microsoft.com/office/drawing/2014/main" id="{31204731-3B96-7A4F-19B9-9917DDCAB6B6}"/>
                    </a:ext>
                  </a:extLst>
                </p:cNvPr>
                <p:cNvGrpSpPr/>
                <p:nvPr/>
              </p:nvGrpSpPr>
              <p:grpSpPr>
                <a:xfrm>
                  <a:off x="9354974" y="4381500"/>
                  <a:ext cx="1645920" cy="457200"/>
                  <a:chOff x="2065598" y="7259452"/>
                  <a:chExt cx="1645920" cy="457200"/>
                </a:xfrm>
                <a:solidFill>
                  <a:schemeClr val="bg1"/>
                </a:solidFill>
              </p:grpSpPr>
              <p:sp>
                <p:nvSpPr>
                  <p:cNvPr id="35" name="Diagrama de flujo: proceso alternativo 34">
                    <a:extLst>
                      <a:ext uri="{FF2B5EF4-FFF2-40B4-BE49-F238E27FC236}">
                        <a16:creationId xmlns:a16="http://schemas.microsoft.com/office/drawing/2014/main" id="{546892B9-AA92-A1F3-263E-376850F382CB}"/>
                      </a:ext>
                    </a:extLst>
                  </p:cNvPr>
                  <p:cNvSpPr/>
                  <p:nvPr/>
                </p:nvSpPr>
                <p:spPr>
                  <a:xfrm>
                    <a:off x="2065598" y="7259452"/>
                    <a:ext cx="1645920" cy="457200"/>
                  </a:xfrm>
                  <a:prstGeom prst="flowChartAlternateProcess">
                    <a:avLst/>
                  </a:prstGeom>
                  <a:solidFill>
                    <a:srgbClr val="EEECE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0" rtlCol="0" anchor="ctr"/>
                  <a:lstStyle/>
                  <a:p>
                    <a:pPr algn="ctr"/>
                    <a:r>
                      <a:rPr lang="en-US" sz="13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      </a:t>
                    </a:r>
                    <a:r>
                      <a:rPr lang="en-US" sz="1300" dirty="0" err="1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Restaurantes</a:t>
                    </a:r>
                    <a:endParaRPr lang="es-DO" sz="13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pic>
                <p:nvPicPr>
                  <p:cNvPr id="31" name="Imagen 30">
                    <a:extLst>
                      <a:ext uri="{FF2B5EF4-FFF2-40B4-BE49-F238E27FC236}">
                        <a16:creationId xmlns:a16="http://schemas.microsoft.com/office/drawing/2014/main" id="{2456DD6F-F5BE-7D8D-0110-99C9E3093C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2119242" y="7308601"/>
                    <a:ext cx="378443" cy="37844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669" name="Diagrama de flujo: proceso alternativo 668">
                  <a:extLst>
                    <a:ext uri="{FF2B5EF4-FFF2-40B4-BE49-F238E27FC236}">
                      <a16:creationId xmlns:a16="http://schemas.microsoft.com/office/drawing/2014/main" id="{7E08DE9E-747D-64F8-34C2-81E2E145B97B}"/>
                    </a:ext>
                  </a:extLst>
                </p:cNvPr>
                <p:cNvSpPr/>
                <p:nvPr/>
              </p:nvSpPr>
              <p:spPr>
                <a:xfrm>
                  <a:off x="11107574" y="4381500"/>
                  <a:ext cx="2916290" cy="457200"/>
                </a:xfrm>
                <a:prstGeom prst="flowChartAlternateProcess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↑ </a:t>
                  </a:r>
                  <a:r>
                    <a:rPr lang="en-US" sz="120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participación</a:t>
                  </a:r>
                  <a:r>
                    <a:rPr lang="en-US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, ↑ </a:t>
                  </a:r>
                  <a:r>
                    <a:rPr lang="en-US" sz="120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clientes</a:t>
                  </a:r>
                  <a:r>
                    <a:rPr lang="en-US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, </a:t>
                  </a:r>
                  <a:r>
                    <a:rPr lang="en-US" sz="120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frecuencia</a:t>
                  </a:r>
                  <a:r>
                    <a:rPr lang="en-US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</a:t>
                  </a:r>
                  <a:r>
                    <a:rPr lang="en-US" sz="120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estable</a:t>
                  </a:r>
                  <a:endParaRPr lang="es-DO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sp>
              <p:nvSpPr>
                <p:cNvPr id="692" name="Diagrama de flujo: proceso alternativo 691">
                  <a:extLst>
                    <a:ext uri="{FF2B5EF4-FFF2-40B4-BE49-F238E27FC236}">
                      <a16:creationId xmlns:a16="http://schemas.microsoft.com/office/drawing/2014/main" id="{3F8B6FD1-9E0C-F072-7227-A536C0B82B1C}"/>
                    </a:ext>
                  </a:extLst>
                </p:cNvPr>
                <p:cNvSpPr/>
                <p:nvPr/>
              </p:nvSpPr>
              <p:spPr>
                <a:xfrm>
                  <a:off x="15854698" y="4381500"/>
                  <a:ext cx="2128502" cy="457200"/>
                </a:xfrm>
                <a:prstGeom prst="flowChartAlternateProcess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:r>
                    <a:rPr lang="en-US" sz="120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Activación</a:t>
                  </a:r>
                  <a:r>
                    <a:rPr lang="en-US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, </a:t>
                  </a:r>
                  <a:r>
                    <a:rPr lang="en-US" sz="120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fidelizar</a:t>
                  </a:r>
                  <a:r>
                    <a:rPr lang="en-US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y </a:t>
                  </a:r>
                  <a:r>
                    <a:rPr lang="en-US" sz="120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expansión</a:t>
                  </a:r>
                  <a:endParaRPr lang="es-DO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grpSp>
              <p:nvGrpSpPr>
                <p:cNvPr id="1104" name="Grupo 1103">
                  <a:extLst>
                    <a:ext uri="{FF2B5EF4-FFF2-40B4-BE49-F238E27FC236}">
                      <a16:creationId xmlns:a16="http://schemas.microsoft.com/office/drawing/2014/main" id="{FD85C6E2-E9DB-F34A-ACEF-5DE8DF39F7EB}"/>
                    </a:ext>
                  </a:extLst>
                </p:cNvPr>
                <p:cNvGrpSpPr/>
                <p:nvPr/>
              </p:nvGrpSpPr>
              <p:grpSpPr>
                <a:xfrm>
                  <a:off x="14127481" y="4381500"/>
                  <a:ext cx="1645919" cy="457200"/>
                  <a:chOff x="14127481" y="4381500"/>
                  <a:chExt cx="1645919" cy="457200"/>
                </a:xfrm>
              </p:grpSpPr>
              <p:grpSp>
                <p:nvGrpSpPr>
                  <p:cNvPr id="672" name="Grupo 671">
                    <a:extLst>
                      <a:ext uri="{FF2B5EF4-FFF2-40B4-BE49-F238E27FC236}">
                        <a16:creationId xmlns:a16="http://schemas.microsoft.com/office/drawing/2014/main" id="{1E9EF51A-7739-F75F-197E-D7E14DA43D41}"/>
                      </a:ext>
                    </a:extLst>
                  </p:cNvPr>
                  <p:cNvGrpSpPr/>
                  <p:nvPr/>
                </p:nvGrpSpPr>
                <p:grpSpPr>
                  <a:xfrm>
                    <a:off x="14127481" y="4381500"/>
                    <a:ext cx="1645919" cy="457200"/>
                    <a:chOff x="1472331" y="7170567"/>
                    <a:chExt cx="1645919" cy="457200"/>
                  </a:xfrm>
                </p:grpSpPr>
                <p:sp>
                  <p:nvSpPr>
                    <p:cNvPr id="674" name="Diagrama de flujo: proceso alternativo 673">
                      <a:extLst>
                        <a:ext uri="{FF2B5EF4-FFF2-40B4-BE49-F238E27FC236}">
                          <a16:creationId xmlns:a16="http://schemas.microsoft.com/office/drawing/2014/main" id="{532B54A2-5EB7-1A29-FDB0-295B815176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72331" y="7170567"/>
                      <a:ext cx="1645919" cy="457200"/>
                    </a:xfrm>
                    <a:prstGeom prst="flowChartAlternateProcess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Ins="0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    </a:t>
                      </a:r>
                      <a:endParaRPr lang="es-DO" sz="13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p:txBody>
                </p:sp>
                <p:pic>
                  <p:nvPicPr>
                    <p:cNvPr id="686" name="Imagen 685">
                      <a:extLst>
                        <a:ext uri="{FF2B5EF4-FFF2-40B4-BE49-F238E27FC236}">
                          <a16:creationId xmlns:a16="http://schemas.microsoft.com/office/drawing/2014/main" id="{47A96F51-32CE-1651-853A-11F04446518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933240" y="7266595"/>
                      <a:ext cx="269372" cy="26338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</p:pic>
              </p:grpSp>
              <p:pic>
                <p:nvPicPr>
                  <p:cNvPr id="186" name="Imagen 185">
                    <a:extLst>
                      <a:ext uri="{FF2B5EF4-FFF2-40B4-BE49-F238E27FC236}">
                        <a16:creationId xmlns:a16="http://schemas.microsoft.com/office/drawing/2014/main" id="{01DF3D58-568B-14FF-BDD2-9A9EAD4865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4247617" y="4477528"/>
                    <a:ext cx="269372" cy="26937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</p:pic>
              <p:pic>
                <p:nvPicPr>
                  <p:cNvPr id="187" name="Imagen 186">
                    <a:extLst>
                      <a:ext uri="{FF2B5EF4-FFF2-40B4-BE49-F238E27FC236}">
                        <a16:creationId xmlns:a16="http://schemas.microsoft.com/office/drawing/2014/main" id="{7522101F-C919-141F-1645-8001EA4A7E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4929163" y="4477658"/>
                    <a:ext cx="269372" cy="26911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648" name="Grupo 647">
                <a:extLst>
                  <a:ext uri="{FF2B5EF4-FFF2-40B4-BE49-F238E27FC236}">
                    <a16:creationId xmlns:a16="http://schemas.microsoft.com/office/drawing/2014/main" id="{F57616C6-4885-0CF3-960F-5F86B458D068}"/>
                  </a:ext>
                </a:extLst>
              </p:cNvPr>
              <p:cNvGrpSpPr/>
              <p:nvPr/>
            </p:nvGrpSpPr>
            <p:grpSpPr>
              <a:xfrm>
                <a:off x="9354974" y="5524500"/>
                <a:ext cx="6418426" cy="457200"/>
                <a:chOff x="9354974" y="5524500"/>
                <a:chExt cx="6418426" cy="4572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A71906E8-8CA5-B397-CF48-5379ADCA0949}"/>
                    </a:ext>
                  </a:extLst>
                </p:cNvPr>
                <p:cNvGrpSpPr/>
                <p:nvPr/>
              </p:nvGrpSpPr>
              <p:grpSpPr>
                <a:xfrm>
                  <a:off x="9354974" y="5524500"/>
                  <a:ext cx="1632095" cy="457200"/>
                  <a:chOff x="7437119" y="7353300"/>
                  <a:chExt cx="1632095" cy="457200"/>
                </a:xfrm>
                <a:solidFill>
                  <a:schemeClr val="bg1"/>
                </a:solidFill>
              </p:grpSpPr>
              <p:sp>
                <p:nvSpPr>
                  <p:cNvPr id="49" name="Diagrama de flujo: proceso alternativo 48">
                    <a:extLst>
                      <a:ext uri="{FF2B5EF4-FFF2-40B4-BE49-F238E27FC236}">
                        <a16:creationId xmlns:a16="http://schemas.microsoft.com/office/drawing/2014/main" id="{7F4163B4-E772-4606-7F0B-E736C6DADC1A}"/>
                      </a:ext>
                    </a:extLst>
                  </p:cNvPr>
                  <p:cNvSpPr/>
                  <p:nvPr/>
                </p:nvSpPr>
                <p:spPr>
                  <a:xfrm>
                    <a:off x="7437119" y="7353300"/>
                    <a:ext cx="1632095" cy="457200"/>
                  </a:xfrm>
                  <a:prstGeom prst="flowChartAlternateProcess">
                    <a:avLst/>
                  </a:prstGeom>
                  <a:solidFill>
                    <a:srgbClr val="EEECE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0"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     </a:t>
                    </a:r>
                    <a:r>
                      <a:rPr lang="en-US" sz="1300" dirty="0" err="1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Farmacias</a:t>
                    </a:r>
                    <a:endParaRPr lang="es-DO" sz="13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pic>
                <p:nvPicPr>
                  <p:cNvPr id="50" name="Imagen 49">
                    <a:extLst>
                      <a:ext uri="{FF2B5EF4-FFF2-40B4-BE49-F238E27FC236}">
                        <a16:creationId xmlns:a16="http://schemas.microsoft.com/office/drawing/2014/main" id="{E06B0594-EE73-03E0-3810-32BFA141D7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7562361" y="7395029"/>
                    <a:ext cx="391342" cy="383515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</p:pic>
            </p:grpSp>
            <p:sp>
              <p:nvSpPr>
                <p:cNvPr id="1126" name="Diagrama de flujo: proceso alternativo 1125">
                  <a:extLst>
                    <a:ext uri="{FF2B5EF4-FFF2-40B4-BE49-F238E27FC236}">
                      <a16:creationId xmlns:a16="http://schemas.microsoft.com/office/drawing/2014/main" id="{2C701EB5-0DEE-53F0-D0E1-007030DB9CBF}"/>
                    </a:ext>
                  </a:extLst>
                </p:cNvPr>
                <p:cNvSpPr/>
                <p:nvPr/>
              </p:nvSpPr>
              <p:spPr>
                <a:xfrm>
                  <a:off x="11107574" y="5524500"/>
                  <a:ext cx="2916290" cy="457200"/>
                </a:xfrm>
                <a:prstGeom prst="flowChartAlternateProcess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Mayor </a:t>
                  </a:r>
                  <a:r>
                    <a:rPr lang="en-US" sz="120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frecuencia</a:t>
                  </a:r>
                  <a:r>
                    <a:rPr lang="en-US" sz="12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relativa</a:t>
                  </a:r>
                </a:p>
              </p:txBody>
            </p:sp>
            <p:grpSp>
              <p:nvGrpSpPr>
                <p:cNvPr id="646" name="Grupo 645">
                  <a:extLst>
                    <a:ext uri="{FF2B5EF4-FFF2-40B4-BE49-F238E27FC236}">
                      <a16:creationId xmlns:a16="http://schemas.microsoft.com/office/drawing/2014/main" id="{ECAAFB20-C1CB-5C16-5CB0-28C2713207EB}"/>
                    </a:ext>
                  </a:extLst>
                </p:cNvPr>
                <p:cNvGrpSpPr/>
                <p:nvPr/>
              </p:nvGrpSpPr>
              <p:grpSpPr>
                <a:xfrm>
                  <a:off x="14127481" y="5524500"/>
                  <a:ext cx="1645919" cy="457200"/>
                  <a:chOff x="14127481" y="5524500"/>
                  <a:chExt cx="1645919" cy="457200"/>
                </a:xfrm>
              </p:grpSpPr>
              <p:sp>
                <p:nvSpPr>
                  <p:cNvPr id="191" name="Diagrama de flujo: proceso alternativo 190">
                    <a:extLst>
                      <a:ext uri="{FF2B5EF4-FFF2-40B4-BE49-F238E27FC236}">
                        <a16:creationId xmlns:a16="http://schemas.microsoft.com/office/drawing/2014/main" id="{774432E8-F5DF-1CB7-079C-48C2F6829CA9}"/>
                      </a:ext>
                    </a:extLst>
                  </p:cNvPr>
                  <p:cNvSpPr/>
                  <p:nvPr/>
                </p:nvSpPr>
                <p:spPr>
                  <a:xfrm>
                    <a:off x="14127481" y="5524500"/>
                    <a:ext cx="1645919" cy="457200"/>
                  </a:xfrm>
                  <a:prstGeom prst="flowChartAlternateProcess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Ins="0"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   </a:t>
                    </a:r>
                    <a:endParaRPr lang="es-DO" sz="13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pic>
                <p:nvPicPr>
                  <p:cNvPr id="645" name="Imagen 644">
                    <a:extLst>
                      <a:ext uri="{FF2B5EF4-FFF2-40B4-BE49-F238E27FC236}">
                        <a16:creationId xmlns:a16="http://schemas.microsoft.com/office/drawing/2014/main" id="{4D974D32-F58D-E5F5-5303-44F35750CB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4249400" y="5636128"/>
                    <a:ext cx="269372" cy="269372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145" name="Diagrama de flujo: proceso alternativo 1144">
                <a:extLst>
                  <a:ext uri="{FF2B5EF4-FFF2-40B4-BE49-F238E27FC236}">
                    <a16:creationId xmlns:a16="http://schemas.microsoft.com/office/drawing/2014/main" id="{36C20632-4463-FFE6-6578-9861F9BE0655}"/>
                  </a:ext>
                </a:extLst>
              </p:cNvPr>
              <p:cNvSpPr/>
              <p:nvPr/>
            </p:nvSpPr>
            <p:spPr>
              <a:xfrm>
                <a:off x="15854698" y="2705100"/>
                <a:ext cx="2128502" cy="457200"/>
              </a:xfrm>
              <a:prstGeom prst="flowChartAlternateProcess">
                <a:avLst/>
              </a:prstGeom>
              <a:solidFill>
                <a:srgbClr val="EEECE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3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Estrategia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147" name="Diagrama de flujo: proceso alternativo 1146">
                <a:extLst>
                  <a:ext uri="{FF2B5EF4-FFF2-40B4-BE49-F238E27FC236}">
                    <a16:creationId xmlns:a16="http://schemas.microsoft.com/office/drawing/2014/main" id="{079334E1-2517-E878-9A1F-0C696155564F}"/>
                  </a:ext>
                </a:extLst>
              </p:cNvPr>
              <p:cNvSpPr/>
              <p:nvPr/>
            </p:nvSpPr>
            <p:spPr>
              <a:xfrm>
                <a:off x="15854698" y="4950670"/>
                <a:ext cx="2137117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Crecimiento</a:t>
                </a:r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y </a:t>
                </a:r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monetización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148" name="Diagrama de flujo: proceso alternativo 1147">
                <a:extLst>
                  <a:ext uri="{FF2B5EF4-FFF2-40B4-BE49-F238E27FC236}">
                    <a16:creationId xmlns:a16="http://schemas.microsoft.com/office/drawing/2014/main" id="{4B0E2F4C-1166-451A-B66E-D6E0797FEF6A}"/>
                  </a:ext>
                </a:extLst>
              </p:cNvPr>
              <p:cNvSpPr/>
              <p:nvPr/>
            </p:nvSpPr>
            <p:spPr>
              <a:xfrm>
                <a:off x="15846082" y="5524500"/>
                <a:ext cx="2137117" cy="4572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Recurrencia</a:t>
                </a:r>
                <a:endParaRPr lang="es-DO" sz="11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</p:grpSp>
      <p:grpSp>
        <p:nvGrpSpPr>
          <p:cNvPr id="1383" name="Grupo 1382">
            <a:extLst>
              <a:ext uri="{FF2B5EF4-FFF2-40B4-BE49-F238E27FC236}">
                <a16:creationId xmlns:a16="http://schemas.microsoft.com/office/drawing/2014/main" id="{15AAE35D-0960-C94A-141C-DB370ED0FF2F}"/>
              </a:ext>
            </a:extLst>
          </p:cNvPr>
          <p:cNvGrpSpPr/>
          <p:nvPr/>
        </p:nvGrpSpPr>
        <p:grpSpPr>
          <a:xfrm>
            <a:off x="152400" y="1333501"/>
            <a:ext cx="9032250" cy="8457006"/>
            <a:chOff x="152400" y="1333501"/>
            <a:chExt cx="9032250" cy="8457006"/>
          </a:xfrm>
        </p:grpSpPr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878EDDC-6377-360B-88D0-621AC29B0E44}"/>
                </a:ext>
              </a:extLst>
            </p:cNvPr>
            <p:cNvSpPr/>
            <p:nvPr/>
          </p:nvSpPr>
          <p:spPr>
            <a:xfrm>
              <a:off x="152400" y="1333501"/>
              <a:ext cx="8985639" cy="8457006"/>
            </a:xfrm>
            <a:prstGeom prst="rect">
              <a:avLst/>
            </a:prstGeom>
            <a:solidFill>
              <a:srgbClr val="FBF9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>
                <a:latin typeface="Aptos" panose="020B0004020202020204" pitchFamily="34" charset="0"/>
              </a:endParaRPr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11411755-EDDC-A4D1-2CA3-3ED56F2815DF}"/>
                </a:ext>
              </a:extLst>
            </p:cNvPr>
            <p:cNvSpPr/>
            <p:nvPr/>
          </p:nvSpPr>
          <p:spPr>
            <a:xfrm>
              <a:off x="169726" y="1333501"/>
              <a:ext cx="8985638" cy="457977"/>
            </a:xfrm>
            <a:custGeom>
              <a:avLst/>
              <a:gdLst/>
              <a:ahLst/>
              <a:cxnLst/>
              <a:rect l="l" t="t" r="r" b="b"/>
              <a:pathLst>
                <a:path w="4741590" h="780608">
                  <a:moveTo>
                    <a:pt x="0" y="0"/>
                  </a:moveTo>
                  <a:lnTo>
                    <a:pt x="4741590" y="0"/>
                  </a:lnTo>
                  <a:lnTo>
                    <a:pt x="4741590" y="780608"/>
                  </a:lnTo>
                  <a:lnTo>
                    <a:pt x="0" y="780608"/>
                  </a:lnTo>
                  <a:close/>
                </a:path>
              </a:pathLst>
            </a:custGeom>
            <a:solidFill>
              <a:srgbClr val="1C3F60"/>
            </a:solidFill>
          </p:spPr>
          <p:txBody>
            <a:bodyPr anchor="ctr"/>
            <a:lstStyle/>
            <a:p>
              <a:pPr algn="ctr"/>
              <a:r>
                <a:rPr lang="es-DO" sz="16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Perfil transaccional por segmento</a:t>
              </a:r>
            </a:p>
          </p:txBody>
        </p:sp>
        <p:grpSp>
          <p:nvGrpSpPr>
            <p:cNvPr id="1088" name="Grupo 1087">
              <a:extLst>
                <a:ext uri="{FF2B5EF4-FFF2-40B4-BE49-F238E27FC236}">
                  <a16:creationId xmlns:a16="http://schemas.microsoft.com/office/drawing/2014/main" id="{62CDF278-A804-186B-6D62-3E8ACF8814BC}"/>
                </a:ext>
              </a:extLst>
            </p:cNvPr>
            <p:cNvGrpSpPr/>
            <p:nvPr/>
          </p:nvGrpSpPr>
          <p:grpSpPr>
            <a:xfrm>
              <a:off x="229957" y="4457700"/>
              <a:ext cx="8738053" cy="1280815"/>
              <a:chOff x="255906" y="2087033"/>
              <a:chExt cx="8738053" cy="1280815"/>
            </a:xfrm>
          </p:grpSpPr>
          <p:grpSp>
            <p:nvGrpSpPr>
              <p:cNvPr id="1089" name="Grupo 1088">
                <a:extLst>
                  <a:ext uri="{FF2B5EF4-FFF2-40B4-BE49-F238E27FC236}">
                    <a16:creationId xmlns:a16="http://schemas.microsoft.com/office/drawing/2014/main" id="{1BD46D68-C741-54FE-1CFF-CF5142D5370C}"/>
                  </a:ext>
                </a:extLst>
              </p:cNvPr>
              <p:cNvGrpSpPr/>
              <p:nvPr/>
            </p:nvGrpSpPr>
            <p:grpSpPr>
              <a:xfrm>
                <a:off x="255906" y="2087033"/>
                <a:ext cx="3799134" cy="521732"/>
                <a:chOff x="10972800" y="6621942"/>
                <a:chExt cx="3799134" cy="521732"/>
              </a:xfrm>
            </p:grpSpPr>
            <p:pic>
              <p:nvPicPr>
                <p:cNvPr id="1091" name="Gráfico 1090" descr="Lightbulb and gear contorno">
                  <a:extLst>
                    <a:ext uri="{FF2B5EF4-FFF2-40B4-BE49-F238E27FC236}">
                      <a16:creationId xmlns:a16="http://schemas.microsoft.com/office/drawing/2014/main" id="{A57925E2-8347-3D87-E817-6104043F9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72800" y="6621942"/>
                  <a:ext cx="521732" cy="521732"/>
                </a:xfrm>
                <a:prstGeom prst="rect">
                  <a:avLst/>
                </a:prstGeom>
              </p:spPr>
            </p:pic>
            <p:sp>
              <p:nvSpPr>
                <p:cNvPr id="1092" name="CuadroTexto 1091">
                  <a:extLst>
                    <a:ext uri="{FF2B5EF4-FFF2-40B4-BE49-F238E27FC236}">
                      <a16:creationId xmlns:a16="http://schemas.microsoft.com/office/drawing/2014/main" id="{D95D1F1E-FC05-143B-B1F4-73A02E28FA5C}"/>
                    </a:ext>
                  </a:extLst>
                </p:cNvPr>
                <p:cNvSpPr txBox="1"/>
                <p:nvPr/>
              </p:nvSpPr>
              <p:spPr>
                <a:xfrm>
                  <a:off x="11495334" y="6698142"/>
                  <a:ext cx="3276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¿Qué significa?</a:t>
                  </a:r>
                </a:p>
              </p:txBody>
            </p:sp>
          </p:grpSp>
          <p:sp>
            <p:nvSpPr>
              <p:cNvPr id="1090" name="Rectángulo 1089">
                <a:extLst>
                  <a:ext uri="{FF2B5EF4-FFF2-40B4-BE49-F238E27FC236}">
                    <a16:creationId xmlns:a16="http://schemas.microsoft.com/office/drawing/2014/main" id="{A410182D-688D-EB52-8146-F4F6EEA43519}"/>
                  </a:ext>
                </a:extLst>
              </p:cNvPr>
              <p:cNvSpPr/>
              <p:nvPr/>
            </p:nvSpPr>
            <p:spPr>
              <a:xfrm>
                <a:off x="689516" y="2608766"/>
                <a:ext cx="8304443" cy="759082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El comportamiento de compra es homogéneo en frecuencia; el valor del negocio se concentra en escala (</a:t>
                </a:r>
                <a:r>
                  <a: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</a:t>
                </a:r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) y calidad de cliente (Premium/Empresarial).</a:t>
                </a:r>
                <a:endParaRPr lang="en-US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172" name="Freeform 16">
              <a:extLst>
                <a:ext uri="{FF2B5EF4-FFF2-40B4-BE49-F238E27FC236}">
                  <a16:creationId xmlns:a16="http://schemas.microsoft.com/office/drawing/2014/main" id="{182E5792-A4BC-DCCC-3980-A1FF56332CC2}"/>
                </a:ext>
              </a:extLst>
            </p:cNvPr>
            <p:cNvSpPr/>
            <p:nvPr/>
          </p:nvSpPr>
          <p:spPr>
            <a:xfrm>
              <a:off x="199012" y="5904723"/>
              <a:ext cx="8985638" cy="457977"/>
            </a:xfrm>
            <a:custGeom>
              <a:avLst/>
              <a:gdLst/>
              <a:ahLst/>
              <a:cxnLst/>
              <a:rect l="l" t="t" r="r" b="b"/>
              <a:pathLst>
                <a:path w="4741590" h="780608">
                  <a:moveTo>
                    <a:pt x="0" y="0"/>
                  </a:moveTo>
                  <a:lnTo>
                    <a:pt x="4741590" y="0"/>
                  </a:lnTo>
                  <a:lnTo>
                    <a:pt x="4741590" y="780608"/>
                  </a:lnTo>
                  <a:lnTo>
                    <a:pt x="0" y="780608"/>
                  </a:lnTo>
                  <a:close/>
                </a:path>
              </a:pathLst>
            </a:custGeom>
            <a:solidFill>
              <a:srgbClr val="1C3F60"/>
            </a:solidFill>
          </p:spPr>
          <p:txBody>
            <a:bodyPr anchor="ctr"/>
            <a:lstStyle/>
            <a:p>
              <a:pPr algn="ctr"/>
              <a:r>
                <a:rPr lang="es-DO" sz="16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Masivo: principal motor del negocio</a:t>
              </a:r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34C88347-DE55-42F9-FF1B-1E7160A40267}"/>
                </a:ext>
              </a:extLst>
            </p:cNvPr>
            <p:cNvGrpSpPr/>
            <p:nvPr/>
          </p:nvGrpSpPr>
          <p:grpSpPr>
            <a:xfrm>
              <a:off x="398326" y="8343900"/>
              <a:ext cx="8738053" cy="1280815"/>
              <a:chOff x="255906" y="2087033"/>
              <a:chExt cx="8738053" cy="1280815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E1AC2275-E766-2F19-2FAC-37CA2E84E25D}"/>
                  </a:ext>
                </a:extLst>
              </p:cNvPr>
              <p:cNvGrpSpPr/>
              <p:nvPr/>
            </p:nvGrpSpPr>
            <p:grpSpPr>
              <a:xfrm>
                <a:off x="255906" y="2087033"/>
                <a:ext cx="3799134" cy="521732"/>
                <a:chOff x="10972800" y="6621942"/>
                <a:chExt cx="3799134" cy="521732"/>
              </a:xfrm>
            </p:grpSpPr>
            <p:pic>
              <p:nvPicPr>
                <p:cNvPr id="13" name="Gráfico 12" descr="Lightbulb and gear contorno">
                  <a:extLst>
                    <a:ext uri="{FF2B5EF4-FFF2-40B4-BE49-F238E27FC236}">
                      <a16:creationId xmlns:a16="http://schemas.microsoft.com/office/drawing/2014/main" id="{2806A362-C124-FE03-DF71-C3D682158D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72800" y="6621942"/>
                  <a:ext cx="521732" cy="521732"/>
                </a:xfrm>
                <a:prstGeom prst="rect">
                  <a:avLst/>
                </a:prstGeom>
              </p:spPr>
            </p:pic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95E6791F-7BB6-F578-350C-FF464952999D}"/>
                    </a:ext>
                  </a:extLst>
                </p:cNvPr>
                <p:cNvSpPr txBox="1"/>
                <p:nvPr/>
              </p:nvSpPr>
              <p:spPr>
                <a:xfrm>
                  <a:off x="11495334" y="6698142"/>
                  <a:ext cx="32766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¿Qué significa?</a:t>
                  </a:r>
                </a:p>
              </p:txBody>
            </p:sp>
          </p:grpSp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658190E6-578A-A9AE-628E-13431336D7B3}"/>
                  </a:ext>
                </a:extLst>
              </p:cNvPr>
              <p:cNvSpPr/>
              <p:nvPr/>
            </p:nvSpPr>
            <p:spPr>
              <a:xfrm>
                <a:off x="689516" y="2608766"/>
                <a:ext cx="8304443" cy="759082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El segmento </a:t>
                </a:r>
                <a:r>
                  <a: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</a:t>
                </a:r>
                <a:r>
                  <a:rPr lang="es-DO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explica el volumen del negocio, no una mayor intensidad de uso; es el principal segmento del negocio y cualquier cambio allí impacta significativamente el resultado global.</a:t>
                </a:r>
                <a:endParaRPr lang="en-US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EA501CE0-E88D-3A96-F91F-647164872420}"/>
                </a:ext>
              </a:extLst>
            </p:cNvPr>
            <p:cNvGrpSpPr/>
            <p:nvPr/>
          </p:nvGrpSpPr>
          <p:grpSpPr>
            <a:xfrm>
              <a:off x="1547098" y="6438900"/>
              <a:ext cx="6676238" cy="2133600"/>
              <a:chOff x="1477162" y="6667500"/>
              <a:chExt cx="6676238" cy="2133600"/>
            </a:xfrm>
          </p:grpSpPr>
          <p:grpSp>
            <p:nvGrpSpPr>
              <p:cNvPr id="1364" name="Grupo 1363">
                <a:extLst>
                  <a:ext uri="{FF2B5EF4-FFF2-40B4-BE49-F238E27FC236}">
                    <a16:creationId xmlns:a16="http://schemas.microsoft.com/office/drawing/2014/main" id="{C036F25A-1A63-5B11-55EF-0A13E6A01840}"/>
                  </a:ext>
                </a:extLst>
              </p:cNvPr>
              <p:cNvGrpSpPr/>
              <p:nvPr/>
            </p:nvGrpSpPr>
            <p:grpSpPr>
              <a:xfrm>
                <a:off x="4572000" y="6667500"/>
                <a:ext cx="3581400" cy="2104711"/>
                <a:chOff x="5054786" y="6772589"/>
                <a:chExt cx="3860614" cy="2104711"/>
              </a:xfrm>
            </p:grpSpPr>
            <p:grpSp>
              <p:nvGrpSpPr>
                <p:cNvPr id="1351" name="Grupo 1350">
                  <a:extLst>
                    <a:ext uri="{FF2B5EF4-FFF2-40B4-BE49-F238E27FC236}">
                      <a16:creationId xmlns:a16="http://schemas.microsoft.com/office/drawing/2014/main" id="{45F0B29C-0F87-F238-4F81-B8706F1F1FD3}"/>
                    </a:ext>
                  </a:extLst>
                </p:cNvPr>
                <p:cNvGrpSpPr/>
                <p:nvPr/>
              </p:nvGrpSpPr>
              <p:grpSpPr>
                <a:xfrm>
                  <a:off x="5054786" y="6772589"/>
                  <a:ext cx="2641414" cy="646331"/>
                  <a:chOff x="-967264" y="6772589"/>
                  <a:chExt cx="2641414" cy="646331"/>
                </a:xfrm>
              </p:grpSpPr>
              <p:pic>
                <p:nvPicPr>
                  <p:cNvPr id="1347" name="Imagen 1346">
                    <a:extLst>
                      <a:ext uri="{FF2B5EF4-FFF2-40B4-BE49-F238E27FC236}">
                        <a16:creationId xmlns:a16="http://schemas.microsoft.com/office/drawing/2014/main" id="{0909715B-DBD1-D1F1-90B5-FF98042228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-967264" y="6900763"/>
                    <a:ext cx="452537" cy="452537"/>
                  </a:xfrm>
                  <a:prstGeom prst="rect">
                    <a:avLst/>
                  </a:prstGeom>
                </p:spPr>
              </p:pic>
              <p:sp>
                <p:nvSpPr>
                  <p:cNvPr id="1348" name="CuadroTexto 1347">
                    <a:extLst>
                      <a:ext uri="{FF2B5EF4-FFF2-40B4-BE49-F238E27FC236}">
                        <a16:creationId xmlns:a16="http://schemas.microsoft.com/office/drawing/2014/main" id="{B0109392-D06C-38A2-311C-24744F9A27B9}"/>
                      </a:ext>
                    </a:extLst>
                  </p:cNvPr>
                  <p:cNvSpPr txBox="1"/>
                  <p:nvPr/>
                </p:nvSpPr>
                <p:spPr>
                  <a:xfrm>
                    <a:off x="-510064" y="6772589"/>
                    <a:ext cx="218421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DO" sz="1200" b="1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45% de transacciones </a:t>
                    </a:r>
                    <a:r>
                      <a:rPr lang="es-DO" sz="12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totales</a:t>
                    </a:r>
                    <a:r>
                      <a:rPr lang="es-DO" sz="1200" b="1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</a:t>
                    </a:r>
                    <a:r>
                      <a:rPr lang="es-DO" sz="12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(8,924) del periodo provienen de este segmento.</a:t>
                    </a:r>
                  </a:p>
                </p:txBody>
              </p:sp>
            </p:grpSp>
            <p:grpSp>
              <p:nvGrpSpPr>
                <p:cNvPr id="1352" name="Grupo 1351">
                  <a:extLst>
                    <a:ext uri="{FF2B5EF4-FFF2-40B4-BE49-F238E27FC236}">
                      <a16:creationId xmlns:a16="http://schemas.microsoft.com/office/drawing/2014/main" id="{88296533-36E7-7644-57C4-05B18FFCCCB5}"/>
                    </a:ext>
                  </a:extLst>
                </p:cNvPr>
                <p:cNvGrpSpPr/>
                <p:nvPr/>
              </p:nvGrpSpPr>
              <p:grpSpPr>
                <a:xfrm>
                  <a:off x="5627283" y="7650258"/>
                  <a:ext cx="2678517" cy="493931"/>
                  <a:chOff x="-420353" y="6900763"/>
                  <a:chExt cx="2678517" cy="493931"/>
                </a:xfrm>
              </p:grpSpPr>
              <p:pic>
                <p:nvPicPr>
                  <p:cNvPr id="1353" name="Imagen 1352">
                    <a:extLst>
                      <a:ext uri="{FF2B5EF4-FFF2-40B4-BE49-F238E27FC236}">
                        <a16:creationId xmlns:a16="http://schemas.microsoft.com/office/drawing/2014/main" id="{7884D441-D0EA-7C2F-7B56-D7A67350EB2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-420353" y="6900763"/>
                    <a:ext cx="452537" cy="452537"/>
                  </a:xfrm>
                  <a:prstGeom prst="rect">
                    <a:avLst/>
                  </a:prstGeom>
                </p:spPr>
              </p:pic>
              <p:sp>
                <p:nvSpPr>
                  <p:cNvPr id="1354" name="CuadroTexto 1353">
                    <a:extLst>
                      <a:ext uri="{FF2B5EF4-FFF2-40B4-BE49-F238E27FC236}">
                        <a16:creationId xmlns:a16="http://schemas.microsoft.com/office/drawing/2014/main" id="{B1733424-5554-ABFC-D58F-060FA9B713E7}"/>
                      </a:ext>
                    </a:extLst>
                  </p:cNvPr>
                  <p:cNvSpPr txBox="1"/>
                  <p:nvPr/>
                </p:nvSpPr>
                <p:spPr>
                  <a:xfrm>
                    <a:off x="73950" y="6933029"/>
                    <a:ext cx="218421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DO" sz="1200" b="1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45% de los clientes activos </a:t>
                    </a:r>
                    <a:r>
                      <a:rPr lang="es-DO" sz="12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pertenecen a este segmento.</a:t>
                    </a:r>
                  </a:p>
                </p:txBody>
              </p:sp>
            </p:grpSp>
            <p:grpSp>
              <p:nvGrpSpPr>
                <p:cNvPr id="1355" name="Grupo 1354">
                  <a:extLst>
                    <a:ext uri="{FF2B5EF4-FFF2-40B4-BE49-F238E27FC236}">
                      <a16:creationId xmlns:a16="http://schemas.microsoft.com/office/drawing/2014/main" id="{C044FCC8-A15E-0F08-217A-4FE87ED0B3D0}"/>
                    </a:ext>
                  </a:extLst>
                </p:cNvPr>
                <p:cNvGrpSpPr/>
                <p:nvPr/>
              </p:nvGrpSpPr>
              <p:grpSpPr>
                <a:xfrm>
                  <a:off x="6273986" y="8230969"/>
                  <a:ext cx="2641414" cy="646331"/>
                  <a:chOff x="226350" y="6772589"/>
                  <a:chExt cx="2641414" cy="646331"/>
                </a:xfrm>
              </p:grpSpPr>
              <p:pic>
                <p:nvPicPr>
                  <p:cNvPr id="1356" name="Imagen 1355">
                    <a:extLst>
                      <a:ext uri="{FF2B5EF4-FFF2-40B4-BE49-F238E27FC236}">
                        <a16:creationId xmlns:a16="http://schemas.microsoft.com/office/drawing/2014/main" id="{293E5619-C328-A5CE-5D49-8B9D57274B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226350" y="6900763"/>
                    <a:ext cx="452537" cy="452537"/>
                  </a:xfrm>
                  <a:prstGeom prst="rect">
                    <a:avLst/>
                  </a:prstGeom>
                </p:spPr>
              </p:pic>
              <p:sp>
                <p:nvSpPr>
                  <p:cNvPr id="1357" name="CuadroTexto 1356">
                    <a:extLst>
                      <a:ext uri="{FF2B5EF4-FFF2-40B4-BE49-F238E27FC236}">
                        <a16:creationId xmlns:a16="http://schemas.microsoft.com/office/drawing/2014/main" id="{854B300E-064B-B30F-1B6C-FC70BD49088F}"/>
                      </a:ext>
                    </a:extLst>
                  </p:cNvPr>
                  <p:cNvSpPr txBox="1"/>
                  <p:nvPr/>
                </p:nvSpPr>
                <p:spPr>
                  <a:xfrm>
                    <a:off x="683550" y="6772589"/>
                    <a:ext cx="2184214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DO" sz="1200" b="1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frecuencia promedio </a:t>
                    </a:r>
                    <a:r>
                      <a:rPr lang="es-DO" sz="12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del segmento es similar al resto ≈3 transacciones por cliente</a:t>
                    </a:r>
                  </a:p>
                </p:txBody>
              </p:sp>
            </p:grpSp>
          </p:grpSp>
          <p:grpSp>
            <p:nvGrpSpPr>
              <p:cNvPr id="1366" name="Grupo 1365">
                <a:extLst>
                  <a:ext uri="{FF2B5EF4-FFF2-40B4-BE49-F238E27FC236}">
                    <a16:creationId xmlns:a16="http://schemas.microsoft.com/office/drawing/2014/main" id="{EC9D0AD9-A4A1-B459-00A6-38DA49F21DD8}"/>
                  </a:ext>
                </a:extLst>
              </p:cNvPr>
              <p:cNvGrpSpPr/>
              <p:nvPr/>
            </p:nvGrpSpPr>
            <p:grpSpPr>
              <a:xfrm>
                <a:off x="1477162" y="6774987"/>
                <a:ext cx="2637638" cy="2026113"/>
                <a:chOff x="2971800" y="6774987"/>
                <a:chExt cx="2637638" cy="2026113"/>
              </a:xfrm>
            </p:grpSpPr>
            <p:grpSp>
              <p:nvGrpSpPr>
                <p:cNvPr id="1346" name="Grupo 1345">
                  <a:extLst>
                    <a:ext uri="{FF2B5EF4-FFF2-40B4-BE49-F238E27FC236}">
                      <a16:creationId xmlns:a16="http://schemas.microsoft.com/office/drawing/2014/main" id="{C471BBFD-034A-A3C1-78DA-E2E7ABD10A89}"/>
                    </a:ext>
                  </a:extLst>
                </p:cNvPr>
                <p:cNvGrpSpPr/>
                <p:nvPr/>
              </p:nvGrpSpPr>
              <p:grpSpPr>
                <a:xfrm>
                  <a:off x="2971800" y="6774987"/>
                  <a:ext cx="2637638" cy="2026113"/>
                  <a:chOff x="3097180" y="6666962"/>
                  <a:chExt cx="2637638" cy="2026113"/>
                </a:xfrm>
              </p:grpSpPr>
              <p:grpSp>
                <p:nvGrpSpPr>
                  <p:cNvPr id="52" name="Grupo 51">
                    <a:extLst>
                      <a:ext uri="{FF2B5EF4-FFF2-40B4-BE49-F238E27FC236}">
                        <a16:creationId xmlns:a16="http://schemas.microsoft.com/office/drawing/2014/main" id="{09283564-4D0C-D683-1C93-570F9D4D0D50}"/>
                      </a:ext>
                    </a:extLst>
                  </p:cNvPr>
                  <p:cNvGrpSpPr/>
                  <p:nvPr/>
                </p:nvGrpSpPr>
                <p:grpSpPr>
                  <a:xfrm>
                    <a:off x="3468315" y="7303536"/>
                    <a:ext cx="727111" cy="766266"/>
                    <a:chOff x="3468315" y="7303536"/>
                    <a:chExt cx="727111" cy="766266"/>
                  </a:xfrm>
                </p:grpSpPr>
                <p:sp>
                  <p:nvSpPr>
                    <p:cNvPr id="21" name="Hexágono 20">
                      <a:extLst>
                        <a:ext uri="{FF2B5EF4-FFF2-40B4-BE49-F238E27FC236}">
                          <a16:creationId xmlns:a16="http://schemas.microsoft.com/office/drawing/2014/main" id="{E62D1B56-F624-C9AE-BC33-AC74D9DCD04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448738" y="7323113"/>
                      <a:ext cx="766266" cy="727111"/>
                    </a:xfrm>
                    <a:prstGeom prst="hexagon">
                      <a:avLst/>
                    </a:prstGeom>
                    <a:solidFill>
                      <a:schemeClr val="bg2"/>
                    </a:solidFill>
                    <a:ln>
                      <a:solidFill>
                        <a:srgbClr val="F9FAFD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DO"/>
                    </a:p>
                  </p:txBody>
                </p:sp>
                <p:pic>
                  <p:nvPicPr>
                    <p:cNvPr id="27" name="Imagen 26">
                      <a:extLst>
                        <a:ext uri="{FF2B5EF4-FFF2-40B4-BE49-F238E27FC236}">
                          <a16:creationId xmlns:a16="http://schemas.microsoft.com/office/drawing/2014/main" id="{817B4E40-B5DB-2008-464A-852B0BBD381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3584547" y="7432749"/>
                      <a:ext cx="449405" cy="449405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4" name="Grupo 53">
                    <a:extLst>
                      <a:ext uri="{FF2B5EF4-FFF2-40B4-BE49-F238E27FC236}">
                        <a16:creationId xmlns:a16="http://schemas.microsoft.com/office/drawing/2014/main" id="{92C1FE78-2A41-1D00-9D05-3146DFD3D6E7}"/>
                      </a:ext>
                    </a:extLst>
                  </p:cNvPr>
                  <p:cNvGrpSpPr/>
                  <p:nvPr/>
                </p:nvGrpSpPr>
                <p:grpSpPr>
                  <a:xfrm>
                    <a:off x="4614588" y="7926809"/>
                    <a:ext cx="727111" cy="766266"/>
                    <a:chOff x="4614588" y="7926809"/>
                    <a:chExt cx="727111" cy="766266"/>
                  </a:xfrm>
                </p:grpSpPr>
                <p:sp>
                  <p:nvSpPr>
                    <p:cNvPr id="24" name="Hexágono 23">
                      <a:extLst>
                        <a:ext uri="{FF2B5EF4-FFF2-40B4-BE49-F238E27FC236}">
                          <a16:creationId xmlns:a16="http://schemas.microsoft.com/office/drawing/2014/main" id="{1E3ADD98-9D28-E095-183A-658B56B3FA2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595011" y="7946386"/>
                      <a:ext cx="766266" cy="727111"/>
                    </a:xfrm>
                    <a:prstGeom prst="hexagon">
                      <a:avLst/>
                    </a:prstGeom>
                    <a:solidFill>
                      <a:schemeClr val="bg2"/>
                    </a:solidFill>
                    <a:ln>
                      <a:solidFill>
                        <a:srgbClr val="F9FAFD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DO"/>
                    </a:p>
                  </p:txBody>
                </p:sp>
                <p:pic>
                  <p:nvPicPr>
                    <p:cNvPr id="29" name="Imagen 28">
                      <a:extLst>
                        <a:ext uri="{FF2B5EF4-FFF2-40B4-BE49-F238E27FC236}">
                          <a16:creationId xmlns:a16="http://schemas.microsoft.com/office/drawing/2014/main" id="{BACC32FA-DA7D-E4B0-28BD-D92A6930C84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8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4753567" y="8100343"/>
                      <a:ext cx="446480" cy="44648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3" name="Grupo 52">
                    <a:extLst>
                      <a:ext uri="{FF2B5EF4-FFF2-40B4-BE49-F238E27FC236}">
                        <a16:creationId xmlns:a16="http://schemas.microsoft.com/office/drawing/2014/main" id="{D49932F2-10C6-FE73-3785-E04B1DE34097}"/>
                      </a:ext>
                    </a:extLst>
                  </p:cNvPr>
                  <p:cNvGrpSpPr/>
                  <p:nvPr/>
                </p:nvGrpSpPr>
                <p:grpSpPr>
                  <a:xfrm>
                    <a:off x="4234222" y="7300973"/>
                    <a:ext cx="727111" cy="766266"/>
                    <a:chOff x="4234222" y="7300973"/>
                    <a:chExt cx="727111" cy="766266"/>
                  </a:xfrm>
                </p:grpSpPr>
                <p:sp>
                  <p:nvSpPr>
                    <p:cNvPr id="22" name="Hexágono 21">
                      <a:extLst>
                        <a:ext uri="{FF2B5EF4-FFF2-40B4-BE49-F238E27FC236}">
                          <a16:creationId xmlns:a16="http://schemas.microsoft.com/office/drawing/2014/main" id="{02AD2A8D-E8AF-F33F-535B-59474E0C9CB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214645" y="7320550"/>
                      <a:ext cx="766266" cy="727111"/>
                    </a:xfrm>
                    <a:prstGeom prst="hexagon">
                      <a:avLst/>
                    </a:prstGeom>
                    <a:solidFill>
                      <a:schemeClr val="bg2"/>
                    </a:solidFill>
                    <a:ln>
                      <a:solidFill>
                        <a:srgbClr val="F9FAFD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DO"/>
                    </a:p>
                  </p:txBody>
                </p:sp>
                <p:pic>
                  <p:nvPicPr>
                    <p:cNvPr id="39" name="Imagen 38">
                      <a:extLst>
                        <a:ext uri="{FF2B5EF4-FFF2-40B4-BE49-F238E27FC236}">
                          <a16:creationId xmlns:a16="http://schemas.microsoft.com/office/drawing/2014/main" id="{A0C59D7B-6AE3-CD2E-C9E6-79D4E8F8303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4361245" y="7465471"/>
                      <a:ext cx="480596" cy="48059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6" name="Grupo 55">
                    <a:extLst>
                      <a:ext uri="{FF2B5EF4-FFF2-40B4-BE49-F238E27FC236}">
                        <a16:creationId xmlns:a16="http://schemas.microsoft.com/office/drawing/2014/main" id="{04DC88F5-C80A-8BA4-E333-098B61FC964B}"/>
                      </a:ext>
                    </a:extLst>
                  </p:cNvPr>
                  <p:cNvGrpSpPr/>
                  <p:nvPr/>
                </p:nvGrpSpPr>
                <p:grpSpPr>
                  <a:xfrm>
                    <a:off x="5007707" y="7300973"/>
                    <a:ext cx="727111" cy="766266"/>
                    <a:chOff x="5007707" y="7300973"/>
                    <a:chExt cx="727111" cy="766266"/>
                  </a:xfrm>
                </p:grpSpPr>
                <p:sp>
                  <p:nvSpPr>
                    <p:cNvPr id="23" name="Hexágono 22">
                      <a:extLst>
                        <a:ext uri="{FF2B5EF4-FFF2-40B4-BE49-F238E27FC236}">
                          <a16:creationId xmlns:a16="http://schemas.microsoft.com/office/drawing/2014/main" id="{A99D2365-D8D8-FBCA-D20A-C40DC196DD4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4988130" y="7320550"/>
                      <a:ext cx="766266" cy="727111"/>
                    </a:xfrm>
                    <a:prstGeom prst="hexagon">
                      <a:avLst/>
                    </a:prstGeom>
                    <a:solidFill>
                      <a:schemeClr val="bg2"/>
                    </a:solidFill>
                    <a:ln>
                      <a:solidFill>
                        <a:srgbClr val="F9FAFD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DO"/>
                    </a:p>
                  </p:txBody>
                </p:sp>
                <p:pic>
                  <p:nvPicPr>
                    <p:cNvPr id="43" name="Imagen 42">
                      <a:extLst>
                        <a:ext uri="{FF2B5EF4-FFF2-40B4-BE49-F238E27FC236}">
                          <a16:creationId xmlns:a16="http://schemas.microsoft.com/office/drawing/2014/main" id="{890661EB-1C68-8C63-5489-F6220070BDD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5103826" y="7446663"/>
                      <a:ext cx="507749" cy="507749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1" name="Grupo 50">
                    <a:extLst>
                      <a:ext uri="{FF2B5EF4-FFF2-40B4-BE49-F238E27FC236}">
                        <a16:creationId xmlns:a16="http://schemas.microsoft.com/office/drawing/2014/main" id="{B655E056-3E94-CCC8-D659-337BC335B51A}"/>
                      </a:ext>
                    </a:extLst>
                  </p:cNvPr>
                  <p:cNvGrpSpPr/>
                  <p:nvPr/>
                </p:nvGrpSpPr>
                <p:grpSpPr>
                  <a:xfrm>
                    <a:off x="3097180" y="6666962"/>
                    <a:ext cx="727111" cy="766266"/>
                    <a:chOff x="3097180" y="6666962"/>
                    <a:chExt cx="727111" cy="766266"/>
                  </a:xfrm>
                </p:grpSpPr>
                <p:sp>
                  <p:nvSpPr>
                    <p:cNvPr id="15" name="Hexágono 14">
                      <a:extLst>
                        <a:ext uri="{FF2B5EF4-FFF2-40B4-BE49-F238E27FC236}">
                          <a16:creationId xmlns:a16="http://schemas.microsoft.com/office/drawing/2014/main" id="{7A2F4B37-15C5-C5B3-40F1-A7EADA044F5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077603" y="6686539"/>
                      <a:ext cx="766266" cy="727111"/>
                    </a:xfrm>
                    <a:prstGeom prst="hexagon">
                      <a:avLst/>
                    </a:prstGeom>
                    <a:solidFill>
                      <a:schemeClr val="bg2"/>
                    </a:solidFill>
                    <a:ln>
                      <a:solidFill>
                        <a:srgbClr val="F9FAFD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DO"/>
                    </a:p>
                  </p:txBody>
                </p:sp>
                <p:pic>
                  <p:nvPicPr>
                    <p:cNvPr id="48" name="Imagen 47">
                      <a:extLst>
                        <a:ext uri="{FF2B5EF4-FFF2-40B4-BE49-F238E27FC236}">
                          <a16:creationId xmlns:a16="http://schemas.microsoft.com/office/drawing/2014/main" id="{F2BFF799-EB18-F506-68A8-D95B061983F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1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3243135" y="6864968"/>
                      <a:ext cx="402074" cy="402074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1365" name="CuadroTexto 1364">
                  <a:extLst>
                    <a:ext uri="{FF2B5EF4-FFF2-40B4-BE49-F238E27FC236}">
                      <a16:creationId xmlns:a16="http://schemas.microsoft.com/office/drawing/2014/main" id="{F0344717-CB2E-8FAE-E701-78118B7F0A8E}"/>
                    </a:ext>
                  </a:extLst>
                </p:cNvPr>
                <p:cNvSpPr txBox="1"/>
                <p:nvPr/>
              </p:nvSpPr>
              <p:spPr>
                <a:xfrm>
                  <a:off x="3574681" y="6805875"/>
                  <a:ext cx="1371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  </a:t>
                  </a:r>
                  <a:r>
                    <a:rPr lang="en-US" sz="2000" dirty="0" err="1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Masivo</a:t>
                  </a:r>
                  <a:endParaRPr lang="es-DO" sz="2000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</p:grpSp>
        </p:grpSp>
        <p:grpSp>
          <p:nvGrpSpPr>
            <p:cNvPr id="1382" name="Grupo 1381">
              <a:extLst>
                <a:ext uri="{FF2B5EF4-FFF2-40B4-BE49-F238E27FC236}">
                  <a16:creationId xmlns:a16="http://schemas.microsoft.com/office/drawing/2014/main" id="{EF6808DF-E8A6-3F1D-8407-C7755E27BE58}"/>
                </a:ext>
              </a:extLst>
            </p:cNvPr>
            <p:cNvGrpSpPr/>
            <p:nvPr/>
          </p:nvGrpSpPr>
          <p:grpSpPr>
            <a:xfrm>
              <a:off x="304800" y="1866900"/>
              <a:ext cx="8769914" cy="2514600"/>
              <a:chOff x="304800" y="1866900"/>
              <a:chExt cx="8769914" cy="2514600"/>
            </a:xfrm>
          </p:grpSpPr>
          <p:sp>
            <p:nvSpPr>
              <p:cNvPr id="685" name="Rectángulo 684">
                <a:extLst>
                  <a:ext uri="{FF2B5EF4-FFF2-40B4-BE49-F238E27FC236}">
                    <a16:creationId xmlns:a16="http://schemas.microsoft.com/office/drawing/2014/main" id="{C41C08BC-F6EA-6EF5-DAB4-8F2EE0D9C764}"/>
                  </a:ext>
                </a:extLst>
              </p:cNvPr>
              <p:cNvSpPr/>
              <p:nvPr/>
            </p:nvSpPr>
            <p:spPr>
              <a:xfrm>
                <a:off x="1815967" y="2471414"/>
                <a:ext cx="7258747" cy="19100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651" name="CuadroTexto 650">
                <a:extLst>
                  <a:ext uri="{FF2B5EF4-FFF2-40B4-BE49-F238E27FC236}">
                    <a16:creationId xmlns:a16="http://schemas.microsoft.com/office/drawing/2014/main" id="{0B160D28-E13D-26B1-F896-20D9A36C8460}"/>
                  </a:ext>
                </a:extLst>
              </p:cNvPr>
              <p:cNvSpPr txBox="1"/>
              <p:nvPr/>
            </p:nvSpPr>
            <p:spPr>
              <a:xfrm>
                <a:off x="3284666" y="3540561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3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55" name="CuadroTexto 654">
                <a:extLst>
                  <a:ext uri="{FF2B5EF4-FFF2-40B4-BE49-F238E27FC236}">
                    <a16:creationId xmlns:a16="http://schemas.microsoft.com/office/drawing/2014/main" id="{72096C1E-6ECA-D9C7-4928-2977C63BD0B4}"/>
                  </a:ext>
                </a:extLst>
              </p:cNvPr>
              <p:cNvSpPr txBox="1"/>
              <p:nvPr/>
            </p:nvSpPr>
            <p:spPr>
              <a:xfrm>
                <a:off x="4068813" y="2586196"/>
                <a:ext cx="51034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2,101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65" name="CuadroTexto 664">
                <a:extLst>
                  <a:ext uri="{FF2B5EF4-FFF2-40B4-BE49-F238E27FC236}">
                    <a16:creationId xmlns:a16="http://schemas.microsoft.com/office/drawing/2014/main" id="{355E7B9E-C5F6-C9F8-12E9-09404D5CEF95}"/>
                  </a:ext>
                </a:extLst>
              </p:cNvPr>
              <p:cNvSpPr txBox="1"/>
              <p:nvPr/>
            </p:nvSpPr>
            <p:spPr>
              <a:xfrm>
                <a:off x="5184353" y="4027108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10%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70" name="CuadroTexto 669">
                <a:extLst>
                  <a:ext uri="{FF2B5EF4-FFF2-40B4-BE49-F238E27FC236}">
                    <a16:creationId xmlns:a16="http://schemas.microsoft.com/office/drawing/2014/main" id="{EB132408-9402-5C7A-FCB2-B898C22AA856}"/>
                  </a:ext>
                </a:extLst>
              </p:cNvPr>
              <p:cNvSpPr txBox="1"/>
              <p:nvPr/>
            </p:nvSpPr>
            <p:spPr>
              <a:xfrm>
                <a:off x="6106263" y="2586196"/>
                <a:ext cx="5941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2,261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73" name="CuadroTexto 672">
                <a:extLst>
                  <a:ext uri="{FF2B5EF4-FFF2-40B4-BE49-F238E27FC236}">
                    <a16:creationId xmlns:a16="http://schemas.microsoft.com/office/drawing/2014/main" id="{881609F7-0DD4-D532-AB2D-67452D5CC645}"/>
                  </a:ext>
                </a:extLst>
              </p:cNvPr>
              <p:cNvSpPr txBox="1"/>
              <p:nvPr/>
            </p:nvSpPr>
            <p:spPr>
              <a:xfrm>
                <a:off x="6120012" y="4027108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497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80" name="Rectángulo 679">
                <a:extLst>
                  <a:ext uri="{FF2B5EF4-FFF2-40B4-BE49-F238E27FC236}">
                    <a16:creationId xmlns:a16="http://schemas.microsoft.com/office/drawing/2014/main" id="{73B0F2A3-C3D7-6FAD-711F-3238B14891C5}"/>
                  </a:ext>
                </a:extLst>
              </p:cNvPr>
              <p:cNvSpPr/>
              <p:nvPr/>
            </p:nvSpPr>
            <p:spPr>
              <a:xfrm>
                <a:off x="326840" y="2471693"/>
                <a:ext cx="1479789" cy="457200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</a:t>
                </a:r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81" name="Rectángulo 680">
                <a:extLst>
                  <a:ext uri="{FF2B5EF4-FFF2-40B4-BE49-F238E27FC236}">
                    <a16:creationId xmlns:a16="http://schemas.microsoft.com/office/drawing/2014/main" id="{7E2303A7-ABC1-50BE-6F3E-59FAEE5E619E}"/>
                  </a:ext>
                </a:extLst>
              </p:cNvPr>
              <p:cNvSpPr/>
              <p:nvPr/>
            </p:nvSpPr>
            <p:spPr>
              <a:xfrm>
                <a:off x="326840" y="2915184"/>
                <a:ext cx="1484181" cy="530153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Joven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83" name="Rectángulo 682">
                <a:extLst>
                  <a:ext uri="{FF2B5EF4-FFF2-40B4-BE49-F238E27FC236}">
                    <a16:creationId xmlns:a16="http://schemas.microsoft.com/office/drawing/2014/main" id="{2BBA240A-32B3-A84D-9BC8-666483C398F3}"/>
                  </a:ext>
                </a:extLst>
              </p:cNvPr>
              <p:cNvSpPr/>
              <p:nvPr/>
            </p:nvSpPr>
            <p:spPr>
              <a:xfrm>
                <a:off x="326840" y="3420917"/>
                <a:ext cx="1475090" cy="419995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 Premium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84" name="Rectángulo 683">
                <a:extLst>
                  <a:ext uri="{FF2B5EF4-FFF2-40B4-BE49-F238E27FC236}">
                    <a16:creationId xmlns:a16="http://schemas.microsoft.com/office/drawing/2014/main" id="{5F1AAC47-947B-2E6E-A160-D12C07E15AA0}"/>
                  </a:ext>
                </a:extLst>
              </p:cNvPr>
              <p:cNvSpPr/>
              <p:nvPr/>
            </p:nvSpPr>
            <p:spPr>
              <a:xfrm>
                <a:off x="326840" y="3840912"/>
                <a:ext cx="1480313" cy="540588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   Empresarial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cxnSp>
            <p:nvCxnSpPr>
              <p:cNvPr id="687" name="Conector recto 686">
                <a:extLst>
                  <a:ext uri="{FF2B5EF4-FFF2-40B4-BE49-F238E27FC236}">
                    <a16:creationId xmlns:a16="http://schemas.microsoft.com/office/drawing/2014/main" id="{2B622865-ADF1-F21C-E460-0096E52DAC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22353" y="2929371"/>
                <a:ext cx="7252361" cy="13231"/>
              </a:xfrm>
              <a:prstGeom prst="line">
                <a:avLst/>
              </a:prstGeom>
              <a:ln w="12700">
                <a:solidFill>
                  <a:srgbClr val="10253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9" name="Conector recto 688">
                <a:extLst>
                  <a:ext uri="{FF2B5EF4-FFF2-40B4-BE49-F238E27FC236}">
                    <a16:creationId xmlns:a16="http://schemas.microsoft.com/office/drawing/2014/main" id="{B5B103AC-38D3-9E3F-D45E-E54398C150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37171" y="3399802"/>
                <a:ext cx="7237543" cy="26655"/>
              </a:xfrm>
              <a:prstGeom prst="line">
                <a:avLst/>
              </a:prstGeom>
              <a:ln w="12700">
                <a:solidFill>
                  <a:srgbClr val="10253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0" name="Conector recto 689">
                <a:extLst>
                  <a:ext uri="{FF2B5EF4-FFF2-40B4-BE49-F238E27FC236}">
                    <a16:creationId xmlns:a16="http://schemas.microsoft.com/office/drawing/2014/main" id="{FEEB5D9A-86F7-74AF-39A4-36D7CA83B1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11518" y="3912582"/>
                <a:ext cx="7263196" cy="14638"/>
              </a:xfrm>
              <a:prstGeom prst="line">
                <a:avLst/>
              </a:prstGeom>
              <a:ln w="12700">
                <a:solidFill>
                  <a:srgbClr val="10253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4" name="Rectángulo 693">
                <a:extLst>
                  <a:ext uri="{FF2B5EF4-FFF2-40B4-BE49-F238E27FC236}">
                    <a16:creationId xmlns:a16="http://schemas.microsoft.com/office/drawing/2014/main" id="{071521AF-1E20-1F38-1861-9F6641F13A33}"/>
                  </a:ext>
                </a:extLst>
              </p:cNvPr>
              <p:cNvSpPr/>
              <p:nvPr/>
            </p:nvSpPr>
            <p:spPr>
              <a:xfrm>
                <a:off x="2827771" y="1866900"/>
                <a:ext cx="1069848" cy="604793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Frecuencia*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93" name="Rectángulo 692">
                <a:extLst>
                  <a:ext uri="{FF2B5EF4-FFF2-40B4-BE49-F238E27FC236}">
                    <a16:creationId xmlns:a16="http://schemas.microsoft.com/office/drawing/2014/main" id="{CE137996-1401-A278-BA62-C620FAEE5A03}"/>
                  </a:ext>
                </a:extLst>
              </p:cNvPr>
              <p:cNvSpPr/>
              <p:nvPr/>
            </p:nvSpPr>
            <p:spPr>
              <a:xfrm>
                <a:off x="1821358" y="1866900"/>
                <a:ext cx="1097280" cy="604793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Recencia</a:t>
                </a:r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*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97" name="Rectángulo 696">
                <a:extLst>
                  <a:ext uri="{FF2B5EF4-FFF2-40B4-BE49-F238E27FC236}">
                    <a16:creationId xmlns:a16="http://schemas.microsoft.com/office/drawing/2014/main" id="{E0394521-36BA-E272-EACD-D6BF7A756DEC}"/>
                  </a:ext>
                </a:extLst>
              </p:cNvPr>
              <p:cNvSpPr/>
              <p:nvPr/>
            </p:nvSpPr>
            <p:spPr>
              <a:xfrm>
                <a:off x="5716986" y="1866900"/>
                <a:ext cx="1152144" cy="604793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# </a:t>
                </a:r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Clientes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96" name="Rectángulo 695">
                <a:extLst>
                  <a:ext uri="{FF2B5EF4-FFF2-40B4-BE49-F238E27FC236}">
                    <a16:creationId xmlns:a16="http://schemas.microsoft.com/office/drawing/2014/main" id="{C0981455-9531-14D8-AE9E-53C49AE4252A}"/>
                  </a:ext>
                </a:extLst>
              </p:cNvPr>
              <p:cNvSpPr/>
              <p:nvPr/>
            </p:nvSpPr>
            <p:spPr>
              <a:xfrm>
                <a:off x="4802586" y="1866901"/>
                <a:ext cx="905256" cy="601928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% </a:t>
                </a:r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Clientes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95" name="Rectángulo 694">
                <a:extLst>
                  <a:ext uri="{FF2B5EF4-FFF2-40B4-BE49-F238E27FC236}">
                    <a16:creationId xmlns:a16="http://schemas.microsoft.com/office/drawing/2014/main" id="{CF3CF255-D9A9-D8BE-10FA-419466B3FF21}"/>
                  </a:ext>
                </a:extLst>
              </p:cNvPr>
              <p:cNvSpPr/>
              <p:nvPr/>
            </p:nvSpPr>
            <p:spPr>
              <a:xfrm>
                <a:off x="3894571" y="1866900"/>
                <a:ext cx="905256" cy="604793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Ticket*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64" name="CuadroTexto 663">
                <a:extLst>
                  <a:ext uri="{FF2B5EF4-FFF2-40B4-BE49-F238E27FC236}">
                    <a16:creationId xmlns:a16="http://schemas.microsoft.com/office/drawing/2014/main" id="{4F41ECE4-FF1E-2788-8E72-8F960D04EDCE}"/>
                  </a:ext>
                </a:extLst>
              </p:cNvPr>
              <p:cNvSpPr txBox="1"/>
              <p:nvPr/>
            </p:nvSpPr>
            <p:spPr>
              <a:xfrm>
                <a:off x="5189868" y="3540561"/>
                <a:ext cx="61374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19%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186" name="CuadroTexto 1185">
                <a:extLst>
                  <a:ext uri="{FF2B5EF4-FFF2-40B4-BE49-F238E27FC236}">
                    <a16:creationId xmlns:a16="http://schemas.microsoft.com/office/drawing/2014/main" id="{7EB0427F-D0A4-9B3A-4898-11D3B63253E4}"/>
                  </a:ext>
                </a:extLst>
              </p:cNvPr>
              <p:cNvSpPr txBox="1"/>
              <p:nvPr/>
            </p:nvSpPr>
            <p:spPr>
              <a:xfrm>
                <a:off x="3150270" y="4027108"/>
                <a:ext cx="61374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tlCol="0">
                <a:spAutoFit/>
              </a:bodyPr>
              <a:lstStyle/>
              <a:p>
                <a:pPr algn="ctr"/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3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56" name="CuadroTexto 655">
                <a:extLst>
                  <a:ext uri="{FF2B5EF4-FFF2-40B4-BE49-F238E27FC236}">
                    <a16:creationId xmlns:a16="http://schemas.microsoft.com/office/drawing/2014/main" id="{669DDC17-0343-0F15-750E-BA968588AD80}"/>
                  </a:ext>
                </a:extLst>
              </p:cNvPr>
              <p:cNvSpPr txBox="1"/>
              <p:nvPr/>
            </p:nvSpPr>
            <p:spPr>
              <a:xfrm>
                <a:off x="4068813" y="3052764"/>
                <a:ext cx="6802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2,114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198" name="CuadroTexto 1197">
                <a:extLst>
                  <a:ext uri="{FF2B5EF4-FFF2-40B4-BE49-F238E27FC236}">
                    <a16:creationId xmlns:a16="http://schemas.microsoft.com/office/drawing/2014/main" id="{C7560A92-FF7F-79E3-65D1-96F5B6052846}"/>
                  </a:ext>
                </a:extLst>
              </p:cNvPr>
              <p:cNvSpPr txBox="1"/>
              <p:nvPr/>
            </p:nvSpPr>
            <p:spPr>
              <a:xfrm>
                <a:off x="5189868" y="3052764"/>
                <a:ext cx="6802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26%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201" name="CuadroTexto 1200">
                <a:extLst>
                  <a:ext uri="{FF2B5EF4-FFF2-40B4-BE49-F238E27FC236}">
                    <a16:creationId xmlns:a16="http://schemas.microsoft.com/office/drawing/2014/main" id="{55D8A1EE-E845-A1AD-A85B-357429A51DA8}"/>
                  </a:ext>
                </a:extLst>
              </p:cNvPr>
              <p:cNvSpPr txBox="1"/>
              <p:nvPr/>
            </p:nvSpPr>
            <p:spPr>
              <a:xfrm>
                <a:off x="6081231" y="3540561"/>
                <a:ext cx="6802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1,000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660" name="CuadroTexto 659">
                <a:extLst>
                  <a:ext uri="{FF2B5EF4-FFF2-40B4-BE49-F238E27FC236}">
                    <a16:creationId xmlns:a16="http://schemas.microsoft.com/office/drawing/2014/main" id="{8D4033BE-5E75-9945-ADAA-5CDE3236CB43}"/>
                  </a:ext>
                </a:extLst>
              </p:cNvPr>
              <p:cNvSpPr txBox="1"/>
              <p:nvPr/>
            </p:nvSpPr>
            <p:spPr>
              <a:xfrm>
                <a:off x="4068813" y="4027108"/>
                <a:ext cx="62854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2,115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210" name="CuadroTexto 1209">
                <a:extLst>
                  <a:ext uri="{FF2B5EF4-FFF2-40B4-BE49-F238E27FC236}">
                    <a16:creationId xmlns:a16="http://schemas.microsoft.com/office/drawing/2014/main" id="{F161064C-0540-8954-E687-1F678E6DDB63}"/>
                  </a:ext>
                </a:extLst>
              </p:cNvPr>
              <p:cNvSpPr txBox="1"/>
              <p:nvPr/>
            </p:nvSpPr>
            <p:spPr>
              <a:xfrm>
                <a:off x="4068813" y="3540561"/>
                <a:ext cx="67057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2,030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704" name="CuadroTexto 703">
                <a:extLst>
                  <a:ext uri="{FF2B5EF4-FFF2-40B4-BE49-F238E27FC236}">
                    <a16:creationId xmlns:a16="http://schemas.microsoft.com/office/drawing/2014/main" id="{54A8061B-C109-0253-A365-1128306D8A15}"/>
                  </a:ext>
                </a:extLst>
              </p:cNvPr>
              <p:cNvSpPr txBox="1"/>
              <p:nvPr/>
            </p:nvSpPr>
            <p:spPr>
              <a:xfrm>
                <a:off x="6090588" y="3052764"/>
                <a:ext cx="60978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1,320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707" name="CuadroTexto 706">
                <a:extLst>
                  <a:ext uri="{FF2B5EF4-FFF2-40B4-BE49-F238E27FC236}">
                    <a16:creationId xmlns:a16="http://schemas.microsoft.com/office/drawing/2014/main" id="{0A5D5E89-7025-FE1D-93AE-438812773AF5}"/>
                  </a:ext>
                </a:extLst>
              </p:cNvPr>
              <p:cNvSpPr txBox="1"/>
              <p:nvPr/>
            </p:nvSpPr>
            <p:spPr>
              <a:xfrm>
                <a:off x="5189868" y="2586196"/>
                <a:ext cx="4726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45%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1171" name="Imagen 1170">
                <a:extLst>
                  <a:ext uri="{FF2B5EF4-FFF2-40B4-BE49-F238E27FC236}">
                    <a16:creationId xmlns:a16="http://schemas.microsoft.com/office/drawing/2014/main" id="{AE7E6C59-B8D2-FCFF-E25B-89C5495BE3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72561" y="2571834"/>
                <a:ext cx="289016" cy="2887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3" name="Imagen 1172">
                <a:extLst>
                  <a:ext uri="{FF2B5EF4-FFF2-40B4-BE49-F238E27FC236}">
                    <a16:creationId xmlns:a16="http://schemas.microsoft.com/office/drawing/2014/main" id="{83B5F59A-1D19-3884-0AC4-2223CBF4D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72561" y="3015059"/>
                <a:ext cx="288831" cy="2824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9" name="Imagen 1178">
                <a:extLst>
                  <a:ext uri="{FF2B5EF4-FFF2-40B4-BE49-F238E27FC236}">
                    <a16:creationId xmlns:a16="http://schemas.microsoft.com/office/drawing/2014/main" id="{F0A2DC38-5AEE-BA72-F5D4-C12CE2E437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11213" y="3464882"/>
                <a:ext cx="318152" cy="31815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1" name="Imagen 1180">
                <a:extLst>
                  <a:ext uri="{FF2B5EF4-FFF2-40B4-BE49-F238E27FC236}">
                    <a16:creationId xmlns:a16="http://schemas.microsoft.com/office/drawing/2014/main" id="{0F1C4095-E2D8-790F-2E99-DB7E34C955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19193" y="3973352"/>
                <a:ext cx="271336" cy="271336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</p:spPr>
          </p:pic>
          <p:sp>
            <p:nvSpPr>
              <p:cNvPr id="1367" name="Rectángulo 1366">
                <a:extLst>
                  <a:ext uri="{FF2B5EF4-FFF2-40B4-BE49-F238E27FC236}">
                    <a16:creationId xmlns:a16="http://schemas.microsoft.com/office/drawing/2014/main" id="{AFA5398A-BE66-4232-1C7C-5CEDC83B34BB}"/>
                  </a:ext>
                </a:extLst>
              </p:cNvPr>
              <p:cNvSpPr/>
              <p:nvPr/>
            </p:nvSpPr>
            <p:spPr>
              <a:xfrm>
                <a:off x="335013" y="1866900"/>
                <a:ext cx="1479789" cy="566928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</a:t>
                </a:r>
                <a:r>
                  <a:rPr lang="en-US" sz="12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Segmento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88" name="CuadroTexto 1387">
                <a:extLst>
                  <a:ext uri="{FF2B5EF4-FFF2-40B4-BE49-F238E27FC236}">
                    <a16:creationId xmlns:a16="http://schemas.microsoft.com/office/drawing/2014/main" id="{4FBF7F52-C47A-DFCF-57D1-6CADCD7E086E}"/>
                  </a:ext>
                </a:extLst>
              </p:cNvPr>
              <p:cNvSpPr txBox="1"/>
              <p:nvPr/>
            </p:nvSpPr>
            <p:spPr>
              <a:xfrm>
                <a:off x="2161056" y="2586196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41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89" name="CuadroTexto 1388">
                <a:extLst>
                  <a:ext uri="{FF2B5EF4-FFF2-40B4-BE49-F238E27FC236}">
                    <a16:creationId xmlns:a16="http://schemas.microsoft.com/office/drawing/2014/main" id="{B4424B9C-3F37-55DA-B9E1-A39D5E83E0DA}"/>
                  </a:ext>
                </a:extLst>
              </p:cNvPr>
              <p:cNvSpPr txBox="1"/>
              <p:nvPr/>
            </p:nvSpPr>
            <p:spPr>
              <a:xfrm>
                <a:off x="2152660" y="3052764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42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90" name="CuadroTexto 1389">
                <a:extLst>
                  <a:ext uri="{FF2B5EF4-FFF2-40B4-BE49-F238E27FC236}">
                    <a16:creationId xmlns:a16="http://schemas.microsoft.com/office/drawing/2014/main" id="{2ABD7ECF-2F77-D38C-3DB0-087B47523DE3}"/>
                  </a:ext>
                </a:extLst>
              </p:cNvPr>
              <p:cNvSpPr txBox="1"/>
              <p:nvPr/>
            </p:nvSpPr>
            <p:spPr>
              <a:xfrm>
                <a:off x="2130302" y="3540561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45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91" name="CuadroTexto 1390">
                <a:extLst>
                  <a:ext uri="{FF2B5EF4-FFF2-40B4-BE49-F238E27FC236}">
                    <a16:creationId xmlns:a16="http://schemas.microsoft.com/office/drawing/2014/main" id="{A353B424-D287-6DBD-E27E-FFE59E3AAB03}"/>
                  </a:ext>
                </a:extLst>
              </p:cNvPr>
              <p:cNvSpPr txBox="1"/>
              <p:nvPr/>
            </p:nvSpPr>
            <p:spPr>
              <a:xfrm>
                <a:off x="2119181" y="4027108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40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92" name="CuadroTexto 1391">
                <a:extLst>
                  <a:ext uri="{FF2B5EF4-FFF2-40B4-BE49-F238E27FC236}">
                    <a16:creationId xmlns:a16="http://schemas.microsoft.com/office/drawing/2014/main" id="{3B8C3060-5BDB-D172-E908-E332681D1863}"/>
                  </a:ext>
                </a:extLst>
              </p:cNvPr>
              <p:cNvSpPr txBox="1"/>
              <p:nvPr/>
            </p:nvSpPr>
            <p:spPr>
              <a:xfrm>
                <a:off x="3270324" y="2586196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3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93" name="CuadroTexto 1392">
                <a:extLst>
                  <a:ext uri="{FF2B5EF4-FFF2-40B4-BE49-F238E27FC236}">
                    <a16:creationId xmlns:a16="http://schemas.microsoft.com/office/drawing/2014/main" id="{36FE249A-ECF2-C0A8-91DE-7196313CCC0C}"/>
                  </a:ext>
                </a:extLst>
              </p:cNvPr>
              <p:cNvSpPr txBox="1"/>
              <p:nvPr/>
            </p:nvSpPr>
            <p:spPr>
              <a:xfrm>
                <a:off x="3135928" y="3052764"/>
                <a:ext cx="61374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tlCol="0">
                <a:spAutoFit/>
              </a:bodyPr>
              <a:lstStyle/>
              <a:p>
                <a:pPr algn="ctr"/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3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B78D218B-FB1A-6E7B-DD95-542B94060BD3}"/>
                  </a:ext>
                </a:extLst>
              </p:cNvPr>
              <p:cNvSpPr/>
              <p:nvPr/>
            </p:nvSpPr>
            <p:spPr>
              <a:xfrm>
                <a:off x="7922570" y="1871707"/>
                <a:ext cx="1152144" cy="604793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#Transacciones</a:t>
                </a:r>
                <a:endParaRPr lang="es-DO" sz="12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B599E98F-3FC2-9C95-2AAF-ABCAC0E0D071}"/>
                  </a:ext>
                </a:extLst>
              </p:cNvPr>
              <p:cNvSpPr/>
              <p:nvPr/>
            </p:nvSpPr>
            <p:spPr>
              <a:xfrm>
                <a:off x="6858000" y="1871708"/>
                <a:ext cx="1097280" cy="601928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rIns="18288"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%</a:t>
                </a:r>
                <a:r>
                  <a:rPr lang="en-US" sz="1100" dirty="0" err="1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Transacciones</a:t>
                </a:r>
                <a:endParaRPr lang="es-DO" sz="11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85" name="Rectángulo 84">
                <a:extLst>
                  <a:ext uri="{FF2B5EF4-FFF2-40B4-BE49-F238E27FC236}">
                    <a16:creationId xmlns:a16="http://schemas.microsoft.com/office/drawing/2014/main" id="{F02926D6-F5B0-93EA-5BEF-3FE1AED1A35D}"/>
                  </a:ext>
                </a:extLst>
              </p:cNvPr>
              <p:cNvSpPr/>
              <p:nvPr/>
            </p:nvSpPr>
            <p:spPr>
              <a:xfrm>
                <a:off x="304800" y="2476501"/>
                <a:ext cx="8769914" cy="422686"/>
              </a:xfrm>
              <a:prstGeom prst="rect">
                <a:avLst/>
              </a:prstGeom>
              <a:noFill/>
              <a:ln w="38100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1370" name="CuadroTexto 1369">
                <a:extLst>
                  <a:ext uri="{FF2B5EF4-FFF2-40B4-BE49-F238E27FC236}">
                    <a16:creationId xmlns:a16="http://schemas.microsoft.com/office/drawing/2014/main" id="{BBDB6DBA-03A4-EF8A-F109-23B3F15011C8}"/>
                  </a:ext>
                </a:extLst>
              </p:cNvPr>
              <p:cNvSpPr txBox="1"/>
              <p:nvPr/>
            </p:nvSpPr>
            <p:spPr>
              <a:xfrm>
                <a:off x="7304762" y="4027108"/>
                <a:ext cx="4575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10%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71" name="CuadroTexto 1370">
                <a:extLst>
                  <a:ext uri="{FF2B5EF4-FFF2-40B4-BE49-F238E27FC236}">
                    <a16:creationId xmlns:a16="http://schemas.microsoft.com/office/drawing/2014/main" id="{C2BA2E1F-1A1D-C592-AE36-255A90251720}"/>
                  </a:ext>
                </a:extLst>
              </p:cNvPr>
              <p:cNvSpPr txBox="1"/>
              <p:nvPr/>
            </p:nvSpPr>
            <p:spPr>
              <a:xfrm>
                <a:off x="8226672" y="2586196"/>
                <a:ext cx="5941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8,924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72" name="CuadroTexto 1371">
                <a:extLst>
                  <a:ext uri="{FF2B5EF4-FFF2-40B4-BE49-F238E27FC236}">
                    <a16:creationId xmlns:a16="http://schemas.microsoft.com/office/drawing/2014/main" id="{61144B08-31E7-3415-6736-CC61DCF622F8}"/>
                  </a:ext>
                </a:extLst>
              </p:cNvPr>
              <p:cNvSpPr txBox="1"/>
              <p:nvPr/>
            </p:nvSpPr>
            <p:spPr>
              <a:xfrm>
                <a:off x="8240421" y="4027108"/>
                <a:ext cx="52173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1,965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73" name="CuadroTexto 1372">
                <a:extLst>
                  <a:ext uri="{FF2B5EF4-FFF2-40B4-BE49-F238E27FC236}">
                    <a16:creationId xmlns:a16="http://schemas.microsoft.com/office/drawing/2014/main" id="{D444872B-83B4-6AFA-7219-D3C9A2A9BE18}"/>
                  </a:ext>
                </a:extLst>
              </p:cNvPr>
              <p:cNvSpPr txBox="1"/>
              <p:nvPr/>
            </p:nvSpPr>
            <p:spPr>
              <a:xfrm>
                <a:off x="7310277" y="3540561"/>
                <a:ext cx="61374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19%</a:t>
                </a:r>
                <a:endParaRPr lang="es-DO" sz="14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74" name="CuadroTexto 1373">
                <a:extLst>
                  <a:ext uri="{FF2B5EF4-FFF2-40B4-BE49-F238E27FC236}">
                    <a16:creationId xmlns:a16="http://schemas.microsoft.com/office/drawing/2014/main" id="{94F6250C-8427-530B-68B2-DF4108FD6F95}"/>
                  </a:ext>
                </a:extLst>
              </p:cNvPr>
              <p:cNvSpPr txBox="1"/>
              <p:nvPr/>
            </p:nvSpPr>
            <p:spPr>
              <a:xfrm>
                <a:off x="7310277" y="3052764"/>
                <a:ext cx="6802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26%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75" name="CuadroTexto 1374">
                <a:extLst>
                  <a:ext uri="{FF2B5EF4-FFF2-40B4-BE49-F238E27FC236}">
                    <a16:creationId xmlns:a16="http://schemas.microsoft.com/office/drawing/2014/main" id="{FF89637B-4E63-D783-B05A-1C916F0855EC}"/>
                  </a:ext>
                </a:extLst>
              </p:cNvPr>
              <p:cNvSpPr txBox="1"/>
              <p:nvPr/>
            </p:nvSpPr>
            <p:spPr>
              <a:xfrm>
                <a:off x="8201640" y="3540561"/>
                <a:ext cx="6802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3,758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76" name="CuadroTexto 1375">
                <a:extLst>
                  <a:ext uri="{FF2B5EF4-FFF2-40B4-BE49-F238E27FC236}">
                    <a16:creationId xmlns:a16="http://schemas.microsoft.com/office/drawing/2014/main" id="{6338253C-C92F-0646-6190-F21F83D304F6}"/>
                  </a:ext>
                </a:extLst>
              </p:cNvPr>
              <p:cNvSpPr txBox="1"/>
              <p:nvPr/>
            </p:nvSpPr>
            <p:spPr>
              <a:xfrm>
                <a:off x="8210997" y="3052764"/>
                <a:ext cx="60978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5,098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sp>
            <p:nvSpPr>
              <p:cNvPr id="1377" name="CuadroTexto 1376">
                <a:extLst>
                  <a:ext uri="{FF2B5EF4-FFF2-40B4-BE49-F238E27FC236}">
                    <a16:creationId xmlns:a16="http://schemas.microsoft.com/office/drawing/2014/main" id="{B7EA91A2-A9BC-A8CB-5280-1BF8AC865773}"/>
                  </a:ext>
                </a:extLst>
              </p:cNvPr>
              <p:cNvSpPr txBox="1"/>
              <p:nvPr/>
            </p:nvSpPr>
            <p:spPr>
              <a:xfrm>
                <a:off x="7310277" y="2586196"/>
                <a:ext cx="4726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12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45%</a:t>
                </a:r>
                <a:endPara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</p:grpSp>
      <p:pic>
        <p:nvPicPr>
          <p:cNvPr id="2" name="Imagen 1">
            <a:hlinkClick r:id="rId25" tooltip="Click para visitar perfil en gitgub"/>
            <a:extLst>
              <a:ext uri="{FF2B5EF4-FFF2-40B4-BE49-F238E27FC236}">
                <a16:creationId xmlns:a16="http://schemas.microsoft.com/office/drawing/2014/main" id="{0A5E2088-9479-419D-FF5F-0F68178E4000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1622" y="1"/>
            <a:ext cx="1096379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9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AC253-6DE1-CA09-626C-7C099365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2" name="Grupo 1141">
            <a:extLst>
              <a:ext uri="{FF2B5EF4-FFF2-40B4-BE49-F238E27FC236}">
                <a16:creationId xmlns:a16="http://schemas.microsoft.com/office/drawing/2014/main" id="{8A2AD999-6AC8-FC45-D9C3-3BFC057782E0}"/>
              </a:ext>
            </a:extLst>
          </p:cNvPr>
          <p:cNvGrpSpPr/>
          <p:nvPr/>
        </p:nvGrpSpPr>
        <p:grpSpPr>
          <a:xfrm>
            <a:off x="11576439" y="1293977"/>
            <a:ext cx="6553200" cy="5447155"/>
            <a:chOff x="11582400" y="1293976"/>
            <a:chExt cx="6553200" cy="8577875"/>
          </a:xfrm>
        </p:grpSpPr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92CDB425-34D6-35C7-1CDB-32BC1D9E6B8F}"/>
                </a:ext>
              </a:extLst>
            </p:cNvPr>
            <p:cNvSpPr/>
            <p:nvPr/>
          </p:nvSpPr>
          <p:spPr>
            <a:xfrm>
              <a:off x="11582400" y="1333500"/>
              <a:ext cx="6553200" cy="85383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>
                <a:latin typeface="Aptos" panose="020B0004020202020204" pitchFamily="34" charset="0"/>
              </a:endParaRPr>
            </a:p>
          </p:txBody>
        </p:sp>
        <p:grpSp>
          <p:nvGrpSpPr>
            <p:cNvPr id="56" name="Group 15">
              <a:extLst>
                <a:ext uri="{FF2B5EF4-FFF2-40B4-BE49-F238E27FC236}">
                  <a16:creationId xmlns:a16="http://schemas.microsoft.com/office/drawing/2014/main" id="{7E7C0844-3D26-5017-2A7A-658670C73C6A}"/>
                </a:ext>
              </a:extLst>
            </p:cNvPr>
            <p:cNvGrpSpPr/>
            <p:nvPr/>
          </p:nvGrpSpPr>
          <p:grpSpPr>
            <a:xfrm>
              <a:off x="11582400" y="1293976"/>
              <a:ext cx="6553199" cy="726855"/>
              <a:chOff x="-2" y="-28572"/>
              <a:chExt cx="4866538" cy="1190713"/>
            </a:xfrm>
          </p:grpSpPr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350BD072-3A38-5A95-5217-0A14E5C98E50}"/>
                  </a:ext>
                </a:extLst>
              </p:cNvPr>
              <p:cNvSpPr/>
              <p:nvPr/>
            </p:nvSpPr>
            <p:spPr>
              <a:xfrm>
                <a:off x="-2" y="-2"/>
                <a:ext cx="4866538" cy="1132262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1C3F60"/>
              </a:solidFill>
            </p:spPr>
            <p:txBody>
              <a:bodyPr/>
              <a:lstStyle/>
              <a:p>
                <a:endParaRPr lang="es-DO">
                  <a:latin typeface="Aptos" panose="020B0004020202020204" pitchFamily="34" charset="0"/>
                </a:endParaRPr>
              </a:p>
            </p:txBody>
          </p:sp>
          <p:sp>
            <p:nvSpPr>
              <p:cNvPr id="58" name="TextBox 17">
                <a:extLst>
                  <a:ext uri="{FF2B5EF4-FFF2-40B4-BE49-F238E27FC236}">
                    <a16:creationId xmlns:a16="http://schemas.microsoft.com/office/drawing/2014/main" id="{8D1E85F7-4D47-477E-50E3-395355417809}"/>
                  </a:ext>
                </a:extLst>
              </p:cNvPr>
              <p:cNvSpPr txBox="1"/>
              <p:nvPr/>
            </p:nvSpPr>
            <p:spPr>
              <a:xfrm>
                <a:off x="0" y="-28572"/>
                <a:ext cx="4866536" cy="11907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1" indent="0" algn="ctr">
                  <a:spcBef>
                    <a:spcPct val="0"/>
                  </a:spcBef>
                </a:pPr>
                <a:r>
                  <a:rPr lang="es-DO" sz="1600" u="none" strike="noStrike" spc="68" dirty="0">
                    <a:solidFill>
                      <a:srgbClr val="FFFFFF"/>
                    </a:solidFill>
                    <a:latin typeface="Segoe UI Semibold" panose="020B0702040204020203" pitchFamily="34" charset="0"/>
                    <a:ea typeface="Canva Sans"/>
                    <a:cs typeface="Segoe UI Semibold" panose="020B0702040204020203" pitchFamily="34" charset="0"/>
                    <a:sym typeface="Canva Sans"/>
                  </a:rPr>
                  <a:t>Cantidad de Transacciones</a:t>
                </a:r>
              </a:p>
            </p:txBody>
          </p:sp>
        </p:grpSp>
      </p:grpSp>
      <p:sp>
        <p:nvSpPr>
          <p:cNvPr id="91" name="Freeform 6">
            <a:extLst>
              <a:ext uri="{FF2B5EF4-FFF2-40B4-BE49-F238E27FC236}">
                <a16:creationId xmlns:a16="http://schemas.microsoft.com/office/drawing/2014/main" id="{09B8B006-326A-9602-F718-ACE715783C1D}"/>
              </a:ext>
            </a:extLst>
          </p:cNvPr>
          <p:cNvSpPr/>
          <p:nvPr/>
        </p:nvSpPr>
        <p:spPr>
          <a:xfrm>
            <a:off x="450983" y="1307592"/>
            <a:ext cx="2743200" cy="503794"/>
          </a:xfrm>
          <a:prstGeom prst="roundRect">
            <a:avLst/>
          </a:prstGeom>
          <a:solidFill>
            <a:srgbClr val="1C3F60"/>
          </a:solidFill>
        </p:spPr>
        <p:txBody>
          <a:bodyPr anchor="ctr"/>
          <a:lstStyle/>
          <a:p>
            <a:pPr algn="ctr"/>
            <a:r>
              <a:rPr lang="en-US" sz="1600" b="1" spc="6" dirty="0">
                <a:solidFill>
                  <a:srgbClr val="F3F6FA"/>
                </a:solidFill>
                <a:latin typeface="Segoe UI Semibold" panose="020B0702040204020203" pitchFamily="34" charset="0"/>
                <a:ea typeface="Barlow"/>
                <a:cs typeface="Segoe UI Semibold" panose="020B0702040204020203" pitchFamily="34" charset="0"/>
                <a:sym typeface="Barlow"/>
              </a:rPr>
              <a:t>Comercio</a:t>
            </a:r>
          </a:p>
        </p:txBody>
      </p:sp>
      <p:sp>
        <p:nvSpPr>
          <p:cNvPr id="92" name="Freeform 6">
            <a:extLst>
              <a:ext uri="{FF2B5EF4-FFF2-40B4-BE49-F238E27FC236}">
                <a16:creationId xmlns:a16="http://schemas.microsoft.com/office/drawing/2014/main" id="{B4767E55-D7A6-53FA-05C0-949F9905AA21}"/>
              </a:ext>
            </a:extLst>
          </p:cNvPr>
          <p:cNvSpPr/>
          <p:nvPr/>
        </p:nvSpPr>
        <p:spPr>
          <a:xfrm>
            <a:off x="3270383" y="1307592"/>
            <a:ext cx="8083417" cy="503794"/>
          </a:xfrm>
          <a:prstGeom prst="roundRect">
            <a:avLst/>
          </a:prstGeom>
          <a:solidFill>
            <a:srgbClr val="1C3F60"/>
          </a:solidFill>
        </p:spPr>
        <p:txBody>
          <a:bodyPr anchor="ctr"/>
          <a:lstStyle/>
          <a:p>
            <a:pPr algn="ctr"/>
            <a:r>
              <a:rPr lang="en-US" sz="1600" b="1" spc="6" dirty="0" err="1">
                <a:solidFill>
                  <a:srgbClr val="F3F6FA"/>
                </a:solidFill>
                <a:latin typeface="Segoe UI Semibold" panose="020B0702040204020203" pitchFamily="34" charset="0"/>
                <a:ea typeface="Barlow"/>
                <a:cs typeface="Segoe UI Semibold" panose="020B0702040204020203" pitchFamily="34" charset="0"/>
                <a:sym typeface="Barlow"/>
              </a:rPr>
              <a:t>Caracteríticas</a:t>
            </a:r>
            <a:endParaRPr lang="en-US" sz="1600" b="1" spc="6" dirty="0">
              <a:solidFill>
                <a:srgbClr val="F3F6FA"/>
              </a:solidFill>
              <a:latin typeface="Segoe UI Semibold" panose="020B0702040204020203" pitchFamily="34" charset="0"/>
              <a:ea typeface="Barlow"/>
              <a:cs typeface="Segoe UI Semibold" panose="020B0702040204020203" pitchFamily="34" charset="0"/>
              <a:sym typeface="Barlow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B525E04-3ABF-D03C-44E9-5A0C1525870B}"/>
              </a:ext>
            </a:extLst>
          </p:cNvPr>
          <p:cNvCxnSpPr>
            <a:cxnSpLocks/>
          </p:cNvCxnSpPr>
          <p:nvPr/>
        </p:nvCxnSpPr>
        <p:spPr>
          <a:xfrm>
            <a:off x="0" y="952500"/>
            <a:ext cx="18288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FFAD411F-C408-F458-6AF2-E35FDE3C48EA}"/>
              </a:ext>
            </a:extLst>
          </p:cNvPr>
          <p:cNvSpPr txBox="1"/>
          <p:nvPr/>
        </p:nvSpPr>
        <p:spPr>
          <a:xfrm>
            <a:off x="304800" y="106859"/>
            <a:ext cx="31949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Rubros con </a:t>
            </a:r>
            <a:r>
              <a:rPr lang="en-US" sz="220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afinidad</a:t>
            </a:r>
            <a:r>
              <a:rPr lang="en-US" sz="2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220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segmentada</a:t>
            </a:r>
            <a:endParaRPr lang="en-US" sz="2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42DFFA-0C04-8926-2F6B-7F5A0A7F2288}"/>
              </a:ext>
            </a:extLst>
          </p:cNvPr>
          <p:cNvSpPr txBox="1"/>
          <p:nvPr/>
        </p:nvSpPr>
        <p:spPr>
          <a:xfrm>
            <a:off x="3657601" y="183863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DO" sz="140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¿Qué comercios dominan cada perfil de cliente?¿Dónde existen oportunidades de segmentación y targeting?</a:t>
            </a:r>
            <a:endParaRPr lang="es-DO" i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F31C101-E688-C9A9-D38E-BE6FE7D8C783}"/>
              </a:ext>
            </a:extLst>
          </p:cNvPr>
          <p:cNvSpPr txBox="1"/>
          <p:nvPr/>
        </p:nvSpPr>
        <p:spPr>
          <a:xfrm>
            <a:off x="11917680" y="495300"/>
            <a:ext cx="118872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Comercios</a:t>
            </a:r>
            <a:r>
              <a:rPr lang="en-US" dirty="0">
                <a:latin typeface="Abadi ExtraLight" panose="020B0204020104020204" pitchFamily="34" charset="0"/>
              </a:rPr>
              <a:t>: </a:t>
            </a:r>
            <a:endParaRPr lang="es-DO" b="1" dirty="0">
              <a:solidFill>
                <a:schemeClr val="tx2"/>
              </a:solidFill>
              <a:latin typeface="Abadi" panose="020B0604020104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7A453B6-1E44-E2F0-CC72-EDB8B7FAAE8A}"/>
              </a:ext>
            </a:extLst>
          </p:cNvPr>
          <p:cNvSpPr txBox="1"/>
          <p:nvPr/>
        </p:nvSpPr>
        <p:spPr>
          <a:xfrm>
            <a:off x="13045440" y="502220"/>
            <a:ext cx="2560320" cy="338554"/>
          </a:xfrm>
          <a:prstGeom prst="rect">
            <a:avLst/>
          </a:prstGeom>
          <a:solidFill>
            <a:srgbClr val="FCEEC1"/>
          </a:solidFill>
        </p:spPr>
        <p:txBody>
          <a:bodyPr wrap="square" lIns="45720" rtlCol="0">
            <a:spAutoFit/>
          </a:bodyPr>
          <a:lstStyle/>
          <a:p>
            <a:r>
              <a:rPr lang="en-US" sz="1600" b="1" dirty="0" err="1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Restaurantes</a:t>
            </a:r>
            <a:r>
              <a:rPr lang="en-US" sz="1600" b="1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y </a:t>
            </a:r>
            <a:r>
              <a:rPr lang="en-US" sz="1600" b="1" dirty="0" err="1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farmacias</a:t>
            </a:r>
            <a:endParaRPr lang="es-DO" sz="1600" b="1" dirty="0">
              <a:solidFill>
                <a:schemeClr val="tx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644" name="Conector recto 643">
            <a:extLst>
              <a:ext uri="{FF2B5EF4-FFF2-40B4-BE49-F238E27FC236}">
                <a16:creationId xmlns:a16="http://schemas.microsoft.com/office/drawing/2014/main" id="{56FFBB35-2CEF-06D2-1575-71E433527269}"/>
              </a:ext>
            </a:extLst>
          </p:cNvPr>
          <p:cNvCxnSpPr/>
          <p:nvPr/>
        </p:nvCxnSpPr>
        <p:spPr>
          <a:xfrm>
            <a:off x="3596452" y="250213"/>
            <a:ext cx="0" cy="548640"/>
          </a:xfrm>
          <a:prstGeom prst="line">
            <a:avLst/>
          </a:prstGeom>
          <a:ln w="25400">
            <a:solidFill>
              <a:srgbClr val="1C3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6" name="CuadroTexto 645">
            <a:extLst>
              <a:ext uri="{FF2B5EF4-FFF2-40B4-BE49-F238E27FC236}">
                <a16:creationId xmlns:a16="http://schemas.microsoft.com/office/drawing/2014/main" id="{F5FF5401-0089-0BC3-06A8-6D2C0F4356D8}"/>
              </a:ext>
            </a:extLst>
          </p:cNvPr>
          <p:cNvSpPr txBox="1"/>
          <p:nvPr/>
        </p:nvSpPr>
        <p:spPr>
          <a:xfrm>
            <a:off x="421657" y="9715500"/>
            <a:ext cx="43027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*En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todos</a:t>
            </a:r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los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segmentos</a:t>
            </a:r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,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durante</a:t>
            </a:r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todo</a:t>
            </a:r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el</a:t>
            </a:r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semestre</a:t>
            </a:r>
            <a:endParaRPr lang="es-DO" sz="1050" i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95" name="Diagrama de flujo: proceso alternativo 94">
            <a:extLst>
              <a:ext uri="{FF2B5EF4-FFF2-40B4-BE49-F238E27FC236}">
                <a16:creationId xmlns:a16="http://schemas.microsoft.com/office/drawing/2014/main" id="{DFB5FCCA-C7D9-7938-9758-B05880B9DF86}"/>
              </a:ext>
            </a:extLst>
          </p:cNvPr>
          <p:cNvSpPr/>
          <p:nvPr/>
        </p:nvSpPr>
        <p:spPr>
          <a:xfrm>
            <a:off x="3317295" y="1939438"/>
            <a:ext cx="8036505" cy="22860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pic>
        <p:nvPicPr>
          <p:cNvPr id="112" name="Imagen 111">
            <a:extLst>
              <a:ext uri="{FF2B5EF4-FFF2-40B4-BE49-F238E27FC236}">
                <a16:creationId xmlns:a16="http://schemas.microsoft.com/office/drawing/2014/main" id="{4712DB23-736B-A2F6-D855-1AFFE23286A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957" y="2133457"/>
            <a:ext cx="495443" cy="495443"/>
          </a:xfrm>
          <a:prstGeom prst="rect">
            <a:avLst/>
          </a:prstGeom>
        </p:spPr>
      </p:pic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1A889A22-1517-CF1F-DE7E-F8D0D24853BE}"/>
              </a:ext>
            </a:extLst>
          </p:cNvPr>
          <p:cNvCxnSpPr/>
          <p:nvPr/>
        </p:nvCxnSpPr>
        <p:spPr>
          <a:xfrm>
            <a:off x="7315200" y="2171700"/>
            <a:ext cx="0" cy="1828800"/>
          </a:xfrm>
          <a:prstGeom prst="line">
            <a:avLst/>
          </a:prstGeom>
          <a:ln w="12700">
            <a:solidFill>
              <a:srgbClr val="B9B9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2" name="CuadroTexto 651">
            <a:extLst>
              <a:ext uri="{FF2B5EF4-FFF2-40B4-BE49-F238E27FC236}">
                <a16:creationId xmlns:a16="http://schemas.microsoft.com/office/drawing/2014/main" id="{24A90BC7-ED9D-1993-6311-761A449ECF53}"/>
              </a:ext>
            </a:extLst>
          </p:cNvPr>
          <p:cNvSpPr txBox="1"/>
          <p:nvPr/>
        </p:nvSpPr>
        <p:spPr>
          <a:xfrm>
            <a:off x="3587362" y="3619500"/>
            <a:ext cx="349923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DO" sz="105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Participación transaccional consistente y en aumento </a:t>
            </a:r>
            <a:r>
              <a:rPr lang="es-DO" sz="105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en </a:t>
            </a:r>
            <a:r>
              <a:rPr lang="es-DO" sz="105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Masivo, joven y Premium</a:t>
            </a:r>
            <a:r>
              <a:rPr lang="es-DO" sz="105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  <a:endParaRPr lang="es-DO" sz="2800" dirty="0"/>
          </a:p>
        </p:txBody>
      </p:sp>
      <p:sp>
        <p:nvSpPr>
          <p:cNvPr id="653" name="CuadroTexto 652">
            <a:extLst>
              <a:ext uri="{FF2B5EF4-FFF2-40B4-BE49-F238E27FC236}">
                <a16:creationId xmlns:a16="http://schemas.microsoft.com/office/drawing/2014/main" id="{1B103FC8-7C3F-0F67-5E7C-2853DABAA369}"/>
              </a:ext>
            </a:extLst>
          </p:cNvPr>
          <p:cNvSpPr txBox="1"/>
          <p:nvPr/>
        </p:nvSpPr>
        <p:spPr>
          <a:xfrm>
            <a:off x="7451712" y="3619500"/>
            <a:ext cx="34743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DO" sz="11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Crecimiento marcado de </a:t>
            </a:r>
            <a:r>
              <a:rPr lang="es-DO" sz="11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clientes activos </a:t>
            </a:r>
            <a:r>
              <a:rPr lang="es-DO" sz="11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 lo largo del semestre en todos los segmentos.*</a:t>
            </a:r>
            <a:endParaRPr lang="es-DO" sz="3200" dirty="0"/>
          </a:p>
        </p:txBody>
      </p:sp>
      <p:grpSp>
        <p:nvGrpSpPr>
          <p:cNvPr id="875" name="Grupo 874">
            <a:extLst>
              <a:ext uri="{FF2B5EF4-FFF2-40B4-BE49-F238E27FC236}">
                <a16:creationId xmlns:a16="http://schemas.microsoft.com/office/drawing/2014/main" id="{A068E3FC-F6A2-615A-7157-67482F31CFD1}"/>
              </a:ext>
            </a:extLst>
          </p:cNvPr>
          <p:cNvGrpSpPr/>
          <p:nvPr/>
        </p:nvGrpSpPr>
        <p:grpSpPr>
          <a:xfrm>
            <a:off x="304095" y="1952222"/>
            <a:ext cx="2889504" cy="2286000"/>
            <a:chOff x="441107" y="4163075"/>
            <a:chExt cx="2889504" cy="2286000"/>
          </a:xfrm>
        </p:grpSpPr>
        <p:grpSp>
          <p:nvGrpSpPr>
            <p:cNvPr id="658" name="Grupo 657">
              <a:extLst>
                <a:ext uri="{FF2B5EF4-FFF2-40B4-BE49-F238E27FC236}">
                  <a16:creationId xmlns:a16="http://schemas.microsoft.com/office/drawing/2014/main" id="{34EE5AEB-E6C7-48CF-1EA6-B7C3F96B0D19}"/>
                </a:ext>
              </a:extLst>
            </p:cNvPr>
            <p:cNvGrpSpPr/>
            <p:nvPr/>
          </p:nvGrpSpPr>
          <p:grpSpPr>
            <a:xfrm>
              <a:off x="441107" y="4163075"/>
              <a:ext cx="2889504" cy="2286000"/>
              <a:chOff x="441107" y="4163075"/>
              <a:chExt cx="2889504" cy="2286000"/>
            </a:xfrm>
          </p:grpSpPr>
          <p:sp>
            <p:nvSpPr>
              <p:cNvPr id="90" name="Diagrama de flujo: proceso alternativo 89">
                <a:extLst>
                  <a:ext uri="{FF2B5EF4-FFF2-40B4-BE49-F238E27FC236}">
                    <a16:creationId xmlns:a16="http://schemas.microsoft.com/office/drawing/2014/main" id="{863B06AE-1CB2-E91D-02EA-71FB031BEAA8}"/>
                  </a:ext>
                </a:extLst>
              </p:cNvPr>
              <p:cNvSpPr/>
              <p:nvPr/>
            </p:nvSpPr>
            <p:spPr>
              <a:xfrm>
                <a:off x="441107" y="4163075"/>
                <a:ext cx="2889504" cy="228600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  <p:sp>
            <p:nvSpPr>
              <p:cNvPr id="102" name="CuadroTexto 101">
                <a:extLst>
                  <a:ext uri="{FF2B5EF4-FFF2-40B4-BE49-F238E27FC236}">
                    <a16:creationId xmlns:a16="http://schemas.microsoft.com/office/drawing/2014/main" id="{33347BE3-C7A8-B2A4-27F9-AEF258C38489}"/>
                  </a:ext>
                </a:extLst>
              </p:cNvPr>
              <p:cNvSpPr txBox="1"/>
              <p:nvPr/>
            </p:nvSpPr>
            <p:spPr>
              <a:xfrm>
                <a:off x="1314070" y="4335780"/>
                <a:ext cx="12613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 err="1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Restaurantes</a:t>
                </a:r>
                <a:endParaRPr lang="es-DO" sz="1400" b="1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grpSp>
            <p:nvGrpSpPr>
              <p:cNvPr id="649" name="Grupo 648">
                <a:extLst>
                  <a:ext uri="{FF2B5EF4-FFF2-40B4-BE49-F238E27FC236}">
                    <a16:creationId xmlns:a16="http://schemas.microsoft.com/office/drawing/2014/main" id="{90DD5DAA-241A-246E-C95A-011578B5784C}"/>
                  </a:ext>
                </a:extLst>
              </p:cNvPr>
              <p:cNvGrpSpPr/>
              <p:nvPr/>
            </p:nvGrpSpPr>
            <p:grpSpPr>
              <a:xfrm>
                <a:off x="558669" y="5754153"/>
                <a:ext cx="2738005" cy="600164"/>
                <a:chOff x="441679" y="5548454"/>
                <a:chExt cx="2738005" cy="600164"/>
              </a:xfrm>
            </p:grpSpPr>
            <p:sp>
              <p:nvSpPr>
                <p:cNvPr id="107" name="CuadroTexto 106">
                  <a:extLst>
                    <a:ext uri="{FF2B5EF4-FFF2-40B4-BE49-F238E27FC236}">
                      <a16:creationId xmlns:a16="http://schemas.microsoft.com/office/drawing/2014/main" id="{2014BBB1-0564-8552-3151-8374D3F1CC09}"/>
                    </a:ext>
                  </a:extLst>
                </p:cNvPr>
                <p:cNvSpPr txBox="1"/>
                <p:nvPr/>
              </p:nvSpPr>
              <p:spPr>
                <a:xfrm>
                  <a:off x="671152" y="5548454"/>
                  <a:ext cx="2508532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DO" sz="110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Nicho en segmento premium</a:t>
                  </a:r>
                  <a:r>
                    <a:rPr lang="es-DO" sz="11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: entran más clientes; los clientes parecen usar relativamente más el rubro. </a:t>
                  </a:r>
                </a:p>
              </p:txBody>
            </p:sp>
            <p:pic>
              <p:nvPicPr>
                <p:cNvPr id="648" name="Imagen 647">
                  <a:extLst>
                    <a:ext uri="{FF2B5EF4-FFF2-40B4-BE49-F238E27FC236}">
                      <a16:creationId xmlns:a16="http://schemas.microsoft.com/office/drawing/2014/main" id="{8EE214E2-EF64-125B-9B32-1996460FAC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1679" y="5599085"/>
                  <a:ext cx="269000" cy="269000"/>
                </a:xfrm>
                <a:prstGeom prst="rect">
                  <a:avLst/>
                </a:prstGeom>
              </p:spPr>
            </p:pic>
          </p:grpSp>
          <p:pic>
            <p:nvPicPr>
              <p:cNvPr id="657" name="Imagen 656">
                <a:extLst>
                  <a:ext uri="{FF2B5EF4-FFF2-40B4-BE49-F238E27FC236}">
                    <a16:creationId xmlns:a16="http://schemas.microsoft.com/office/drawing/2014/main" id="{7AB0756A-B6F2-8D9E-82FC-281F5FA7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408540" y="4686300"/>
                <a:ext cx="877460" cy="877460"/>
              </a:xfrm>
              <a:prstGeom prst="rect">
                <a:avLst/>
              </a:prstGeom>
            </p:spPr>
          </p:pic>
        </p:grpSp>
        <p:grpSp>
          <p:nvGrpSpPr>
            <p:cNvPr id="866" name="Grupo 865">
              <a:extLst>
                <a:ext uri="{FF2B5EF4-FFF2-40B4-BE49-F238E27FC236}">
                  <a16:creationId xmlns:a16="http://schemas.microsoft.com/office/drawing/2014/main" id="{76B49C2D-5BC4-2BEE-6F9A-F2C38587E494}"/>
                </a:ext>
              </a:extLst>
            </p:cNvPr>
            <p:cNvGrpSpPr/>
            <p:nvPr/>
          </p:nvGrpSpPr>
          <p:grpSpPr>
            <a:xfrm>
              <a:off x="2956412" y="4345447"/>
              <a:ext cx="330642" cy="592927"/>
              <a:chOff x="619979" y="4356191"/>
              <a:chExt cx="330642" cy="592927"/>
            </a:xfrm>
          </p:grpSpPr>
          <p:grpSp>
            <p:nvGrpSpPr>
              <p:cNvPr id="863" name="Grupo 862">
                <a:extLst>
                  <a:ext uri="{FF2B5EF4-FFF2-40B4-BE49-F238E27FC236}">
                    <a16:creationId xmlns:a16="http://schemas.microsoft.com/office/drawing/2014/main" id="{6AAF75A4-8706-9FCC-137B-133D24292DE1}"/>
                  </a:ext>
                </a:extLst>
              </p:cNvPr>
              <p:cNvGrpSpPr/>
              <p:nvPr/>
            </p:nvGrpSpPr>
            <p:grpSpPr>
              <a:xfrm>
                <a:off x="619979" y="4782312"/>
                <a:ext cx="330642" cy="166806"/>
                <a:chOff x="843176" y="4240358"/>
                <a:chExt cx="330642" cy="166806"/>
              </a:xfrm>
            </p:grpSpPr>
            <p:pic>
              <p:nvPicPr>
                <p:cNvPr id="860" name="Imagen 859">
                  <a:extLst>
                    <a:ext uri="{FF2B5EF4-FFF2-40B4-BE49-F238E27FC236}">
                      <a16:creationId xmlns:a16="http://schemas.microsoft.com/office/drawing/2014/main" id="{98E3166F-8E2F-00E6-8D9E-8D89B38CAC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176" y="4240358"/>
                  <a:ext cx="166806" cy="166806"/>
                </a:xfrm>
                <a:prstGeom prst="rect">
                  <a:avLst/>
                </a:prstGeom>
              </p:spPr>
            </p:pic>
            <p:pic>
              <p:nvPicPr>
                <p:cNvPr id="861" name="Imagen 860">
                  <a:extLst>
                    <a:ext uri="{FF2B5EF4-FFF2-40B4-BE49-F238E27FC236}">
                      <a16:creationId xmlns:a16="http://schemas.microsoft.com/office/drawing/2014/main" id="{BEE4246F-0355-F371-1ECF-CCA317827B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094" y="4240358"/>
                  <a:ext cx="166806" cy="166806"/>
                </a:xfrm>
                <a:prstGeom prst="rect">
                  <a:avLst/>
                </a:prstGeom>
              </p:spPr>
            </p:pic>
            <p:pic>
              <p:nvPicPr>
                <p:cNvPr id="862" name="Imagen 861">
                  <a:extLst>
                    <a:ext uri="{FF2B5EF4-FFF2-40B4-BE49-F238E27FC236}">
                      <a16:creationId xmlns:a16="http://schemas.microsoft.com/office/drawing/2014/main" id="{E19B63C8-B493-4F3C-839D-CACACD79D6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7012" y="4240358"/>
                  <a:ext cx="166806" cy="166806"/>
                </a:xfrm>
                <a:prstGeom prst="rect">
                  <a:avLst/>
                </a:prstGeom>
              </p:spPr>
            </p:pic>
          </p:grpSp>
          <p:pic>
            <p:nvPicPr>
              <p:cNvPr id="864" name="Imagen 863">
                <a:extLst>
                  <a:ext uri="{FF2B5EF4-FFF2-40B4-BE49-F238E27FC236}">
                    <a16:creationId xmlns:a16="http://schemas.microsoft.com/office/drawing/2014/main" id="{DBBA006C-2F5A-3DD1-5348-26FD6A1B47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95898" y="4599081"/>
                <a:ext cx="159171" cy="159171"/>
              </a:xfrm>
              <a:prstGeom prst="rect">
                <a:avLst/>
              </a:prstGeom>
            </p:spPr>
          </p:pic>
          <p:pic>
            <p:nvPicPr>
              <p:cNvPr id="865" name="Imagen 864">
                <a:extLst>
                  <a:ext uri="{FF2B5EF4-FFF2-40B4-BE49-F238E27FC236}">
                    <a16:creationId xmlns:a16="http://schemas.microsoft.com/office/drawing/2014/main" id="{3EB619FD-15E6-4C6F-C2C5-018D3CA73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3903" y="4356191"/>
                <a:ext cx="211296" cy="211296"/>
              </a:xfrm>
              <a:prstGeom prst="rect">
                <a:avLst/>
              </a:prstGeom>
            </p:spPr>
          </p:pic>
        </p:grpSp>
      </p:grpSp>
      <p:grpSp>
        <p:nvGrpSpPr>
          <p:cNvPr id="1155" name="Grupo 1154">
            <a:extLst>
              <a:ext uri="{FF2B5EF4-FFF2-40B4-BE49-F238E27FC236}">
                <a16:creationId xmlns:a16="http://schemas.microsoft.com/office/drawing/2014/main" id="{DFA7BFA2-22BE-4076-F204-07B88C74545E}"/>
              </a:ext>
            </a:extLst>
          </p:cNvPr>
          <p:cNvGrpSpPr/>
          <p:nvPr/>
        </p:nvGrpSpPr>
        <p:grpSpPr>
          <a:xfrm>
            <a:off x="304095" y="4455132"/>
            <a:ext cx="2889504" cy="2286000"/>
            <a:chOff x="304095" y="4887360"/>
            <a:chExt cx="2889504" cy="2286000"/>
          </a:xfrm>
        </p:grpSpPr>
        <p:grpSp>
          <p:nvGrpSpPr>
            <p:cNvPr id="753" name="Grupo 752">
              <a:extLst>
                <a:ext uri="{FF2B5EF4-FFF2-40B4-BE49-F238E27FC236}">
                  <a16:creationId xmlns:a16="http://schemas.microsoft.com/office/drawing/2014/main" id="{BB725F30-5E4E-99BB-3D2E-40AE0D687241}"/>
                </a:ext>
              </a:extLst>
            </p:cNvPr>
            <p:cNvGrpSpPr/>
            <p:nvPr/>
          </p:nvGrpSpPr>
          <p:grpSpPr>
            <a:xfrm>
              <a:off x="304095" y="4887360"/>
              <a:ext cx="2889504" cy="2286000"/>
              <a:chOff x="441107" y="4186138"/>
              <a:chExt cx="2889504" cy="2286000"/>
            </a:xfrm>
          </p:grpSpPr>
          <p:sp>
            <p:nvSpPr>
              <p:cNvPr id="754" name="Diagrama de flujo: proceso alternativo 753">
                <a:extLst>
                  <a:ext uri="{FF2B5EF4-FFF2-40B4-BE49-F238E27FC236}">
                    <a16:creationId xmlns:a16="http://schemas.microsoft.com/office/drawing/2014/main" id="{D78155FC-8EAA-2475-C42D-1DAE00403469}"/>
                  </a:ext>
                </a:extLst>
              </p:cNvPr>
              <p:cNvSpPr/>
              <p:nvPr/>
            </p:nvSpPr>
            <p:spPr>
              <a:xfrm>
                <a:off x="441107" y="4186138"/>
                <a:ext cx="2889504" cy="228600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  <p:sp>
            <p:nvSpPr>
              <p:cNvPr id="755" name="CuadroTexto 754">
                <a:extLst>
                  <a:ext uri="{FF2B5EF4-FFF2-40B4-BE49-F238E27FC236}">
                    <a16:creationId xmlns:a16="http://schemas.microsoft.com/office/drawing/2014/main" id="{DFD4FAB4-27AC-E987-72F9-3D9FE04370B9}"/>
                  </a:ext>
                </a:extLst>
              </p:cNvPr>
              <p:cNvSpPr txBox="1"/>
              <p:nvPr/>
            </p:nvSpPr>
            <p:spPr>
              <a:xfrm>
                <a:off x="1322325" y="4382485"/>
                <a:ext cx="125217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 err="1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Farmacias</a:t>
                </a:r>
                <a:endParaRPr lang="es-DO" sz="1600" b="1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grpSp>
            <p:nvGrpSpPr>
              <p:cNvPr id="756" name="Grupo 755">
                <a:extLst>
                  <a:ext uri="{FF2B5EF4-FFF2-40B4-BE49-F238E27FC236}">
                    <a16:creationId xmlns:a16="http://schemas.microsoft.com/office/drawing/2014/main" id="{29AB78DA-67BE-40BB-3D9A-F3E54E0F78F1}"/>
                  </a:ext>
                </a:extLst>
              </p:cNvPr>
              <p:cNvGrpSpPr/>
              <p:nvPr/>
            </p:nvGrpSpPr>
            <p:grpSpPr>
              <a:xfrm>
                <a:off x="594212" y="5941306"/>
                <a:ext cx="2568303" cy="415498"/>
                <a:chOff x="477222" y="5735607"/>
                <a:chExt cx="2568303" cy="415498"/>
              </a:xfrm>
            </p:grpSpPr>
            <p:sp>
              <p:nvSpPr>
                <p:cNvPr id="758" name="CuadroTexto 757">
                  <a:extLst>
                    <a:ext uri="{FF2B5EF4-FFF2-40B4-BE49-F238E27FC236}">
                      <a16:creationId xmlns:a16="http://schemas.microsoft.com/office/drawing/2014/main" id="{54C79A71-433B-ADAC-AD77-44102D46586E}"/>
                    </a:ext>
                  </a:extLst>
                </p:cNvPr>
                <p:cNvSpPr txBox="1"/>
                <p:nvPr/>
              </p:nvSpPr>
              <p:spPr>
                <a:xfrm>
                  <a:off x="730834" y="5735607"/>
                  <a:ext cx="2314691" cy="41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Estabilidad</a:t>
                  </a:r>
                  <a:r>
                    <a:rPr lang="en-US" sz="105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de </a:t>
                  </a:r>
                  <a:r>
                    <a:rPr lang="en-US" sz="105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comportamiento</a:t>
                  </a:r>
                  <a:r>
                    <a:rPr lang="en-US" sz="105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y </a:t>
                  </a:r>
                  <a:r>
                    <a:rPr lang="en-US" sz="1050" b="1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rubro</a:t>
                  </a:r>
                  <a:r>
                    <a:rPr lang="en-US" sz="105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de </a:t>
                  </a:r>
                  <a:r>
                    <a:rPr lang="en-US" sz="1050" b="1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recurrencia</a:t>
                  </a:r>
                  <a:r>
                    <a:rPr lang="en-US" sz="105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en Empresarial.</a:t>
                  </a:r>
                  <a:endParaRPr lang="es-DO" sz="1050" b="1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759" name="Imagen 758">
                  <a:extLst>
                    <a:ext uri="{FF2B5EF4-FFF2-40B4-BE49-F238E27FC236}">
                      <a16:creationId xmlns:a16="http://schemas.microsoft.com/office/drawing/2014/main" id="{0428EBD0-5632-5503-61E6-8A82070A3C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7222" y="5773735"/>
                  <a:ext cx="269000" cy="269000"/>
                </a:xfrm>
                <a:prstGeom prst="rect">
                  <a:avLst/>
                </a:prstGeom>
              </p:spPr>
            </p:pic>
          </p:grpSp>
          <p:pic>
            <p:nvPicPr>
              <p:cNvPr id="757" name="Imagen 756">
                <a:extLst>
                  <a:ext uri="{FF2B5EF4-FFF2-40B4-BE49-F238E27FC236}">
                    <a16:creationId xmlns:a16="http://schemas.microsoft.com/office/drawing/2014/main" id="{8D3F73F3-8856-5CDF-43C6-373B14DB85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432412" y="4861378"/>
                <a:ext cx="888346" cy="888346"/>
              </a:xfrm>
              <a:prstGeom prst="rect">
                <a:avLst/>
              </a:prstGeom>
            </p:spPr>
          </p:pic>
        </p:grpSp>
        <p:grpSp>
          <p:nvGrpSpPr>
            <p:cNvPr id="886" name="Grupo 885">
              <a:extLst>
                <a:ext uri="{FF2B5EF4-FFF2-40B4-BE49-F238E27FC236}">
                  <a16:creationId xmlns:a16="http://schemas.microsoft.com/office/drawing/2014/main" id="{819F1394-D8A8-F355-8ED7-3C35D6FA9527}"/>
                </a:ext>
              </a:extLst>
            </p:cNvPr>
            <p:cNvGrpSpPr/>
            <p:nvPr/>
          </p:nvGrpSpPr>
          <p:grpSpPr>
            <a:xfrm>
              <a:off x="2865031" y="5180379"/>
              <a:ext cx="175893" cy="547749"/>
              <a:chOff x="2826361" y="6331286"/>
              <a:chExt cx="175893" cy="547749"/>
            </a:xfrm>
          </p:grpSpPr>
          <p:pic>
            <p:nvPicPr>
              <p:cNvPr id="869" name="Imagen 868">
                <a:extLst>
                  <a:ext uri="{FF2B5EF4-FFF2-40B4-BE49-F238E27FC236}">
                    <a16:creationId xmlns:a16="http://schemas.microsoft.com/office/drawing/2014/main" id="{F73C628A-DC4E-38E3-4678-9B4ABA6EA7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832546" y="6539183"/>
                <a:ext cx="169708" cy="169708"/>
              </a:xfrm>
              <a:prstGeom prst="rect">
                <a:avLst/>
              </a:prstGeom>
            </p:spPr>
          </p:pic>
          <p:pic>
            <p:nvPicPr>
              <p:cNvPr id="870" name="Imagen 869">
                <a:extLst>
                  <a:ext uri="{FF2B5EF4-FFF2-40B4-BE49-F238E27FC236}">
                    <a16:creationId xmlns:a16="http://schemas.microsoft.com/office/drawing/2014/main" id="{21A412D5-7ED2-3620-8C63-99011797B8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826361" y="6331286"/>
                <a:ext cx="166749" cy="166749"/>
              </a:xfrm>
              <a:prstGeom prst="rect">
                <a:avLst/>
              </a:prstGeom>
            </p:spPr>
          </p:pic>
          <p:pic>
            <p:nvPicPr>
              <p:cNvPr id="883" name="Imagen 882">
                <a:extLst>
                  <a:ext uri="{FF2B5EF4-FFF2-40B4-BE49-F238E27FC236}">
                    <a16:creationId xmlns:a16="http://schemas.microsoft.com/office/drawing/2014/main" id="{5A7C2E94-1322-EEE0-E42A-D09A4AD935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841690" y="6733892"/>
                <a:ext cx="145143" cy="145143"/>
              </a:xfrm>
              <a:prstGeom prst="rect">
                <a:avLst/>
              </a:prstGeom>
            </p:spPr>
          </p:pic>
        </p:grpSp>
      </p:grpSp>
      <p:sp>
        <p:nvSpPr>
          <p:cNvPr id="661" name="Diagrama de flujo: proceso alternativo 660">
            <a:extLst>
              <a:ext uri="{FF2B5EF4-FFF2-40B4-BE49-F238E27FC236}">
                <a16:creationId xmlns:a16="http://schemas.microsoft.com/office/drawing/2014/main" id="{B73CD9AD-CEA4-148D-1E23-96C70D8398CD}"/>
              </a:ext>
            </a:extLst>
          </p:cNvPr>
          <p:cNvSpPr/>
          <p:nvPr/>
        </p:nvSpPr>
        <p:spPr>
          <a:xfrm>
            <a:off x="3317295" y="4455132"/>
            <a:ext cx="8036505" cy="22860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/>
          </a:p>
        </p:txBody>
      </p:sp>
      <p:sp>
        <p:nvSpPr>
          <p:cNvPr id="668" name="CuadroTexto 667">
            <a:extLst>
              <a:ext uri="{FF2B5EF4-FFF2-40B4-BE49-F238E27FC236}">
                <a16:creationId xmlns:a16="http://schemas.microsoft.com/office/drawing/2014/main" id="{3450F82A-FFFA-F151-D9F3-F71D7152F7C9}"/>
              </a:ext>
            </a:extLst>
          </p:cNvPr>
          <p:cNvSpPr txBox="1"/>
          <p:nvPr/>
        </p:nvSpPr>
        <p:spPr>
          <a:xfrm>
            <a:off x="3429000" y="6398400"/>
            <a:ext cx="380999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DO" sz="105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Crecimiento moderado </a:t>
            </a:r>
            <a:r>
              <a:rPr lang="es-DO" sz="105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en participación mensual transaccional. </a:t>
            </a:r>
            <a:endParaRPr lang="es-DO" sz="1050" dirty="0"/>
          </a:p>
        </p:txBody>
      </p:sp>
      <p:sp>
        <p:nvSpPr>
          <p:cNvPr id="669" name="CuadroTexto 668">
            <a:extLst>
              <a:ext uri="{FF2B5EF4-FFF2-40B4-BE49-F238E27FC236}">
                <a16:creationId xmlns:a16="http://schemas.microsoft.com/office/drawing/2014/main" id="{3DA5C7D4-004B-2B63-223E-3FE3F160A66E}"/>
              </a:ext>
            </a:extLst>
          </p:cNvPr>
          <p:cNvSpPr txBox="1"/>
          <p:nvPr/>
        </p:nvSpPr>
        <p:spPr>
          <a:xfrm>
            <a:off x="7557219" y="6267390"/>
            <a:ext cx="35679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DO" sz="11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tercer lugar en número de transacciones </a:t>
            </a:r>
            <a:r>
              <a:rPr lang="es-DO" sz="11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en todos los segmentos*</a:t>
            </a:r>
            <a:endParaRPr lang="es-DO" sz="3200" dirty="0"/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23FE5878-9ACC-309A-13E2-5F086B47A110}"/>
              </a:ext>
            </a:extLst>
          </p:cNvPr>
          <p:cNvGrpSpPr/>
          <p:nvPr/>
        </p:nvGrpSpPr>
        <p:grpSpPr>
          <a:xfrm>
            <a:off x="4419600" y="2344890"/>
            <a:ext cx="728581" cy="1137450"/>
            <a:chOff x="4474317" y="2344890"/>
            <a:chExt cx="728581" cy="1137450"/>
          </a:xfrm>
        </p:grpSpPr>
        <p:grpSp>
          <p:nvGrpSpPr>
            <p:cNvPr id="115" name="Grupo 114">
              <a:extLst>
                <a:ext uri="{FF2B5EF4-FFF2-40B4-BE49-F238E27FC236}">
                  <a16:creationId xmlns:a16="http://schemas.microsoft.com/office/drawing/2014/main" id="{F706DE9D-76BE-D0D6-CDF1-3297D27F119C}"/>
                </a:ext>
              </a:extLst>
            </p:cNvPr>
            <p:cNvGrpSpPr/>
            <p:nvPr/>
          </p:nvGrpSpPr>
          <p:grpSpPr>
            <a:xfrm>
              <a:off x="4474317" y="2344890"/>
              <a:ext cx="728581" cy="474821"/>
              <a:chOff x="4313851" y="4979342"/>
              <a:chExt cx="728581" cy="474821"/>
            </a:xfrm>
          </p:grpSpPr>
          <p:sp>
            <p:nvSpPr>
              <p:cNvPr id="113" name="CuadroTexto 112">
                <a:extLst>
                  <a:ext uri="{FF2B5EF4-FFF2-40B4-BE49-F238E27FC236}">
                    <a16:creationId xmlns:a16="http://schemas.microsoft.com/office/drawing/2014/main" id="{C8B68AA8-D13F-73D8-E4B1-2E26C5877AAC}"/>
                  </a:ext>
                </a:extLst>
              </p:cNvPr>
              <p:cNvSpPr txBox="1"/>
              <p:nvPr/>
            </p:nvSpPr>
            <p:spPr>
              <a:xfrm>
                <a:off x="4313851" y="4979342"/>
                <a:ext cx="7208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52B047"/>
                    </a:solidFill>
                  </a:rPr>
                  <a:t>+28%</a:t>
                </a:r>
                <a:endParaRPr lang="es-DO" b="1" dirty="0">
                  <a:solidFill>
                    <a:srgbClr val="52B047"/>
                  </a:solidFill>
                </a:endParaRPr>
              </a:p>
            </p:txBody>
          </p:sp>
          <p:sp>
            <p:nvSpPr>
              <p:cNvPr id="114" name="CuadroTexto 113">
                <a:extLst>
                  <a:ext uri="{FF2B5EF4-FFF2-40B4-BE49-F238E27FC236}">
                    <a16:creationId xmlns:a16="http://schemas.microsoft.com/office/drawing/2014/main" id="{390D334E-7CEB-9D78-721B-5E84D1A17002}"/>
                  </a:ext>
                </a:extLst>
              </p:cNvPr>
              <p:cNvSpPr txBox="1"/>
              <p:nvPr/>
            </p:nvSpPr>
            <p:spPr>
              <a:xfrm>
                <a:off x="4356633" y="5207942"/>
                <a:ext cx="68579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  Joven</a:t>
                </a:r>
                <a:endParaRPr lang="es-DO" sz="1000" b="1" dirty="0"/>
              </a:p>
            </p:txBody>
          </p:sp>
        </p:grpSp>
        <p:grpSp>
          <p:nvGrpSpPr>
            <p:cNvPr id="1176" name="Grupo 1175">
              <a:extLst>
                <a:ext uri="{FF2B5EF4-FFF2-40B4-BE49-F238E27FC236}">
                  <a16:creationId xmlns:a16="http://schemas.microsoft.com/office/drawing/2014/main" id="{DE91CE4E-BC17-5AB5-E5EE-730502849DB2}"/>
                </a:ext>
              </a:extLst>
            </p:cNvPr>
            <p:cNvGrpSpPr/>
            <p:nvPr/>
          </p:nvGrpSpPr>
          <p:grpSpPr>
            <a:xfrm>
              <a:off x="4626717" y="2781302"/>
              <a:ext cx="369133" cy="701038"/>
              <a:chOff x="4431467" y="2822778"/>
              <a:chExt cx="369133" cy="659562"/>
            </a:xfrm>
          </p:grpSpPr>
          <p:pic>
            <p:nvPicPr>
              <p:cNvPr id="1171" name="Imagen 1170">
                <a:extLst>
                  <a:ext uri="{FF2B5EF4-FFF2-40B4-BE49-F238E27FC236}">
                    <a16:creationId xmlns:a16="http://schemas.microsoft.com/office/drawing/2014/main" id="{E36BB7F5-62AD-677B-FE88-00633BC7AB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431467" y="2822778"/>
                <a:ext cx="369133" cy="629684"/>
              </a:xfrm>
              <a:prstGeom prst="rect">
                <a:avLst/>
              </a:prstGeom>
            </p:spPr>
          </p:pic>
          <p:cxnSp>
            <p:nvCxnSpPr>
              <p:cNvPr id="1174" name="Conector recto 1173">
                <a:extLst>
                  <a:ext uri="{FF2B5EF4-FFF2-40B4-BE49-F238E27FC236}">
                    <a16:creationId xmlns:a16="http://schemas.microsoft.com/office/drawing/2014/main" id="{D0919AEA-AF77-75DB-D823-8A11AA4889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7720" y="3024541"/>
                <a:ext cx="0" cy="457799"/>
              </a:xfrm>
              <a:prstGeom prst="line">
                <a:avLst/>
              </a:prstGeom>
              <a:ln w="69850">
                <a:solidFill>
                  <a:srgbClr val="4FBA6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84" name="Grupo 1183">
            <a:extLst>
              <a:ext uri="{FF2B5EF4-FFF2-40B4-BE49-F238E27FC236}">
                <a16:creationId xmlns:a16="http://schemas.microsoft.com/office/drawing/2014/main" id="{4EEDBF72-E4FD-F2AF-6491-7CA5B45A68EC}"/>
              </a:ext>
            </a:extLst>
          </p:cNvPr>
          <p:cNvGrpSpPr/>
          <p:nvPr/>
        </p:nvGrpSpPr>
        <p:grpSpPr>
          <a:xfrm>
            <a:off x="4910219" y="2019300"/>
            <a:ext cx="728581" cy="1456922"/>
            <a:chOff x="4876800" y="2095500"/>
            <a:chExt cx="728581" cy="1380722"/>
          </a:xfrm>
        </p:grpSpPr>
        <p:sp>
          <p:nvSpPr>
            <p:cNvPr id="1168" name="CuadroTexto 1167">
              <a:extLst>
                <a:ext uri="{FF2B5EF4-FFF2-40B4-BE49-F238E27FC236}">
                  <a16:creationId xmlns:a16="http://schemas.microsoft.com/office/drawing/2014/main" id="{F8C04CD7-ABDF-C771-B8DF-10F284BE31A3}"/>
                </a:ext>
              </a:extLst>
            </p:cNvPr>
            <p:cNvSpPr txBox="1"/>
            <p:nvPr/>
          </p:nvSpPr>
          <p:spPr>
            <a:xfrm>
              <a:off x="4876800" y="2095500"/>
              <a:ext cx="720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52B047"/>
                  </a:solidFill>
                </a:rPr>
                <a:t>+39%</a:t>
              </a:r>
              <a:endParaRPr lang="es-DO" b="1" dirty="0">
                <a:solidFill>
                  <a:srgbClr val="52B047"/>
                </a:solidFill>
              </a:endParaRPr>
            </a:p>
          </p:txBody>
        </p:sp>
        <p:sp>
          <p:nvSpPr>
            <p:cNvPr id="1169" name="CuadroTexto 1168">
              <a:extLst>
                <a:ext uri="{FF2B5EF4-FFF2-40B4-BE49-F238E27FC236}">
                  <a16:creationId xmlns:a16="http://schemas.microsoft.com/office/drawing/2014/main" id="{C34FCE3B-03C0-AED0-9AD4-353E764A7D37}"/>
                </a:ext>
              </a:extLst>
            </p:cNvPr>
            <p:cNvSpPr txBox="1"/>
            <p:nvPr/>
          </p:nvSpPr>
          <p:spPr>
            <a:xfrm>
              <a:off x="4919582" y="2324100"/>
              <a:ext cx="6857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Premium</a:t>
              </a:r>
              <a:endParaRPr lang="es-DO" sz="1000" b="1" dirty="0"/>
            </a:p>
          </p:txBody>
        </p:sp>
        <p:grpSp>
          <p:nvGrpSpPr>
            <p:cNvPr id="1177" name="Grupo 1176">
              <a:extLst>
                <a:ext uri="{FF2B5EF4-FFF2-40B4-BE49-F238E27FC236}">
                  <a16:creationId xmlns:a16="http://schemas.microsoft.com/office/drawing/2014/main" id="{29FB6D56-CA5D-DCBD-DD3F-3E2C87F255CE}"/>
                </a:ext>
              </a:extLst>
            </p:cNvPr>
            <p:cNvGrpSpPr/>
            <p:nvPr/>
          </p:nvGrpSpPr>
          <p:grpSpPr>
            <a:xfrm>
              <a:off x="5041067" y="2515808"/>
              <a:ext cx="369133" cy="960414"/>
              <a:chOff x="4431467" y="2822776"/>
              <a:chExt cx="369133" cy="960414"/>
            </a:xfrm>
          </p:grpSpPr>
          <p:pic>
            <p:nvPicPr>
              <p:cNvPr id="1178" name="Imagen 1177">
                <a:extLst>
                  <a:ext uri="{FF2B5EF4-FFF2-40B4-BE49-F238E27FC236}">
                    <a16:creationId xmlns:a16="http://schemas.microsoft.com/office/drawing/2014/main" id="{CA64E8FB-867C-A598-FD32-61A22B273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431467" y="2822776"/>
                <a:ext cx="369133" cy="629684"/>
              </a:xfrm>
              <a:prstGeom prst="rect">
                <a:avLst/>
              </a:prstGeom>
            </p:spPr>
          </p:pic>
          <p:cxnSp>
            <p:nvCxnSpPr>
              <p:cNvPr id="1179" name="Conector recto 1178">
                <a:extLst>
                  <a:ext uri="{FF2B5EF4-FFF2-40B4-BE49-F238E27FC236}">
                    <a16:creationId xmlns:a16="http://schemas.microsoft.com/office/drawing/2014/main" id="{1EA3ABBD-C6C9-F77B-A1DF-52F0CC64BA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7720" y="3024541"/>
                <a:ext cx="0" cy="758649"/>
              </a:xfrm>
              <a:prstGeom prst="line">
                <a:avLst/>
              </a:prstGeom>
              <a:ln w="69850">
                <a:solidFill>
                  <a:srgbClr val="4FBA6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3" name="Grupo 1402">
            <a:extLst>
              <a:ext uri="{FF2B5EF4-FFF2-40B4-BE49-F238E27FC236}">
                <a16:creationId xmlns:a16="http://schemas.microsoft.com/office/drawing/2014/main" id="{E705EA99-FB3B-574F-3B6D-A6026BA9BC44}"/>
              </a:ext>
            </a:extLst>
          </p:cNvPr>
          <p:cNvGrpSpPr/>
          <p:nvPr/>
        </p:nvGrpSpPr>
        <p:grpSpPr>
          <a:xfrm>
            <a:off x="3886200" y="2552700"/>
            <a:ext cx="728581" cy="923522"/>
            <a:chOff x="3657600" y="2552700"/>
            <a:chExt cx="728581" cy="923522"/>
          </a:xfrm>
        </p:grpSpPr>
        <p:sp>
          <p:nvSpPr>
            <p:cNvPr id="1166" name="CuadroTexto 1165">
              <a:extLst>
                <a:ext uri="{FF2B5EF4-FFF2-40B4-BE49-F238E27FC236}">
                  <a16:creationId xmlns:a16="http://schemas.microsoft.com/office/drawing/2014/main" id="{E03AB08E-2FD8-D625-7CFA-7050146DAF97}"/>
                </a:ext>
              </a:extLst>
            </p:cNvPr>
            <p:cNvSpPr txBox="1"/>
            <p:nvPr/>
          </p:nvSpPr>
          <p:spPr>
            <a:xfrm>
              <a:off x="3657600" y="2552700"/>
              <a:ext cx="720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52B047"/>
                  </a:solidFill>
                </a:rPr>
                <a:t>+22%</a:t>
              </a:r>
              <a:endParaRPr lang="es-DO" b="1" dirty="0">
                <a:solidFill>
                  <a:srgbClr val="52B047"/>
                </a:solidFill>
              </a:endParaRPr>
            </a:p>
          </p:txBody>
        </p:sp>
        <p:sp>
          <p:nvSpPr>
            <p:cNvPr id="1167" name="CuadroTexto 1166">
              <a:extLst>
                <a:ext uri="{FF2B5EF4-FFF2-40B4-BE49-F238E27FC236}">
                  <a16:creationId xmlns:a16="http://schemas.microsoft.com/office/drawing/2014/main" id="{0FB4525B-0F28-DE38-24C0-382CE7731B97}"/>
                </a:ext>
              </a:extLst>
            </p:cNvPr>
            <p:cNvSpPr txBox="1"/>
            <p:nvPr/>
          </p:nvSpPr>
          <p:spPr>
            <a:xfrm>
              <a:off x="3700382" y="2781300"/>
              <a:ext cx="6857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 </a:t>
              </a:r>
              <a:r>
                <a:rPr lang="en-US" sz="1000" b="1" dirty="0" err="1"/>
                <a:t>Masivo</a:t>
              </a:r>
              <a:endParaRPr lang="es-DO" sz="1000" b="1" dirty="0"/>
            </a:p>
          </p:txBody>
        </p:sp>
        <p:grpSp>
          <p:nvGrpSpPr>
            <p:cNvPr id="1181" name="Grupo 1180">
              <a:extLst>
                <a:ext uri="{FF2B5EF4-FFF2-40B4-BE49-F238E27FC236}">
                  <a16:creationId xmlns:a16="http://schemas.microsoft.com/office/drawing/2014/main" id="{F47A1931-8773-DCF4-F8E4-DE645C8C1A74}"/>
                </a:ext>
              </a:extLst>
            </p:cNvPr>
            <p:cNvGrpSpPr/>
            <p:nvPr/>
          </p:nvGrpSpPr>
          <p:grpSpPr>
            <a:xfrm>
              <a:off x="3801568" y="2973054"/>
              <a:ext cx="369133" cy="503168"/>
              <a:chOff x="4431467" y="2822776"/>
              <a:chExt cx="369133" cy="659564"/>
            </a:xfrm>
          </p:grpSpPr>
          <p:pic>
            <p:nvPicPr>
              <p:cNvPr id="1182" name="Imagen 1181">
                <a:extLst>
                  <a:ext uri="{FF2B5EF4-FFF2-40B4-BE49-F238E27FC236}">
                    <a16:creationId xmlns:a16="http://schemas.microsoft.com/office/drawing/2014/main" id="{A98E0E78-05A2-8F53-9F33-21D8E00DE8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431467" y="2822776"/>
                <a:ext cx="369133" cy="629684"/>
              </a:xfrm>
              <a:prstGeom prst="rect">
                <a:avLst/>
              </a:prstGeom>
            </p:spPr>
          </p:pic>
          <p:cxnSp>
            <p:nvCxnSpPr>
              <p:cNvPr id="1183" name="Conector recto 1182">
                <a:extLst>
                  <a:ext uri="{FF2B5EF4-FFF2-40B4-BE49-F238E27FC236}">
                    <a16:creationId xmlns:a16="http://schemas.microsoft.com/office/drawing/2014/main" id="{2660E0E9-FB14-EA37-3B11-4E55C1155A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7720" y="3024541"/>
                <a:ext cx="0" cy="457799"/>
              </a:xfrm>
              <a:prstGeom prst="line">
                <a:avLst/>
              </a:prstGeom>
              <a:ln w="69850">
                <a:solidFill>
                  <a:srgbClr val="4FBA6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92FFD8C2-EBE2-90A9-9D27-0A489BF1A3A7}"/>
              </a:ext>
            </a:extLst>
          </p:cNvPr>
          <p:cNvGrpSpPr/>
          <p:nvPr/>
        </p:nvGrpSpPr>
        <p:grpSpPr>
          <a:xfrm>
            <a:off x="13225054" y="1866900"/>
            <a:ext cx="3843746" cy="270597"/>
            <a:chOff x="6019800" y="3053090"/>
            <a:chExt cx="3843746" cy="270597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16513EF9-DDBE-625A-09B0-FE1C98C3D7F4}"/>
                </a:ext>
              </a:extLst>
            </p:cNvPr>
            <p:cNvGrpSpPr/>
            <p:nvPr/>
          </p:nvGrpSpPr>
          <p:grpSpPr>
            <a:xfrm>
              <a:off x="6019800" y="3053090"/>
              <a:ext cx="1021080" cy="261610"/>
              <a:chOff x="6019800" y="3053090"/>
              <a:chExt cx="1021080" cy="261610"/>
            </a:xfrm>
          </p:grpSpPr>
          <p:sp>
            <p:nvSpPr>
              <p:cNvPr id="28" name="Diagrama de flujo: conector 27">
                <a:extLst>
                  <a:ext uri="{FF2B5EF4-FFF2-40B4-BE49-F238E27FC236}">
                    <a16:creationId xmlns:a16="http://schemas.microsoft.com/office/drawing/2014/main" id="{22B2C80C-B1EE-9F1D-71A0-360383F94469}"/>
                  </a:ext>
                </a:extLst>
              </p:cNvPr>
              <p:cNvSpPr/>
              <p:nvPr/>
            </p:nvSpPr>
            <p:spPr>
              <a:xfrm>
                <a:off x="6019800" y="3086100"/>
                <a:ext cx="182880" cy="182880"/>
              </a:xfrm>
              <a:prstGeom prst="flowChartConnector">
                <a:avLst/>
              </a:prstGeom>
              <a:solidFill>
                <a:srgbClr val="1F497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7A14BEEA-E631-4039-515A-FAF82E504418}"/>
                  </a:ext>
                </a:extLst>
              </p:cNvPr>
              <p:cNvSpPr txBox="1"/>
              <p:nvPr/>
            </p:nvSpPr>
            <p:spPr>
              <a:xfrm>
                <a:off x="6234793" y="3053090"/>
                <a:ext cx="806087" cy="261610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31509A14-F364-4778-0E78-98658314A43B}"/>
                </a:ext>
              </a:extLst>
            </p:cNvPr>
            <p:cNvGrpSpPr/>
            <p:nvPr/>
          </p:nvGrpSpPr>
          <p:grpSpPr>
            <a:xfrm>
              <a:off x="7010400" y="3053090"/>
              <a:ext cx="1083673" cy="253916"/>
              <a:chOff x="6019800" y="3053090"/>
              <a:chExt cx="1083673" cy="253916"/>
            </a:xfrm>
          </p:grpSpPr>
          <p:sp>
            <p:nvSpPr>
              <p:cNvPr id="26" name="Diagrama de flujo: conector 25">
                <a:extLst>
                  <a:ext uri="{FF2B5EF4-FFF2-40B4-BE49-F238E27FC236}">
                    <a16:creationId xmlns:a16="http://schemas.microsoft.com/office/drawing/2014/main" id="{E45AB36D-0523-9E6D-EE32-98503D9C200E}"/>
                  </a:ext>
                </a:extLst>
              </p:cNvPr>
              <p:cNvSpPr/>
              <p:nvPr/>
            </p:nvSpPr>
            <p:spPr>
              <a:xfrm>
                <a:off x="6019800" y="3086100"/>
                <a:ext cx="182880" cy="182880"/>
              </a:xfrm>
              <a:prstGeom prst="flowChartConnector">
                <a:avLst/>
              </a:prstGeom>
              <a:solidFill>
                <a:srgbClr val="00639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7E2DB5FC-6FAC-CC58-AEC0-9E66B435E5CF}"/>
                  </a:ext>
                </a:extLst>
              </p:cNvPr>
              <p:cNvSpPr txBox="1"/>
              <p:nvPr/>
            </p:nvSpPr>
            <p:spPr>
              <a:xfrm>
                <a:off x="6234793" y="3053090"/>
                <a:ext cx="868680" cy="253916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Premium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48BF99F1-FA10-E2DB-A8A0-2B9344D89067}"/>
                </a:ext>
              </a:extLst>
            </p:cNvPr>
            <p:cNvGrpSpPr/>
            <p:nvPr/>
          </p:nvGrpSpPr>
          <p:grpSpPr>
            <a:xfrm>
              <a:off x="7995013" y="3069771"/>
              <a:ext cx="763633" cy="253916"/>
              <a:chOff x="6019800" y="3053090"/>
              <a:chExt cx="763633" cy="253916"/>
            </a:xfrm>
          </p:grpSpPr>
          <p:sp>
            <p:nvSpPr>
              <p:cNvPr id="23" name="Diagrama de flujo: conector 22">
                <a:extLst>
                  <a:ext uri="{FF2B5EF4-FFF2-40B4-BE49-F238E27FC236}">
                    <a16:creationId xmlns:a16="http://schemas.microsoft.com/office/drawing/2014/main" id="{4D9D1FE9-2BE7-73A5-36AD-46C20614BCBB}"/>
                  </a:ext>
                </a:extLst>
              </p:cNvPr>
              <p:cNvSpPr/>
              <p:nvPr/>
            </p:nvSpPr>
            <p:spPr>
              <a:xfrm>
                <a:off x="6019800" y="3086100"/>
                <a:ext cx="182880" cy="182880"/>
              </a:xfrm>
              <a:prstGeom prst="flowChartConnector">
                <a:avLst/>
              </a:prstGeom>
              <a:solidFill>
                <a:srgbClr val="4572A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A2FAE26D-B891-5770-98ED-411080DEE1C2}"/>
                  </a:ext>
                </a:extLst>
              </p:cNvPr>
              <p:cNvSpPr txBox="1"/>
              <p:nvPr/>
            </p:nvSpPr>
            <p:spPr>
              <a:xfrm>
                <a:off x="6234793" y="3053090"/>
                <a:ext cx="548640" cy="253916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Joven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8F2E28E9-8E10-0077-48D7-D59F4D6E22EA}"/>
                </a:ext>
              </a:extLst>
            </p:cNvPr>
            <p:cNvGrpSpPr/>
            <p:nvPr/>
          </p:nvGrpSpPr>
          <p:grpSpPr>
            <a:xfrm>
              <a:off x="8779873" y="3069771"/>
              <a:ext cx="1083673" cy="253916"/>
              <a:chOff x="5579473" y="3053090"/>
              <a:chExt cx="1083673" cy="253916"/>
            </a:xfrm>
          </p:grpSpPr>
          <p:sp>
            <p:nvSpPr>
              <p:cNvPr id="21" name="Diagrama de flujo: conector 20">
                <a:extLst>
                  <a:ext uri="{FF2B5EF4-FFF2-40B4-BE49-F238E27FC236}">
                    <a16:creationId xmlns:a16="http://schemas.microsoft.com/office/drawing/2014/main" id="{6624CAE5-D59F-6E11-3FFE-18B961E300EE}"/>
                  </a:ext>
                </a:extLst>
              </p:cNvPr>
              <p:cNvSpPr/>
              <p:nvPr/>
            </p:nvSpPr>
            <p:spPr>
              <a:xfrm>
                <a:off x="5579473" y="3086100"/>
                <a:ext cx="182880" cy="182880"/>
              </a:xfrm>
              <a:prstGeom prst="flowChartConnector">
                <a:avLst/>
              </a:prstGeom>
              <a:solidFill>
                <a:srgbClr val="4F81B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800482C-A612-1B9B-D1AE-74C811AC2AB1}"/>
                  </a:ext>
                </a:extLst>
              </p:cNvPr>
              <p:cNvSpPr txBox="1"/>
              <p:nvPr/>
            </p:nvSpPr>
            <p:spPr>
              <a:xfrm>
                <a:off x="5794466" y="3053090"/>
                <a:ext cx="868680" cy="253916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Empresarial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D6AF996A-15F4-F4F7-478F-A7B858010311}"/>
              </a:ext>
            </a:extLst>
          </p:cNvPr>
          <p:cNvGrpSpPr/>
          <p:nvPr/>
        </p:nvGrpSpPr>
        <p:grpSpPr>
          <a:xfrm>
            <a:off x="5638800" y="2476500"/>
            <a:ext cx="1371600" cy="255389"/>
            <a:chOff x="5638800" y="2476500"/>
            <a:chExt cx="1371600" cy="255389"/>
          </a:xfrm>
        </p:grpSpPr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331D8F6F-C64C-762D-79B3-762201159B14}"/>
                </a:ext>
              </a:extLst>
            </p:cNvPr>
            <p:cNvSpPr txBox="1"/>
            <p:nvPr/>
          </p:nvSpPr>
          <p:spPr>
            <a:xfrm>
              <a:off x="5638800" y="2476500"/>
              <a:ext cx="1371600" cy="255389"/>
            </a:xfrm>
            <a:prstGeom prst="round2Diag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        </a:t>
              </a:r>
              <a:r>
                <a:rPr lang="en-US" sz="900" b="1" dirty="0">
                  <a:solidFill>
                    <a:schemeClr val="bg1"/>
                  </a:solidFill>
                </a:rPr>
                <a:t>Premium    $ 3,130</a:t>
              </a:r>
              <a:endParaRPr lang="es-DO" b="1" dirty="0">
                <a:solidFill>
                  <a:schemeClr val="bg1"/>
                </a:solidFill>
              </a:endParaRPr>
            </a:p>
          </p:txBody>
        </p:sp>
        <p:pic>
          <p:nvPicPr>
            <p:cNvPr id="62" name="Imagen 61">
              <a:extLst>
                <a:ext uri="{FF2B5EF4-FFF2-40B4-BE49-F238E27FC236}">
                  <a16:creationId xmlns:a16="http://schemas.microsoft.com/office/drawing/2014/main" id="{0F640103-1617-F829-C678-5E0F15B7F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58000" y="2505456"/>
              <a:ext cx="137160" cy="137160"/>
            </a:xfrm>
            <a:prstGeom prst="rect">
              <a:avLst/>
            </a:prstGeom>
          </p:spPr>
        </p:pic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279F0651-476A-8E52-33A0-CECD5FCC57D0}"/>
              </a:ext>
            </a:extLst>
          </p:cNvPr>
          <p:cNvGrpSpPr/>
          <p:nvPr/>
        </p:nvGrpSpPr>
        <p:grpSpPr>
          <a:xfrm>
            <a:off x="5633305" y="2806006"/>
            <a:ext cx="1371600" cy="255389"/>
            <a:chOff x="5633305" y="2806006"/>
            <a:chExt cx="1371600" cy="255389"/>
          </a:xfrm>
        </p:grpSpPr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AC656497-A2D1-3665-2007-115C9D5DE365}"/>
                </a:ext>
              </a:extLst>
            </p:cNvPr>
            <p:cNvSpPr txBox="1"/>
            <p:nvPr/>
          </p:nvSpPr>
          <p:spPr>
            <a:xfrm>
              <a:off x="5633305" y="2806006"/>
              <a:ext cx="1371600" cy="255389"/>
            </a:xfrm>
            <a:prstGeom prst="round2Diag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</a:rPr>
                <a:t>       </a:t>
              </a:r>
              <a:r>
                <a:rPr lang="en-US" sz="900" b="1" dirty="0" err="1">
                  <a:solidFill>
                    <a:schemeClr val="bg1"/>
                  </a:solidFill>
                </a:rPr>
                <a:t>Masivo</a:t>
              </a:r>
              <a:r>
                <a:rPr lang="en-US" sz="900" b="1" dirty="0">
                  <a:solidFill>
                    <a:schemeClr val="bg1"/>
                  </a:solidFill>
                </a:rPr>
                <a:t>        $ 3,126</a:t>
              </a:r>
              <a:endParaRPr lang="es-DO" sz="2000" b="1" dirty="0">
                <a:solidFill>
                  <a:schemeClr val="bg1"/>
                </a:solidFill>
              </a:endParaRPr>
            </a:p>
          </p:txBody>
        </p:sp>
        <p:pic>
          <p:nvPicPr>
            <p:cNvPr id="63" name="Imagen 62">
              <a:extLst>
                <a:ext uri="{FF2B5EF4-FFF2-40B4-BE49-F238E27FC236}">
                  <a16:creationId xmlns:a16="http://schemas.microsoft.com/office/drawing/2014/main" id="{B52D9A16-434E-D16B-DA29-A6263DE0A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58000" y="2825496"/>
              <a:ext cx="137160" cy="137160"/>
            </a:xfrm>
            <a:prstGeom prst="rect">
              <a:avLst/>
            </a:prstGeom>
          </p:spPr>
        </p:pic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D61E92E1-D14F-C224-ADBC-1B5DABEB0F94}"/>
              </a:ext>
            </a:extLst>
          </p:cNvPr>
          <p:cNvGrpSpPr/>
          <p:nvPr/>
        </p:nvGrpSpPr>
        <p:grpSpPr>
          <a:xfrm>
            <a:off x="5633305" y="3135511"/>
            <a:ext cx="1371600" cy="255389"/>
            <a:chOff x="5633305" y="3135511"/>
            <a:chExt cx="1371600" cy="255389"/>
          </a:xfrm>
        </p:grpSpPr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628FCDD7-F015-AF75-9092-BF134CF208C5}"/>
                </a:ext>
              </a:extLst>
            </p:cNvPr>
            <p:cNvSpPr txBox="1"/>
            <p:nvPr/>
          </p:nvSpPr>
          <p:spPr>
            <a:xfrm>
              <a:off x="5633305" y="3135511"/>
              <a:ext cx="1371600" cy="255389"/>
            </a:xfrm>
            <a:prstGeom prst="round2Diag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        </a:t>
              </a:r>
              <a:r>
                <a:rPr lang="en-US" sz="900" b="1" dirty="0">
                  <a:solidFill>
                    <a:schemeClr val="bg1"/>
                  </a:solidFill>
                </a:rPr>
                <a:t>Joven          $ 2,927</a:t>
              </a:r>
              <a:endParaRPr lang="es-DO" b="1" dirty="0">
                <a:solidFill>
                  <a:schemeClr val="bg1"/>
                </a:solidFill>
              </a:endParaRPr>
            </a:p>
          </p:txBody>
        </p:sp>
        <p:pic>
          <p:nvPicPr>
            <p:cNvPr id="64" name="Imagen 63">
              <a:extLst>
                <a:ext uri="{FF2B5EF4-FFF2-40B4-BE49-F238E27FC236}">
                  <a16:creationId xmlns:a16="http://schemas.microsoft.com/office/drawing/2014/main" id="{FF00F136-86C1-8EA8-C973-4491CB340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58000" y="3154680"/>
              <a:ext cx="137160" cy="137160"/>
            </a:xfrm>
            <a:prstGeom prst="rect">
              <a:avLst/>
            </a:prstGeom>
          </p:spPr>
        </p:pic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64AED538-036B-5185-0AC3-EC53B87D160F}"/>
              </a:ext>
            </a:extLst>
          </p:cNvPr>
          <p:cNvGrpSpPr/>
          <p:nvPr/>
        </p:nvGrpSpPr>
        <p:grpSpPr>
          <a:xfrm>
            <a:off x="7932972" y="2324100"/>
            <a:ext cx="3039828" cy="261610"/>
            <a:chOff x="7704372" y="2324100"/>
            <a:chExt cx="3039828" cy="261610"/>
          </a:xfrm>
        </p:grpSpPr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AEBB4496-A550-5F7E-4FA1-5BB497998B5C}"/>
                </a:ext>
              </a:extLst>
            </p:cNvPr>
            <p:cNvGrpSpPr/>
            <p:nvPr/>
          </p:nvGrpSpPr>
          <p:grpSpPr>
            <a:xfrm>
              <a:off x="8161572" y="2324100"/>
              <a:ext cx="2582628" cy="261610"/>
              <a:chOff x="7620000" y="2324100"/>
              <a:chExt cx="2582628" cy="261610"/>
            </a:xfrm>
          </p:grpSpPr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36EC8E6A-B360-6FEE-0430-F277477050F3}"/>
                  </a:ext>
                </a:extLst>
              </p:cNvPr>
              <p:cNvSpPr txBox="1"/>
              <p:nvPr/>
            </p:nvSpPr>
            <p:spPr>
              <a:xfrm>
                <a:off x="8534400" y="2324100"/>
                <a:ext cx="1668228" cy="261610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r>
                  <a:rPr lang="en-US" sz="10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Premium   </a:t>
                </a:r>
                <a:r>
                  <a:rPr lang="en-US" sz="1100" dirty="0"/>
                  <a:t>       </a:t>
                </a:r>
                <a:r>
                  <a:rPr lang="en-US" sz="1100" b="1" dirty="0"/>
                  <a:t>+38%</a:t>
                </a:r>
                <a:endParaRPr lang="es-DO" sz="1100" b="1" dirty="0"/>
              </a:p>
            </p:txBody>
          </p:sp>
          <p:grpSp>
            <p:nvGrpSpPr>
              <p:cNvPr id="140" name="Grupo 139">
                <a:extLst>
                  <a:ext uri="{FF2B5EF4-FFF2-40B4-BE49-F238E27FC236}">
                    <a16:creationId xmlns:a16="http://schemas.microsoft.com/office/drawing/2014/main" id="{C6BEA471-A3A4-3582-1ACA-D0EEAED53B92}"/>
                  </a:ext>
                </a:extLst>
              </p:cNvPr>
              <p:cNvGrpSpPr/>
              <p:nvPr/>
            </p:nvGrpSpPr>
            <p:grpSpPr>
              <a:xfrm>
                <a:off x="7620000" y="2381918"/>
                <a:ext cx="427496" cy="170782"/>
                <a:chOff x="5486400" y="5676900"/>
                <a:chExt cx="427496" cy="170782"/>
              </a:xfrm>
            </p:grpSpPr>
            <p:grpSp>
              <p:nvGrpSpPr>
                <p:cNvPr id="141" name="Grupo 140">
                  <a:extLst>
                    <a:ext uri="{FF2B5EF4-FFF2-40B4-BE49-F238E27FC236}">
                      <a16:creationId xmlns:a16="http://schemas.microsoft.com/office/drawing/2014/main" id="{45C4CFA1-52EE-0FD9-2741-EF372F2CCFF0}"/>
                    </a:ext>
                  </a:extLst>
                </p:cNvPr>
                <p:cNvGrpSpPr/>
                <p:nvPr/>
              </p:nvGrpSpPr>
              <p:grpSpPr>
                <a:xfrm>
                  <a:off x="5486400" y="5676900"/>
                  <a:ext cx="257412" cy="167404"/>
                  <a:chOff x="5548194" y="4838700"/>
                  <a:chExt cx="257412" cy="167404"/>
                </a:xfrm>
              </p:grpSpPr>
              <p:pic>
                <p:nvPicPr>
                  <p:cNvPr id="152" name="Imagen 151">
                    <a:extLst>
                      <a:ext uri="{FF2B5EF4-FFF2-40B4-BE49-F238E27FC236}">
                        <a16:creationId xmlns:a16="http://schemas.microsoft.com/office/drawing/2014/main" id="{489B65DF-0377-61A0-968F-99391B3AF40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48194" y="4839298"/>
                    <a:ext cx="166806" cy="166806"/>
                  </a:xfrm>
                  <a:prstGeom prst="rect">
                    <a:avLst/>
                  </a:prstGeom>
                </p:spPr>
              </p:pic>
              <p:pic>
                <p:nvPicPr>
                  <p:cNvPr id="179" name="Imagen 178">
                    <a:extLst>
                      <a:ext uri="{FF2B5EF4-FFF2-40B4-BE49-F238E27FC236}">
                        <a16:creationId xmlns:a16="http://schemas.microsoft.com/office/drawing/2014/main" id="{90758FD3-11E6-B3DF-EF97-3D52C85C6C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38800" y="4838700"/>
                    <a:ext cx="166806" cy="1668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3" name="Grupo 142">
                  <a:extLst>
                    <a:ext uri="{FF2B5EF4-FFF2-40B4-BE49-F238E27FC236}">
                      <a16:creationId xmlns:a16="http://schemas.microsoft.com/office/drawing/2014/main" id="{B32F80B2-1C45-75CB-98F1-BD285ACE8E15}"/>
                    </a:ext>
                  </a:extLst>
                </p:cNvPr>
                <p:cNvGrpSpPr/>
                <p:nvPr/>
              </p:nvGrpSpPr>
              <p:grpSpPr>
                <a:xfrm>
                  <a:off x="5656484" y="5680278"/>
                  <a:ext cx="257412" cy="167404"/>
                  <a:chOff x="5548194" y="4838700"/>
                  <a:chExt cx="257412" cy="167404"/>
                </a:xfrm>
              </p:grpSpPr>
              <p:pic>
                <p:nvPicPr>
                  <p:cNvPr id="147" name="Imagen 146">
                    <a:extLst>
                      <a:ext uri="{FF2B5EF4-FFF2-40B4-BE49-F238E27FC236}">
                        <a16:creationId xmlns:a16="http://schemas.microsoft.com/office/drawing/2014/main" id="{33C9A2D0-C3F9-A34E-C701-B93A0D66426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48194" y="4839298"/>
                    <a:ext cx="166806" cy="166806"/>
                  </a:xfrm>
                  <a:prstGeom prst="rect">
                    <a:avLst/>
                  </a:prstGeom>
                </p:spPr>
              </p:pic>
              <p:pic>
                <p:nvPicPr>
                  <p:cNvPr id="148" name="Imagen 147">
                    <a:extLst>
                      <a:ext uri="{FF2B5EF4-FFF2-40B4-BE49-F238E27FC236}">
                        <a16:creationId xmlns:a16="http://schemas.microsoft.com/office/drawing/2014/main" id="{C05DE398-279E-1ACD-46DA-63F7F80041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38800" y="4838700"/>
                    <a:ext cx="166806" cy="166806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1EA59D70-09B6-8A22-1E6E-4F17D9CC1307}"/>
                </a:ext>
              </a:extLst>
            </p:cNvPr>
            <p:cNvSpPr txBox="1"/>
            <p:nvPr/>
          </p:nvSpPr>
          <p:spPr>
            <a:xfrm>
              <a:off x="7704372" y="2324100"/>
              <a:ext cx="898054" cy="26161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sz="1100" b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626</a:t>
              </a:r>
              <a:endParaRPr lang="es-DO" sz="1100" b="1" dirty="0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198E5036-05A7-DB56-2D7C-9BF0A30E755D}"/>
              </a:ext>
            </a:extLst>
          </p:cNvPr>
          <p:cNvGrpSpPr/>
          <p:nvPr/>
        </p:nvGrpSpPr>
        <p:grpSpPr>
          <a:xfrm>
            <a:off x="7924800" y="2595890"/>
            <a:ext cx="2667000" cy="261610"/>
            <a:chOff x="7696200" y="2595890"/>
            <a:chExt cx="2667000" cy="261610"/>
          </a:xfrm>
        </p:grpSpPr>
        <p:grpSp>
          <p:nvGrpSpPr>
            <p:cNvPr id="71" name="Grupo 70">
              <a:extLst>
                <a:ext uri="{FF2B5EF4-FFF2-40B4-BE49-F238E27FC236}">
                  <a16:creationId xmlns:a16="http://schemas.microsoft.com/office/drawing/2014/main" id="{8F18B454-CF9F-F983-C61A-5C3182E76999}"/>
                </a:ext>
              </a:extLst>
            </p:cNvPr>
            <p:cNvGrpSpPr/>
            <p:nvPr/>
          </p:nvGrpSpPr>
          <p:grpSpPr>
            <a:xfrm>
              <a:off x="8153400" y="2595890"/>
              <a:ext cx="2209800" cy="261610"/>
              <a:chOff x="7620000" y="2595890"/>
              <a:chExt cx="2209800" cy="261610"/>
            </a:xfrm>
          </p:grpSpPr>
          <p:sp>
            <p:nvSpPr>
              <p:cNvPr id="120" name="CuadroTexto 119">
                <a:extLst>
                  <a:ext uri="{FF2B5EF4-FFF2-40B4-BE49-F238E27FC236}">
                    <a16:creationId xmlns:a16="http://schemas.microsoft.com/office/drawing/2014/main" id="{3A2DD18D-749C-7187-9B19-F5FF5FC3FF26}"/>
                  </a:ext>
                </a:extLst>
              </p:cNvPr>
              <p:cNvSpPr txBox="1"/>
              <p:nvPr/>
            </p:nvSpPr>
            <p:spPr>
              <a:xfrm>
                <a:off x="8534400" y="2595890"/>
                <a:ext cx="1295400" cy="261610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r>
                  <a:rPr lang="en-US" sz="10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Empresarial</a:t>
                </a:r>
                <a:r>
                  <a:rPr lang="en-US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</a:t>
                </a:r>
                <a:r>
                  <a:rPr lang="en-US" sz="1100" b="1" dirty="0"/>
                  <a:t>+36%</a:t>
                </a:r>
                <a:endParaRPr lang="es-DO" sz="1100" b="1" dirty="0"/>
              </a:p>
            </p:txBody>
          </p:sp>
          <p:grpSp>
            <p:nvGrpSpPr>
              <p:cNvPr id="125" name="Grupo 124">
                <a:extLst>
                  <a:ext uri="{FF2B5EF4-FFF2-40B4-BE49-F238E27FC236}">
                    <a16:creationId xmlns:a16="http://schemas.microsoft.com/office/drawing/2014/main" id="{9C52BD24-A6FD-7834-1A52-52FC19EBC85C}"/>
                  </a:ext>
                </a:extLst>
              </p:cNvPr>
              <p:cNvGrpSpPr/>
              <p:nvPr/>
            </p:nvGrpSpPr>
            <p:grpSpPr>
              <a:xfrm>
                <a:off x="7620000" y="2628900"/>
                <a:ext cx="508128" cy="170782"/>
                <a:chOff x="5486400" y="5676900"/>
                <a:chExt cx="508128" cy="170782"/>
              </a:xfrm>
            </p:grpSpPr>
            <p:grpSp>
              <p:nvGrpSpPr>
                <p:cNvPr id="126" name="Grupo 125">
                  <a:extLst>
                    <a:ext uri="{FF2B5EF4-FFF2-40B4-BE49-F238E27FC236}">
                      <a16:creationId xmlns:a16="http://schemas.microsoft.com/office/drawing/2014/main" id="{268E3DFA-FEF3-BC47-3D89-9655AA784625}"/>
                    </a:ext>
                  </a:extLst>
                </p:cNvPr>
                <p:cNvGrpSpPr/>
                <p:nvPr/>
              </p:nvGrpSpPr>
              <p:grpSpPr>
                <a:xfrm>
                  <a:off x="5486400" y="5676900"/>
                  <a:ext cx="257412" cy="167404"/>
                  <a:chOff x="5548194" y="4838700"/>
                  <a:chExt cx="257412" cy="167404"/>
                </a:xfrm>
              </p:grpSpPr>
              <p:pic>
                <p:nvPicPr>
                  <p:cNvPr id="138" name="Imagen 137">
                    <a:extLst>
                      <a:ext uri="{FF2B5EF4-FFF2-40B4-BE49-F238E27FC236}">
                        <a16:creationId xmlns:a16="http://schemas.microsoft.com/office/drawing/2014/main" id="{45B72A0A-71C5-2F09-E592-5CF4D69457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48194" y="4839298"/>
                    <a:ext cx="166806" cy="166806"/>
                  </a:xfrm>
                  <a:prstGeom prst="rect">
                    <a:avLst/>
                  </a:prstGeom>
                </p:spPr>
              </p:pic>
              <p:pic>
                <p:nvPicPr>
                  <p:cNvPr id="139" name="Imagen 138">
                    <a:extLst>
                      <a:ext uri="{FF2B5EF4-FFF2-40B4-BE49-F238E27FC236}">
                        <a16:creationId xmlns:a16="http://schemas.microsoft.com/office/drawing/2014/main" id="{75E232AA-C9D6-B45E-707C-F3708FD9DB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38800" y="4838700"/>
                    <a:ext cx="166806" cy="1668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upo 126">
                  <a:extLst>
                    <a:ext uri="{FF2B5EF4-FFF2-40B4-BE49-F238E27FC236}">
                      <a16:creationId xmlns:a16="http://schemas.microsoft.com/office/drawing/2014/main" id="{D112928C-0C72-BF73-14C3-E2B9726373A6}"/>
                    </a:ext>
                  </a:extLst>
                </p:cNvPr>
                <p:cNvGrpSpPr/>
                <p:nvPr/>
              </p:nvGrpSpPr>
              <p:grpSpPr>
                <a:xfrm>
                  <a:off x="5656484" y="5680278"/>
                  <a:ext cx="338044" cy="167404"/>
                  <a:chOff x="5548194" y="4838700"/>
                  <a:chExt cx="338044" cy="167404"/>
                </a:xfrm>
              </p:grpSpPr>
              <p:grpSp>
                <p:nvGrpSpPr>
                  <p:cNvPr id="132" name="Grupo 131">
                    <a:extLst>
                      <a:ext uri="{FF2B5EF4-FFF2-40B4-BE49-F238E27FC236}">
                        <a16:creationId xmlns:a16="http://schemas.microsoft.com/office/drawing/2014/main" id="{3860A11E-132A-C70E-2C27-D519287A6BD3}"/>
                      </a:ext>
                    </a:extLst>
                  </p:cNvPr>
                  <p:cNvGrpSpPr/>
                  <p:nvPr/>
                </p:nvGrpSpPr>
                <p:grpSpPr>
                  <a:xfrm>
                    <a:off x="5548194" y="4838700"/>
                    <a:ext cx="257412" cy="167404"/>
                    <a:chOff x="5548194" y="4838700"/>
                    <a:chExt cx="257412" cy="167404"/>
                  </a:xfrm>
                </p:grpSpPr>
                <p:pic>
                  <p:nvPicPr>
                    <p:cNvPr id="136" name="Imagen 135">
                      <a:extLst>
                        <a:ext uri="{FF2B5EF4-FFF2-40B4-BE49-F238E27FC236}">
                          <a16:creationId xmlns:a16="http://schemas.microsoft.com/office/drawing/2014/main" id="{DEFD7728-B5D6-79F7-2D54-EE891AA0058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8194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37" name="Imagen 136">
                      <a:extLst>
                        <a:ext uri="{FF2B5EF4-FFF2-40B4-BE49-F238E27FC236}">
                          <a16:creationId xmlns:a16="http://schemas.microsoft.com/office/drawing/2014/main" id="{C3508CBA-D9C1-25D2-C626-A7663C2CF3A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638800" y="4838700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34" name="Imagen 133">
                    <a:extLst>
                      <a:ext uri="{FF2B5EF4-FFF2-40B4-BE49-F238E27FC236}">
                        <a16:creationId xmlns:a16="http://schemas.microsoft.com/office/drawing/2014/main" id="{8A19BCC8-1029-D5C1-6FFF-39AADF56B9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19432" y="4839298"/>
                    <a:ext cx="166806" cy="166806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041C7490-093E-BF1C-46CD-638C0607DBFF}"/>
                </a:ext>
              </a:extLst>
            </p:cNvPr>
            <p:cNvSpPr txBox="1"/>
            <p:nvPr/>
          </p:nvSpPr>
          <p:spPr>
            <a:xfrm>
              <a:off x="7696200" y="2595890"/>
              <a:ext cx="975358" cy="26161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sz="1100" b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350</a:t>
              </a:r>
              <a:endParaRPr lang="es-DO" sz="1100" b="1" dirty="0"/>
            </a:p>
          </p:txBody>
        </p: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A2A19565-7947-EF76-6368-6D9971C4D75D}"/>
              </a:ext>
            </a:extLst>
          </p:cNvPr>
          <p:cNvGrpSpPr/>
          <p:nvPr/>
        </p:nvGrpSpPr>
        <p:grpSpPr>
          <a:xfrm>
            <a:off x="7940042" y="2857500"/>
            <a:ext cx="2652894" cy="279543"/>
            <a:chOff x="7711442" y="2857500"/>
            <a:chExt cx="2652894" cy="279543"/>
          </a:xfrm>
        </p:grpSpPr>
        <p:grpSp>
          <p:nvGrpSpPr>
            <p:cNvPr id="70" name="Grupo 69">
              <a:extLst>
                <a:ext uri="{FF2B5EF4-FFF2-40B4-BE49-F238E27FC236}">
                  <a16:creationId xmlns:a16="http://schemas.microsoft.com/office/drawing/2014/main" id="{E9A6CA16-9621-F95D-89EA-A4B7D6692190}"/>
                </a:ext>
              </a:extLst>
            </p:cNvPr>
            <p:cNvGrpSpPr/>
            <p:nvPr/>
          </p:nvGrpSpPr>
          <p:grpSpPr>
            <a:xfrm>
              <a:off x="8153400" y="2857500"/>
              <a:ext cx="2210936" cy="261610"/>
              <a:chOff x="7621091" y="2857500"/>
              <a:chExt cx="2210936" cy="261610"/>
            </a:xfrm>
          </p:grpSpPr>
          <p:sp>
            <p:nvSpPr>
              <p:cNvPr id="122" name="CuadroTexto 121">
                <a:extLst>
                  <a:ext uri="{FF2B5EF4-FFF2-40B4-BE49-F238E27FC236}">
                    <a16:creationId xmlns:a16="http://schemas.microsoft.com/office/drawing/2014/main" id="{C85C5FAC-29B9-2278-B662-97099EB71943}"/>
                  </a:ext>
                </a:extLst>
              </p:cNvPr>
              <p:cNvSpPr txBox="1"/>
              <p:nvPr/>
            </p:nvSpPr>
            <p:spPr>
              <a:xfrm>
                <a:off x="8534400" y="2857500"/>
                <a:ext cx="1297627" cy="261610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r>
                  <a:rPr lang="en-US" sz="10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Joven</a:t>
                </a:r>
                <a:r>
                  <a:rPr lang="en-US" sz="1100" dirty="0"/>
                  <a:t>                </a:t>
                </a:r>
                <a:r>
                  <a:rPr lang="en-US" sz="1100" b="1" dirty="0"/>
                  <a:t>+27%</a:t>
                </a:r>
                <a:endParaRPr lang="es-DO" sz="1100" b="1" dirty="0"/>
              </a:p>
            </p:txBody>
          </p:sp>
          <p:grpSp>
            <p:nvGrpSpPr>
              <p:cNvPr id="52" name="Grupo 51">
                <a:extLst>
                  <a:ext uri="{FF2B5EF4-FFF2-40B4-BE49-F238E27FC236}">
                    <a16:creationId xmlns:a16="http://schemas.microsoft.com/office/drawing/2014/main" id="{14F5A382-8C44-DE6B-7685-2DB4A4A47BB2}"/>
                  </a:ext>
                </a:extLst>
              </p:cNvPr>
              <p:cNvGrpSpPr/>
              <p:nvPr/>
            </p:nvGrpSpPr>
            <p:grpSpPr>
              <a:xfrm>
                <a:off x="7621091" y="2915318"/>
                <a:ext cx="684709" cy="170782"/>
                <a:chOff x="5486400" y="5676900"/>
                <a:chExt cx="684709" cy="170782"/>
              </a:xfrm>
            </p:grpSpPr>
            <p:grpSp>
              <p:nvGrpSpPr>
                <p:cNvPr id="53" name="Grupo 52">
                  <a:extLst>
                    <a:ext uri="{FF2B5EF4-FFF2-40B4-BE49-F238E27FC236}">
                      <a16:creationId xmlns:a16="http://schemas.microsoft.com/office/drawing/2014/main" id="{301310DB-A004-670B-D7DF-B337A4CA68DE}"/>
                    </a:ext>
                  </a:extLst>
                </p:cNvPr>
                <p:cNvGrpSpPr/>
                <p:nvPr/>
              </p:nvGrpSpPr>
              <p:grpSpPr>
                <a:xfrm>
                  <a:off x="5486400" y="5676900"/>
                  <a:ext cx="257412" cy="167404"/>
                  <a:chOff x="5548194" y="4838700"/>
                  <a:chExt cx="257412" cy="167404"/>
                </a:xfrm>
              </p:grpSpPr>
              <p:pic>
                <p:nvPicPr>
                  <p:cNvPr id="111" name="Imagen 110">
                    <a:extLst>
                      <a:ext uri="{FF2B5EF4-FFF2-40B4-BE49-F238E27FC236}">
                        <a16:creationId xmlns:a16="http://schemas.microsoft.com/office/drawing/2014/main" id="{BE38A7B7-3E87-30A9-30E1-96D71FD6A4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48194" y="4839298"/>
                    <a:ext cx="166806" cy="166806"/>
                  </a:xfrm>
                  <a:prstGeom prst="rect">
                    <a:avLst/>
                  </a:prstGeom>
                </p:spPr>
              </p:pic>
              <p:pic>
                <p:nvPicPr>
                  <p:cNvPr id="124" name="Imagen 123">
                    <a:extLst>
                      <a:ext uri="{FF2B5EF4-FFF2-40B4-BE49-F238E27FC236}">
                        <a16:creationId xmlns:a16="http://schemas.microsoft.com/office/drawing/2014/main" id="{4C68063B-8BF8-BCC6-7A6B-281FB9C007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38800" y="4838700"/>
                    <a:ext cx="166806" cy="1668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4" name="Grupo 53">
                  <a:extLst>
                    <a:ext uri="{FF2B5EF4-FFF2-40B4-BE49-F238E27FC236}">
                      <a16:creationId xmlns:a16="http://schemas.microsoft.com/office/drawing/2014/main" id="{FAC51257-CA64-1DEC-691E-8B6E673E3A0A}"/>
                    </a:ext>
                  </a:extLst>
                </p:cNvPr>
                <p:cNvGrpSpPr/>
                <p:nvPr/>
              </p:nvGrpSpPr>
              <p:grpSpPr>
                <a:xfrm>
                  <a:off x="5656484" y="5680278"/>
                  <a:ext cx="428650" cy="167404"/>
                  <a:chOff x="5548194" y="4838700"/>
                  <a:chExt cx="428650" cy="167404"/>
                </a:xfrm>
              </p:grpSpPr>
              <p:grpSp>
                <p:nvGrpSpPr>
                  <p:cNvPr id="97" name="Grupo 96">
                    <a:extLst>
                      <a:ext uri="{FF2B5EF4-FFF2-40B4-BE49-F238E27FC236}">
                        <a16:creationId xmlns:a16="http://schemas.microsoft.com/office/drawing/2014/main" id="{14AF3613-B15D-58E1-FEEA-FBBF67CCB133}"/>
                      </a:ext>
                    </a:extLst>
                  </p:cNvPr>
                  <p:cNvGrpSpPr/>
                  <p:nvPr/>
                </p:nvGrpSpPr>
                <p:grpSpPr>
                  <a:xfrm>
                    <a:off x="5548194" y="4838700"/>
                    <a:ext cx="257412" cy="167404"/>
                    <a:chOff x="5548194" y="4838700"/>
                    <a:chExt cx="257412" cy="167404"/>
                  </a:xfrm>
                </p:grpSpPr>
                <p:pic>
                  <p:nvPicPr>
                    <p:cNvPr id="101" name="Imagen 100">
                      <a:extLst>
                        <a:ext uri="{FF2B5EF4-FFF2-40B4-BE49-F238E27FC236}">
                          <a16:creationId xmlns:a16="http://schemas.microsoft.com/office/drawing/2014/main" id="{FF8C3CBD-01C3-8B12-A7EA-C09F6B2C4AD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8194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8" name="Imagen 107">
                      <a:extLst>
                        <a:ext uri="{FF2B5EF4-FFF2-40B4-BE49-F238E27FC236}">
                          <a16:creationId xmlns:a16="http://schemas.microsoft.com/office/drawing/2014/main" id="{61CA924A-56F7-308D-A0DA-24F4CC4A79F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638800" y="4838700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98" name="Grupo 97">
                    <a:extLst>
                      <a:ext uri="{FF2B5EF4-FFF2-40B4-BE49-F238E27FC236}">
                        <a16:creationId xmlns:a16="http://schemas.microsoft.com/office/drawing/2014/main" id="{4A74EAD5-E30A-B748-21CE-13465B8ACD39}"/>
                      </a:ext>
                    </a:extLst>
                  </p:cNvPr>
                  <p:cNvGrpSpPr/>
                  <p:nvPr/>
                </p:nvGrpSpPr>
                <p:grpSpPr>
                  <a:xfrm>
                    <a:off x="5719432" y="4838700"/>
                    <a:ext cx="257412" cy="167404"/>
                    <a:chOff x="5548194" y="4838700"/>
                    <a:chExt cx="257412" cy="167404"/>
                  </a:xfrm>
                </p:grpSpPr>
                <p:pic>
                  <p:nvPicPr>
                    <p:cNvPr id="99" name="Imagen 98">
                      <a:extLst>
                        <a:ext uri="{FF2B5EF4-FFF2-40B4-BE49-F238E27FC236}">
                          <a16:creationId xmlns:a16="http://schemas.microsoft.com/office/drawing/2014/main" id="{75548F9C-60E6-C719-1013-D8A10963543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8194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0" name="Imagen 99">
                      <a:extLst>
                        <a:ext uri="{FF2B5EF4-FFF2-40B4-BE49-F238E27FC236}">
                          <a16:creationId xmlns:a16="http://schemas.microsoft.com/office/drawing/2014/main" id="{77258095-BBBB-104D-C3DE-ED09147D75D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638800" y="4838700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94" name="Imagen 93">
                  <a:extLst>
                    <a:ext uri="{FF2B5EF4-FFF2-40B4-BE49-F238E27FC236}">
                      <a16:creationId xmlns:a16="http://schemas.microsoft.com/office/drawing/2014/main" id="{6BAB0A64-CAD8-4386-86C1-531DFBA577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04303" y="5677498"/>
                  <a:ext cx="166806" cy="166806"/>
                </a:xfrm>
                <a:prstGeom prst="rect">
                  <a:avLst/>
                </a:prstGeom>
              </p:spPr>
            </p:pic>
          </p:grpSp>
        </p:grp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633F2350-82F7-0A7A-3DF9-7E187A5148F1}"/>
                </a:ext>
              </a:extLst>
            </p:cNvPr>
            <p:cNvSpPr txBox="1"/>
            <p:nvPr/>
          </p:nvSpPr>
          <p:spPr>
            <a:xfrm>
              <a:off x="7711442" y="2875433"/>
              <a:ext cx="975358" cy="26161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sz="1100" b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939</a:t>
              </a:r>
              <a:endParaRPr lang="es-DO" sz="1100" b="1" dirty="0"/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374DE14D-3E7F-0F0A-D437-D10C826B3094}"/>
              </a:ext>
            </a:extLst>
          </p:cNvPr>
          <p:cNvGrpSpPr/>
          <p:nvPr/>
        </p:nvGrpSpPr>
        <p:grpSpPr>
          <a:xfrm>
            <a:off x="7940042" y="3162300"/>
            <a:ext cx="2831503" cy="261610"/>
            <a:chOff x="7711442" y="3162300"/>
            <a:chExt cx="2831503" cy="261610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F96F0704-F476-9114-D9D4-C0EFB4CC4D29}"/>
                </a:ext>
              </a:extLst>
            </p:cNvPr>
            <p:cNvGrpSpPr/>
            <p:nvPr/>
          </p:nvGrpSpPr>
          <p:grpSpPr>
            <a:xfrm>
              <a:off x="8159826" y="3162300"/>
              <a:ext cx="2383119" cy="261610"/>
              <a:chOff x="7602253" y="3162300"/>
              <a:chExt cx="2383119" cy="261610"/>
            </a:xfrm>
          </p:grpSpPr>
          <p:sp>
            <p:nvSpPr>
              <p:cNvPr id="123" name="CuadroTexto 122">
                <a:extLst>
                  <a:ext uri="{FF2B5EF4-FFF2-40B4-BE49-F238E27FC236}">
                    <a16:creationId xmlns:a16="http://schemas.microsoft.com/office/drawing/2014/main" id="{B985E7E0-E03E-FDCD-A319-C46073CC4A94}"/>
                  </a:ext>
                </a:extLst>
              </p:cNvPr>
              <p:cNvSpPr txBox="1"/>
              <p:nvPr/>
            </p:nvSpPr>
            <p:spPr>
              <a:xfrm>
                <a:off x="8534400" y="3162300"/>
                <a:ext cx="1450972" cy="261610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r>
                  <a:rPr lang="en-US" sz="10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</a:t>
                </a:r>
                <a:r>
                  <a:rPr lang="en-US" sz="1100" dirty="0"/>
                  <a:t>             </a:t>
                </a:r>
                <a:r>
                  <a:rPr lang="en-US" sz="1100" b="1" dirty="0"/>
                  <a:t>+20%</a:t>
                </a:r>
                <a:endParaRPr lang="es-DO" sz="1100" b="1" dirty="0"/>
              </a:p>
            </p:txBody>
          </p:sp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C80C8A93-6066-9E46-62C8-4735BCDBA15F}"/>
                  </a:ext>
                </a:extLst>
              </p:cNvPr>
              <p:cNvGrpSpPr/>
              <p:nvPr/>
            </p:nvGrpSpPr>
            <p:grpSpPr>
              <a:xfrm>
                <a:off x="7602253" y="3220118"/>
                <a:ext cx="855947" cy="170782"/>
                <a:chOff x="5486400" y="5676900"/>
                <a:chExt cx="855947" cy="170782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B457E719-2926-3D22-EEAB-F5598652CA74}"/>
                    </a:ext>
                  </a:extLst>
                </p:cNvPr>
                <p:cNvGrpSpPr/>
                <p:nvPr/>
              </p:nvGrpSpPr>
              <p:grpSpPr>
                <a:xfrm>
                  <a:off x="5486400" y="5676900"/>
                  <a:ext cx="257412" cy="167404"/>
                  <a:chOff x="5548194" y="4838700"/>
                  <a:chExt cx="257412" cy="167404"/>
                </a:xfrm>
              </p:grpSpPr>
              <p:pic>
                <p:nvPicPr>
                  <p:cNvPr id="39" name="Imagen 38">
                    <a:extLst>
                      <a:ext uri="{FF2B5EF4-FFF2-40B4-BE49-F238E27FC236}">
                        <a16:creationId xmlns:a16="http://schemas.microsoft.com/office/drawing/2014/main" id="{644C1698-3555-E242-9B24-985D04A71E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48194" y="4839298"/>
                    <a:ext cx="166806" cy="166806"/>
                  </a:xfrm>
                  <a:prstGeom prst="rect">
                    <a:avLst/>
                  </a:prstGeom>
                </p:spPr>
              </p:pic>
              <p:pic>
                <p:nvPicPr>
                  <p:cNvPr id="51" name="Imagen 50">
                    <a:extLst>
                      <a:ext uri="{FF2B5EF4-FFF2-40B4-BE49-F238E27FC236}">
                        <a16:creationId xmlns:a16="http://schemas.microsoft.com/office/drawing/2014/main" id="{9A1BA81D-EFA2-321B-B0BC-306F1A906E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38800" y="4838700"/>
                    <a:ext cx="166806" cy="1668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" name="Grupo 10">
                  <a:extLst>
                    <a:ext uri="{FF2B5EF4-FFF2-40B4-BE49-F238E27FC236}">
                      <a16:creationId xmlns:a16="http://schemas.microsoft.com/office/drawing/2014/main" id="{6DE11EC6-9BB7-B1C9-F8E0-417F80CEB0DD}"/>
                    </a:ext>
                  </a:extLst>
                </p:cNvPr>
                <p:cNvGrpSpPr/>
                <p:nvPr/>
              </p:nvGrpSpPr>
              <p:grpSpPr>
                <a:xfrm>
                  <a:off x="5656484" y="5680278"/>
                  <a:ext cx="428650" cy="167404"/>
                  <a:chOff x="5548194" y="4838700"/>
                  <a:chExt cx="428650" cy="167404"/>
                </a:xfrm>
              </p:grpSpPr>
              <p:grpSp>
                <p:nvGrpSpPr>
                  <p:cNvPr id="33" name="Grupo 32">
                    <a:extLst>
                      <a:ext uri="{FF2B5EF4-FFF2-40B4-BE49-F238E27FC236}">
                        <a16:creationId xmlns:a16="http://schemas.microsoft.com/office/drawing/2014/main" id="{ACC02B4E-1F30-6A5A-0D69-6FF8CB9E2389}"/>
                      </a:ext>
                    </a:extLst>
                  </p:cNvPr>
                  <p:cNvGrpSpPr/>
                  <p:nvPr/>
                </p:nvGrpSpPr>
                <p:grpSpPr>
                  <a:xfrm>
                    <a:off x="5548194" y="4838700"/>
                    <a:ext cx="257412" cy="167404"/>
                    <a:chOff x="5548194" y="4838700"/>
                    <a:chExt cx="257412" cy="167404"/>
                  </a:xfrm>
                </p:grpSpPr>
                <p:pic>
                  <p:nvPicPr>
                    <p:cNvPr id="37" name="Imagen 36">
                      <a:extLst>
                        <a:ext uri="{FF2B5EF4-FFF2-40B4-BE49-F238E27FC236}">
                          <a16:creationId xmlns:a16="http://schemas.microsoft.com/office/drawing/2014/main" id="{BB69FC5D-6A41-236E-1D88-66917C1C15D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8194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8" name="Imagen 37">
                      <a:extLst>
                        <a:ext uri="{FF2B5EF4-FFF2-40B4-BE49-F238E27FC236}">
                          <a16:creationId xmlns:a16="http://schemas.microsoft.com/office/drawing/2014/main" id="{B17850A9-AB76-2E61-EDB5-08882F3B53F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638800" y="4838700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4" name="Grupo 33">
                    <a:extLst>
                      <a:ext uri="{FF2B5EF4-FFF2-40B4-BE49-F238E27FC236}">
                        <a16:creationId xmlns:a16="http://schemas.microsoft.com/office/drawing/2014/main" id="{C2580CBD-1FA7-8DE3-ED7D-6B1C146F89EE}"/>
                      </a:ext>
                    </a:extLst>
                  </p:cNvPr>
                  <p:cNvGrpSpPr/>
                  <p:nvPr/>
                </p:nvGrpSpPr>
                <p:grpSpPr>
                  <a:xfrm>
                    <a:off x="5719432" y="4838700"/>
                    <a:ext cx="257412" cy="167404"/>
                    <a:chOff x="5548194" y="4838700"/>
                    <a:chExt cx="257412" cy="167404"/>
                  </a:xfrm>
                </p:grpSpPr>
                <p:pic>
                  <p:nvPicPr>
                    <p:cNvPr id="35" name="Imagen 34">
                      <a:extLst>
                        <a:ext uri="{FF2B5EF4-FFF2-40B4-BE49-F238E27FC236}">
                          <a16:creationId xmlns:a16="http://schemas.microsoft.com/office/drawing/2014/main" id="{D3A6EC44-B3B7-FB13-EFC6-C4F09261732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8194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6" name="Imagen 35">
                      <a:extLst>
                        <a:ext uri="{FF2B5EF4-FFF2-40B4-BE49-F238E27FC236}">
                          <a16:creationId xmlns:a16="http://schemas.microsoft.com/office/drawing/2014/main" id="{1ED3E1DB-F373-1CF5-7384-20416C64AB8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638800" y="4838700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17" name="Grupo 16">
                  <a:extLst>
                    <a:ext uri="{FF2B5EF4-FFF2-40B4-BE49-F238E27FC236}">
                      <a16:creationId xmlns:a16="http://schemas.microsoft.com/office/drawing/2014/main" id="{6328C623-E191-6E60-5545-5D06809C7AE7}"/>
                    </a:ext>
                  </a:extLst>
                </p:cNvPr>
                <p:cNvGrpSpPr/>
                <p:nvPr/>
              </p:nvGrpSpPr>
              <p:grpSpPr>
                <a:xfrm>
                  <a:off x="6004303" y="5676900"/>
                  <a:ext cx="338044" cy="167404"/>
                  <a:chOff x="5548194" y="4838700"/>
                  <a:chExt cx="338044" cy="167404"/>
                </a:xfrm>
              </p:grpSpPr>
              <p:grpSp>
                <p:nvGrpSpPr>
                  <p:cNvPr id="19" name="Grupo 18">
                    <a:extLst>
                      <a:ext uri="{FF2B5EF4-FFF2-40B4-BE49-F238E27FC236}">
                        <a16:creationId xmlns:a16="http://schemas.microsoft.com/office/drawing/2014/main" id="{733F44A6-6358-C773-2338-D435E1F71B41}"/>
                      </a:ext>
                    </a:extLst>
                  </p:cNvPr>
                  <p:cNvGrpSpPr/>
                  <p:nvPr/>
                </p:nvGrpSpPr>
                <p:grpSpPr>
                  <a:xfrm>
                    <a:off x="5548194" y="4838700"/>
                    <a:ext cx="257412" cy="167404"/>
                    <a:chOff x="5548194" y="4838700"/>
                    <a:chExt cx="257412" cy="167404"/>
                  </a:xfrm>
                </p:grpSpPr>
                <p:pic>
                  <p:nvPicPr>
                    <p:cNvPr id="30" name="Imagen 29">
                      <a:extLst>
                        <a:ext uri="{FF2B5EF4-FFF2-40B4-BE49-F238E27FC236}">
                          <a16:creationId xmlns:a16="http://schemas.microsoft.com/office/drawing/2014/main" id="{A98B1F86-04FC-F8F3-D3E4-51448C02AA0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8194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2" name="Imagen 31">
                      <a:extLst>
                        <a:ext uri="{FF2B5EF4-FFF2-40B4-BE49-F238E27FC236}">
                          <a16:creationId xmlns:a16="http://schemas.microsoft.com/office/drawing/2014/main" id="{3D157B77-C0DC-A5EA-FC3C-0723A4E75F0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638800" y="4838700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4" name="Imagen 23">
                    <a:extLst>
                      <a:ext uri="{FF2B5EF4-FFF2-40B4-BE49-F238E27FC236}">
                        <a16:creationId xmlns:a16="http://schemas.microsoft.com/office/drawing/2014/main" id="{6DED542B-36D9-5454-4021-061B3CCF99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19432" y="4839298"/>
                    <a:ext cx="166806" cy="166806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EB41E124-EF15-AC8B-C36F-96A1A128EBF7}"/>
                </a:ext>
              </a:extLst>
            </p:cNvPr>
            <p:cNvSpPr txBox="1"/>
            <p:nvPr/>
          </p:nvSpPr>
          <p:spPr>
            <a:xfrm>
              <a:off x="7711442" y="3162300"/>
              <a:ext cx="975358" cy="26161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lang="en-US" sz="1100" b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1,603</a:t>
              </a:r>
              <a:r>
                <a:rPr lang="en-US" sz="10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  </a:t>
              </a:r>
              <a:r>
                <a:rPr lang="en-US" sz="1100" dirty="0"/>
                <a:t>     </a:t>
              </a:r>
              <a:endParaRPr lang="es-DO" sz="1100" b="1" dirty="0"/>
            </a:p>
          </p:txBody>
        </p:sp>
      </p:grpSp>
      <p:graphicFrame>
        <p:nvGraphicFramePr>
          <p:cNvPr id="82" name="Gráfico 81">
            <a:extLst>
              <a:ext uri="{FF2B5EF4-FFF2-40B4-BE49-F238E27FC236}">
                <a16:creationId xmlns:a16="http://schemas.microsoft.com/office/drawing/2014/main" id="{D68CCB75-A00E-3B1A-38BF-E7F3B82BE5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3657600" y="4838700"/>
          <a:ext cx="3233818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9D7CEB8E-9836-0DB1-5D26-60B036423311}"/>
              </a:ext>
            </a:extLst>
          </p:cNvPr>
          <p:cNvCxnSpPr/>
          <p:nvPr/>
        </p:nvCxnSpPr>
        <p:spPr>
          <a:xfrm>
            <a:off x="7315200" y="4686300"/>
            <a:ext cx="0" cy="1828800"/>
          </a:xfrm>
          <a:prstGeom prst="line">
            <a:avLst/>
          </a:prstGeom>
          <a:ln w="12700">
            <a:solidFill>
              <a:srgbClr val="B9B9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Gráfico 84">
            <a:extLst>
              <a:ext uri="{FF2B5EF4-FFF2-40B4-BE49-F238E27FC236}">
                <a16:creationId xmlns:a16="http://schemas.microsoft.com/office/drawing/2014/main" id="{99401652-EB1E-AEEE-4F99-5F7A3540BA0F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27032944"/>
              </p:ext>
            </p:extLst>
          </p:nvPr>
        </p:nvGraphicFramePr>
        <p:xfrm>
          <a:off x="7618977" y="4725183"/>
          <a:ext cx="3430024" cy="14851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93" name="CuadroTexto 92">
            <a:extLst>
              <a:ext uri="{FF2B5EF4-FFF2-40B4-BE49-F238E27FC236}">
                <a16:creationId xmlns:a16="http://schemas.microsoft.com/office/drawing/2014/main" id="{98FD97EF-47CA-E75E-BA99-A74390300B2F}"/>
              </a:ext>
            </a:extLst>
          </p:cNvPr>
          <p:cNvSpPr txBox="1"/>
          <p:nvPr/>
        </p:nvSpPr>
        <p:spPr>
          <a:xfrm>
            <a:off x="6594332" y="4545568"/>
            <a:ext cx="72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52B047"/>
                </a:solidFill>
              </a:rPr>
              <a:t>+34%</a:t>
            </a:r>
            <a:endParaRPr lang="es-DO" b="1" dirty="0">
              <a:solidFill>
                <a:srgbClr val="52B047"/>
              </a:solidFill>
            </a:endParaRPr>
          </a:p>
        </p:txBody>
      </p:sp>
      <p:graphicFrame>
        <p:nvGraphicFramePr>
          <p:cNvPr id="104" name="Gráfico 103">
            <a:extLst>
              <a:ext uri="{FF2B5EF4-FFF2-40B4-BE49-F238E27FC236}">
                <a16:creationId xmlns:a16="http://schemas.microsoft.com/office/drawing/2014/main" id="{BE7E9595-1C88-F53C-4C7A-68FF35B6F42C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11582401" y="2260516"/>
          <a:ext cx="6547238" cy="4480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pic>
        <p:nvPicPr>
          <p:cNvPr id="16" name="Imagen 15">
            <a:hlinkClick r:id="rId21" tooltip="Click para visitar perfil en gitgub"/>
            <a:extLst>
              <a:ext uri="{FF2B5EF4-FFF2-40B4-BE49-F238E27FC236}">
                <a16:creationId xmlns:a16="http://schemas.microsoft.com/office/drawing/2014/main" id="{B1D1A248-58C2-791F-BACC-F8B8A3B8B847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1622" y="1"/>
            <a:ext cx="1096379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3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8A6D8-AD3F-BAA5-881D-4D2DC936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reeform 6">
            <a:extLst>
              <a:ext uri="{FF2B5EF4-FFF2-40B4-BE49-F238E27FC236}">
                <a16:creationId xmlns:a16="http://schemas.microsoft.com/office/drawing/2014/main" id="{A04D097F-F8CA-9A07-B78D-83A0541A9125}"/>
              </a:ext>
            </a:extLst>
          </p:cNvPr>
          <p:cNvSpPr/>
          <p:nvPr/>
        </p:nvSpPr>
        <p:spPr>
          <a:xfrm>
            <a:off x="450983" y="1307592"/>
            <a:ext cx="2743200" cy="503794"/>
          </a:xfrm>
          <a:prstGeom prst="roundRect">
            <a:avLst/>
          </a:prstGeom>
          <a:solidFill>
            <a:srgbClr val="1C3F60"/>
          </a:solidFill>
        </p:spPr>
        <p:txBody>
          <a:bodyPr anchor="ctr"/>
          <a:lstStyle/>
          <a:p>
            <a:pPr algn="ctr"/>
            <a:r>
              <a:rPr lang="en-US" sz="1600" b="1" spc="6" dirty="0">
                <a:solidFill>
                  <a:srgbClr val="F3F6FA"/>
                </a:solidFill>
                <a:latin typeface="Segoe UI Semibold" panose="020B0702040204020203" pitchFamily="34" charset="0"/>
                <a:ea typeface="Barlow"/>
                <a:cs typeface="Segoe UI Semibold" panose="020B0702040204020203" pitchFamily="34" charset="0"/>
                <a:sym typeface="Barlow"/>
              </a:rPr>
              <a:t>Comercio</a:t>
            </a:r>
          </a:p>
        </p:txBody>
      </p:sp>
      <p:sp>
        <p:nvSpPr>
          <p:cNvPr id="92" name="Freeform 6">
            <a:extLst>
              <a:ext uri="{FF2B5EF4-FFF2-40B4-BE49-F238E27FC236}">
                <a16:creationId xmlns:a16="http://schemas.microsoft.com/office/drawing/2014/main" id="{7EA3F2F1-D59D-4086-3377-4D71BCB82F35}"/>
              </a:ext>
            </a:extLst>
          </p:cNvPr>
          <p:cNvSpPr/>
          <p:nvPr/>
        </p:nvSpPr>
        <p:spPr>
          <a:xfrm>
            <a:off x="3270383" y="1307592"/>
            <a:ext cx="8083417" cy="503794"/>
          </a:xfrm>
          <a:prstGeom prst="roundRect">
            <a:avLst/>
          </a:prstGeom>
          <a:solidFill>
            <a:srgbClr val="1C3F60"/>
          </a:solidFill>
        </p:spPr>
        <p:txBody>
          <a:bodyPr anchor="ctr"/>
          <a:lstStyle/>
          <a:p>
            <a:pPr algn="ctr"/>
            <a:r>
              <a:rPr lang="en-US" sz="1600" b="1" spc="6" dirty="0" err="1">
                <a:solidFill>
                  <a:srgbClr val="F3F6FA"/>
                </a:solidFill>
                <a:latin typeface="Segoe UI Semibold" panose="020B0702040204020203" pitchFamily="34" charset="0"/>
                <a:ea typeface="Barlow"/>
                <a:cs typeface="Segoe UI Semibold" panose="020B0702040204020203" pitchFamily="34" charset="0"/>
                <a:sym typeface="Barlow"/>
              </a:rPr>
              <a:t>Caracteríticas</a:t>
            </a:r>
            <a:endParaRPr lang="en-US" sz="1600" b="1" spc="6" dirty="0">
              <a:solidFill>
                <a:srgbClr val="F3F6FA"/>
              </a:solidFill>
              <a:latin typeface="Segoe UI Semibold" panose="020B0702040204020203" pitchFamily="34" charset="0"/>
              <a:ea typeface="Barlow"/>
              <a:cs typeface="Segoe UI Semibold" panose="020B0702040204020203" pitchFamily="34" charset="0"/>
              <a:sym typeface="Barlow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0C764B6-8F1E-40E4-E17E-D78D96A7F6AD}"/>
              </a:ext>
            </a:extLst>
          </p:cNvPr>
          <p:cNvCxnSpPr>
            <a:cxnSpLocks/>
          </p:cNvCxnSpPr>
          <p:nvPr/>
        </p:nvCxnSpPr>
        <p:spPr>
          <a:xfrm>
            <a:off x="0" y="952500"/>
            <a:ext cx="18288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B0E5DA16-9994-23E0-9D2B-0E4D6D6519D9}"/>
              </a:ext>
            </a:extLst>
          </p:cNvPr>
          <p:cNvSpPr txBox="1"/>
          <p:nvPr/>
        </p:nvSpPr>
        <p:spPr>
          <a:xfrm>
            <a:off x="304800" y="268501"/>
            <a:ext cx="31949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Volumen vs valor</a:t>
            </a:r>
            <a:endParaRPr lang="es-DO" sz="2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DB37C1B-EDD0-A248-F8C1-D4276D1879C2}"/>
              </a:ext>
            </a:extLst>
          </p:cNvPr>
          <p:cNvSpPr txBox="1"/>
          <p:nvPr/>
        </p:nvSpPr>
        <p:spPr>
          <a:xfrm>
            <a:off x="3672259" y="286789"/>
            <a:ext cx="6309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DO" sz="140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¿Qué comercios generan escala y cuáles generan valor?¿Dónde se concentra el volumen vs la rentabilidad potencial?</a:t>
            </a:r>
            <a:endParaRPr lang="es-DO" i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727BEB8-4DC1-B5D5-B60F-14FA8C740393}"/>
              </a:ext>
            </a:extLst>
          </p:cNvPr>
          <p:cNvSpPr txBox="1"/>
          <p:nvPr/>
        </p:nvSpPr>
        <p:spPr>
          <a:xfrm>
            <a:off x="11917680" y="495300"/>
            <a:ext cx="118872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Comercios</a:t>
            </a:r>
            <a:r>
              <a:rPr lang="en-US" dirty="0">
                <a:latin typeface="Abadi ExtraLight" panose="020B0204020104020204" pitchFamily="34" charset="0"/>
              </a:rPr>
              <a:t>: </a:t>
            </a:r>
            <a:endParaRPr lang="es-DO" b="1" dirty="0">
              <a:solidFill>
                <a:schemeClr val="tx2"/>
              </a:solidFill>
              <a:latin typeface="Abadi" panose="020B0604020104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5F8D862-DA77-5708-5ECB-C49FF6B9E430}"/>
              </a:ext>
            </a:extLst>
          </p:cNvPr>
          <p:cNvSpPr txBox="1"/>
          <p:nvPr/>
        </p:nvSpPr>
        <p:spPr>
          <a:xfrm>
            <a:off x="13045440" y="502220"/>
            <a:ext cx="4023360" cy="338554"/>
          </a:xfrm>
          <a:prstGeom prst="rect">
            <a:avLst/>
          </a:prstGeom>
          <a:solidFill>
            <a:srgbClr val="FCEEC1"/>
          </a:solidFill>
        </p:spPr>
        <p:txBody>
          <a:bodyPr wrap="square" lIns="45720" rtlCol="0">
            <a:spAutoFit/>
          </a:bodyPr>
          <a:lstStyle/>
          <a:p>
            <a:r>
              <a:rPr lang="en-US" sz="1600" b="1" dirty="0" err="1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Electrónica</a:t>
            </a:r>
            <a:r>
              <a:rPr lang="en-US" sz="1600" b="1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, Ecommerce y </a:t>
            </a:r>
            <a:r>
              <a:rPr lang="en-US" sz="1600" b="1" dirty="0" err="1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supermercados</a:t>
            </a:r>
            <a:endParaRPr lang="es-DO" sz="1600" b="1" dirty="0">
              <a:solidFill>
                <a:schemeClr val="tx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644" name="Conector recto 643">
            <a:extLst>
              <a:ext uri="{FF2B5EF4-FFF2-40B4-BE49-F238E27FC236}">
                <a16:creationId xmlns:a16="http://schemas.microsoft.com/office/drawing/2014/main" id="{0B328350-74B3-BE7C-616D-7776011212AC}"/>
              </a:ext>
            </a:extLst>
          </p:cNvPr>
          <p:cNvCxnSpPr/>
          <p:nvPr/>
        </p:nvCxnSpPr>
        <p:spPr>
          <a:xfrm>
            <a:off x="3596452" y="250213"/>
            <a:ext cx="0" cy="548640"/>
          </a:xfrm>
          <a:prstGeom prst="line">
            <a:avLst/>
          </a:prstGeom>
          <a:ln w="25400">
            <a:solidFill>
              <a:srgbClr val="1C3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6" name="CuadroTexto 645">
            <a:extLst>
              <a:ext uri="{FF2B5EF4-FFF2-40B4-BE49-F238E27FC236}">
                <a16:creationId xmlns:a16="http://schemas.microsoft.com/office/drawing/2014/main" id="{E69F8EF2-A4EB-5F92-B6B0-8C3402E30B0F}"/>
              </a:ext>
            </a:extLst>
          </p:cNvPr>
          <p:cNvSpPr txBox="1"/>
          <p:nvPr/>
        </p:nvSpPr>
        <p:spPr>
          <a:xfrm>
            <a:off x="421657" y="9715500"/>
            <a:ext cx="43027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*En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todos</a:t>
            </a:r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los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segmentos</a:t>
            </a:r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,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durante</a:t>
            </a:r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todo</a:t>
            </a:r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el</a:t>
            </a:r>
            <a:r>
              <a:rPr lang="en-US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1050" i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semestre</a:t>
            </a:r>
            <a:endParaRPr lang="es-DO" sz="1050" i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1156" name="Grupo 1155">
            <a:extLst>
              <a:ext uri="{FF2B5EF4-FFF2-40B4-BE49-F238E27FC236}">
                <a16:creationId xmlns:a16="http://schemas.microsoft.com/office/drawing/2014/main" id="{1F049357-4641-C2CE-12C7-3D60B9713F10}"/>
              </a:ext>
            </a:extLst>
          </p:cNvPr>
          <p:cNvGrpSpPr/>
          <p:nvPr/>
        </p:nvGrpSpPr>
        <p:grpSpPr>
          <a:xfrm>
            <a:off x="304095" y="1953430"/>
            <a:ext cx="11049705" cy="2298784"/>
            <a:chOff x="304095" y="2387516"/>
            <a:chExt cx="11049705" cy="2298784"/>
          </a:xfrm>
        </p:grpSpPr>
        <p:grpSp>
          <p:nvGrpSpPr>
            <p:cNvPr id="1154" name="Grupo 1153">
              <a:extLst>
                <a:ext uri="{FF2B5EF4-FFF2-40B4-BE49-F238E27FC236}">
                  <a16:creationId xmlns:a16="http://schemas.microsoft.com/office/drawing/2014/main" id="{702D0C86-4D90-9372-3447-2BEA91D8CA6E}"/>
                </a:ext>
              </a:extLst>
            </p:cNvPr>
            <p:cNvGrpSpPr/>
            <p:nvPr/>
          </p:nvGrpSpPr>
          <p:grpSpPr>
            <a:xfrm>
              <a:off x="3317295" y="2387516"/>
              <a:ext cx="8036505" cy="2286000"/>
              <a:chOff x="3317295" y="2235116"/>
              <a:chExt cx="8036505" cy="2286000"/>
            </a:xfrm>
          </p:grpSpPr>
          <p:sp>
            <p:nvSpPr>
              <p:cNvPr id="95" name="Diagrama de flujo: proceso alternativo 94">
                <a:extLst>
                  <a:ext uri="{FF2B5EF4-FFF2-40B4-BE49-F238E27FC236}">
                    <a16:creationId xmlns:a16="http://schemas.microsoft.com/office/drawing/2014/main" id="{381A4B12-CB63-205B-83BC-7ADA31D8B155}"/>
                  </a:ext>
                </a:extLst>
              </p:cNvPr>
              <p:cNvSpPr/>
              <p:nvPr/>
            </p:nvSpPr>
            <p:spPr>
              <a:xfrm>
                <a:off x="3317295" y="2235116"/>
                <a:ext cx="8036505" cy="228600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  <p:grpSp>
            <p:nvGrpSpPr>
              <p:cNvPr id="119" name="Grupo 118">
                <a:extLst>
                  <a:ext uri="{FF2B5EF4-FFF2-40B4-BE49-F238E27FC236}">
                    <a16:creationId xmlns:a16="http://schemas.microsoft.com/office/drawing/2014/main" id="{C16AA323-2E72-D21D-DE96-034C5CBADACD}"/>
                  </a:ext>
                </a:extLst>
              </p:cNvPr>
              <p:cNvGrpSpPr/>
              <p:nvPr/>
            </p:nvGrpSpPr>
            <p:grpSpPr>
              <a:xfrm>
                <a:off x="3515345" y="2640568"/>
                <a:ext cx="1982849" cy="978932"/>
                <a:chOff x="3409596" y="4598342"/>
                <a:chExt cx="1982849" cy="978932"/>
              </a:xfrm>
            </p:grpSpPr>
            <p:pic>
              <p:nvPicPr>
                <p:cNvPr id="112" name="Imagen 111">
                  <a:extLst>
                    <a:ext uri="{FF2B5EF4-FFF2-40B4-BE49-F238E27FC236}">
                      <a16:creationId xmlns:a16="http://schemas.microsoft.com/office/drawing/2014/main" id="{3E8CECCD-5387-63FA-D76D-968FF9CB40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61977" y="4750742"/>
                  <a:ext cx="609600" cy="609600"/>
                </a:xfrm>
                <a:prstGeom prst="rect">
                  <a:avLst/>
                </a:prstGeom>
              </p:spPr>
            </p:pic>
            <p:grpSp>
              <p:nvGrpSpPr>
                <p:cNvPr id="115" name="Grupo 114">
                  <a:extLst>
                    <a:ext uri="{FF2B5EF4-FFF2-40B4-BE49-F238E27FC236}">
                      <a16:creationId xmlns:a16="http://schemas.microsoft.com/office/drawing/2014/main" id="{616677F9-B76D-3F51-7A16-84765758FBED}"/>
                    </a:ext>
                  </a:extLst>
                </p:cNvPr>
                <p:cNvGrpSpPr/>
                <p:nvPr/>
              </p:nvGrpSpPr>
              <p:grpSpPr>
                <a:xfrm>
                  <a:off x="3409596" y="4598342"/>
                  <a:ext cx="728581" cy="474821"/>
                  <a:chOff x="3409596" y="4979342"/>
                  <a:chExt cx="728581" cy="474821"/>
                </a:xfrm>
              </p:grpSpPr>
              <p:sp>
                <p:nvSpPr>
                  <p:cNvPr id="113" name="CuadroTexto 112">
                    <a:extLst>
                      <a:ext uri="{FF2B5EF4-FFF2-40B4-BE49-F238E27FC236}">
                        <a16:creationId xmlns:a16="http://schemas.microsoft.com/office/drawing/2014/main" id="{12BD246A-6F1F-9064-4B31-BA8BFC0C1E4E}"/>
                      </a:ext>
                    </a:extLst>
                  </p:cNvPr>
                  <p:cNvSpPr txBox="1"/>
                  <p:nvPr/>
                </p:nvSpPr>
                <p:spPr>
                  <a:xfrm>
                    <a:off x="3409596" y="4979342"/>
                    <a:ext cx="72086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52B047"/>
                        </a:solidFill>
                      </a:rPr>
                      <a:t>+83%</a:t>
                    </a:r>
                    <a:endParaRPr lang="es-DO" b="1" dirty="0">
                      <a:solidFill>
                        <a:srgbClr val="52B047"/>
                      </a:solidFill>
                    </a:endParaRPr>
                  </a:p>
                </p:txBody>
              </p:sp>
              <p:sp>
                <p:nvSpPr>
                  <p:cNvPr id="114" name="CuadroTexto 113">
                    <a:extLst>
                      <a:ext uri="{FF2B5EF4-FFF2-40B4-BE49-F238E27FC236}">
                        <a16:creationId xmlns:a16="http://schemas.microsoft.com/office/drawing/2014/main" id="{90618305-6DB3-8FE5-391D-3415699110EB}"/>
                      </a:ext>
                    </a:extLst>
                  </p:cNvPr>
                  <p:cNvSpPr txBox="1"/>
                  <p:nvPr/>
                </p:nvSpPr>
                <p:spPr>
                  <a:xfrm>
                    <a:off x="3452378" y="5207942"/>
                    <a:ext cx="68579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b="1" dirty="0"/>
                      <a:t>Premium</a:t>
                    </a:r>
                    <a:endParaRPr lang="es-DO" sz="1000" b="1" dirty="0"/>
                  </a:p>
                </p:txBody>
              </p:sp>
            </p:grpSp>
            <p:grpSp>
              <p:nvGrpSpPr>
                <p:cNvPr id="116" name="Grupo 115">
                  <a:extLst>
                    <a:ext uri="{FF2B5EF4-FFF2-40B4-BE49-F238E27FC236}">
                      <a16:creationId xmlns:a16="http://schemas.microsoft.com/office/drawing/2014/main" id="{14BE16F7-C924-ADDC-B75B-C5807103B119}"/>
                    </a:ext>
                  </a:extLst>
                </p:cNvPr>
                <p:cNvGrpSpPr/>
                <p:nvPr/>
              </p:nvGrpSpPr>
              <p:grpSpPr>
                <a:xfrm>
                  <a:off x="4671577" y="5025062"/>
                  <a:ext cx="720868" cy="552212"/>
                  <a:chOff x="3384849" y="5677245"/>
                  <a:chExt cx="720868" cy="552212"/>
                </a:xfrm>
              </p:grpSpPr>
              <p:sp>
                <p:nvSpPr>
                  <p:cNvPr id="117" name="CuadroTexto 116">
                    <a:extLst>
                      <a:ext uri="{FF2B5EF4-FFF2-40B4-BE49-F238E27FC236}">
                        <a16:creationId xmlns:a16="http://schemas.microsoft.com/office/drawing/2014/main" id="{83861980-9ADC-E6A3-1D07-F6B820F76F9C}"/>
                      </a:ext>
                    </a:extLst>
                  </p:cNvPr>
                  <p:cNvSpPr txBox="1"/>
                  <p:nvPr/>
                </p:nvSpPr>
                <p:spPr>
                  <a:xfrm>
                    <a:off x="3384849" y="5860125"/>
                    <a:ext cx="72086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BC8B69"/>
                        </a:solidFill>
                      </a:rPr>
                      <a:t>+55%</a:t>
                    </a:r>
                    <a:endParaRPr lang="es-DO" b="1" dirty="0">
                      <a:solidFill>
                        <a:srgbClr val="BC8B69"/>
                      </a:solidFill>
                    </a:endParaRPr>
                  </a:p>
                </p:txBody>
              </p:sp>
              <p:sp>
                <p:nvSpPr>
                  <p:cNvPr id="118" name="CuadroTexto 117">
                    <a:extLst>
                      <a:ext uri="{FF2B5EF4-FFF2-40B4-BE49-F238E27FC236}">
                        <a16:creationId xmlns:a16="http://schemas.microsoft.com/office/drawing/2014/main" id="{CF33EF6A-7454-E6E1-63BB-F512B04AF477}"/>
                      </a:ext>
                    </a:extLst>
                  </p:cNvPr>
                  <p:cNvSpPr txBox="1"/>
                  <p:nvPr/>
                </p:nvSpPr>
                <p:spPr>
                  <a:xfrm>
                    <a:off x="3397314" y="5677245"/>
                    <a:ext cx="685799" cy="1828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b="1" dirty="0" err="1"/>
                      <a:t>Masivo</a:t>
                    </a:r>
                    <a:endParaRPr lang="es-DO" sz="1000" b="1" dirty="0"/>
                  </a:p>
                </p:txBody>
              </p:sp>
            </p:grpSp>
          </p:grpSp>
          <p:grpSp>
            <p:nvGrpSpPr>
              <p:cNvPr id="654" name="Grupo 653">
                <a:extLst>
                  <a:ext uri="{FF2B5EF4-FFF2-40B4-BE49-F238E27FC236}">
                    <a16:creationId xmlns:a16="http://schemas.microsoft.com/office/drawing/2014/main" id="{A59201E4-1A3F-5B8A-188F-E5A4EAE5116D}"/>
                  </a:ext>
                </a:extLst>
              </p:cNvPr>
              <p:cNvGrpSpPr/>
              <p:nvPr/>
            </p:nvGrpSpPr>
            <p:grpSpPr>
              <a:xfrm>
                <a:off x="9677400" y="2300986"/>
                <a:ext cx="1600200" cy="1478534"/>
                <a:chOff x="9671183" y="4251400"/>
                <a:chExt cx="1600200" cy="1478534"/>
              </a:xfrm>
            </p:grpSpPr>
            <p:grpSp>
              <p:nvGrpSpPr>
                <p:cNvPr id="302" name="Grupo 301">
                  <a:extLst>
                    <a:ext uri="{FF2B5EF4-FFF2-40B4-BE49-F238E27FC236}">
                      <a16:creationId xmlns:a16="http://schemas.microsoft.com/office/drawing/2014/main" id="{FCFF084B-DB54-02EC-C2BF-4BD4DA6F03BD}"/>
                    </a:ext>
                  </a:extLst>
                </p:cNvPr>
                <p:cNvGrpSpPr/>
                <p:nvPr/>
              </p:nvGrpSpPr>
              <p:grpSpPr>
                <a:xfrm>
                  <a:off x="10646797" y="4525974"/>
                  <a:ext cx="624586" cy="1203960"/>
                  <a:chOff x="8671814" y="4916984"/>
                  <a:chExt cx="624586" cy="1203960"/>
                </a:xfrm>
              </p:grpSpPr>
              <p:sp>
                <p:nvSpPr>
                  <p:cNvPr id="258" name="CuadroTexto 257">
                    <a:extLst>
                      <a:ext uri="{FF2B5EF4-FFF2-40B4-BE49-F238E27FC236}">
                        <a16:creationId xmlns:a16="http://schemas.microsoft.com/office/drawing/2014/main" id="{93854788-0EF8-4ABC-A49D-3073021ABA50}"/>
                      </a:ext>
                    </a:extLst>
                  </p:cNvPr>
                  <p:cNvSpPr txBox="1"/>
                  <p:nvPr/>
                </p:nvSpPr>
                <p:spPr>
                  <a:xfrm>
                    <a:off x="8671814" y="5905500"/>
                    <a:ext cx="624586" cy="215444"/>
                  </a:xfrm>
                  <a:prstGeom prst="rect">
                    <a:avLst/>
                  </a:prstGeom>
                  <a:noFill/>
                </p:spPr>
                <p:txBody>
                  <a:bodyPr wrap="square" rIns="0" rtlCol="0">
                    <a:spAutoFit/>
                  </a:bodyPr>
                  <a:lstStyle/>
                  <a:p>
                    <a:r>
                      <a:rPr lang="en-US" sz="800" dirty="0"/>
                      <a:t>Premium</a:t>
                    </a:r>
                    <a:endParaRPr lang="es-DO" sz="800" b="1" dirty="0"/>
                  </a:p>
                </p:txBody>
              </p:sp>
              <p:grpSp>
                <p:nvGrpSpPr>
                  <p:cNvPr id="283" name="Grupo 282">
                    <a:extLst>
                      <a:ext uri="{FF2B5EF4-FFF2-40B4-BE49-F238E27FC236}">
                        <a16:creationId xmlns:a16="http://schemas.microsoft.com/office/drawing/2014/main" id="{7E62FD7A-D692-0197-8501-2F9A18539D20}"/>
                      </a:ext>
                    </a:extLst>
                  </p:cNvPr>
                  <p:cNvGrpSpPr/>
                  <p:nvPr/>
                </p:nvGrpSpPr>
                <p:grpSpPr>
                  <a:xfrm>
                    <a:off x="8778240" y="4916984"/>
                    <a:ext cx="365760" cy="1077468"/>
                    <a:chOff x="8778240" y="4916984"/>
                    <a:chExt cx="365760" cy="1077468"/>
                  </a:xfrm>
                </p:grpSpPr>
                <p:pic>
                  <p:nvPicPr>
                    <p:cNvPr id="260" name="Imagen 259">
                      <a:extLst>
                        <a:ext uri="{FF2B5EF4-FFF2-40B4-BE49-F238E27FC236}">
                          <a16:creationId xmlns:a16="http://schemas.microsoft.com/office/drawing/2014/main" id="{4542C0FE-CCE8-A43E-0A1C-44C6CD23D02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778240" y="5628692"/>
                      <a:ext cx="365760" cy="36576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61" name="Imagen 260">
                      <a:extLst>
                        <a:ext uri="{FF2B5EF4-FFF2-40B4-BE49-F238E27FC236}">
                          <a16:creationId xmlns:a16="http://schemas.microsoft.com/office/drawing/2014/main" id="{40BB2C01-4751-C4F7-4438-E4DCEFC7289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778240" y="5391456"/>
                      <a:ext cx="365760" cy="36576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62" name="Imagen 261">
                      <a:extLst>
                        <a:ext uri="{FF2B5EF4-FFF2-40B4-BE49-F238E27FC236}">
                          <a16:creationId xmlns:a16="http://schemas.microsoft.com/office/drawing/2014/main" id="{6F94D1E5-EECD-2320-4AE5-3D16DE025D0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778240" y="5154220"/>
                      <a:ext cx="365760" cy="36576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63" name="Imagen 262">
                      <a:extLst>
                        <a:ext uri="{FF2B5EF4-FFF2-40B4-BE49-F238E27FC236}">
                          <a16:creationId xmlns:a16="http://schemas.microsoft.com/office/drawing/2014/main" id="{E5E1AC1E-2FA1-A2FD-E414-32883FD9943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778240" y="4916984"/>
                      <a:ext cx="365760" cy="365760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301" name="Grupo 300">
                  <a:extLst>
                    <a:ext uri="{FF2B5EF4-FFF2-40B4-BE49-F238E27FC236}">
                      <a16:creationId xmlns:a16="http://schemas.microsoft.com/office/drawing/2014/main" id="{761F71A3-F8AD-0D09-A27C-C5831B19A3A4}"/>
                    </a:ext>
                  </a:extLst>
                </p:cNvPr>
                <p:cNvGrpSpPr/>
                <p:nvPr/>
              </p:nvGrpSpPr>
              <p:grpSpPr>
                <a:xfrm>
                  <a:off x="10585583" y="4251400"/>
                  <a:ext cx="685800" cy="348080"/>
                  <a:chOff x="8610600" y="4632781"/>
                  <a:chExt cx="685800" cy="348080"/>
                </a:xfrm>
              </p:grpSpPr>
              <p:sp>
                <p:nvSpPr>
                  <p:cNvPr id="277" name="CuadroTexto 276">
                    <a:extLst>
                      <a:ext uri="{FF2B5EF4-FFF2-40B4-BE49-F238E27FC236}">
                        <a16:creationId xmlns:a16="http://schemas.microsoft.com/office/drawing/2014/main" id="{58B2C35B-EF97-67E0-308A-9D67A5700288}"/>
                      </a:ext>
                    </a:extLst>
                  </p:cNvPr>
                  <p:cNvSpPr txBox="1"/>
                  <p:nvPr/>
                </p:nvSpPr>
                <p:spPr>
                  <a:xfrm>
                    <a:off x="8610600" y="4632781"/>
                    <a:ext cx="685800" cy="215444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r>
                      <a:rPr lang="en-US" sz="1400" b="1" dirty="0"/>
                      <a:t>+141%</a:t>
                    </a:r>
                    <a:endParaRPr lang="es-DO" sz="1400" b="1" dirty="0"/>
                  </a:p>
                </p:txBody>
              </p:sp>
              <p:sp>
                <p:nvSpPr>
                  <p:cNvPr id="282" name="CuadroTexto 281">
                    <a:extLst>
                      <a:ext uri="{FF2B5EF4-FFF2-40B4-BE49-F238E27FC236}">
                        <a16:creationId xmlns:a16="http://schemas.microsoft.com/office/drawing/2014/main" id="{3DFAD595-B211-F5F2-9B9D-15B44635370B}"/>
                      </a:ext>
                    </a:extLst>
                  </p:cNvPr>
                  <p:cNvSpPr txBox="1"/>
                  <p:nvPr/>
                </p:nvSpPr>
                <p:spPr>
                  <a:xfrm>
                    <a:off x="8763000" y="4819278"/>
                    <a:ext cx="411474" cy="161583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 algn="ctr"/>
                    <a:r>
                      <a:rPr lang="en-US" sz="1050" dirty="0"/>
                      <a:t>392</a:t>
                    </a:r>
                    <a:endParaRPr lang="es-DO" sz="1050" dirty="0"/>
                  </a:p>
                </p:txBody>
              </p:sp>
            </p:grpSp>
            <p:grpSp>
              <p:nvGrpSpPr>
                <p:cNvPr id="293" name="Grupo 292">
                  <a:extLst>
                    <a:ext uri="{FF2B5EF4-FFF2-40B4-BE49-F238E27FC236}">
                      <a16:creationId xmlns:a16="http://schemas.microsoft.com/office/drawing/2014/main" id="{2DA52245-FCC8-AECC-9B61-D9CE1A104CE1}"/>
                    </a:ext>
                  </a:extLst>
                </p:cNvPr>
                <p:cNvGrpSpPr/>
                <p:nvPr/>
              </p:nvGrpSpPr>
              <p:grpSpPr>
                <a:xfrm>
                  <a:off x="10052183" y="4464827"/>
                  <a:ext cx="738844" cy="366819"/>
                  <a:chOff x="9601200" y="4715937"/>
                  <a:chExt cx="738844" cy="366819"/>
                </a:xfrm>
              </p:grpSpPr>
              <p:sp>
                <p:nvSpPr>
                  <p:cNvPr id="278" name="CuadroTexto 277">
                    <a:extLst>
                      <a:ext uri="{FF2B5EF4-FFF2-40B4-BE49-F238E27FC236}">
                        <a16:creationId xmlns:a16="http://schemas.microsoft.com/office/drawing/2014/main" id="{5D7D2A40-1304-89D1-A1A9-2D29EBB56D6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1200" y="4715937"/>
                    <a:ext cx="738844" cy="215444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 algn="ctr"/>
                    <a:r>
                      <a:rPr lang="en-US" sz="1400" b="1" dirty="0"/>
                      <a:t>+114%</a:t>
                    </a:r>
                    <a:endParaRPr lang="es-DO" sz="1400" b="1" dirty="0"/>
                  </a:p>
                </p:txBody>
              </p:sp>
              <p:sp>
                <p:nvSpPr>
                  <p:cNvPr id="281" name="CuadroTexto 280">
                    <a:extLst>
                      <a:ext uri="{FF2B5EF4-FFF2-40B4-BE49-F238E27FC236}">
                        <a16:creationId xmlns:a16="http://schemas.microsoft.com/office/drawing/2014/main" id="{CE617C59-0CF7-B206-113A-6C4E5D94AD87}"/>
                      </a:ext>
                    </a:extLst>
                  </p:cNvPr>
                  <p:cNvSpPr txBox="1"/>
                  <p:nvPr/>
                </p:nvSpPr>
                <p:spPr>
                  <a:xfrm>
                    <a:off x="9753600" y="4928868"/>
                    <a:ext cx="398972" cy="153888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 algn="ctr"/>
                    <a:r>
                      <a:rPr lang="en-US" sz="1000" dirty="0"/>
                      <a:t>225</a:t>
                    </a:r>
                    <a:endParaRPr lang="es-DO" sz="1000" dirty="0"/>
                  </a:p>
                </p:txBody>
              </p:sp>
            </p:grpSp>
            <p:grpSp>
              <p:nvGrpSpPr>
                <p:cNvPr id="304" name="Grupo 303">
                  <a:extLst>
                    <a:ext uri="{FF2B5EF4-FFF2-40B4-BE49-F238E27FC236}">
                      <a16:creationId xmlns:a16="http://schemas.microsoft.com/office/drawing/2014/main" id="{A4D706E5-3403-E263-5E30-8540ECC99A4A}"/>
                    </a:ext>
                  </a:extLst>
                </p:cNvPr>
                <p:cNvGrpSpPr/>
                <p:nvPr/>
              </p:nvGrpSpPr>
              <p:grpSpPr>
                <a:xfrm>
                  <a:off x="10082348" y="4762194"/>
                  <a:ext cx="701672" cy="967740"/>
                  <a:chOff x="9601200" y="5153204"/>
                  <a:chExt cx="701672" cy="967740"/>
                </a:xfrm>
              </p:grpSpPr>
              <p:sp>
                <p:nvSpPr>
                  <p:cNvPr id="257" name="CuadroTexto 256">
                    <a:extLst>
                      <a:ext uri="{FF2B5EF4-FFF2-40B4-BE49-F238E27FC236}">
                        <a16:creationId xmlns:a16="http://schemas.microsoft.com/office/drawing/2014/main" id="{4C58274A-433A-9066-D870-1A08D4B82999}"/>
                      </a:ext>
                    </a:extLst>
                  </p:cNvPr>
                  <p:cNvSpPr txBox="1"/>
                  <p:nvPr/>
                </p:nvSpPr>
                <p:spPr>
                  <a:xfrm>
                    <a:off x="9601200" y="5905500"/>
                    <a:ext cx="701672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/>
                      <a:t>Empresarial</a:t>
                    </a:r>
                    <a:endParaRPr lang="es-DO" sz="800" b="1" dirty="0"/>
                  </a:p>
                </p:txBody>
              </p:sp>
              <p:grpSp>
                <p:nvGrpSpPr>
                  <p:cNvPr id="284" name="Grupo 283">
                    <a:extLst>
                      <a:ext uri="{FF2B5EF4-FFF2-40B4-BE49-F238E27FC236}">
                        <a16:creationId xmlns:a16="http://schemas.microsoft.com/office/drawing/2014/main" id="{5F2F105E-5E07-FA83-169C-B1C660AF7D36}"/>
                      </a:ext>
                    </a:extLst>
                  </p:cNvPr>
                  <p:cNvGrpSpPr/>
                  <p:nvPr/>
                </p:nvGrpSpPr>
                <p:grpSpPr>
                  <a:xfrm>
                    <a:off x="9755628" y="5153204"/>
                    <a:ext cx="365760" cy="845566"/>
                    <a:chOff x="8734167" y="4904815"/>
                    <a:chExt cx="365760" cy="845566"/>
                  </a:xfrm>
                </p:grpSpPr>
                <p:pic>
                  <p:nvPicPr>
                    <p:cNvPr id="286" name="Imagen 285">
                      <a:extLst>
                        <a:ext uri="{FF2B5EF4-FFF2-40B4-BE49-F238E27FC236}">
                          <a16:creationId xmlns:a16="http://schemas.microsoft.com/office/drawing/2014/main" id="{F0B37708-6954-0884-A1F6-A25E06ECBE5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734167" y="5384621"/>
                      <a:ext cx="365760" cy="36576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87" name="Imagen 286">
                      <a:extLst>
                        <a:ext uri="{FF2B5EF4-FFF2-40B4-BE49-F238E27FC236}">
                          <a16:creationId xmlns:a16="http://schemas.microsoft.com/office/drawing/2014/main" id="{19A854C2-EB7B-6606-2ECB-AE8FD8FBA40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734167" y="5142559"/>
                      <a:ext cx="365760" cy="36576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88" name="Imagen 287">
                      <a:extLst>
                        <a:ext uri="{FF2B5EF4-FFF2-40B4-BE49-F238E27FC236}">
                          <a16:creationId xmlns:a16="http://schemas.microsoft.com/office/drawing/2014/main" id="{C7CB4A16-CE28-BBE0-1D8F-1808ACF166A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734167" y="4904815"/>
                      <a:ext cx="365760" cy="365760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300" name="Grupo 299">
                  <a:extLst>
                    <a:ext uri="{FF2B5EF4-FFF2-40B4-BE49-F238E27FC236}">
                      <a16:creationId xmlns:a16="http://schemas.microsoft.com/office/drawing/2014/main" id="{814EF17A-B1F1-EF9C-1447-02251FB468EC}"/>
                    </a:ext>
                  </a:extLst>
                </p:cNvPr>
                <p:cNvGrpSpPr/>
                <p:nvPr/>
              </p:nvGrpSpPr>
              <p:grpSpPr>
                <a:xfrm>
                  <a:off x="9671183" y="4734126"/>
                  <a:ext cx="609600" cy="332609"/>
                  <a:chOff x="10424413" y="4814424"/>
                  <a:chExt cx="609600" cy="332609"/>
                </a:xfrm>
              </p:grpSpPr>
              <p:sp>
                <p:nvSpPr>
                  <p:cNvPr id="279" name="CuadroTexto 278">
                    <a:extLst>
                      <a:ext uri="{FF2B5EF4-FFF2-40B4-BE49-F238E27FC236}">
                        <a16:creationId xmlns:a16="http://schemas.microsoft.com/office/drawing/2014/main" id="{BE001038-8F7B-FA4C-21CE-24B1E6AFE707}"/>
                      </a:ext>
                    </a:extLst>
                  </p:cNvPr>
                  <p:cNvSpPr txBox="1"/>
                  <p:nvPr/>
                </p:nvSpPr>
                <p:spPr>
                  <a:xfrm>
                    <a:off x="10424413" y="4814424"/>
                    <a:ext cx="609600" cy="215444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r>
                      <a:rPr lang="en-US" sz="1400" b="1" dirty="0"/>
                      <a:t>+93%</a:t>
                    </a:r>
                    <a:endParaRPr lang="es-DO" sz="1400" b="1" dirty="0"/>
                  </a:p>
                </p:txBody>
              </p:sp>
              <p:sp>
                <p:nvSpPr>
                  <p:cNvPr id="280" name="CuadroTexto 279">
                    <a:extLst>
                      <a:ext uri="{FF2B5EF4-FFF2-40B4-BE49-F238E27FC236}">
                        <a16:creationId xmlns:a16="http://schemas.microsoft.com/office/drawing/2014/main" id="{9C7CBD38-B6DB-8EDF-16E5-F3589D366F82}"/>
                      </a:ext>
                    </a:extLst>
                  </p:cNvPr>
                  <p:cNvSpPr txBox="1"/>
                  <p:nvPr/>
                </p:nvSpPr>
                <p:spPr>
                  <a:xfrm>
                    <a:off x="10500613" y="4993145"/>
                    <a:ext cx="380747" cy="153888"/>
                  </a:xfrm>
                  <a:prstGeom prst="rect">
                    <a:avLst/>
                  </a:prstGeom>
                  <a:noFill/>
                </p:spPr>
                <p:txBody>
                  <a:bodyPr wrap="square" tIns="0" bIns="0" rtlCol="0">
                    <a:spAutoFit/>
                  </a:bodyPr>
                  <a:lstStyle/>
                  <a:p>
                    <a:pPr algn="ctr"/>
                    <a:r>
                      <a:rPr lang="en-US" sz="1000" dirty="0"/>
                      <a:t>944</a:t>
                    </a:r>
                    <a:endParaRPr lang="es-DO" sz="1000" dirty="0"/>
                  </a:p>
                </p:txBody>
              </p:sp>
            </p:grpSp>
            <p:grpSp>
              <p:nvGrpSpPr>
                <p:cNvPr id="306" name="Grupo 305">
                  <a:extLst>
                    <a:ext uri="{FF2B5EF4-FFF2-40B4-BE49-F238E27FC236}">
                      <a16:creationId xmlns:a16="http://schemas.microsoft.com/office/drawing/2014/main" id="{19292661-18E4-017B-16EF-3C9FA779FA14}"/>
                    </a:ext>
                  </a:extLst>
                </p:cNvPr>
                <p:cNvGrpSpPr/>
                <p:nvPr/>
              </p:nvGrpSpPr>
              <p:grpSpPr>
                <a:xfrm>
                  <a:off x="9671183" y="4999938"/>
                  <a:ext cx="548387" cy="713584"/>
                  <a:chOff x="10424413" y="5407360"/>
                  <a:chExt cx="548387" cy="713584"/>
                </a:xfrm>
              </p:grpSpPr>
              <p:sp>
                <p:nvSpPr>
                  <p:cNvPr id="256" name="CuadroTexto 255">
                    <a:extLst>
                      <a:ext uri="{FF2B5EF4-FFF2-40B4-BE49-F238E27FC236}">
                        <a16:creationId xmlns:a16="http://schemas.microsoft.com/office/drawing/2014/main" id="{A3F0454A-FC26-3A9D-55E2-5DAB11729B5D}"/>
                      </a:ext>
                    </a:extLst>
                  </p:cNvPr>
                  <p:cNvSpPr txBox="1"/>
                  <p:nvPr/>
                </p:nvSpPr>
                <p:spPr>
                  <a:xfrm>
                    <a:off x="10424413" y="5905500"/>
                    <a:ext cx="548387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 err="1"/>
                      <a:t>Masivo</a:t>
                    </a:r>
                    <a:endParaRPr lang="es-DO" sz="800" b="1" dirty="0"/>
                  </a:p>
                </p:txBody>
              </p:sp>
              <p:grpSp>
                <p:nvGrpSpPr>
                  <p:cNvPr id="289" name="Grupo 288">
                    <a:extLst>
                      <a:ext uri="{FF2B5EF4-FFF2-40B4-BE49-F238E27FC236}">
                        <a16:creationId xmlns:a16="http://schemas.microsoft.com/office/drawing/2014/main" id="{DEC1B9BE-ABEE-BF16-0E58-A4ACB52DCCFF}"/>
                      </a:ext>
                    </a:extLst>
                  </p:cNvPr>
                  <p:cNvGrpSpPr/>
                  <p:nvPr/>
                </p:nvGrpSpPr>
                <p:grpSpPr>
                  <a:xfrm>
                    <a:off x="10488529" y="5407360"/>
                    <a:ext cx="365760" cy="603504"/>
                    <a:chOff x="8734167" y="5137890"/>
                    <a:chExt cx="365760" cy="603504"/>
                  </a:xfrm>
                </p:grpSpPr>
                <p:pic>
                  <p:nvPicPr>
                    <p:cNvPr id="290" name="Imagen 289">
                      <a:extLst>
                        <a:ext uri="{FF2B5EF4-FFF2-40B4-BE49-F238E27FC236}">
                          <a16:creationId xmlns:a16="http://schemas.microsoft.com/office/drawing/2014/main" id="{1D72A59C-B73F-41FE-587A-7BBA8A92E82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734167" y="5375634"/>
                      <a:ext cx="365760" cy="36576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1" name="Imagen 290">
                      <a:extLst>
                        <a:ext uri="{FF2B5EF4-FFF2-40B4-BE49-F238E27FC236}">
                          <a16:creationId xmlns:a16="http://schemas.microsoft.com/office/drawing/2014/main" id="{39AB7AAF-962F-3B56-5288-74B3C71B41A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734167" y="5137890"/>
                      <a:ext cx="365760" cy="365760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aphicFrame>
            <p:nvGraphicFramePr>
              <p:cNvPr id="308" name="Gráfico 307">
                <a:extLst>
                  <a:ext uri="{FF2B5EF4-FFF2-40B4-BE49-F238E27FC236}">
                    <a16:creationId xmlns:a16="http://schemas.microsoft.com/office/drawing/2014/main" id="{6B2F7CBA-17D0-AB22-A01B-62B638A824AF}"/>
                  </a:ext>
                </a:extLst>
              </p:cNvPr>
              <p:cNvGraphicFramePr>
                <a:graphicFrameLocks/>
              </p:cNvGraphicFramePr>
              <p:nvPr>
                <p:custDataLst>
                  <p:tags r:id="rId3"/>
                </p:custDataLst>
                <p:extLst>
                  <p:ext uri="{D42A27DB-BD31-4B8C-83A1-F6EECF244321}">
                    <p14:modId xmlns:p14="http://schemas.microsoft.com/office/powerpoint/2010/main" val="2727127275"/>
                  </p:ext>
                </p:extLst>
              </p:nvPr>
            </p:nvGraphicFramePr>
            <p:xfrm>
              <a:off x="7950058" y="2499360"/>
              <a:ext cx="1803542" cy="132304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8"/>
              </a:graphicData>
            </a:graphic>
          </p:graphicFrame>
          <p:cxnSp>
            <p:nvCxnSpPr>
              <p:cNvPr id="109" name="Conector recto 108">
                <a:extLst>
                  <a:ext uri="{FF2B5EF4-FFF2-40B4-BE49-F238E27FC236}">
                    <a16:creationId xmlns:a16="http://schemas.microsoft.com/office/drawing/2014/main" id="{437AB7F1-C4CE-6EAE-F964-C0793AD0B044}"/>
                  </a:ext>
                </a:extLst>
              </p:cNvPr>
              <p:cNvCxnSpPr/>
              <p:nvPr/>
            </p:nvCxnSpPr>
            <p:spPr>
              <a:xfrm>
                <a:off x="5600557" y="2363678"/>
                <a:ext cx="0" cy="1828800"/>
              </a:xfrm>
              <a:prstGeom prst="line">
                <a:avLst/>
              </a:prstGeom>
              <a:ln w="12700">
                <a:solidFill>
                  <a:srgbClr val="B9B9B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onector recto 109">
                <a:extLst>
                  <a:ext uri="{FF2B5EF4-FFF2-40B4-BE49-F238E27FC236}">
                    <a16:creationId xmlns:a16="http://schemas.microsoft.com/office/drawing/2014/main" id="{1618596A-AF42-6401-2CC2-AEBE1034CDA0}"/>
                  </a:ext>
                </a:extLst>
              </p:cNvPr>
              <p:cNvCxnSpPr/>
              <p:nvPr/>
            </p:nvCxnSpPr>
            <p:spPr>
              <a:xfrm>
                <a:off x="7929011" y="2363678"/>
                <a:ext cx="0" cy="1828800"/>
              </a:xfrm>
              <a:prstGeom prst="line">
                <a:avLst/>
              </a:prstGeom>
              <a:ln w="12700">
                <a:solidFill>
                  <a:srgbClr val="B9B9B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9" name="Grupo 258">
                <a:extLst>
                  <a:ext uri="{FF2B5EF4-FFF2-40B4-BE49-F238E27FC236}">
                    <a16:creationId xmlns:a16="http://schemas.microsoft.com/office/drawing/2014/main" id="{B39D9408-A58A-CE18-D994-E6EC7E2185DE}"/>
                  </a:ext>
                </a:extLst>
              </p:cNvPr>
              <p:cNvGrpSpPr/>
              <p:nvPr/>
            </p:nvGrpSpPr>
            <p:grpSpPr>
              <a:xfrm>
                <a:off x="5713115" y="2566747"/>
                <a:ext cx="2563194" cy="1068142"/>
                <a:chOff x="5288663" y="4729490"/>
                <a:chExt cx="2563194" cy="1068142"/>
              </a:xfrm>
            </p:grpSpPr>
            <p:sp>
              <p:nvSpPr>
                <p:cNvPr id="120" name="CuadroTexto 119">
                  <a:extLst>
                    <a:ext uri="{FF2B5EF4-FFF2-40B4-BE49-F238E27FC236}">
                      <a16:creationId xmlns:a16="http://schemas.microsoft.com/office/drawing/2014/main" id="{896B97A2-D256-CF16-7F0E-ED6BA879E8B8}"/>
                    </a:ext>
                  </a:extLst>
                </p:cNvPr>
                <p:cNvSpPr txBox="1"/>
                <p:nvPr/>
              </p:nvSpPr>
              <p:spPr>
                <a:xfrm>
                  <a:off x="6183629" y="4969611"/>
                  <a:ext cx="1316719" cy="276999"/>
                </a:xfrm>
                <a:prstGeom prst="rect">
                  <a:avLst/>
                </a:prstGeom>
                <a:noFill/>
              </p:spPr>
              <p:txBody>
                <a:bodyPr wrap="square" lIns="0" rtlCol="0">
                  <a:spAutoFit/>
                </a:bodyPr>
                <a:lstStyle/>
                <a:p>
                  <a:r>
                    <a:rPr lang="en-US" sz="10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Masivo</a:t>
                  </a:r>
                  <a:r>
                    <a:rPr lang="en-US" sz="1100" dirty="0"/>
                    <a:t>            </a:t>
                  </a:r>
                  <a:r>
                    <a:rPr lang="en-US" sz="1200" b="1" dirty="0"/>
                    <a:t>+69%</a:t>
                  </a:r>
                  <a:endParaRPr lang="es-DO" sz="1100" b="1" dirty="0"/>
                </a:p>
              </p:txBody>
            </p:sp>
            <p:sp>
              <p:nvSpPr>
                <p:cNvPr id="121" name="CuadroTexto 120">
                  <a:extLst>
                    <a:ext uri="{FF2B5EF4-FFF2-40B4-BE49-F238E27FC236}">
                      <a16:creationId xmlns:a16="http://schemas.microsoft.com/office/drawing/2014/main" id="{0DA86180-65DC-A2F2-9D9B-268C45A3E739}"/>
                    </a:ext>
                  </a:extLst>
                </p:cNvPr>
                <p:cNvSpPr txBox="1"/>
                <p:nvPr/>
              </p:nvSpPr>
              <p:spPr>
                <a:xfrm>
                  <a:off x="6183629" y="4729490"/>
                  <a:ext cx="1668228" cy="276999"/>
                </a:xfrm>
                <a:prstGeom prst="rect">
                  <a:avLst/>
                </a:prstGeom>
                <a:noFill/>
              </p:spPr>
              <p:txBody>
                <a:bodyPr wrap="square" lIns="0" rtlCol="0">
                  <a:spAutoFit/>
                </a:bodyPr>
                <a:lstStyle/>
                <a:p>
                  <a:r>
                    <a:rPr lang="en-US" sz="10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Empresarial</a:t>
                  </a:r>
                  <a:r>
                    <a:rPr lang="en-US" sz="1100" dirty="0"/>
                    <a:t>    </a:t>
                  </a:r>
                  <a:r>
                    <a:rPr lang="en-US" sz="1200" b="1" dirty="0"/>
                    <a:t>+56%</a:t>
                  </a:r>
                  <a:endParaRPr lang="es-DO" sz="1100" b="1" dirty="0"/>
                </a:p>
              </p:txBody>
            </p:sp>
            <p:sp>
              <p:nvSpPr>
                <p:cNvPr id="122" name="CuadroTexto 121">
                  <a:extLst>
                    <a:ext uri="{FF2B5EF4-FFF2-40B4-BE49-F238E27FC236}">
                      <a16:creationId xmlns:a16="http://schemas.microsoft.com/office/drawing/2014/main" id="{12D8166E-F29A-B12B-71BE-8BD21C89972C}"/>
                    </a:ext>
                  </a:extLst>
                </p:cNvPr>
                <p:cNvSpPr txBox="1"/>
                <p:nvPr/>
              </p:nvSpPr>
              <p:spPr>
                <a:xfrm>
                  <a:off x="6183629" y="5239158"/>
                  <a:ext cx="1297627" cy="276999"/>
                </a:xfrm>
                <a:prstGeom prst="rect">
                  <a:avLst/>
                </a:prstGeom>
                <a:noFill/>
              </p:spPr>
              <p:txBody>
                <a:bodyPr wrap="square" lIns="0" rtlCol="0">
                  <a:spAutoFit/>
                </a:bodyPr>
                <a:lstStyle/>
                <a:p>
                  <a:r>
                    <a:rPr lang="en-US" sz="10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Joven</a:t>
                  </a:r>
                  <a:r>
                    <a:rPr lang="en-US" sz="1100" dirty="0"/>
                    <a:t>              </a:t>
                  </a:r>
                  <a:r>
                    <a:rPr lang="en-US" sz="1200" b="1" dirty="0"/>
                    <a:t>+71%</a:t>
                  </a:r>
                  <a:endParaRPr lang="es-DO" sz="1100" b="1" dirty="0"/>
                </a:p>
              </p:txBody>
            </p:sp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1C44B031-DEEA-FD87-A1F5-27EFF2A23C06}"/>
                    </a:ext>
                  </a:extLst>
                </p:cNvPr>
                <p:cNvSpPr txBox="1"/>
                <p:nvPr/>
              </p:nvSpPr>
              <p:spPr>
                <a:xfrm>
                  <a:off x="6183629" y="5520633"/>
                  <a:ext cx="1316719" cy="276999"/>
                </a:xfrm>
                <a:prstGeom prst="rect">
                  <a:avLst/>
                </a:prstGeom>
                <a:noFill/>
              </p:spPr>
              <p:txBody>
                <a:bodyPr wrap="square" lIns="0" rtlCol="0">
                  <a:spAutoFit/>
                </a:bodyPr>
                <a:lstStyle/>
                <a:p>
                  <a:r>
                    <a:rPr lang="en-US" sz="10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Premium</a:t>
                  </a:r>
                  <a:r>
                    <a:rPr lang="en-US" sz="1100" dirty="0"/>
                    <a:t>        </a:t>
                  </a:r>
                  <a:r>
                    <a:rPr lang="en-US" sz="1200" b="1" dirty="0"/>
                    <a:t>+82%</a:t>
                  </a:r>
                  <a:endParaRPr lang="es-DO" sz="1100" b="1" dirty="0"/>
                </a:p>
              </p:txBody>
            </p:sp>
            <p:grpSp>
              <p:nvGrpSpPr>
                <p:cNvPr id="3" name="Grupo 2">
                  <a:extLst>
                    <a:ext uri="{FF2B5EF4-FFF2-40B4-BE49-F238E27FC236}">
                      <a16:creationId xmlns:a16="http://schemas.microsoft.com/office/drawing/2014/main" id="{0494D76B-61A1-4DFF-3D78-8EE08C38D10C}"/>
                    </a:ext>
                  </a:extLst>
                </p:cNvPr>
                <p:cNvGrpSpPr/>
                <p:nvPr/>
              </p:nvGrpSpPr>
              <p:grpSpPr>
                <a:xfrm>
                  <a:off x="5302430" y="5545796"/>
                  <a:ext cx="855947" cy="170782"/>
                  <a:chOff x="5486400" y="5676900"/>
                  <a:chExt cx="855947" cy="170782"/>
                </a:xfrm>
              </p:grpSpPr>
              <p:grpSp>
                <p:nvGrpSpPr>
                  <p:cNvPr id="5" name="Grupo 4">
                    <a:extLst>
                      <a:ext uri="{FF2B5EF4-FFF2-40B4-BE49-F238E27FC236}">
                        <a16:creationId xmlns:a16="http://schemas.microsoft.com/office/drawing/2014/main" id="{B1C39647-2D69-E90B-740D-35C7132F4CF4}"/>
                      </a:ext>
                    </a:extLst>
                  </p:cNvPr>
                  <p:cNvGrpSpPr/>
                  <p:nvPr/>
                </p:nvGrpSpPr>
                <p:grpSpPr>
                  <a:xfrm>
                    <a:off x="5486400" y="5676900"/>
                    <a:ext cx="257412" cy="167404"/>
                    <a:chOff x="5548194" y="4838700"/>
                    <a:chExt cx="257412" cy="167404"/>
                  </a:xfrm>
                </p:grpSpPr>
                <p:pic>
                  <p:nvPicPr>
                    <p:cNvPr id="39" name="Imagen 38">
                      <a:extLst>
                        <a:ext uri="{FF2B5EF4-FFF2-40B4-BE49-F238E27FC236}">
                          <a16:creationId xmlns:a16="http://schemas.microsoft.com/office/drawing/2014/main" id="{107473AF-EF4A-24E5-2C8F-C36D3F21E2E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8194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51" name="Imagen 50">
                      <a:extLst>
                        <a:ext uri="{FF2B5EF4-FFF2-40B4-BE49-F238E27FC236}">
                          <a16:creationId xmlns:a16="http://schemas.microsoft.com/office/drawing/2014/main" id="{132AE7F6-E1E0-89DB-9815-F874C5E6426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638800" y="4838700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1" name="Grupo 10">
                    <a:extLst>
                      <a:ext uri="{FF2B5EF4-FFF2-40B4-BE49-F238E27FC236}">
                        <a16:creationId xmlns:a16="http://schemas.microsoft.com/office/drawing/2014/main" id="{81EA3B47-3375-FE25-3C4D-C7C7A23A43D6}"/>
                      </a:ext>
                    </a:extLst>
                  </p:cNvPr>
                  <p:cNvGrpSpPr/>
                  <p:nvPr/>
                </p:nvGrpSpPr>
                <p:grpSpPr>
                  <a:xfrm>
                    <a:off x="5656484" y="5680278"/>
                    <a:ext cx="428650" cy="167404"/>
                    <a:chOff x="5548194" y="4838700"/>
                    <a:chExt cx="428650" cy="167404"/>
                  </a:xfrm>
                </p:grpSpPr>
                <p:grpSp>
                  <p:nvGrpSpPr>
                    <p:cNvPr id="33" name="Grupo 32">
                      <a:extLst>
                        <a:ext uri="{FF2B5EF4-FFF2-40B4-BE49-F238E27FC236}">
                          <a16:creationId xmlns:a16="http://schemas.microsoft.com/office/drawing/2014/main" id="{FF840AED-9EDC-9BDE-1F53-BB23A544C0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48194" y="4838700"/>
                      <a:ext cx="257412" cy="167404"/>
                      <a:chOff x="5548194" y="4838700"/>
                      <a:chExt cx="257412" cy="167404"/>
                    </a:xfrm>
                  </p:grpSpPr>
                  <p:pic>
                    <p:nvPicPr>
                      <p:cNvPr id="37" name="Imagen 36">
                        <a:extLst>
                          <a:ext uri="{FF2B5EF4-FFF2-40B4-BE49-F238E27FC236}">
                            <a16:creationId xmlns:a16="http://schemas.microsoft.com/office/drawing/2014/main" id="{B371864D-B0D3-C436-0C58-FB781687DA1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548194" y="4839298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38" name="Imagen 37">
                        <a:extLst>
                          <a:ext uri="{FF2B5EF4-FFF2-40B4-BE49-F238E27FC236}">
                            <a16:creationId xmlns:a16="http://schemas.microsoft.com/office/drawing/2014/main" id="{275ACA06-122F-EB53-DA4D-768C5CC7E5A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638800" y="4838700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34" name="Grupo 33">
                      <a:extLst>
                        <a:ext uri="{FF2B5EF4-FFF2-40B4-BE49-F238E27FC236}">
                          <a16:creationId xmlns:a16="http://schemas.microsoft.com/office/drawing/2014/main" id="{6D5A97D1-C272-94F7-2875-1B0C23F3D0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19432" y="4838700"/>
                      <a:ext cx="257412" cy="167404"/>
                      <a:chOff x="5548194" y="4838700"/>
                      <a:chExt cx="257412" cy="167404"/>
                    </a:xfrm>
                  </p:grpSpPr>
                  <p:pic>
                    <p:nvPicPr>
                      <p:cNvPr id="35" name="Imagen 34">
                        <a:extLst>
                          <a:ext uri="{FF2B5EF4-FFF2-40B4-BE49-F238E27FC236}">
                            <a16:creationId xmlns:a16="http://schemas.microsoft.com/office/drawing/2014/main" id="{82CDEDC5-CA98-76D3-0E59-135CB24CEB0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548194" y="4839298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36" name="Imagen 35">
                        <a:extLst>
                          <a:ext uri="{FF2B5EF4-FFF2-40B4-BE49-F238E27FC236}">
                            <a16:creationId xmlns:a16="http://schemas.microsoft.com/office/drawing/2014/main" id="{BABEE2C1-B414-932C-31AB-9EAA37AEE1F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638800" y="4838700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grpSp>
                <p:nvGrpSpPr>
                  <p:cNvPr id="17" name="Grupo 16">
                    <a:extLst>
                      <a:ext uri="{FF2B5EF4-FFF2-40B4-BE49-F238E27FC236}">
                        <a16:creationId xmlns:a16="http://schemas.microsoft.com/office/drawing/2014/main" id="{D4797EE5-C374-AC8D-800C-401DB3CA4101}"/>
                      </a:ext>
                    </a:extLst>
                  </p:cNvPr>
                  <p:cNvGrpSpPr/>
                  <p:nvPr/>
                </p:nvGrpSpPr>
                <p:grpSpPr>
                  <a:xfrm>
                    <a:off x="6004303" y="5676900"/>
                    <a:ext cx="338044" cy="167404"/>
                    <a:chOff x="5548194" y="4838700"/>
                    <a:chExt cx="338044" cy="167404"/>
                  </a:xfrm>
                </p:grpSpPr>
                <p:grpSp>
                  <p:nvGrpSpPr>
                    <p:cNvPr id="19" name="Grupo 18">
                      <a:extLst>
                        <a:ext uri="{FF2B5EF4-FFF2-40B4-BE49-F238E27FC236}">
                          <a16:creationId xmlns:a16="http://schemas.microsoft.com/office/drawing/2014/main" id="{4F33F2D2-6364-1C76-48FC-1E0CA2E34E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48194" y="4838700"/>
                      <a:ext cx="257412" cy="167404"/>
                      <a:chOff x="5548194" y="4838700"/>
                      <a:chExt cx="257412" cy="167404"/>
                    </a:xfrm>
                  </p:grpSpPr>
                  <p:pic>
                    <p:nvPicPr>
                      <p:cNvPr id="30" name="Imagen 29">
                        <a:extLst>
                          <a:ext uri="{FF2B5EF4-FFF2-40B4-BE49-F238E27FC236}">
                            <a16:creationId xmlns:a16="http://schemas.microsoft.com/office/drawing/2014/main" id="{81254E87-DD7F-9E95-9611-A0AAD48F4E6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548194" y="4839298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32" name="Imagen 31">
                        <a:extLst>
                          <a:ext uri="{FF2B5EF4-FFF2-40B4-BE49-F238E27FC236}">
                            <a16:creationId xmlns:a16="http://schemas.microsoft.com/office/drawing/2014/main" id="{FDC1203D-5299-7063-7BA0-7CBE761C37C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638800" y="4838700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24" name="Imagen 23">
                      <a:extLst>
                        <a:ext uri="{FF2B5EF4-FFF2-40B4-BE49-F238E27FC236}">
                          <a16:creationId xmlns:a16="http://schemas.microsoft.com/office/drawing/2014/main" id="{3A03110E-606D-E501-A1C0-E3A83276A42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719432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52" name="Grupo 51">
                  <a:extLst>
                    <a:ext uri="{FF2B5EF4-FFF2-40B4-BE49-F238E27FC236}">
                      <a16:creationId xmlns:a16="http://schemas.microsoft.com/office/drawing/2014/main" id="{FB3677DF-3BFD-7530-1E63-E0CA5E795699}"/>
                    </a:ext>
                  </a:extLst>
                </p:cNvPr>
                <p:cNvGrpSpPr/>
                <p:nvPr/>
              </p:nvGrpSpPr>
              <p:grpSpPr>
                <a:xfrm>
                  <a:off x="5288663" y="5279894"/>
                  <a:ext cx="684709" cy="170782"/>
                  <a:chOff x="5486400" y="5676900"/>
                  <a:chExt cx="684709" cy="170782"/>
                </a:xfrm>
              </p:grpSpPr>
              <p:grpSp>
                <p:nvGrpSpPr>
                  <p:cNvPr id="53" name="Grupo 52">
                    <a:extLst>
                      <a:ext uri="{FF2B5EF4-FFF2-40B4-BE49-F238E27FC236}">
                        <a16:creationId xmlns:a16="http://schemas.microsoft.com/office/drawing/2014/main" id="{9A7BDE86-DF7D-19BE-307E-1AFA3590BC0D}"/>
                      </a:ext>
                    </a:extLst>
                  </p:cNvPr>
                  <p:cNvGrpSpPr/>
                  <p:nvPr/>
                </p:nvGrpSpPr>
                <p:grpSpPr>
                  <a:xfrm>
                    <a:off x="5486400" y="5676900"/>
                    <a:ext cx="257412" cy="167404"/>
                    <a:chOff x="5548194" y="4838700"/>
                    <a:chExt cx="257412" cy="167404"/>
                  </a:xfrm>
                </p:grpSpPr>
                <p:pic>
                  <p:nvPicPr>
                    <p:cNvPr id="111" name="Imagen 110">
                      <a:extLst>
                        <a:ext uri="{FF2B5EF4-FFF2-40B4-BE49-F238E27FC236}">
                          <a16:creationId xmlns:a16="http://schemas.microsoft.com/office/drawing/2014/main" id="{FC08925F-237D-BD9C-D4C5-5D11B3CC03E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8194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24" name="Imagen 123">
                      <a:extLst>
                        <a:ext uri="{FF2B5EF4-FFF2-40B4-BE49-F238E27FC236}">
                          <a16:creationId xmlns:a16="http://schemas.microsoft.com/office/drawing/2014/main" id="{044EEB11-27CA-3982-F923-BCD55DF803E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638800" y="4838700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4" name="Grupo 53">
                    <a:extLst>
                      <a:ext uri="{FF2B5EF4-FFF2-40B4-BE49-F238E27FC236}">
                        <a16:creationId xmlns:a16="http://schemas.microsoft.com/office/drawing/2014/main" id="{7D3090A2-A077-E5F1-D1D0-A1358CECA64B}"/>
                      </a:ext>
                    </a:extLst>
                  </p:cNvPr>
                  <p:cNvGrpSpPr/>
                  <p:nvPr/>
                </p:nvGrpSpPr>
                <p:grpSpPr>
                  <a:xfrm>
                    <a:off x="5656484" y="5680278"/>
                    <a:ext cx="428650" cy="167404"/>
                    <a:chOff x="5548194" y="4838700"/>
                    <a:chExt cx="428650" cy="167404"/>
                  </a:xfrm>
                </p:grpSpPr>
                <p:grpSp>
                  <p:nvGrpSpPr>
                    <p:cNvPr id="97" name="Grupo 96">
                      <a:extLst>
                        <a:ext uri="{FF2B5EF4-FFF2-40B4-BE49-F238E27FC236}">
                          <a16:creationId xmlns:a16="http://schemas.microsoft.com/office/drawing/2014/main" id="{BAA76014-1D64-03C8-4884-8B5C913884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48194" y="4838700"/>
                      <a:ext cx="257412" cy="167404"/>
                      <a:chOff x="5548194" y="4838700"/>
                      <a:chExt cx="257412" cy="167404"/>
                    </a:xfrm>
                  </p:grpSpPr>
                  <p:pic>
                    <p:nvPicPr>
                      <p:cNvPr id="101" name="Imagen 100">
                        <a:extLst>
                          <a:ext uri="{FF2B5EF4-FFF2-40B4-BE49-F238E27FC236}">
                            <a16:creationId xmlns:a16="http://schemas.microsoft.com/office/drawing/2014/main" id="{C5A6C5FA-AF6E-14B9-4668-C41511AC840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548194" y="4839298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8" name="Imagen 107">
                        <a:extLst>
                          <a:ext uri="{FF2B5EF4-FFF2-40B4-BE49-F238E27FC236}">
                            <a16:creationId xmlns:a16="http://schemas.microsoft.com/office/drawing/2014/main" id="{D37FF576-8BAE-E455-C886-793F39E5BCC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638800" y="4838700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98" name="Grupo 97">
                      <a:extLst>
                        <a:ext uri="{FF2B5EF4-FFF2-40B4-BE49-F238E27FC236}">
                          <a16:creationId xmlns:a16="http://schemas.microsoft.com/office/drawing/2014/main" id="{558AE5A1-658D-5BF0-1342-0F571E2642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19432" y="4838700"/>
                      <a:ext cx="257412" cy="167404"/>
                      <a:chOff x="5548194" y="4838700"/>
                      <a:chExt cx="257412" cy="167404"/>
                    </a:xfrm>
                  </p:grpSpPr>
                  <p:pic>
                    <p:nvPicPr>
                      <p:cNvPr id="99" name="Imagen 98">
                        <a:extLst>
                          <a:ext uri="{FF2B5EF4-FFF2-40B4-BE49-F238E27FC236}">
                            <a16:creationId xmlns:a16="http://schemas.microsoft.com/office/drawing/2014/main" id="{CA96C48B-2B08-3929-0727-DB270843626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548194" y="4839298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0" name="Imagen 99">
                        <a:extLst>
                          <a:ext uri="{FF2B5EF4-FFF2-40B4-BE49-F238E27FC236}">
                            <a16:creationId xmlns:a16="http://schemas.microsoft.com/office/drawing/2014/main" id="{0084070D-5BD8-592C-1DE8-BABA3FF5F5F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638800" y="4838700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94" name="Imagen 93">
                    <a:extLst>
                      <a:ext uri="{FF2B5EF4-FFF2-40B4-BE49-F238E27FC236}">
                        <a16:creationId xmlns:a16="http://schemas.microsoft.com/office/drawing/2014/main" id="{1FD10334-9BA4-EF57-DF77-9EE3BDAC7B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04303" y="5677498"/>
                    <a:ext cx="166806" cy="1668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5" name="Grupo 124">
                  <a:extLst>
                    <a:ext uri="{FF2B5EF4-FFF2-40B4-BE49-F238E27FC236}">
                      <a16:creationId xmlns:a16="http://schemas.microsoft.com/office/drawing/2014/main" id="{311A9AF0-27FE-4D93-FA92-07486321C1A2}"/>
                    </a:ext>
                  </a:extLst>
                </p:cNvPr>
                <p:cNvGrpSpPr/>
                <p:nvPr/>
              </p:nvGrpSpPr>
              <p:grpSpPr>
                <a:xfrm>
                  <a:off x="5292769" y="5013992"/>
                  <a:ext cx="508128" cy="170782"/>
                  <a:chOff x="5486400" y="5676900"/>
                  <a:chExt cx="508128" cy="170782"/>
                </a:xfrm>
              </p:grpSpPr>
              <p:grpSp>
                <p:nvGrpSpPr>
                  <p:cNvPr id="126" name="Grupo 125">
                    <a:extLst>
                      <a:ext uri="{FF2B5EF4-FFF2-40B4-BE49-F238E27FC236}">
                        <a16:creationId xmlns:a16="http://schemas.microsoft.com/office/drawing/2014/main" id="{EEDABC5D-40F8-CB22-7459-9AB260CE31B6}"/>
                      </a:ext>
                    </a:extLst>
                  </p:cNvPr>
                  <p:cNvGrpSpPr/>
                  <p:nvPr/>
                </p:nvGrpSpPr>
                <p:grpSpPr>
                  <a:xfrm>
                    <a:off x="5486400" y="5676900"/>
                    <a:ext cx="257412" cy="167404"/>
                    <a:chOff x="5548194" y="4838700"/>
                    <a:chExt cx="257412" cy="167404"/>
                  </a:xfrm>
                </p:grpSpPr>
                <p:pic>
                  <p:nvPicPr>
                    <p:cNvPr id="138" name="Imagen 137">
                      <a:extLst>
                        <a:ext uri="{FF2B5EF4-FFF2-40B4-BE49-F238E27FC236}">
                          <a16:creationId xmlns:a16="http://schemas.microsoft.com/office/drawing/2014/main" id="{CA77DF14-8A5B-1851-A99E-A6F8C535007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8194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39" name="Imagen 138">
                      <a:extLst>
                        <a:ext uri="{FF2B5EF4-FFF2-40B4-BE49-F238E27FC236}">
                          <a16:creationId xmlns:a16="http://schemas.microsoft.com/office/drawing/2014/main" id="{3078CEA5-8F5E-0338-C24D-531CA7DF3C9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638800" y="4838700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27" name="Grupo 126">
                    <a:extLst>
                      <a:ext uri="{FF2B5EF4-FFF2-40B4-BE49-F238E27FC236}">
                        <a16:creationId xmlns:a16="http://schemas.microsoft.com/office/drawing/2014/main" id="{7D623E8D-5BAD-092D-04CA-2BC7FC0B4F60}"/>
                      </a:ext>
                    </a:extLst>
                  </p:cNvPr>
                  <p:cNvGrpSpPr/>
                  <p:nvPr/>
                </p:nvGrpSpPr>
                <p:grpSpPr>
                  <a:xfrm>
                    <a:off x="5656484" y="5680278"/>
                    <a:ext cx="338044" cy="167404"/>
                    <a:chOff x="5548194" y="4838700"/>
                    <a:chExt cx="338044" cy="167404"/>
                  </a:xfrm>
                </p:grpSpPr>
                <p:grpSp>
                  <p:nvGrpSpPr>
                    <p:cNvPr id="132" name="Grupo 131">
                      <a:extLst>
                        <a:ext uri="{FF2B5EF4-FFF2-40B4-BE49-F238E27FC236}">
                          <a16:creationId xmlns:a16="http://schemas.microsoft.com/office/drawing/2014/main" id="{AB2E2F9E-1218-1BF9-C20B-24A4B344E2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48194" y="4838700"/>
                      <a:ext cx="257412" cy="167404"/>
                      <a:chOff x="5548194" y="4838700"/>
                      <a:chExt cx="257412" cy="167404"/>
                    </a:xfrm>
                  </p:grpSpPr>
                  <p:pic>
                    <p:nvPicPr>
                      <p:cNvPr id="136" name="Imagen 135">
                        <a:extLst>
                          <a:ext uri="{FF2B5EF4-FFF2-40B4-BE49-F238E27FC236}">
                            <a16:creationId xmlns:a16="http://schemas.microsoft.com/office/drawing/2014/main" id="{B1A69DCF-9CCB-03E1-D97B-C5264A3F841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548194" y="4839298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7" name="Imagen 136">
                        <a:extLst>
                          <a:ext uri="{FF2B5EF4-FFF2-40B4-BE49-F238E27FC236}">
                            <a16:creationId xmlns:a16="http://schemas.microsoft.com/office/drawing/2014/main" id="{C210BDFA-DF96-B395-AAEE-F7E16653EF7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638800" y="4838700"/>
                        <a:ext cx="166806" cy="166806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134" name="Imagen 133">
                      <a:extLst>
                        <a:ext uri="{FF2B5EF4-FFF2-40B4-BE49-F238E27FC236}">
                          <a16:creationId xmlns:a16="http://schemas.microsoft.com/office/drawing/2014/main" id="{6F7BFE1B-B3F5-A54C-400E-72BFA4C9934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719432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140" name="Grupo 139">
                  <a:extLst>
                    <a:ext uri="{FF2B5EF4-FFF2-40B4-BE49-F238E27FC236}">
                      <a16:creationId xmlns:a16="http://schemas.microsoft.com/office/drawing/2014/main" id="{18B3C874-801F-7A03-B744-BC8BBE1CDFD9}"/>
                    </a:ext>
                  </a:extLst>
                </p:cNvPr>
                <p:cNvGrpSpPr/>
                <p:nvPr/>
              </p:nvGrpSpPr>
              <p:grpSpPr>
                <a:xfrm>
                  <a:off x="5297905" y="4748090"/>
                  <a:ext cx="427496" cy="170782"/>
                  <a:chOff x="5486400" y="5676900"/>
                  <a:chExt cx="427496" cy="170782"/>
                </a:xfrm>
              </p:grpSpPr>
              <p:grpSp>
                <p:nvGrpSpPr>
                  <p:cNvPr id="141" name="Grupo 140">
                    <a:extLst>
                      <a:ext uri="{FF2B5EF4-FFF2-40B4-BE49-F238E27FC236}">
                        <a16:creationId xmlns:a16="http://schemas.microsoft.com/office/drawing/2014/main" id="{02B26E42-8C7C-A0CF-6168-5F1D91BEE41F}"/>
                      </a:ext>
                    </a:extLst>
                  </p:cNvPr>
                  <p:cNvGrpSpPr/>
                  <p:nvPr/>
                </p:nvGrpSpPr>
                <p:grpSpPr>
                  <a:xfrm>
                    <a:off x="5486400" y="5676900"/>
                    <a:ext cx="257412" cy="167404"/>
                    <a:chOff x="5548194" y="4838700"/>
                    <a:chExt cx="257412" cy="167404"/>
                  </a:xfrm>
                </p:grpSpPr>
                <p:pic>
                  <p:nvPicPr>
                    <p:cNvPr id="152" name="Imagen 151">
                      <a:extLst>
                        <a:ext uri="{FF2B5EF4-FFF2-40B4-BE49-F238E27FC236}">
                          <a16:creationId xmlns:a16="http://schemas.microsoft.com/office/drawing/2014/main" id="{2227780D-58C2-8D43-F24C-762EAEAE5D8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8194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9" name="Imagen 178">
                      <a:extLst>
                        <a:ext uri="{FF2B5EF4-FFF2-40B4-BE49-F238E27FC236}">
                          <a16:creationId xmlns:a16="http://schemas.microsoft.com/office/drawing/2014/main" id="{5D25CC2E-874B-F37D-0FB2-4862D74EBAA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638800" y="4838700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43" name="Grupo 142">
                    <a:extLst>
                      <a:ext uri="{FF2B5EF4-FFF2-40B4-BE49-F238E27FC236}">
                        <a16:creationId xmlns:a16="http://schemas.microsoft.com/office/drawing/2014/main" id="{C9740A62-71C8-913C-288F-898FD15AD05C}"/>
                      </a:ext>
                    </a:extLst>
                  </p:cNvPr>
                  <p:cNvGrpSpPr/>
                  <p:nvPr/>
                </p:nvGrpSpPr>
                <p:grpSpPr>
                  <a:xfrm>
                    <a:off x="5656484" y="5680278"/>
                    <a:ext cx="257412" cy="167404"/>
                    <a:chOff x="5548194" y="4838700"/>
                    <a:chExt cx="257412" cy="167404"/>
                  </a:xfrm>
                </p:grpSpPr>
                <p:pic>
                  <p:nvPicPr>
                    <p:cNvPr id="147" name="Imagen 146">
                      <a:extLst>
                        <a:ext uri="{FF2B5EF4-FFF2-40B4-BE49-F238E27FC236}">
                          <a16:creationId xmlns:a16="http://schemas.microsoft.com/office/drawing/2014/main" id="{A04DA42F-E2D8-20D8-FAE7-4D0FE416FBA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48194" y="4839298"/>
                      <a:ext cx="166806" cy="1668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8" name="Imagen 147">
                      <a:extLst>
                        <a:ext uri="{FF2B5EF4-FFF2-40B4-BE49-F238E27FC236}">
                          <a16:creationId xmlns:a16="http://schemas.microsoft.com/office/drawing/2014/main" id="{24D66B48-1C10-7AA6-301A-CE6DB05F716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638800" y="4838700"/>
                      <a:ext cx="166806" cy="166806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sp>
            <p:nvSpPr>
              <p:cNvPr id="652" name="CuadroTexto 651">
                <a:extLst>
                  <a:ext uri="{FF2B5EF4-FFF2-40B4-BE49-F238E27FC236}">
                    <a16:creationId xmlns:a16="http://schemas.microsoft.com/office/drawing/2014/main" id="{C8E42F4E-5ABD-F835-14F6-1DA1151516C1}"/>
                  </a:ext>
                </a:extLst>
              </p:cNvPr>
              <p:cNvSpPr txBox="1"/>
              <p:nvPr/>
            </p:nvSpPr>
            <p:spPr>
              <a:xfrm>
                <a:off x="3434962" y="3771900"/>
                <a:ext cx="2149840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DO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Fuerte expansión (ene–jun) en </a:t>
                </a:r>
                <a:r>
                  <a:rPr lang="es-DO" sz="11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participación transaccional </a:t>
                </a:r>
                <a:r>
                  <a:rPr lang="es-DO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en </a:t>
                </a:r>
                <a:r>
                  <a:rPr lang="es-DO" sz="11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 y Premium</a:t>
                </a:r>
                <a:r>
                  <a:rPr lang="es-DO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.</a:t>
                </a:r>
                <a:endParaRPr lang="es-DO" sz="3200" dirty="0"/>
              </a:p>
            </p:txBody>
          </p:sp>
          <p:sp>
            <p:nvSpPr>
              <p:cNvPr id="653" name="CuadroTexto 652">
                <a:extLst>
                  <a:ext uri="{FF2B5EF4-FFF2-40B4-BE49-F238E27FC236}">
                    <a16:creationId xmlns:a16="http://schemas.microsoft.com/office/drawing/2014/main" id="{EF99A8B1-62C9-EE7B-C3FF-9D3D5A64FFF9}"/>
                  </a:ext>
                </a:extLst>
              </p:cNvPr>
              <p:cNvSpPr txBox="1"/>
              <p:nvPr/>
            </p:nvSpPr>
            <p:spPr>
              <a:xfrm>
                <a:off x="5664118" y="3771900"/>
                <a:ext cx="2260682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DO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Crecimiento marcado de </a:t>
                </a:r>
                <a:r>
                  <a:rPr lang="es-DO" sz="11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clientes activos </a:t>
                </a:r>
                <a:r>
                  <a:rPr lang="es-DO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 lo largo del semestre en todos los segmentos.*</a:t>
                </a:r>
                <a:endParaRPr lang="es-DO" sz="3200" dirty="0"/>
              </a:p>
            </p:txBody>
          </p:sp>
          <p:sp>
            <p:nvSpPr>
              <p:cNvPr id="655" name="CuadroTexto 654">
                <a:extLst>
                  <a:ext uri="{FF2B5EF4-FFF2-40B4-BE49-F238E27FC236}">
                    <a16:creationId xmlns:a16="http://schemas.microsoft.com/office/drawing/2014/main" id="{58C73E7D-799C-EE3A-E312-5C8B8738D32E}"/>
                  </a:ext>
                </a:extLst>
              </p:cNvPr>
              <p:cNvSpPr txBox="1"/>
              <p:nvPr/>
            </p:nvSpPr>
            <p:spPr>
              <a:xfrm>
                <a:off x="8053926" y="3848100"/>
                <a:ext cx="302881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DO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Aumento significativo de </a:t>
                </a:r>
                <a:r>
                  <a:rPr lang="es-DO" sz="11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transacciones totales</a:t>
                </a:r>
                <a:r>
                  <a:rPr lang="es-DO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en </a:t>
                </a:r>
                <a:r>
                  <a:rPr lang="es-DO" sz="11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Masivo, Empresarial y Premium</a:t>
                </a:r>
                <a:r>
                  <a:rPr lang="es-DO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.</a:t>
                </a:r>
                <a:endParaRPr lang="es-DO" sz="3200" dirty="0"/>
              </a:p>
            </p:txBody>
          </p:sp>
        </p:grpSp>
        <p:grpSp>
          <p:nvGrpSpPr>
            <p:cNvPr id="875" name="Grupo 874">
              <a:extLst>
                <a:ext uri="{FF2B5EF4-FFF2-40B4-BE49-F238E27FC236}">
                  <a16:creationId xmlns:a16="http://schemas.microsoft.com/office/drawing/2014/main" id="{7A2B17D1-D36D-865D-DD80-C0A7DC80B576}"/>
                </a:ext>
              </a:extLst>
            </p:cNvPr>
            <p:cNvGrpSpPr/>
            <p:nvPr/>
          </p:nvGrpSpPr>
          <p:grpSpPr>
            <a:xfrm>
              <a:off x="304095" y="2400300"/>
              <a:ext cx="2889504" cy="2286000"/>
              <a:chOff x="441107" y="4163075"/>
              <a:chExt cx="2889504" cy="2286000"/>
            </a:xfrm>
          </p:grpSpPr>
          <p:grpSp>
            <p:nvGrpSpPr>
              <p:cNvPr id="658" name="Grupo 657">
                <a:extLst>
                  <a:ext uri="{FF2B5EF4-FFF2-40B4-BE49-F238E27FC236}">
                    <a16:creationId xmlns:a16="http://schemas.microsoft.com/office/drawing/2014/main" id="{FAFD6C36-F1E8-8469-8230-7624A31AC13C}"/>
                  </a:ext>
                </a:extLst>
              </p:cNvPr>
              <p:cNvGrpSpPr/>
              <p:nvPr/>
            </p:nvGrpSpPr>
            <p:grpSpPr>
              <a:xfrm>
                <a:off x="441107" y="4163075"/>
                <a:ext cx="2889504" cy="2286000"/>
                <a:chOff x="441107" y="4163075"/>
                <a:chExt cx="2889504" cy="2286000"/>
              </a:xfrm>
            </p:grpSpPr>
            <p:sp>
              <p:nvSpPr>
                <p:cNvPr id="90" name="Diagrama de flujo: proceso alternativo 89">
                  <a:extLst>
                    <a:ext uri="{FF2B5EF4-FFF2-40B4-BE49-F238E27FC236}">
                      <a16:creationId xmlns:a16="http://schemas.microsoft.com/office/drawing/2014/main" id="{608C04D5-3057-93E6-C577-323B8174F4E1}"/>
                    </a:ext>
                  </a:extLst>
                </p:cNvPr>
                <p:cNvSpPr/>
                <p:nvPr/>
              </p:nvSpPr>
              <p:spPr>
                <a:xfrm>
                  <a:off x="441107" y="4163075"/>
                  <a:ext cx="2889504" cy="2286000"/>
                </a:xfrm>
                <a:prstGeom prst="flowChartAlternateProcess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DO" dirty="0"/>
                </a:p>
              </p:txBody>
            </p:sp>
            <p:sp>
              <p:nvSpPr>
                <p:cNvPr id="102" name="CuadroTexto 101">
                  <a:extLst>
                    <a:ext uri="{FF2B5EF4-FFF2-40B4-BE49-F238E27FC236}">
                      <a16:creationId xmlns:a16="http://schemas.microsoft.com/office/drawing/2014/main" id="{0C34F53B-083C-38D4-3BD2-BBE0D62920F8}"/>
                    </a:ext>
                  </a:extLst>
                </p:cNvPr>
                <p:cNvSpPr txBox="1"/>
                <p:nvPr/>
              </p:nvSpPr>
              <p:spPr>
                <a:xfrm>
                  <a:off x="1314070" y="4335780"/>
                  <a:ext cx="112706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Electronica</a:t>
                  </a:r>
                  <a:endParaRPr lang="es-DO" sz="1400" b="1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  <p:grpSp>
              <p:nvGrpSpPr>
                <p:cNvPr id="649" name="Grupo 648">
                  <a:extLst>
                    <a:ext uri="{FF2B5EF4-FFF2-40B4-BE49-F238E27FC236}">
                      <a16:creationId xmlns:a16="http://schemas.microsoft.com/office/drawing/2014/main" id="{1D8A810B-1D7A-5D3A-881F-149E4556E932}"/>
                    </a:ext>
                  </a:extLst>
                </p:cNvPr>
                <p:cNvGrpSpPr/>
                <p:nvPr/>
              </p:nvGrpSpPr>
              <p:grpSpPr>
                <a:xfrm>
                  <a:off x="702053" y="5673771"/>
                  <a:ext cx="2482959" cy="430887"/>
                  <a:chOff x="585063" y="5468072"/>
                  <a:chExt cx="2482959" cy="430887"/>
                </a:xfrm>
              </p:grpSpPr>
              <p:sp>
                <p:nvSpPr>
                  <p:cNvPr id="107" name="CuadroTexto 106">
                    <a:extLst>
                      <a:ext uri="{FF2B5EF4-FFF2-40B4-BE49-F238E27FC236}">
                        <a16:creationId xmlns:a16="http://schemas.microsoft.com/office/drawing/2014/main" id="{3E7D0C01-B4A5-52B6-EBA4-B29D9F995D88}"/>
                      </a:ext>
                    </a:extLst>
                  </p:cNvPr>
                  <p:cNvSpPr txBox="1"/>
                  <p:nvPr/>
                </p:nvSpPr>
                <p:spPr>
                  <a:xfrm>
                    <a:off x="838675" y="5468072"/>
                    <a:ext cx="222934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Mayor ticket </a:t>
                    </a:r>
                    <a:r>
                      <a:rPr lang="en-US" sz="1100" dirty="0" err="1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promedio</a:t>
                    </a:r>
                    <a:r>
                      <a:rPr lang="en-US" sz="11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y </a:t>
                    </a:r>
                    <a:r>
                      <a:rPr lang="en-US" sz="1100" dirty="0" err="1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monto</a:t>
                    </a:r>
                    <a:r>
                      <a:rPr lang="en-US" sz="11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</a:t>
                    </a:r>
                    <a:r>
                      <a:rPr lang="en-US" sz="1100" dirty="0" err="1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transado</a:t>
                    </a:r>
                    <a:r>
                      <a:rPr lang="en-US" sz="11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*</a:t>
                    </a:r>
                    <a:endParaRPr lang="es-DO" sz="11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pic>
                <p:nvPicPr>
                  <p:cNvPr id="648" name="Imagen 647">
                    <a:extLst>
                      <a:ext uri="{FF2B5EF4-FFF2-40B4-BE49-F238E27FC236}">
                        <a16:creationId xmlns:a16="http://schemas.microsoft.com/office/drawing/2014/main" id="{95D06D4B-D1D8-0DBE-5F32-734650DE2F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85063" y="5492204"/>
                    <a:ext cx="269000" cy="2690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657" name="Imagen 656">
                  <a:extLst>
                    <a:ext uri="{FF2B5EF4-FFF2-40B4-BE49-F238E27FC236}">
                      <a16:creationId xmlns:a16="http://schemas.microsoft.com/office/drawing/2014/main" id="{650B9070-A9C5-8325-85E3-7269910E65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08540" y="4686300"/>
                  <a:ext cx="877460" cy="877460"/>
                </a:xfrm>
                <a:prstGeom prst="rect">
                  <a:avLst/>
                </a:prstGeom>
              </p:spPr>
            </p:pic>
          </p:grpSp>
          <p:grpSp>
            <p:nvGrpSpPr>
              <p:cNvPr id="866" name="Grupo 865">
                <a:extLst>
                  <a:ext uri="{FF2B5EF4-FFF2-40B4-BE49-F238E27FC236}">
                    <a16:creationId xmlns:a16="http://schemas.microsoft.com/office/drawing/2014/main" id="{3FF6B64C-ED99-8C57-6127-76D549C9D262}"/>
                  </a:ext>
                </a:extLst>
              </p:cNvPr>
              <p:cNvGrpSpPr/>
              <p:nvPr/>
            </p:nvGrpSpPr>
            <p:grpSpPr>
              <a:xfrm>
                <a:off x="2956412" y="4345447"/>
                <a:ext cx="330642" cy="592927"/>
                <a:chOff x="619979" y="4356191"/>
                <a:chExt cx="330642" cy="592927"/>
              </a:xfrm>
            </p:grpSpPr>
            <p:grpSp>
              <p:nvGrpSpPr>
                <p:cNvPr id="863" name="Grupo 862">
                  <a:extLst>
                    <a:ext uri="{FF2B5EF4-FFF2-40B4-BE49-F238E27FC236}">
                      <a16:creationId xmlns:a16="http://schemas.microsoft.com/office/drawing/2014/main" id="{FFEFDE47-352E-32A5-62DB-C2017CD35AA8}"/>
                    </a:ext>
                  </a:extLst>
                </p:cNvPr>
                <p:cNvGrpSpPr/>
                <p:nvPr/>
              </p:nvGrpSpPr>
              <p:grpSpPr>
                <a:xfrm>
                  <a:off x="619979" y="4782312"/>
                  <a:ext cx="330642" cy="166806"/>
                  <a:chOff x="843176" y="4240358"/>
                  <a:chExt cx="330642" cy="166806"/>
                </a:xfrm>
              </p:grpSpPr>
              <p:pic>
                <p:nvPicPr>
                  <p:cNvPr id="860" name="Imagen 859">
                    <a:extLst>
                      <a:ext uri="{FF2B5EF4-FFF2-40B4-BE49-F238E27FC236}">
                        <a16:creationId xmlns:a16="http://schemas.microsoft.com/office/drawing/2014/main" id="{3284B1BC-837F-AF8A-CFDB-4F035AEF3D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3176" y="4240358"/>
                    <a:ext cx="166806" cy="166806"/>
                  </a:xfrm>
                  <a:prstGeom prst="rect">
                    <a:avLst/>
                  </a:prstGeom>
                </p:spPr>
              </p:pic>
              <p:pic>
                <p:nvPicPr>
                  <p:cNvPr id="861" name="Imagen 860">
                    <a:extLst>
                      <a:ext uri="{FF2B5EF4-FFF2-40B4-BE49-F238E27FC236}">
                        <a16:creationId xmlns:a16="http://schemas.microsoft.com/office/drawing/2014/main" id="{AB1EB07A-BFEE-BF65-D27D-2CD0B2C2C1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094" y="4240358"/>
                    <a:ext cx="166806" cy="166806"/>
                  </a:xfrm>
                  <a:prstGeom prst="rect">
                    <a:avLst/>
                  </a:prstGeom>
                </p:spPr>
              </p:pic>
              <p:pic>
                <p:nvPicPr>
                  <p:cNvPr id="862" name="Imagen 861">
                    <a:extLst>
                      <a:ext uri="{FF2B5EF4-FFF2-40B4-BE49-F238E27FC236}">
                        <a16:creationId xmlns:a16="http://schemas.microsoft.com/office/drawing/2014/main" id="{8EED490F-581B-F868-AA13-BE3973728E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7012" y="4240358"/>
                    <a:ext cx="166806" cy="166806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64" name="Imagen 863">
                  <a:extLst>
                    <a:ext uri="{FF2B5EF4-FFF2-40B4-BE49-F238E27FC236}">
                      <a16:creationId xmlns:a16="http://schemas.microsoft.com/office/drawing/2014/main" id="{2D64E3C9-DDC6-3B5C-875A-7C10B36D3E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53903" y="4572000"/>
                  <a:ext cx="228600" cy="228600"/>
                </a:xfrm>
                <a:prstGeom prst="rect">
                  <a:avLst/>
                </a:prstGeom>
              </p:spPr>
            </p:pic>
            <p:pic>
              <p:nvPicPr>
                <p:cNvPr id="865" name="Imagen 864">
                  <a:extLst>
                    <a:ext uri="{FF2B5EF4-FFF2-40B4-BE49-F238E27FC236}">
                      <a16:creationId xmlns:a16="http://schemas.microsoft.com/office/drawing/2014/main" id="{914BFA21-5F49-E65C-A59A-7A02BAE1A2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53903" y="4356191"/>
                  <a:ext cx="211296" cy="21129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155" name="Grupo 1154">
            <a:extLst>
              <a:ext uri="{FF2B5EF4-FFF2-40B4-BE49-F238E27FC236}">
                <a16:creationId xmlns:a16="http://schemas.microsoft.com/office/drawing/2014/main" id="{D6826B08-275E-6F1D-4E25-48DB60D1FFF1}"/>
              </a:ext>
            </a:extLst>
          </p:cNvPr>
          <p:cNvGrpSpPr/>
          <p:nvPr/>
        </p:nvGrpSpPr>
        <p:grpSpPr>
          <a:xfrm>
            <a:off x="304095" y="4438159"/>
            <a:ext cx="2889504" cy="2286000"/>
            <a:chOff x="304095" y="4887360"/>
            <a:chExt cx="2889504" cy="2286000"/>
          </a:xfrm>
        </p:grpSpPr>
        <p:grpSp>
          <p:nvGrpSpPr>
            <p:cNvPr id="753" name="Grupo 752">
              <a:extLst>
                <a:ext uri="{FF2B5EF4-FFF2-40B4-BE49-F238E27FC236}">
                  <a16:creationId xmlns:a16="http://schemas.microsoft.com/office/drawing/2014/main" id="{79A4B157-3744-9301-A395-A14AB48CB6C0}"/>
                </a:ext>
              </a:extLst>
            </p:cNvPr>
            <p:cNvGrpSpPr/>
            <p:nvPr/>
          </p:nvGrpSpPr>
          <p:grpSpPr>
            <a:xfrm>
              <a:off x="304095" y="4887360"/>
              <a:ext cx="2889504" cy="2286000"/>
              <a:chOff x="441107" y="4186138"/>
              <a:chExt cx="2889504" cy="2286000"/>
            </a:xfrm>
          </p:grpSpPr>
          <p:sp>
            <p:nvSpPr>
              <p:cNvPr id="754" name="Diagrama de flujo: proceso alternativo 753">
                <a:extLst>
                  <a:ext uri="{FF2B5EF4-FFF2-40B4-BE49-F238E27FC236}">
                    <a16:creationId xmlns:a16="http://schemas.microsoft.com/office/drawing/2014/main" id="{868443FE-516B-BF58-67DE-08798D57B37F}"/>
                  </a:ext>
                </a:extLst>
              </p:cNvPr>
              <p:cNvSpPr/>
              <p:nvPr/>
            </p:nvSpPr>
            <p:spPr>
              <a:xfrm>
                <a:off x="441107" y="4186138"/>
                <a:ext cx="2889504" cy="228600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  <p:sp>
            <p:nvSpPr>
              <p:cNvPr id="755" name="CuadroTexto 754">
                <a:extLst>
                  <a:ext uri="{FF2B5EF4-FFF2-40B4-BE49-F238E27FC236}">
                    <a16:creationId xmlns:a16="http://schemas.microsoft.com/office/drawing/2014/main" id="{6207FFDB-CD87-88E1-E54A-BFCB09C54DFC}"/>
                  </a:ext>
                </a:extLst>
              </p:cNvPr>
              <p:cNvSpPr txBox="1"/>
              <p:nvPr/>
            </p:nvSpPr>
            <p:spPr>
              <a:xfrm>
                <a:off x="1322325" y="4382485"/>
                <a:ext cx="125217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Ecommerce</a:t>
                </a:r>
                <a:endParaRPr lang="es-DO" sz="1600" b="1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grpSp>
            <p:nvGrpSpPr>
              <p:cNvPr id="756" name="Grupo 755">
                <a:extLst>
                  <a:ext uri="{FF2B5EF4-FFF2-40B4-BE49-F238E27FC236}">
                    <a16:creationId xmlns:a16="http://schemas.microsoft.com/office/drawing/2014/main" id="{C6E64BED-60BA-15C6-664C-6A1B499B025A}"/>
                  </a:ext>
                </a:extLst>
              </p:cNvPr>
              <p:cNvGrpSpPr/>
              <p:nvPr/>
            </p:nvGrpSpPr>
            <p:grpSpPr>
              <a:xfrm>
                <a:off x="702053" y="5865106"/>
                <a:ext cx="2482959" cy="430887"/>
                <a:chOff x="585063" y="5659407"/>
                <a:chExt cx="2482959" cy="430887"/>
              </a:xfrm>
            </p:grpSpPr>
            <p:sp>
              <p:nvSpPr>
                <p:cNvPr id="758" name="CuadroTexto 757">
                  <a:extLst>
                    <a:ext uri="{FF2B5EF4-FFF2-40B4-BE49-F238E27FC236}">
                      <a16:creationId xmlns:a16="http://schemas.microsoft.com/office/drawing/2014/main" id="{147206C8-A632-C81F-6D0E-35AEAC842089}"/>
                    </a:ext>
                  </a:extLst>
                </p:cNvPr>
                <p:cNvSpPr txBox="1"/>
                <p:nvPr/>
              </p:nvSpPr>
              <p:spPr>
                <a:xfrm>
                  <a:off x="838675" y="5659407"/>
                  <a:ext cx="222934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2</a:t>
                  </a:r>
                  <a:r>
                    <a:rPr lang="en-US" sz="1100" baseline="300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do </a:t>
                  </a:r>
                  <a:r>
                    <a:rPr lang="en-US" sz="11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ticket </a:t>
                  </a:r>
                  <a:r>
                    <a:rPr lang="en-US" sz="11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promedio</a:t>
                  </a:r>
                  <a:r>
                    <a:rPr lang="en-US" sz="11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y 3</a:t>
                  </a:r>
                  <a:r>
                    <a:rPr lang="en-US" sz="1100" baseline="300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er</a:t>
                  </a:r>
                  <a:r>
                    <a:rPr lang="en-US" sz="11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</a:t>
                  </a:r>
                  <a:r>
                    <a:rPr lang="en-US" sz="11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monto</a:t>
                  </a:r>
                  <a:r>
                    <a:rPr lang="en-US" sz="11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</a:t>
                  </a:r>
                  <a:r>
                    <a:rPr lang="en-US" sz="11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transado</a:t>
                  </a:r>
                  <a:r>
                    <a:rPr lang="en-US" sz="11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*</a:t>
                  </a:r>
                  <a:endParaRPr lang="es-DO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759" name="Imagen 758">
                  <a:extLst>
                    <a:ext uri="{FF2B5EF4-FFF2-40B4-BE49-F238E27FC236}">
                      <a16:creationId xmlns:a16="http://schemas.microsoft.com/office/drawing/2014/main" id="{B3BD4AD9-60F9-BB54-87D2-FFC4EE10A5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5063" y="5697535"/>
                  <a:ext cx="269000" cy="269000"/>
                </a:xfrm>
                <a:prstGeom prst="rect">
                  <a:avLst/>
                </a:prstGeom>
              </p:spPr>
            </p:pic>
          </p:grpSp>
          <p:pic>
            <p:nvPicPr>
              <p:cNvPr id="757" name="Imagen 756">
                <a:extLst>
                  <a:ext uri="{FF2B5EF4-FFF2-40B4-BE49-F238E27FC236}">
                    <a16:creationId xmlns:a16="http://schemas.microsoft.com/office/drawing/2014/main" id="{B185C97C-519F-B1E8-3652-487D83C0E2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432412" y="4861378"/>
                <a:ext cx="888346" cy="888346"/>
              </a:xfrm>
              <a:prstGeom prst="rect">
                <a:avLst/>
              </a:prstGeom>
            </p:spPr>
          </p:pic>
        </p:grpSp>
        <p:grpSp>
          <p:nvGrpSpPr>
            <p:cNvPr id="886" name="Grupo 885">
              <a:extLst>
                <a:ext uri="{FF2B5EF4-FFF2-40B4-BE49-F238E27FC236}">
                  <a16:creationId xmlns:a16="http://schemas.microsoft.com/office/drawing/2014/main" id="{9865C50D-4307-3A49-6C1B-5BE07CDF4D0B}"/>
                </a:ext>
              </a:extLst>
            </p:cNvPr>
            <p:cNvGrpSpPr/>
            <p:nvPr/>
          </p:nvGrpSpPr>
          <p:grpSpPr>
            <a:xfrm>
              <a:off x="2805051" y="5134705"/>
              <a:ext cx="242949" cy="694595"/>
              <a:chOff x="2766381" y="6285612"/>
              <a:chExt cx="242949" cy="694595"/>
            </a:xfrm>
          </p:grpSpPr>
          <p:pic>
            <p:nvPicPr>
              <p:cNvPr id="869" name="Imagen 868">
                <a:extLst>
                  <a:ext uri="{FF2B5EF4-FFF2-40B4-BE49-F238E27FC236}">
                    <a16:creationId xmlns:a16="http://schemas.microsoft.com/office/drawing/2014/main" id="{83D285E4-5C17-87C8-9043-64BC216AEE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780730" y="6515343"/>
                <a:ext cx="228600" cy="228600"/>
              </a:xfrm>
              <a:prstGeom prst="rect">
                <a:avLst/>
              </a:prstGeom>
            </p:spPr>
          </p:pic>
          <p:pic>
            <p:nvPicPr>
              <p:cNvPr id="870" name="Imagen 869">
                <a:extLst>
                  <a:ext uri="{FF2B5EF4-FFF2-40B4-BE49-F238E27FC236}">
                    <a16:creationId xmlns:a16="http://schemas.microsoft.com/office/drawing/2014/main" id="{0E2CBE26-A966-A1AB-32D2-7584E1BF5D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766381" y="6285612"/>
                <a:ext cx="211296" cy="211296"/>
              </a:xfrm>
              <a:prstGeom prst="rect">
                <a:avLst/>
              </a:prstGeom>
            </p:spPr>
          </p:pic>
          <p:pic>
            <p:nvPicPr>
              <p:cNvPr id="883" name="Imagen 882">
                <a:extLst>
                  <a:ext uri="{FF2B5EF4-FFF2-40B4-BE49-F238E27FC236}">
                    <a16:creationId xmlns:a16="http://schemas.microsoft.com/office/drawing/2014/main" id="{CF977130-FC5F-B81D-3C97-55CA6E258F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773295" y="6751607"/>
                <a:ext cx="228600" cy="228600"/>
              </a:xfrm>
              <a:prstGeom prst="rect">
                <a:avLst/>
              </a:prstGeom>
            </p:spPr>
          </p:pic>
        </p:grpSp>
      </p:grpSp>
      <p:sp>
        <p:nvSpPr>
          <p:cNvPr id="661" name="Diagrama de flujo: proceso alternativo 660">
            <a:extLst>
              <a:ext uri="{FF2B5EF4-FFF2-40B4-BE49-F238E27FC236}">
                <a16:creationId xmlns:a16="http://schemas.microsoft.com/office/drawing/2014/main" id="{CD476BE7-E21C-B060-50C6-04730822EB5A}"/>
              </a:ext>
            </a:extLst>
          </p:cNvPr>
          <p:cNvSpPr/>
          <p:nvPr/>
        </p:nvSpPr>
        <p:spPr>
          <a:xfrm>
            <a:off x="3317295" y="4438159"/>
            <a:ext cx="8036505" cy="22860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/>
          </a:p>
        </p:txBody>
      </p:sp>
      <p:cxnSp>
        <p:nvCxnSpPr>
          <p:cNvPr id="665" name="Conector recto 664">
            <a:extLst>
              <a:ext uri="{FF2B5EF4-FFF2-40B4-BE49-F238E27FC236}">
                <a16:creationId xmlns:a16="http://schemas.microsoft.com/office/drawing/2014/main" id="{0F482E0E-CF8D-9F09-8F0D-A93EC1A107F7}"/>
              </a:ext>
            </a:extLst>
          </p:cNvPr>
          <p:cNvCxnSpPr/>
          <p:nvPr/>
        </p:nvCxnSpPr>
        <p:spPr>
          <a:xfrm>
            <a:off x="5561683" y="4659516"/>
            <a:ext cx="0" cy="1737360"/>
          </a:xfrm>
          <a:prstGeom prst="line">
            <a:avLst/>
          </a:prstGeom>
          <a:ln w="12700">
            <a:solidFill>
              <a:srgbClr val="B9B9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Conector recto 665">
            <a:extLst>
              <a:ext uri="{FF2B5EF4-FFF2-40B4-BE49-F238E27FC236}">
                <a16:creationId xmlns:a16="http://schemas.microsoft.com/office/drawing/2014/main" id="{A228B133-AA37-96E5-1606-D050D0130D00}"/>
              </a:ext>
            </a:extLst>
          </p:cNvPr>
          <p:cNvCxnSpPr/>
          <p:nvPr/>
        </p:nvCxnSpPr>
        <p:spPr>
          <a:xfrm>
            <a:off x="8076283" y="4606176"/>
            <a:ext cx="0" cy="1828800"/>
          </a:xfrm>
          <a:prstGeom prst="line">
            <a:avLst/>
          </a:prstGeom>
          <a:ln w="12700">
            <a:solidFill>
              <a:srgbClr val="B9B9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8" name="CuadroTexto 667">
            <a:extLst>
              <a:ext uri="{FF2B5EF4-FFF2-40B4-BE49-F238E27FC236}">
                <a16:creationId xmlns:a16="http://schemas.microsoft.com/office/drawing/2014/main" id="{1215DBEB-E039-B3B7-4BE2-9960D1E21357}"/>
              </a:ext>
            </a:extLst>
          </p:cNvPr>
          <p:cNvSpPr txBox="1"/>
          <p:nvPr/>
        </p:nvSpPr>
        <p:spPr>
          <a:xfrm>
            <a:off x="3352800" y="6117127"/>
            <a:ext cx="214610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DO" sz="105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Segundo lugar en ticket promedio </a:t>
            </a:r>
            <a:r>
              <a:rPr lang="es-DO" sz="105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más alto en todos los segmentos*</a:t>
            </a:r>
            <a:endParaRPr lang="es-DO" sz="1050" dirty="0"/>
          </a:p>
        </p:txBody>
      </p:sp>
      <p:sp>
        <p:nvSpPr>
          <p:cNvPr id="669" name="CuadroTexto 668">
            <a:extLst>
              <a:ext uri="{FF2B5EF4-FFF2-40B4-BE49-F238E27FC236}">
                <a16:creationId xmlns:a16="http://schemas.microsoft.com/office/drawing/2014/main" id="{2E355D7F-7E9C-A558-B316-FD024DCAC068}"/>
              </a:ext>
            </a:extLst>
          </p:cNvPr>
          <p:cNvSpPr txBox="1"/>
          <p:nvPr/>
        </p:nvSpPr>
        <p:spPr>
          <a:xfrm>
            <a:off x="5643055" y="6130176"/>
            <a:ext cx="24332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DO" sz="11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Tercer lugar en monto total transado </a:t>
            </a:r>
            <a:r>
              <a:rPr lang="es-DO" sz="11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en todos los segmentos*</a:t>
            </a:r>
            <a:endParaRPr lang="es-DO" sz="3200" dirty="0"/>
          </a:p>
        </p:txBody>
      </p:sp>
      <p:sp>
        <p:nvSpPr>
          <p:cNvPr id="670" name="CuadroTexto 669">
            <a:extLst>
              <a:ext uri="{FF2B5EF4-FFF2-40B4-BE49-F238E27FC236}">
                <a16:creationId xmlns:a16="http://schemas.microsoft.com/office/drawing/2014/main" id="{71062EF4-598D-33E5-E8AC-1044BFE21407}"/>
              </a:ext>
            </a:extLst>
          </p:cNvPr>
          <p:cNvSpPr txBox="1"/>
          <p:nvPr/>
        </p:nvSpPr>
        <p:spPr>
          <a:xfrm>
            <a:off x="8076283" y="6130176"/>
            <a:ext cx="3124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DO" sz="11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Poca</a:t>
            </a:r>
            <a:r>
              <a:rPr lang="es-DO" sz="11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 participación en </a:t>
            </a:r>
            <a:r>
              <a:rPr lang="es-DO" sz="11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transacciones totales, 10% </a:t>
            </a:r>
            <a:r>
              <a:rPr lang="en-US" sz="11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de las </a:t>
            </a:r>
            <a:r>
              <a:rPr lang="en-US" sz="1100" b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transacciones</a:t>
            </a:r>
            <a:r>
              <a:rPr lang="es-DO" sz="11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  <a:endParaRPr lang="es-DO" sz="3200" b="1" dirty="0"/>
          </a:p>
        </p:txBody>
      </p:sp>
      <p:grpSp>
        <p:nvGrpSpPr>
          <p:cNvPr id="990" name="Grupo 989">
            <a:extLst>
              <a:ext uri="{FF2B5EF4-FFF2-40B4-BE49-F238E27FC236}">
                <a16:creationId xmlns:a16="http://schemas.microsoft.com/office/drawing/2014/main" id="{FA3215D8-E086-8520-49C7-38E2FF3EF7E4}"/>
              </a:ext>
            </a:extLst>
          </p:cNvPr>
          <p:cNvGrpSpPr/>
          <p:nvPr/>
        </p:nvGrpSpPr>
        <p:grpSpPr>
          <a:xfrm>
            <a:off x="8076283" y="4944849"/>
            <a:ext cx="3243114" cy="1109127"/>
            <a:chOff x="8001000" y="6396573"/>
            <a:chExt cx="3243114" cy="1109127"/>
          </a:xfrm>
        </p:grpSpPr>
        <p:grpSp>
          <p:nvGrpSpPr>
            <p:cNvPr id="926" name="Grupo 925">
              <a:extLst>
                <a:ext uri="{FF2B5EF4-FFF2-40B4-BE49-F238E27FC236}">
                  <a16:creationId xmlns:a16="http://schemas.microsoft.com/office/drawing/2014/main" id="{4D203D42-DBAC-B3F6-AD9C-E72FDE56E7BE}"/>
                </a:ext>
              </a:extLst>
            </p:cNvPr>
            <p:cNvGrpSpPr/>
            <p:nvPr/>
          </p:nvGrpSpPr>
          <p:grpSpPr>
            <a:xfrm>
              <a:off x="8662162" y="6674842"/>
              <a:ext cx="1991873" cy="274320"/>
              <a:chOff x="7971246" y="6345574"/>
              <a:chExt cx="1991873" cy="274320"/>
            </a:xfrm>
          </p:grpSpPr>
          <p:pic>
            <p:nvPicPr>
              <p:cNvPr id="910" name="Imagen 909">
                <a:extLst>
                  <a:ext uri="{FF2B5EF4-FFF2-40B4-BE49-F238E27FC236}">
                    <a16:creationId xmlns:a16="http://schemas.microsoft.com/office/drawing/2014/main" id="{EA40ED46-C586-AFA3-EEEC-95E68280DC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971246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13" name="Imagen 912">
                <a:extLst>
                  <a:ext uri="{FF2B5EF4-FFF2-40B4-BE49-F238E27FC236}">
                    <a16:creationId xmlns:a16="http://schemas.microsoft.com/office/drawing/2014/main" id="{1E0AF58D-ED8C-A2A6-548C-666E08BC3C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57505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16" name="Imagen 915">
                <a:extLst>
                  <a:ext uri="{FF2B5EF4-FFF2-40B4-BE49-F238E27FC236}">
                    <a16:creationId xmlns:a16="http://schemas.microsoft.com/office/drawing/2014/main" id="{B2761571-F8BA-ED69-6ECD-16FF1F4AF2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543764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17" name="Imagen 916">
                <a:extLst>
                  <a:ext uri="{FF2B5EF4-FFF2-40B4-BE49-F238E27FC236}">
                    <a16:creationId xmlns:a16="http://schemas.microsoft.com/office/drawing/2014/main" id="{42497668-1D06-5ED7-3D80-7425018D89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830023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19" name="Imagen 918">
                <a:extLst>
                  <a:ext uri="{FF2B5EF4-FFF2-40B4-BE49-F238E27FC236}">
                    <a16:creationId xmlns:a16="http://schemas.microsoft.com/office/drawing/2014/main" id="{14AC896D-8054-EB5E-8267-A9F4E364EB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116282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20" name="Imagen 919">
                <a:extLst>
                  <a:ext uri="{FF2B5EF4-FFF2-40B4-BE49-F238E27FC236}">
                    <a16:creationId xmlns:a16="http://schemas.microsoft.com/office/drawing/2014/main" id="{BDB5B07F-D66F-F685-F2F4-A5776189E5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402541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21" name="Imagen 920">
                <a:extLst>
                  <a:ext uri="{FF2B5EF4-FFF2-40B4-BE49-F238E27FC236}">
                    <a16:creationId xmlns:a16="http://schemas.microsoft.com/office/drawing/2014/main" id="{5204D308-3A33-0645-B7D1-6607A4474F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688799" y="6345574"/>
                <a:ext cx="274320" cy="274320"/>
              </a:xfrm>
              <a:prstGeom prst="rect">
                <a:avLst/>
              </a:prstGeom>
            </p:spPr>
          </p:pic>
        </p:grpSp>
        <p:grpSp>
          <p:nvGrpSpPr>
            <p:cNvPr id="932" name="Grupo 931">
              <a:extLst>
                <a:ext uri="{FF2B5EF4-FFF2-40B4-BE49-F238E27FC236}">
                  <a16:creationId xmlns:a16="http://schemas.microsoft.com/office/drawing/2014/main" id="{2430DBD0-3CBE-B919-72B3-C0EFD3481DA3}"/>
                </a:ext>
              </a:extLst>
            </p:cNvPr>
            <p:cNvGrpSpPr/>
            <p:nvPr/>
          </p:nvGrpSpPr>
          <p:grpSpPr>
            <a:xfrm>
              <a:off x="10644697" y="6680656"/>
              <a:ext cx="557620" cy="246221"/>
              <a:chOff x="10216305" y="6351388"/>
              <a:chExt cx="557620" cy="246221"/>
            </a:xfrm>
          </p:grpSpPr>
          <p:sp>
            <p:nvSpPr>
              <p:cNvPr id="904" name="CuadroTexto 903">
                <a:extLst>
                  <a:ext uri="{FF2B5EF4-FFF2-40B4-BE49-F238E27FC236}">
                    <a16:creationId xmlns:a16="http://schemas.microsoft.com/office/drawing/2014/main" id="{9B849A3E-928F-600D-A503-B646F01F7D73}"/>
                  </a:ext>
                </a:extLst>
              </p:cNvPr>
              <p:cNvSpPr txBox="1"/>
              <p:nvPr/>
            </p:nvSpPr>
            <p:spPr>
              <a:xfrm>
                <a:off x="10216305" y="6396266"/>
                <a:ext cx="365760" cy="153888"/>
              </a:xfrm>
              <a:prstGeom prst="rect">
                <a:avLst/>
              </a:prstGeom>
              <a:noFill/>
            </p:spPr>
            <p:txBody>
              <a:bodyPr wrap="square" tIns="0" bIns="0" rtlCol="0" anchor="ctr">
                <a:spAutoFit/>
              </a:bodyPr>
              <a:lstStyle/>
              <a:p>
                <a:r>
                  <a:rPr lang="en-US" sz="1000" b="1" dirty="0"/>
                  <a:t>7</a:t>
                </a:r>
                <a:r>
                  <a:rPr lang="en-US" sz="1000" b="1" baseline="30000" dirty="0"/>
                  <a:t>mo</a:t>
                </a:r>
                <a:endParaRPr lang="es-DO" sz="500" baseline="30000" dirty="0"/>
              </a:p>
            </p:txBody>
          </p:sp>
          <p:sp>
            <p:nvSpPr>
              <p:cNvPr id="931" name="CuadroTexto 930">
                <a:extLst>
                  <a:ext uri="{FF2B5EF4-FFF2-40B4-BE49-F238E27FC236}">
                    <a16:creationId xmlns:a16="http://schemas.microsoft.com/office/drawing/2014/main" id="{711870CB-6318-3213-B961-C62C5B1D9186}"/>
                  </a:ext>
                </a:extLst>
              </p:cNvPr>
              <p:cNvSpPr txBox="1"/>
              <p:nvPr/>
            </p:nvSpPr>
            <p:spPr>
              <a:xfrm>
                <a:off x="10531499" y="6351388"/>
                <a:ext cx="242426" cy="246221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r>
                  <a:rPr lang="en-US" sz="1000" u="sng" dirty="0"/>
                  <a:t>882</a:t>
                </a:r>
                <a:endParaRPr lang="es-DO" sz="2400" u="sng" dirty="0"/>
              </a:p>
            </p:txBody>
          </p:sp>
        </p:grpSp>
        <p:grpSp>
          <p:nvGrpSpPr>
            <p:cNvPr id="933" name="Grupo 932">
              <a:extLst>
                <a:ext uri="{FF2B5EF4-FFF2-40B4-BE49-F238E27FC236}">
                  <a16:creationId xmlns:a16="http://schemas.microsoft.com/office/drawing/2014/main" id="{8CED3802-4C65-613F-119C-1400420620E6}"/>
                </a:ext>
              </a:extLst>
            </p:cNvPr>
            <p:cNvGrpSpPr/>
            <p:nvPr/>
          </p:nvGrpSpPr>
          <p:grpSpPr>
            <a:xfrm>
              <a:off x="8662162" y="6953111"/>
              <a:ext cx="1991873" cy="274320"/>
              <a:chOff x="7971246" y="6345574"/>
              <a:chExt cx="1991873" cy="274320"/>
            </a:xfrm>
          </p:grpSpPr>
          <p:pic>
            <p:nvPicPr>
              <p:cNvPr id="934" name="Imagen 933">
                <a:extLst>
                  <a:ext uri="{FF2B5EF4-FFF2-40B4-BE49-F238E27FC236}">
                    <a16:creationId xmlns:a16="http://schemas.microsoft.com/office/drawing/2014/main" id="{B1E6A51E-04D0-6DF3-0BAD-FA9E28526E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971246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35" name="Imagen 934">
                <a:extLst>
                  <a:ext uri="{FF2B5EF4-FFF2-40B4-BE49-F238E27FC236}">
                    <a16:creationId xmlns:a16="http://schemas.microsoft.com/office/drawing/2014/main" id="{05ADD486-9371-BB34-490E-2314DC9875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57505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36" name="Imagen 935">
                <a:extLst>
                  <a:ext uri="{FF2B5EF4-FFF2-40B4-BE49-F238E27FC236}">
                    <a16:creationId xmlns:a16="http://schemas.microsoft.com/office/drawing/2014/main" id="{AB46D434-96B2-9216-6850-37204DC8D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543764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37" name="Imagen 936">
                <a:extLst>
                  <a:ext uri="{FF2B5EF4-FFF2-40B4-BE49-F238E27FC236}">
                    <a16:creationId xmlns:a16="http://schemas.microsoft.com/office/drawing/2014/main" id="{70E1E4E6-088E-5EAB-1B59-7E31CF8A1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830023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38" name="Imagen 937">
                <a:extLst>
                  <a:ext uri="{FF2B5EF4-FFF2-40B4-BE49-F238E27FC236}">
                    <a16:creationId xmlns:a16="http://schemas.microsoft.com/office/drawing/2014/main" id="{950F1C81-A67E-ABEE-801D-455F6AE511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116282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39" name="Imagen 938">
                <a:extLst>
                  <a:ext uri="{FF2B5EF4-FFF2-40B4-BE49-F238E27FC236}">
                    <a16:creationId xmlns:a16="http://schemas.microsoft.com/office/drawing/2014/main" id="{99355ED1-13B5-1894-C51A-4356AA3320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402541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40" name="Imagen 939">
                <a:extLst>
                  <a:ext uri="{FF2B5EF4-FFF2-40B4-BE49-F238E27FC236}">
                    <a16:creationId xmlns:a16="http://schemas.microsoft.com/office/drawing/2014/main" id="{A402AEAA-5893-B9F8-CC0D-0148B3AA4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688799" y="6345574"/>
                <a:ext cx="274320" cy="274320"/>
              </a:xfrm>
              <a:prstGeom prst="rect">
                <a:avLst/>
              </a:prstGeom>
            </p:spPr>
          </p:pic>
        </p:grpSp>
        <p:grpSp>
          <p:nvGrpSpPr>
            <p:cNvPr id="941" name="Grupo 940">
              <a:extLst>
                <a:ext uri="{FF2B5EF4-FFF2-40B4-BE49-F238E27FC236}">
                  <a16:creationId xmlns:a16="http://schemas.microsoft.com/office/drawing/2014/main" id="{413C6DF6-DCE2-4863-B028-DE98E97B5CBE}"/>
                </a:ext>
              </a:extLst>
            </p:cNvPr>
            <p:cNvGrpSpPr/>
            <p:nvPr/>
          </p:nvGrpSpPr>
          <p:grpSpPr>
            <a:xfrm>
              <a:off x="10644697" y="6980905"/>
              <a:ext cx="560264" cy="246221"/>
              <a:chOff x="10216838" y="6373368"/>
              <a:chExt cx="560264" cy="246221"/>
            </a:xfrm>
          </p:grpSpPr>
          <p:sp>
            <p:nvSpPr>
              <p:cNvPr id="942" name="CuadroTexto 941">
                <a:extLst>
                  <a:ext uri="{FF2B5EF4-FFF2-40B4-BE49-F238E27FC236}">
                    <a16:creationId xmlns:a16="http://schemas.microsoft.com/office/drawing/2014/main" id="{8C2F74BC-9678-04EF-43F8-43756EE61172}"/>
                  </a:ext>
                </a:extLst>
              </p:cNvPr>
              <p:cNvSpPr txBox="1"/>
              <p:nvPr/>
            </p:nvSpPr>
            <p:spPr>
              <a:xfrm>
                <a:off x="10216838" y="6396266"/>
                <a:ext cx="365760" cy="153888"/>
              </a:xfrm>
              <a:prstGeom prst="rect">
                <a:avLst/>
              </a:prstGeom>
              <a:noFill/>
            </p:spPr>
            <p:txBody>
              <a:bodyPr wrap="square" tIns="0" bIns="0" rtlCol="0" anchor="ctr">
                <a:spAutoFit/>
              </a:bodyPr>
              <a:lstStyle/>
              <a:p>
                <a:r>
                  <a:rPr lang="en-US" sz="1000" b="1" dirty="0"/>
                  <a:t>7</a:t>
                </a:r>
                <a:r>
                  <a:rPr lang="en-US" sz="1000" b="1" baseline="30000" dirty="0"/>
                  <a:t>mo</a:t>
                </a:r>
                <a:endParaRPr lang="es-DO" sz="500" baseline="30000" dirty="0"/>
              </a:p>
            </p:txBody>
          </p:sp>
          <p:sp>
            <p:nvSpPr>
              <p:cNvPr id="943" name="CuadroTexto 942">
                <a:extLst>
                  <a:ext uri="{FF2B5EF4-FFF2-40B4-BE49-F238E27FC236}">
                    <a16:creationId xmlns:a16="http://schemas.microsoft.com/office/drawing/2014/main" id="{C6A068ED-2D02-43FC-F2EE-66D4EA907740}"/>
                  </a:ext>
                </a:extLst>
              </p:cNvPr>
              <p:cNvSpPr txBox="1"/>
              <p:nvPr/>
            </p:nvSpPr>
            <p:spPr>
              <a:xfrm>
                <a:off x="10543361" y="6373368"/>
                <a:ext cx="233741" cy="246221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r>
                  <a:rPr lang="en-US" sz="1000" u="sng" dirty="0"/>
                  <a:t>380</a:t>
                </a:r>
                <a:endParaRPr lang="es-DO" sz="2400" u="sng" dirty="0"/>
              </a:p>
            </p:txBody>
          </p:sp>
        </p:grpSp>
        <p:grpSp>
          <p:nvGrpSpPr>
            <p:cNvPr id="944" name="Grupo 943">
              <a:extLst>
                <a:ext uri="{FF2B5EF4-FFF2-40B4-BE49-F238E27FC236}">
                  <a16:creationId xmlns:a16="http://schemas.microsoft.com/office/drawing/2014/main" id="{D59C5E78-3DB3-E342-8994-3D42347F7275}"/>
                </a:ext>
              </a:extLst>
            </p:cNvPr>
            <p:cNvGrpSpPr/>
            <p:nvPr/>
          </p:nvGrpSpPr>
          <p:grpSpPr>
            <a:xfrm>
              <a:off x="8662162" y="7231380"/>
              <a:ext cx="1991873" cy="274320"/>
              <a:chOff x="7971246" y="6345574"/>
              <a:chExt cx="1991873" cy="274320"/>
            </a:xfrm>
          </p:grpSpPr>
          <p:pic>
            <p:nvPicPr>
              <p:cNvPr id="945" name="Imagen 944">
                <a:extLst>
                  <a:ext uri="{FF2B5EF4-FFF2-40B4-BE49-F238E27FC236}">
                    <a16:creationId xmlns:a16="http://schemas.microsoft.com/office/drawing/2014/main" id="{539B44EB-EB2B-A219-19E5-065902F01B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971246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46" name="Imagen 945">
                <a:extLst>
                  <a:ext uri="{FF2B5EF4-FFF2-40B4-BE49-F238E27FC236}">
                    <a16:creationId xmlns:a16="http://schemas.microsoft.com/office/drawing/2014/main" id="{236BEBA2-A448-9BB2-7130-AAA2560BB6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257505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47" name="Imagen 946">
                <a:extLst>
                  <a:ext uri="{FF2B5EF4-FFF2-40B4-BE49-F238E27FC236}">
                    <a16:creationId xmlns:a16="http://schemas.microsoft.com/office/drawing/2014/main" id="{CEEA3D65-EB1C-DD7C-63EA-57EEC8268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543764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48" name="Imagen 947">
                <a:extLst>
                  <a:ext uri="{FF2B5EF4-FFF2-40B4-BE49-F238E27FC236}">
                    <a16:creationId xmlns:a16="http://schemas.microsoft.com/office/drawing/2014/main" id="{E84853E1-1659-55DF-4D20-D81EF1F440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830023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49" name="Imagen 948">
                <a:extLst>
                  <a:ext uri="{FF2B5EF4-FFF2-40B4-BE49-F238E27FC236}">
                    <a16:creationId xmlns:a16="http://schemas.microsoft.com/office/drawing/2014/main" id="{927CA033-EF60-7302-DF7F-733EE01E0B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116282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50" name="Imagen 949">
                <a:extLst>
                  <a:ext uri="{FF2B5EF4-FFF2-40B4-BE49-F238E27FC236}">
                    <a16:creationId xmlns:a16="http://schemas.microsoft.com/office/drawing/2014/main" id="{676628FC-67F5-9B74-0786-6F4F908C6F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402541" y="634557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51" name="Imagen 950">
                <a:extLst>
                  <a:ext uri="{FF2B5EF4-FFF2-40B4-BE49-F238E27FC236}">
                    <a16:creationId xmlns:a16="http://schemas.microsoft.com/office/drawing/2014/main" id="{63EE660D-F65B-A59D-1FDD-CDD01878C1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688799" y="6345574"/>
                <a:ext cx="274320" cy="274320"/>
              </a:xfrm>
              <a:prstGeom prst="rect">
                <a:avLst/>
              </a:prstGeom>
            </p:spPr>
          </p:pic>
        </p:grpSp>
        <p:grpSp>
          <p:nvGrpSpPr>
            <p:cNvPr id="952" name="Grupo 951">
              <a:extLst>
                <a:ext uri="{FF2B5EF4-FFF2-40B4-BE49-F238E27FC236}">
                  <a16:creationId xmlns:a16="http://schemas.microsoft.com/office/drawing/2014/main" id="{3688AE10-8CE0-D98D-A2DE-2023E5999CE9}"/>
                </a:ext>
              </a:extLst>
            </p:cNvPr>
            <p:cNvGrpSpPr/>
            <p:nvPr/>
          </p:nvGrpSpPr>
          <p:grpSpPr>
            <a:xfrm>
              <a:off x="10644697" y="7259174"/>
              <a:ext cx="599417" cy="246221"/>
              <a:chOff x="10216838" y="6373368"/>
              <a:chExt cx="599417" cy="246221"/>
            </a:xfrm>
          </p:grpSpPr>
          <p:sp>
            <p:nvSpPr>
              <p:cNvPr id="953" name="CuadroTexto 952">
                <a:extLst>
                  <a:ext uri="{FF2B5EF4-FFF2-40B4-BE49-F238E27FC236}">
                    <a16:creationId xmlns:a16="http://schemas.microsoft.com/office/drawing/2014/main" id="{A188A0C6-5860-1ACF-88A2-04CE73D55023}"/>
                  </a:ext>
                </a:extLst>
              </p:cNvPr>
              <p:cNvSpPr txBox="1"/>
              <p:nvPr/>
            </p:nvSpPr>
            <p:spPr>
              <a:xfrm>
                <a:off x="10216838" y="6391294"/>
                <a:ext cx="365760" cy="153888"/>
              </a:xfrm>
              <a:prstGeom prst="rect">
                <a:avLst/>
              </a:prstGeom>
              <a:noFill/>
            </p:spPr>
            <p:txBody>
              <a:bodyPr wrap="square" tIns="0" bIns="0" rtlCol="0" anchor="ctr">
                <a:spAutoFit/>
              </a:bodyPr>
              <a:lstStyle/>
              <a:p>
                <a:r>
                  <a:rPr lang="en-US" sz="1000" b="1" dirty="0"/>
                  <a:t>7</a:t>
                </a:r>
                <a:r>
                  <a:rPr lang="en-US" sz="1000" b="1" baseline="30000" dirty="0"/>
                  <a:t>mo</a:t>
                </a:r>
                <a:endParaRPr lang="es-DO" sz="500" baseline="30000" dirty="0"/>
              </a:p>
            </p:txBody>
          </p:sp>
          <p:sp>
            <p:nvSpPr>
              <p:cNvPr id="954" name="CuadroTexto 953">
                <a:extLst>
                  <a:ext uri="{FF2B5EF4-FFF2-40B4-BE49-F238E27FC236}">
                    <a16:creationId xmlns:a16="http://schemas.microsoft.com/office/drawing/2014/main" id="{A822B5B1-F3A2-D373-AD5A-B39CB09852E6}"/>
                  </a:ext>
                </a:extLst>
              </p:cNvPr>
              <p:cNvSpPr txBox="1"/>
              <p:nvPr/>
            </p:nvSpPr>
            <p:spPr>
              <a:xfrm>
                <a:off x="10543360" y="6373368"/>
                <a:ext cx="272895" cy="246221"/>
              </a:xfrm>
              <a:prstGeom prst="rect">
                <a:avLst/>
              </a:prstGeom>
              <a:noFill/>
            </p:spPr>
            <p:txBody>
              <a:bodyPr wrap="square" lIns="0" rIns="0">
                <a:spAutoFit/>
              </a:bodyPr>
              <a:lstStyle/>
              <a:p>
                <a:r>
                  <a:rPr lang="en-US" sz="1000" u="sng" dirty="0"/>
                  <a:t>176</a:t>
                </a:r>
                <a:endParaRPr lang="es-DO" sz="2400" u="sng" dirty="0"/>
              </a:p>
            </p:txBody>
          </p:sp>
        </p:grpSp>
        <p:grpSp>
          <p:nvGrpSpPr>
            <p:cNvPr id="969" name="Grupo 968">
              <a:extLst>
                <a:ext uri="{FF2B5EF4-FFF2-40B4-BE49-F238E27FC236}">
                  <a16:creationId xmlns:a16="http://schemas.microsoft.com/office/drawing/2014/main" id="{18C2BE55-5309-366A-49A8-4065803AB97D}"/>
                </a:ext>
              </a:extLst>
            </p:cNvPr>
            <p:cNvGrpSpPr/>
            <p:nvPr/>
          </p:nvGrpSpPr>
          <p:grpSpPr>
            <a:xfrm>
              <a:off x="8668256" y="6396573"/>
              <a:ext cx="2231426" cy="274320"/>
              <a:chOff x="7964714" y="7134570"/>
              <a:chExt cx="2231426" cy="274320"/>
            </a:xfrm>
          </p:grpSpPr>
          <p:grpSp>
            <p:nvGrpSpPr>
              <p:cNvPr id="955" name="Grupo 954">
                <a:extLst>
                  <a:ext uri="{FF2B5EF4-FFF2-40B4-BE49-F238E27FC236}">
                    <a16:creationId xmlns:a16="http://schemas.microsoft.com/office/drawing/2014/main" id="{EA3E60B8-9E31-152C-C403-F57E27BF9EA6}"/>
                  </a:ext>
                </a:extLst>
              </p:cNvPr>
              <p:cNvGrpSpPr/>
              <p:nvPr/>
            </p:nvGrpSpPr>
            <p:grpSpPr>
              <a:xfrm>
                <a:off x="7964714" y="7134570"/>
                <a:ext cx="1420308" cy="274320"/>
                <a:chOff x="7971246" y="6345574"/>
                <a:chExt cx="1420308" cy="274320"/>
              </a:xfrm>
            </p:grpSpPr>
            <p:pic>
              <p:nvPicPr>
                <p:cNvPr id="956" name="Imagen 955">
                  <a:extLst>
                    <a:ext uri="{FF2B5EF4-FFF2-40B4-BE49-F238E27FC236}">
                      <a16:creationId xmlns:a16="http://schemas.microsoft.com/office/drawing/2014/main" id="{B67818DC-353B-77C3-6C23-3FBAC50FC3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7971246" y="6345574"/>
                  <a:ext cx="274320" cy="274320"/>
                </a:xfrm>
                <a:prstGeom prst="rect">
                  <a:avLst/>
                </a:prstGeom>
              </p:spPr>
            </p:pic>
            <p:pic>
              <p:nvPicPr>
                <p:cNvPr id="957" name="Imagen 956">
                  <a:extLst>
                    <a:ext uri="{FF2B5EF4-FFF2-40B4-BE49-F238E27FC236}">
                      <a16:creationId xmlns:a16="http://schemas.microsoft.com/office/drawing/2014/main" id="{D91805AC-5223-1F20-9E6E-B84275401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257505" y="6345574"/>
                  <a:ext cx="274320" cy="274320"/>
                </a:xfrm>
                <a:prstGeom prst="rect">
                  <a:avLst/>
                </a:prstGeom>
              </p:spPr>
            </p:pic>
            <p:pic>
              <p:nvPicPr>
                <p:cNvPr id="958" name="Imagen 957">
                  <a:extLst>
                    <a:ext uri="{FF2B5EF4-FFF2-40B4-BE49-F238E27FC236}">
                      <a16:creationId xmlns:a16="http://schemas.microsoft.com/office/drawing/2014/main" id="{78968B78-AABC-23C7-459B-5E619D6779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543764" y="6345574"/>
                  <a:ext cx="274320" cy="274320"/>
                </a:xfrm>
                <a:prstGeom prst="rect">
                  <a:avLst/>
                </a:prstGeom>
              </p:spPr>
            </p:pic>
            <p:pic>
              <p:nvPicPr>
                <p:cNvPr id="959" name="Imagen 958">
                  <a:extLst>
                    <a:ext uri="{FF2B5EF4-FFF2-40B4-BE49-F238E27FC236}">
                      <a16:creationId xmlns:a16="http://schemas.microsoft.com/office/drawing/2014/main" id="{2AB95B9E-B9F4-6693-DB47-59B728CF6B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830023" y="6345574"/>
                  <a:ext cx="274320" cy="274320"/>
                </a:xfrm>
                <a:prstGeom prst="rect">
                  <a:avLst/>
                </a:prstGeom>
              </p:spPr>
            </p:pic>
            <p:pic>
              <p:nvPicPr>
                <p:cNvPr id="962" name="Imagen 961">
                  <a:extLst>
                    <a:ext uri="{FF2B5EF4-FFF2-40B4-BE49-F238E27FC236}">
                      <a16:creationId xmlns:a16="http://schemas.microsoft.com/office/drawing/2014/main" id="{75F1B6D6-C9C1-8248-9B14-D893E7334F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9117234" y="6345574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963" name="Grupo 962">
                <a:extLst>
                  <a:ext uri="{FF2B5EF4-FFF2-40B4-BE49-F238E27FC236}">
                    <a16:creationId xmlns:a16="http://schemas.microsoft.com/office/drawing/2014/main" id="{FF4B4930-098C-0B48-F40C-C4970A9667DE}"/>
                  </a:ext>
                </a:extLst>
              </p:cNvPr>
              <p:cNvGrpSpPr/>
              <p:nvPr/>
            </p:nvGrpSpPr>
            <p:grpSpPr>
              <a:xfrm>
                <a:off x="9384515" y="7162364"/>
                <a:ext cx="811625" cy="246221"/>
                <a:chOff x="9981755" y="6373368"/>
                <a:chExt cx="811625" cy="246221"/>
              </a:xfrm>
            </p:grpSpPr>
            <p:sp>
              <p:nvSpPr>
                <p:cNvPr id="964" name="CuadroTexto 963">
                  <a:extLst>
                    <a:ext uri="{FF2B5EF4-FFF2-40B4-BE49-F238E27FC236}">
                      <a16:creationId xmlns:a16="http://schemas.microsoft.com/office/drawing/2014/main" id="{89D53360-6E6A-BD73-CF0D-0C873ADC9C8C}"/>
                    </a:ext>
                  </a:extLst>
                </p:cNvPr>
                <p:cNvSpPr txBox="1"/>
                <p:nvPr/>
              </p:nvSpPr>
              <p:spPr>
                <a:xfrm>
                  <a:off x="9981755" y="6396266"/>
                  <a:ext cx="546807" cy="153888"/>
                </a:xfrm>
                <a:prstGeom prst="rect">
                  <a:avLst/>
                </a:prstGeom>
                <a:noFill/>
              </p:spPr>
              <p:txBody>
                <a:bodyPr wrap="square" tIns="0" bIns="0" rtlCol="0" anchor="ctr">
                  <a:spAutoFit/>
                </a:bodyPr>
                <a:lstStyle/>
                <a:p>
                  <a:r>
                    <a:rPr lang="en-US" sz="1000" b="1" dirty="0"/>
                    <a:t>5</a:t>
                  </a:r>
                  <a:r>
                    <a:rPr lang="en-US" sz="1000" b="1" baseline="30000" dirty="0"/>
                    <a:t>to</a:t>
                  </a:r>
                  <a:endParaRPr lang="es-DO" sz="500" baseline="30000" dirty="0"/>
                </a:p>
              </p:txBody>
            </p:sp>
            <p:sp>
              <p:nvSpPr>
                <p:cNvPr id="965" name="CuadroTexto 964">
                  <a:extLst>
                    <a:ext uri="{FF2B5EF4-FFF2-40B4-BE49-F238E27FC236}">
                      <a16:creationId xmlns:a16="http://schemas.microsoft.com/office/drawing/2014/main" id="{0F2B44D3-A9BB-66CF-A7F5-96E9361BAEEC}"/>
                    </a:ext>
                  </a:extLst>
                </p:cNvPr>
                <p:cNvSpPr txBox="1"/>
                <p:nvPr/>
              </p:nvSpPr>
              <p:spPr>
                <a:xfrm>
                  <a:off x="10287061" y="6373368"/>
                  <a:ext cx="506319" cy="246221"/>
                </a:xfrm>
                <a:prstGeom prst="rect">
                  <a:avLst/>
                </a:prstGeom>
                <a:noFill/>
              </p:spPr>
              <p:txBody>
                <a:bodyPr wrap="square" lIns="0">
                  <a:spAutoFit/>
                </a:bodyPr>
                <a:lstStyle/>
                <a:p>
                  <a:r>
                    <a:rPr lang="en-US" sz="1000" u="sng" dirty="0"/>
                    <a:t>532</a:t>
                  </a:r>
                  <a:endParaRPr lang="es-DO" sz="2400" u="sng" dirty="0"/>
                </a:p>
              </p:txBody>
            </p:sp>
          </p:grpSp>
        </p:grpSp>
        <p:grpSp>
          <p:nvGrpSpPr>
            <p:cNvPr id="989" name="Grupo 988">
              <a:extLst>
                <a:ext uri="{FF2B5EF4-FFF2-40B4-BE49-F238E27FC236}">
                  <a16:creationId xmlns:a16="http://schemas.microsoft.com/office/drawing/2014/main" id="{5F3DC5C8-11BE-9B9C-BCA0-8EACB25CF17E}"/>
                </a:ext>
              </a:extLst>
            </p:cNvPr>
            <p:cNvGrpSpPr/>
            <p:nvPr/>
          </p:nvGrpSpPr>
          <p:grpSpPr>
            <a:xfrm>
              <a:off x="8001000" y="6425757"/>
              <a:ext cx="624586" cy="1070536"/>
              <a:chOff x="7848600" y="6425757"/>
              <a:chExt cx="624586" cy="1070536"/>
            </a:xfrm>
          </p:grpSpPr>
          <p:sp>
            <p:nvSpPr>
              <p:cNvPr id="888" name="CuadroTexto 887">
                <a:extLst>
                  <a:ext uri="{FF2B5EF4-FFF2-40B4-BE49-F238E27FC236}">
                    <a16:creationId xmlns:a16="http://schemas.microsoft.com/office/drawing/2014/main" id="{25820BC3-A537-66B8-4D66-0021E072EB5B}"/>
                  </a:ext>
                </a:extLst>
              </p:cNvPr>
              <p:cNvSpPr txBox="1"/>
              <p:nvPr/>
            </p:nvSpPr>
            <p:spPr>
              <a:xfrm>
                <a:off x="7848600" y="6425757"/>
                <a:ext cx="548387" cy="230832"/>
              </a:xfrm>
              <a:prstGeom prst="rect">
                <a:avLst/>
              </a:prstGeom>
              <a:noFill/>
            </p:spPr>
            <p:txBody>
              <a:bodyPr wrap="square" lIns="73152" rtlCol="0">
                <a:spAutoFit/>
              </a:bodyPr>
              <a:lstStyle/>
              <a:p>
                <a:r>
                  <a:rPr lang="en-US" sz="900" dirty="0"/>
                  <a:t>Joven</a:t>
                </a:r>
                <a:endParaRPr lang="es-DO" sz="900" b="1" dirty="0"/>
              </a:p>
            </p:txBody>
          </p:sp>
          <p:sp>
            <p:nvSpPr>
              <p:cNvPr id="905" name="CuadroTexto 904">
                <a:extLst>
                  <a:ext uri="{FF2B5EF4-FFF2-40B4-BE49-F238E27FC236}">
                    <a16:creationId xmlns:a16="http://schemas.microsoft.com/office/drawing/2014/main" id="{96702648-1057-9E6E-C0C3-F30817636F49}"/>
                  </a:ext>
                </a:extLst>
              </p:cNvPr>
              <p:cNvSpPr txBox="1"/>
              <p:nvPr/>
            </p:nvSpPr>
            <p:spPr>
              <a:xfrm>
                <a:off x="7848600" y="6722689"/>
                <a:ext cx="624586" cy="230832"/>
              </a:xfrm>
              <a:prstGeom prst="rect">
                <a:avLst/>
              </a:prstGeom>
              <a:noFill/>
            </p:spPr>
            <p:txBody>
              <a:bodyPr wrap="square" lIns="73152" rIns="0" rtlCol="0">
                <a:spAutoFit/>
              </a:bodyPr>
              <a:lstStyle/>
              <a:p>
                <a:r>
                  <a:rPr lang="en-US" sz="900" dirty="0" err="1"/>
                  <a:t>Masivo</a:t>
                </a:r>
                <a:endParaRPr lang="es-DO" sz="900" b="1" dirty="0"/>
              </a:p>
            </p:txBody>
          </p:sp>
          <p:sp>
            <p:nvSpPr>
              <p:cNvPr id="972" name="CuadroTexto 971">
                <a:extLst>
                  <a:ext uri="{FF2B5EF4-FFF2-40B4-BE49-F238E27FC236}">
                    <a16:creationId xmlns:a16="http://schemas.microsoft.com/office/drawing/2014/main" id="{C41D2422-6A77-FB6D-8099-5D53896FE943}"/>
                  </a:ext>
                </a:extLst>
              </p:cNvPr>
              <p:cNvSpPr txBox="1"/>
              <p:nvPr/>
            </p:nvSpPr>
            <p:spPr>
              <a:xfrm>
                <a:off x="7848600" y="6983912"/>
                <a:ext cx="624586" cy="230832"/>
              </a:xfrm>
              <a:prstGeom prst="rect">
                <a:avLst/>
              </a:prstGeom>
              <a:noFill/>
            </p:spPr>
            <p:txBody>
              <a:bodyPr wrap="square" lIns="73152" rIns="0" rtlCol="0">
                <a:spAutoFit/>
              </a:bodyPr>
              <a:lstStyle/>
              <a:p>
                <a:r>
                  <a:rPr lang="en-US" sz="900" dirty="0"/>
                  <a:t>Premium</a:t>
                </a:r>
                <a:endParaRPr lang="es-DO" sz="900" b="1" dirty="0"/>
              </a:p>
            </p:txBody>
          </p:sp>
          <p:sp>
            <p:nvSpPr>
              <p:cNvPr id="973" name="CuadroTexto 972">
                <a:extLst>
                  <a:ext uri="{FF2B5EF4-FFF2-40B4-BE49-F238E27FC236}">
                    <a16:creationId xmlns:a16="http://schemas.microsoft.com/office/drawing/2014/main" id="{46372B31-25E2-164F-2CC2-BBE66DB19436}"/>
                  </a:ext>
                </a:extLst>
              </p:cNvPr>
              <p:cNvSpPr txBox="1"/>
              <p:nvPr/>
            </p:nvSpPr>
            <p:spPr>
              <a:xfrm>
                <a:off x="7848600" y="7265461"/>
                <a:ext cx="624586" cy="230832"/>
              </a:xfrm>
              <a:prstGeom prst="rect">
                <a:avLst/>
              </a:prstGeom>
              <a:noFill/>
            </p:spPr>
            <p:txBody>
              <a:bodyPr wrap="square" lIns="73152" rIns="0" rtlCol="0">
                <a:spAutoFit/>
              </a:bodyPr>
              <a:lstStyle/>
              <a:p>
                <a:r>
                  <a:rPr lang="en-US" sz="900" dirty="0"/>
                  <a:t>Empresarial</a:t>
                </a:r>
                <a:endParaRPr lang="es-DO" sz="900" b="1" dirty="0"/>
              </a:p>
            </p:txBody>
          </p:sp>
        </p:grpSp>
      </p:grpSp>
      <p:graphicFrame>
        <p:nvGraphicFramePr>
          <p:cNvPr id="975" name="Gráfico 974">
            <a:extLst>
              <a:ext uri="{FF2B5EF4-FFF2-40B4-BE49-F238E27FC236}">
                <a16:creationId xmlns:a16="http://schemas.microsoft.com/office/drawing/2014/main" id="{3275856A-0851-228D-36D0-E7AE52D3858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8182784"/>
              </p:ext>
            </p:extLst>
          </p:nvPr>
        </p:nvGraphicFramePr>
        <p:xfrm>
          <a:off x="5561683" y="4569972"/>
          <a:ext cx="2452842" cy="1584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pSp>
        <p:nvGrpSpPr>
          <p:cNvPr id="1016" name="Grupo 1015">
            <a:extLst>
              <a:ext uri="{FF2B5EF4-FFF2-40B4-BE49-F238E27FC236}">
                <a16:creationId xmlns:a16="http://schemas.microsoft.com/office/drawing/2014/main" id="{D0D39683-42C2-867E-9E41-F1DB323D7047}"/>
              </a:ext>
            </a:extLst>
          </p:cNvPr>
          <p:cNvGrpSpPr/>
          <p:nvPr/>
        </p:nvGrpSpPr>
        <p:grpSpPr>
          <a:xfrm>
            <a:off x="3886200" y="5836199"/>
            <a:ext cx="1365510" cy="280928"/>
            <a:chOff x="3798415" y="7266858"/>
            <a:chExt cx="1365510" cy="280928"/>
          </a:xfrm>
        </p:grpSpPr>
        <p:sp>
          <p:nvSpPr>
            <p:cNvPr id="998" name="CuadroTexto 997">
              <a:extLst>
                <a:ext uri="{FF2B5EF4-FFF2-40B4-BE49-F238E27FC236}">
                  <a16:creationId xmlns:a16="http://schemas.microsoft.com/office/drawing/2014/main" id="{AC5A6861-7F15-44BA-41BF-289B2E90CAEA}"/>
                </a:ext>
              </a:extLst>
            </p:cNvPr>
            <p:cNvSpPr txBox="1"/>
            <p:nvPr/>
          </p:nvSpPr>
          <p:spPr>
            <a:xfrm>
              <a:off x="3798415" y="7266858"/>
              <a:ext cx="1365510" cy="280928"/>
            </a:xfrm>
            <a:prstGeom prst="round2DiagRect">
              <a:avLst/>
            </a:prstGeom>
            <a:solidFill>
              <a:srgbClr val="36842D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       Joven      $ 2,927</a:t>
              </a:r>
              <a:endParaRPr lang="es-DO" sz="1050" dirty="0">
                <a:solidFill>
                  <a:schemeClr val="bg1"/>
                </a:solidFill>
              </a:endParaRPr>
            </a:p>
          </p:txBody>
        </p:sp>
        <p:pic>
          <p:nvPicPr>
            <p:cNvPr id="1014" name="Imagen 1013">
              <a:extLst>
                <a:ext uri="{FF2B5EF4-FFF2-40B4-BE49-F238E27FC236}">
                  <a16:creationId xmlns:a16="http://schemas.microsoft.com/office/drawing/2014/main" id="{8AAAD10E-85C1-6197-0889-24B9F3CDE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34389" y="7298232"/>
              <a:ext cx="184860" cy="184860"/>
            </a:xfrm>
            <a:prstGeom prst="rect">
              <a:avLst/>
            </a:prstGeom>
          </p:spPr>
        </p:pic>
      </p:grpSp>
      <p:grpSp>
        <p:nvGrpSpPr>
          <p:cNvPr id="1022" name="Grupo 1021">
            <a:extLst>
              <a:ext uri="{FF2B5EF4-FFF2-40B4-BE49-F238E27FC236}">
                <a16:creationId xmlns:a16="http://schemas.microsoft.com/office/drawing/2014/main" id="{FFAB82D7-344A-D353-96C9-C516C65E397F}"/>
              </a:ext>
            </a:extLst>
          </p:cNvPr>
          <p:cNvGrpSpPr/>
          <p:nvPr/>
        </p:nvGrpSpPr>
        <p:grpSpPr>
          <a:xfrm>
            <a:off x="3738816" y="5476992"/>
            <a:ext cx="1518984" cy="280928"/>
            <a:chOff x="3646611" y="6890399"/>
            <a:chExt cx="1518984" cy="280928"/>
          </a:xfrm>
        </p:grpSpPr>
        <p:sp>
          <p:nvSpPr>
            <p:cNvPr id="997" name="CuadroTexto 996">
              <a:extLst>
                <a:ext uri="{FF2B5EF4-FFF2-40B4-BE49-F238E27FC236}">
                  <a16:creationId xmlns:a16="http://schemas.microsoft.com/office/drawing/2014/main" id="{E4D3BE45-EAB7-08AF-0696-B771F5DF3675}"/>
                </a:ext>
              </a:extLst>
            </p:cNvPr>
            <p:cNvSpPr txBox="1"/>
            <p:nvPr/>
          </p:nvSpPr>
          <p:spPr>
            <a:xfrm>
              <a:off x="3646611" y="6890399"/>
              <a:ext cx="1518984" cy="280928"/>
            </a:xfrm>
            <a:prstGeom prst="round2DiagRect">
              <a:avLst/>
            </a:prstGeom>
            <a:solidFill>
              <a:srgbClr val="36842D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        </a:t>
              </a:r>
              <a:r>
                <a:rPr lang="en-US" sz="1050" dirty="0" err="1">
                  <a:solidFill>
                    <a:schemeClr val="bg1"/>
                  </a:solidFill>
                </a:rPr>
                <a:t>Masivo</a:t>
              </a:r>
              <a:r>
                <a:rPr lang="en-US" sz="1050" dirty="0">
                  <a:solidFill>
                    <a:schemeClr val="bg1"/>
                  </a:solidFill>
                </a:rPr>
                <a:t>       $ 3,126</a:t>
              </a:r>
              <a:endParaRPr lang="es-DO" sz="1050" dirty="0">
                <a:solidFill>
                  <a:schemeClr val="bg1"/>
                </a:solidFill>
              </a:endParaRPr>
            </a:p>
          </p:txBody>
        </p:sp>
        <p:pic>
          <p:nvPicPr>
            <p:cNvPr id="1015" name="Imagen 1014">
              <a:extLst>
                <a:ext uri="{FF2B5EF4-FFF2-40B4-BE49-F238E27FC236}">
                  <a16:creationId xmlns:a16="http://schemas.microsoft.com/office/drawing/2014/main" id="{74C6AD28-8DA2-8B35-EC2C-E88A72CFD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96263" y="6927842"/>
              <a:ext cx="184860" cy="184681"/>
            </a:xfrm>
            <a:prstGeom prst="rect">
              <a:avLst/>
            </a:prstGeom>
          </p:spPr>
        </p:pic>
      </p:grpSp>
      <p:grpSp>
        <p:nvGrpSpPr>
          <p:cNvPr id="1025" name="Grupo 1024">
            <a:extLst>
              <a:ext uri="{FF2B5EF4-FFF2-40B4-BE49-F238E27FC236}">
                <a16:creationId xmlns:a16="http://schemas.microsoft.com/office/drawing/2014/main" id="{2918ED13-FF4B-43A3-3962-3609B70E0336}"/>
              </a:ext>
            </a:extLst>
          </p:cNvPr>
          <p:cNvGrpSpPr/>
          <p:nvPr/>
        </p:nvGrpSpPr>
        <p:grpSpPr>
          <a:xfrm>
            <a:off x="3574987" y="5117784"/>
            <a:ext cx="1682814" cy="280928"/>
            <a:chOff x="3499705" y="6452804"/>
            <a:chExt cx="1682814" cy="280928"/>
          </a:xfrm>
        </p:grpSpPr>
        <p:sp>
          <p:nvSpPr>
            <p:cNvPr id="996" name="CuadroTexto 995">
              <a:extLst>
                <a:ext uri="{FF2B5EF4-FFF2-40B4-BE49-F238E27FC236}">
                  <a16:creationId xmlns:a16="http://schemas.microsoft.com/office/drawing/2014/main" id="{62F8EEEE-AFF5-9762-9F56-A7EE309CEAE4}"/>
                </a:ext>
              </a:extLst>
            </p:cNvPr>
            <p:cNvSpPr txBox="1"/>
            <p:nvPr/>
          </p:nvSpPr>
          <p:spPr>
            <a:xfrm>
              <a:off x="3499705" y="6452804"/>
              <a:ext cx="1682814" cy="280928"/>
            </a:xfrm>
            <a:prstGeom prst="round2DiagRect">
              <a:avLst/>
            </a:prstGeom>
            <a:solidFill>
              <a:srgbClr val="36842D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       Premium           $ 3,130</a:t>
              </a:r>
              <a:endParaRPr lang="es-DO" sz="1050" dirty="0">
                <a:solidFill>
                  <a:schemeClr val="bg1"/>
                </a:solidFill>
              </a:endParaRPr>
            </a:p>
          </p:txBody>
        </p:sp>
        <p:pic>
          <p:nvPicPr>
            <p:cNvPr id="1020" name="Imagen 1019">
              <a:extLst>
                <a:ext uri="{FF2B5EF4-FFF2-40B4-BE49-F238E27FC236}">
                  <a16:creationId xmlns:a16="http://schemas.microsoft.com/office/drawing/2014/main" id="{87261717-C295-F78A-B7C3-973267D5D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72848" y="6488010"/>
              <a:ext cx="181371" cy="184860"/>
            </a:xfrm>
            <a:prstGeom prst="rect">
              <a:avLst/>
            </a:prstGeom>
          </p:spPr>
        </p:pic>
      </p:grpSp>
      <p:grpSp>
        <p:nvGrpSpPr>
          <p:cNvPr id="1026" name="Grupo 1025">
            <a:extLst>
              <a:ext uri="{FF2B5EF4-FFF2-40B4-BE49-F238E27FC236}">
                <a16:creationId xmlns:a16="http://schemas.microsoft.com/office/drawing/2014/main" id="{173C75E4-4006-8C63-2430-E3B3129FD23D}"/>
              </a:ext>
            </a:extLst>
          </p:cNvPr>
          <p:cNvGrpSpPr/>
          <p:nvPr/>
        </p:nvGrpSpPr>
        <p:grpSpPr>
          <a:xfrm>
            <a:off x="3493293" y="4758576"/>
            <a:ext cx="1764507" cy="280928"/>
            <a:chOff x="3418010" y="6322975"/>
            <a:chExt cx="1764507" cy="280928"/>
          </a:xfrm>
        </p:grpSpPr>
        <p:sp>
          <p:nvSpPr>
            <p:cNvPr id="995" name="CuadroTexto 994">
              <a:extLst>
                <a:ext uri="{FF2B5EF4-FFF2-40B4-BE49-F238E27FC236}">
                  <a16:creationId xmlns:a16="http://schemas.microsoft.com/office/drawing/2014/main" id="{54E49620-12E2-9E0B-EFF4-A4ADEB30EAB9}"/>
                </a:ext>
              </a:extLst>
            </p:cNvPr>
            <p:cNvSpPr txBox="1"/>
            <p:nvPr/>
          </p:nvSpPr>
          <p:spPr>
            <a:xfrm>
              <a:off x="3418010" y="6322975"/>
              <a:ext cx="1764507" cy="280928"/>
            </a:xfrm>
            <a:prstGeom prst="round2DiagRect">
              <a:avLst/>
            </a:prstGeom>
            <a:solidFill>
              <a:srgbClr val="36842D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       Empresarial        $ 3,317</a:t>
              </a:r>
              <a:endParaRPr lang="es-DO" sz="1050" dirty="0">
                <a:solidFill>
                  <a:schemeClr val="bg1"/>
                </a:solidFill>
              </a:endParaRPr>
            </a:p>
          </p:txBody>
        </p:sp>
        <p:pic>
          <p:nvPicPr>
            <p:cNvPr id="1021" name="Imagen 1020">
              <a:extLst>
                <a:ext uri="{FF2B5EF4-FFF2-40B4-BE49-F238E27FC236}">
                  <a16:creationId xmlns:a16="http://schemas.microsoft.com/office/drawing/2014/main" id="{CB9AF82F-2877-31CC-C1CA-9E540B9C3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460704" y="6353487"/>
              <a:ext cx="184860" cy="184860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F424651-D951-4CBA-EB92-5E2636CC06CB}"/>
              </a:ext>
            </a:extLst>
          </p:cNvPr>
          <p:cNvGrpSpPr/>
          <p:nvPr/>
        </p:nvGrpSpPr>
        <p:grpSpPr>
          <a:xfrm>
            <a:off x="304095" y="6921072"/>
            <a:ext cx="11049705" cy="2337228"/>
            <a:chOff x="304095" y="6921072"/>
            <a:chExt cx="11049705" cy="2337228"/>
          </a:xfrm>
        </p:grpSpPr>
        <p:grpSp>
          <p:nvGrpSpPr>
            <p:cNvPr id="1149" name="Grupo 1148">
              <a:extLst>
                <a:ext uri="{FF2B5EF4-FFF2-40B4-BE49-F238E27FC236}">
                  <a16:creationId xmlns:a16="http://schemas.microsoft.com/office/drawing/2014/main" id="{39A9109D-A6FB-366F-7B55-FEEDB426AA1E}"/>
                </a:ext>
              </a:extLst>
            </p:cNvPr>
            <p:cNvGrpSpPr/>
            <p:nvPr/>
          </p:nvGrpSpPr>
          <p:grpSpPr>
            <a:xfrm>
              <a:off x="304095" y="6921072"/>
              <a:ext cx="2890087" cy="2286000"/>
              <a:chOff x="380999" y="7217229"/>
              <a:chExt cx="2890087" cy="2286000"/>
            </a:xfrm>
          </p:grpSpPr>
          <p:grpSp>
            <p:nvGrpSpPr>
              <p:cNvPr id="853" name="Grupo 852">
                <a:extLst>
                  <a:ext uri="{FF2B5EF4-FFF2-40B4-BE49-F238E27FC236}">
                    <a16:creationId xmlns:a16="http://schemas.microsoft.com/office/drawing/2014/main" id="{F5D96C1A-D938-7FA4-3836-C370425AA04E}"/>
                  </a:ext>
                </a:extLst>
              </p:cNvPr>
              <p:cNvGrpSpPr/>
              <p:nvPr/>
            </p:nvGrpSpPr>
            <p:grpSpPr>
              <a:xfrm>
                <a:off x="380999" y="7217229"/>
                <a:ext cx="2890087" cy="2286000"/>
                <a:chOff x="441106" y="4186138"/>
                <a:chExt cx="2890087" cy="2286000"/>
              </a:xfrm>
            </p:grpSpPr>
            <p:sp>
              <p:nvSpPr>
                <p:cNvPr id="854" name="Diagrama de flujo: proceso alternativo 853">
                  <a:extLst>
                    <a:ext uri="{FF2B5EF4-FFF2-40B4-BE49-F238E27FC236}">
                      <a16:creationId xmlns:a16="http://schemas.microsoft.com/office/drawing/2014/main" id="{A80B5EDC-A181-AC6A-91A1-76A7CFE1ACD0}"/>
                    </a:ext>
                  </a:extLst>
                </p:cNvPr>
                <p:cNvSpPr/>
                <p:nvPr/>
              </p:nvSpPr>
              <p:spPr>
                <a:xfrm>
                  <a:off x="441106" y="4186138"/>
                  <a:ext cx="2890087" cy="2286000"/>
                </a:xfrm>
                <a:prstGeom prst="flowChartAlternateProcess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DO" dirty="0"/>
                </a:p>
              </p:txBody>
            </p:sp>
            <p:sp>
              <p:nvSpPr>
                <p:cNvPr id="855" name="CuadroTexto 854">
                  <a:extLst>
                    <a:ext uri="{FF2B5EF4-FFF2-40B4-BE49-F238E27FC236}">
                      <a16:creationId xmlns:a16="http://schemas.microsoft.com/office/drawing/2014/main" id="{FB066BF8-0A12-AF8B-70E2-0BCE652FE481}"/>
                    </a:ext>
                  </a:extLst>
                </p:cNvPr>
                <p:cNvSpPr txBox="1"/>
                <p:nvPr/>
              </p:nvSpPr>
              <p:spPr>
                <a:xfrm>
                  <a:off x="1050707" y="4395432"/>
                  <a:ext cx="172371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Supermercados</a:t>
                  </a:r>
                  <a:endParaRPr lang="es-DO" sz="1600" b="1" dirty="0"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  <p:grpSp>
              <p:nvGrpSpPr>
                <p:cNvPr id="856" name="Grupo 855">
                  <a:extLst>
                    <a:ext uri="{FF2B5EF4-FFF2-40B4-BE49-F238E27FC236}">
                      <a16:creationId xmlns:a16="http://schemas.microsoft.com/office/drawing/2014/main" id="{B670E1F2-D675-259E-8A38-7475CA8E1637}"/>
                    </a:ext>
                  </a:extLst>
                </p:cNvPr>
                <p:cNvGrpSpPr/>
                <p:nvPr/>
              </p:nvGrpSpPr>
              <p:grpSpPr>
                <a:xfrm>
                  <a:off x="837374" y="5888656"/>
                  <a:ext cx="2317267" cy="430887"/>
                  <a:chOff x="720384" y="5682957"/>
                  <a:chExt cx="2317267" cy="430887"/>
                </a:xfrm>
              </p:grpSpPr>
              <p:sp>
                <p:nvSpPr>
                  <p:cNvPr id="858" name="CuadroTexto 857">
                    <a:extLst>
                      <a:ext uri="{FF2B5EF4-FFF2-40B4-BE49-F238E27FC236}">
                        <a16:creationId xmlns:a16="http://schemas.microsoft.com/office/drawing/2014/main" id="{E301F2F7-7BA9-F1C8-AF41-5A5533E89665}"/>
                      </a:ext>
                    </a:extLst>
                  </p:cNvPr>
                  <p:cNvSpPr txBox="1"/>
                  <p:nvPr/>
                </p:nvSpPr>
                <p:spPr>
                  <a:xfrm>
                    <a:off x="979492" y="5682957"/>
                    <a:ext cx="2058159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Lider en </a:t>
                    </a:r>
                    <a:r>
                      <a:rPr lang="en-US" sz="1100" dirty="0" err="1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volumen</a:t>
                    </a:r>
                    <a:r>
                      <a:rPr lang="en-US" sz="11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</a:t>
                    </a:r>
                    <a:r>
                      <a:rPr lang="en-US" sz="1100" dirty="0" err="1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transaccional</a:t>
                    </a:r>
                    <a:r>
                      <a:rPr lang="en-US" sz="11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y 2</a:t>
                    </a:r>
                    <a:r>
                      <a:rPr lang="en-US" sz="1100" baseline="300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do</a:t>
                    </a:r>
                    <a:r>
                      <a:rPr lang="en-US" sz="11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</a:t>
                    </a:r>
                    <a:r>
                      <a:rPr lang="en-US" sz="1100" dirty="0" err="1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monto</a:t>
                    </a:r>
                    <a:r>
                      <a:rPr lang="en-US" sz="11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</a:t>
                    </a:r>
                    <a:r>
                      <a:rPr lang="en-US" sz="1100" dirty="0" err="1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transado</a:t>
                    </a:r>
                    <a:r>
                      <a:rPr lang="en-US" sz="110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*</a:t>
                    </a:r>
                    <a:endParaRPr lang="es-DO" sz="11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pic>
                <p:nvPicPr>
                  <p:cNvPr id="859" name="Imagen 858">
                    <a:extLst>
                      <a:ext uri="{FF2B5EF4-FFF2-40B4-BE49-F238E27FC236}">
                        <a16:creationId xmlns:a16="http://schemas.microsoft.com/office/drawing/2014/main" id="{687E38FB-E9C4-AEDB-03A6-132239A62F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0384" y="5702238"/>
                    <a:ext cx="269000" cy="2690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57" name="Imagen 856">
                  <a:extLst>
                    <a:ext uri="{FF2B5EF4-FFF2-40B4-BE49-F238E27FC236}">
                      <a16:creationId xmlns:a16="http://schemas.microsoft.com/office/drawing/2014/main" id="{265F6CA8-E818-7756-716D-2DC557B7FB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432411" y="4824488"/>
                  <a:ext cx="945521" cy="945521"/>
                </a:xfrm>
                <a:prstGeom prst="rect">
                  <a:avLst/>
                </a:prstGeom>
              </p:spPr>
            </p:pic>
          </p:grpSp>
          <p:grpSp>
            <p:nvGrpSpPr>
              <p:cNvPr id="876" name="Grupo 875">
                <a:extLst>
                  <a:ext uri="{FF2B5EF4-FFF2-40B4-BE49-F238E27FC236}">
                    <a16:creationId xmlns:a16="http://schemas.microsoft.com/office/drawing/2014/main" id="{8BF0A78C-51AC-B83B-632B-F50670681829}"/>
                  </a:ext>
                </a:extLst>
              </p:cNvPr>
              <p:cNvGrpSpPr/>
              <p:nvPr/>
            </p:nvGrpSpPr>
            <p:grpSpPr>
              <a:xfrm>
                <a:off x="2904386" y="7497057"/>
                <a:ext cx="228600" cy="444675"/>
                <a:chOff x="686504" y="4330875"/>
                <a:chExt cx="228600" cy="444675"/>
              </a:xfrm>
            </p:grpSpPr>
            <p:pic>
              <p:nvPicPr>
                <p:cNvPr id="880" name="Imagen 879">
                  <a:extLst>
                    <a:ext uri="{FF2B5EF4-FFF2-40B4-BE49-F238E27FC236}">
                      <a16:creationId xmlns:a16="http://schemas.microsoft.com/office/drawing/2014/main" id="{A941D81E-1B49-33D8-A2FA-EE20A02D26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712124" y="4580652"/>
                  <a:ext cx="194898" cy="194898"/>
                </a:xfrm>
                <a:prstGeom prst="rect">
                  <a:avLst/>
                </a:prstGeom>
              </p:spPr>
            </p:pic>
            <p:pic>
              <p:nvPicPr>
                <p:cNvPr id="878" name="Imagen 877">
                  <a:extLst>
                    <a:ext uri="{FF2B5EF4-FFF2-40B4-BE49-F238E27FC236}">
                      <a16:creationId xmlns:a16="http://schemas.microsoft.com/office/drawing/2014/main" id="{7F722465-8A14-FF8B-0DF0-885F63943F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86504" y="4330875"/>
                  <a:ext cx="228600" cy="2286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66A75360-8947-357C-7D6F-A695BC13688C}"/>
                </a:ext>
              </a:extLst>
            </p:cNvPr>
            <p:cNvGrpSpPr/>
            <p:nvPr/>
          </p:nvGrpSpPr>
          <p:grpSpPr>
            <a:xfrm>
              <a:off x="3317295" y="6972300"/>
              <a:ext cx="8036505" cy="2286000"/>
              <a:chOff x="3317295" y="6972300"/>
              <a:chExt cx="8036505" cy="2286000"/>
            </a:xfrm>
          </p:grpSpPr>
          <p:sp>
            <p:nvSpPr>
              <p:cNvPr id="761" name="Diagrama de flujo: proceso alternativo 760">
                <a:extLst>
                  <a:ext uri="{FF2B5EF4-FFF2-40B4-BE49-F238E27FC236}">
                    <a16:creationId xmlns:a16="http://schemas.microsoft.com/office/drawing/2014/main" id="{653F90B5-D4F6-5B9F-A7CB-4C7AAC93354C}"/>
                  </a:ext>
                </a:extLst>
              </p:cNvPr>
              <p:cNvSpPr/>
              <p:nvPr/>
            </p:nvSpPr>
            <p:spPr>
              <a:xfrm>
                <a:off x="3317295" y="6972300"/>
                <a:ext cx="8036505" cy="2286000"/>
              </a:xfrm>
              <a:prstGeom prst="flowChartAlternateProcess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cxnSp>
            <p:nvCxnSpPr>
              <p:cNvPr id="766" name="Conector recto 765">
                <a:extLst>
                  <a:ext uri="{FF2B5EF4-FFF2-40B4-BE49-F238E27FC236}">
                    <a16:creationId xmlns:a16="http://schemas.microsoft.com/office/drawing/2014/main" id="{1E9644E1-1917-3CC6-8371-D14BD625C6BC}"/>
                  </a:ext>
                </a:extLst>
              </p:cNvPr>
              <p:cNvCxnSpPr/>
              <p:nvPr/>
            </p:nvCxnSpPr>
            <p:spPr>
              <a:xfrm>
                <a:off x="7057312" y="7270729"/>
                <a:ext cx="0" cy="1554480"/>
              </a:xfrm>
              <a:prstGeom prst="line">
                <a:avLst/>
              </a:prstGeom>
              <a:ln w="12700">
                <a:solidFill>
                  <a:srgbClr val="B9B9B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0" name="CuadroTexto 769">
                <a:extLst>
                  <a:ext uri="{FF2B5EF4-FFF2-40B4-BE49-F238E27FC236}">
                    <a16:creationId xmlns:a16="http://schemas.microsoft.com/office/drawing/2014/main" id="{22ED5BFC-7DD0-7AE9-D687-D0C19DA9135F}"/>
                  </a:ext>
                </a:extLst>
              </p:cNvPr>
              <p:cNvSpPr txBox="1"/>
              <p:nvPr/>
            </p:nvSpPr>
            <p:spPr>
              <a:xfrm>
                <a:off x="7277710" y="8685340"/>
                <a:ext cx="405765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DO" sz="11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Top 1 transacciones totales*, </a:t>
                </a:r>
                <a:r>
                  <a:rPr lang="es-DO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representando aproximadamente 22%–25% por segmento.</a:t>
                </a:r>
                <a:endParaRPr lang="es-DO" sz="3200" dirty="0"/>
              </a:p>
            </p:txBody>
          </p:sp>
          <p:sp>
            <p:nvSpPr>
              <p:cNvPr id="1036" name="CuadroTexto 1035">
                <a:extLst>
                  <a:ext uri="{FF2B5EF4-FFF2-40B4-BE49-F238E27FC236}">
                    <a16:creationId xmlns:a16="http://schemas.microsoft.com/office/drawing/2014/main" id="{510AF38B-E96F-5B1C-9058-6177229DD270}"/>
                  </a:ext>
                </a:extLst>
              </p:cNvPr>
              <p:cNvSpPr txBox="1"/>
              <p:nvPr/>
            </p:nvSpPr>
            <p:spPr>
              <a:xfrm>
                <a:off x="3434961" y="8648700"/>
                <a:ext cx="36331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DO" sz="11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Segundo lugar en monto transado </a:t>
                </a:r>
                <a:r>
                  <a:rPr lang="es-DO" sz="11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más alto en todos los segmentos*</a:t>
                </a:r>
                <a:endParaRPr lang="es-DO" sz="1100" dirty="0"/>
              </a:p>
            </p:txBody>
          </p:sp>
          <p:grpSp>
            <p:nvGrpSpPr>
              <p:cNvPr id="1048" name="Grupo 1047">
                <a:extLst>
                  <a:ext uri="{FF2B5EF4-FFF2-40B4-BE49-F238E27FC236}">
                    <a16:creationId xmlns:a16="http://schemas.microsoft.com/office/drawing/2014/main" id="{DD93B77B-21EB-128B-4261-675B7FF7855C}"/>
                  </a:ext>
                </a:extLst>
              </p:cNvPr>
              <p:cNvGrpSpPr/>
              <p:nvPr/>
            </p:nvGrpSpPr>
            <p:grpSpPr>
              <a:xfrm>
                <a:off x="3668712" y="7530672"/>
                <a:ext cx="3160000" cy="848734"/>
                <a:chOff x="3505200" y="6428366"/>
                <a:chExt cx="3160000" cy="848734"/>
              </a:xfrm>
            </p:grpSpPr>
            <p:grpSp>
              <p:nvGrpSpPr>
                <p:cNvPr id="1046" name="Grupo 1045">
                  <a:extLst>
                    <a:ext uri="{FF2B5EF4-FFF2-40B4-BE49-F238E27FC236}">
                      <a16:creationId xmlns:a16="http://schemas.microsoft.com/office/drawing/2014/main" id="{6324DC48-0A6E-F4CB-F576-2F931C1BFB9F}"/>
                    </a:ext>
                  </a:extLst>
                </p:cNvPr>
                <p:cNvGrpSpPr/>
                <p:nvPr/>
              </p:nvGrpSpPr>
              <p:grpSpPr>
                <a:xfrm>
                  <a:off x="3505200" y="6428366"/>
                  <a:ext cx="3160000" cy="848734"/>
                  <a:chOff x="3456316" y="6326775"/>
                  <a:chExt cx="3136250" cy="848734"/>
                </a:xfrm>
              </p:grpSpPr>
              <p:pic>
                <p:nvPicPr>
                  <p:cNvPr id="1042" name="Imagen 1041">
                    <a:extLst>
                      <a:ext uri="{FF2B5EF4-FFF2-40B4-BE49-F238E27FC236}">
                        <a16:creationId xmlns:a16="http://schemas.microsoft.com/office/drawing/2014/main" id="{FC5DD2BE-EABF-45F3-7788-EAA7CDCD71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 cstate="print">
                    <a:duotone>
                      <a:schemeClr val="accent6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456316" y="6827320"/>
                    <a:ext cx="348189" cy="348189"/>
                  </a:xfrm>
                  <a:prstGeom prst="rect">
                    <a:avLst/>
                  </a:prstGeom>
                </p:spPr>
              </p:pic>
              <p:sp>
                <p:nvSpPr>
                  <p:cNvPr id="1043" name="CuadroTexto 1042">
                    <a:extLst>
                      <a:ext uri="{FF2B5EF4-FFF2-40B4-BE49-F238E27FC236}">
                        <a16:creationId xmlns:a16="http://schemas.microsoft.com/office/drawing/2014/main" id="{0F5D9012-CBBB-550E-552C-F80584D0F672}"/>
                      </a:ext>
                    </a:extLst>
                  </p:cNvPr>
                  <p:cNvSpPr txBox="1"/>
                  <p:nvPr/>
                </p:nvSpPr>
                <p:spPr>
                  <a:xfrm>
                    <a:off x="3804505" y="6855444"/>
                    <a:ext cx="2150689" cy="253916"/>
                  </a:xfrm>
                  <a:prstGeom prst="rect">
                    <a:avLst/>
                  </a:prstGeom>
                  <a:noFill/>
                </p:spPr>
                <p:txBody>
                  <a:bodyPr wrap="square" lIns="0" rtlCol="0">
                    <a:spAutoFit/>
                  </a:bodyPr>
                  <a:lstStyle/>
                  <a:p>
                    <a:r>
                      <a:rPr lang="en-US" sz="1050" b="1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Ticket </a:t>
                    </a:r>
                    <a:r>
                      <a:rPr lang="en-US" sz="1050" b="1" dirty="0" err="1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promedio</a:t>
                    </a:r>
                    <a:r>
                      <a:rPr lang="en-US" sz="1050" b="1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</a:t>
                    </a:r>
                    <a:r>
                      <a:rPr lang="en-US" sz="1050" b="1" dirty="0" err="1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relativamente</a:t>
                    </a:r>
                    <a:r>
                      <a:rPr lang="en-US" sz="1050" b="1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bajo</a:t>
                    </a:r>
                    <a:endParaRPr lang="es-DO" sz="1200" b="1" dirty="0"/>
                  </a:p>
                </p:txBody>
              </p:sp>
              <p:pic>
                <p:nvPicPr>
                  <p:cNvPr id="1044" name="Imagen 1043">
                    <a:extLst>
                      <a:ext uri="{FF2B5EF4-FFF2-40B4-BE49-F238E27FC236}">
                        <a16:creationId xmlns:a16="http://schemas.microsoft.com/office/drawing/2014/main" id="{09B0F80A-34BD-42C6-2897-49E3B438CD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3555926" y="6326775"/>
                    <a:ext cx="366359" cy="366359"/>
                  </a:xfrm>
                  <a:prstGeom prst="rect">
                    <a:avLst/>
                  </a:prstGeom>
                </p:spPr>
              </p:pic>
              <p:sp>
                <p:nvSpPr>
                  <p:cNvPr id="1045" name="CuadroTexto 1044">
                    <a:extLst>
                      <a:ext uri="{FF2B5EF4-FFF2-40B4-BE49-F238E27FC236}">
                        <a16:creationId xmlns:a16="http://schemas.microsoft.com/office/drawing/2014/main" id="{A3D33E82-F4B3-00CD-1C52-4B32F5943B8D}"/>
                      </a:ext>
                    </a:extLst>
                  </p:cNvPr>
                  <p:cNvSpPr txBox="1"/>
                  <p:nvPr/>
                </p:nvSpPr>
                <p:spPr>
                  <a:xfrm>
                    <a:off x="3911224" y="6407266"/>
                    <a:ext cx="2681342" cy="261610"/>
                  </a:xfrm>
                  <a:prstGeom prst="rect">
                    <a:avLst/>
                  </a:prstGeom>
                  <a:noFill/>
                </p:spPr>
                <p:txBody>
                  <a:bodyPr wrap="square" lIns="0" rtlCol="0">
                    <a:spAutoFit/>
                  </a:bodyPr>
                  <a:lstStyle/>
                  <a:p>
                    <a:r>
                      <a:rPr lang="en-US" sz="1100" b="1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Top 2 – Monto </a:t>
                    </a:r>
                    <a:r>
                      <a:rPr lang="en-US" sz="1100" b="1" dirty="0" err="1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transado</a:t>
                    </a:r>
                    <a:endParaRPr lang="es-DO" sz="1400" b="1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  <p:pic>
              <p:nvPicPr>
                <p:cNvPr id="1047" name="Imagen 1046">
                  <a:extLst>
                    <a:ext uri="{FF2B5EF4-FFF2-40B4-BE49-F238E27FC236}">
                      <a16:creationId xmlns:a16="http://schemas.microsoft.com/office/drawing/2014/main" id="{F6ADD708-094D-A0D1-46DC-CBDA84CACD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5944597" y="6581382"/>
                  <a:ext cx="366359" cy="366359"/>
                </a:xfrm>
                <a:prstGeom prst="rect">
                  <a:avLst/>
                </a:prstGeom>
              </p:spPr>
            </p:pic>
          </p:grpSp>
          <p:grpSp>
            <p:nvGrpSpPr>
              <p:cNvPr id="1100" name="Grupo 1099">
                <a:extLst>
                  <a:ext uri="{FF2B5EF4-FFF2-40B4-BE49-F238E27FC236}">
                    <a16:creationId xmlns:a16="http://schemas.microsoft.com/office/drawing/2014/main" id="{273A2696-39B3-0961-7140-985D927C46F1}"/>
                  </a:ext>
                </a:extLst>
              </p:cNvPr>
              <p:cNvGrpSpPr/>
              <p:nvPr/>
            </p:nvGrpSpPr>
            <p:grpSpPr>
              <a:xfrm>
                <a:off x="7364415" y="7416488"/>
                <a:ext cx="822961" cy="1078992"/>
                <a:chOff x="8090429" y="6134097"/>
                <a:chExt cx="974251" cy="1246033"/>
              </a:xfrm>
            </p:grpSpPr>
            <p:sp>
              <p:nvSpPr>
                <p:cNvPr id="1085" name="Diagrama de flujo: proceso 1084">
                  <a:extLst>
                    <a:ext uri="{FF2B5EF4-FFF2-40B4-BE49-F238E27FC236}">
                      <a16:creationId xmlns:a16="http://schemas.microsoft.com/office/drawing/2014/main" id="{377133D8-B577-D1F0-9378-756A2C5384F6}"/>
                    </a:ext>
                  </a:extLst>
                </p:cNvPr>
                <p:cNvSpPr/>
                <p:nvPr/>
              </p:nvSpPr>
              <p:spPr>
                <a:xfrm>
                  <a:off x="8090429" y="6134100"/>
                  <a:ext cx="974250" cy="1246030"/>
                </a:xfrm>
                <a:prstGeom prst="flowChartProcess">
                  <a:avLst/>
                </a:prstGeom>
                <a:solidFill>
                  <a:srgbClr val="36842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DO" dirty="0"/>
                </a:p>
              </p:txBody>
            </p:sp>
            <p:grpSp>
              <p:nvGrpSpPr>
                <p:cNvPr id="1078" name="Grupo 1077">
                  <a:extLst>
                    <a:ext uri="{FF2B5EF4-FFF2-40B4-BE49-F238E27FC236}">
                      <a16:creationId xmlns:a16="http://schemas.microsoft.com/office/drawing/2014/main" id="{A4667FC9-C89A-2FFA-C820-BF9FF3C4486D}"/>
                    </a:ext>
                  </a:extLst>
                </p:cNvPr>
                <p:cNvGrpSpPr/>
                <p:nvPr/>
              </p:nvGrpSpPr>
              <p:grpSpPr>
                <a:xfrm>
                  <a:off x="8090430" y="6134097"/>
                  <a:ext cx="974250" cy="1240569"/>
                  <a:chOff x="7027981" y="6150012"/>
                  <a:chExt cx="974250" cy="1240569"/>
                </a:xfrm>
              </p:grpSpPr>
              <p:grpSp>
                <p:nvGrpSpPr>
                  <p:cNvPr id="1079" name="Grupo 1078">
                    <a:extLst>
                      <a:ext uri="{FF2B5EF4-FFF2-40B4-BE49-F238E27FC236}">
                        <a16:creationId xmlns:a16="http://schemas.microsoft.com/office/drawing/2014/main" id="{96D83491-FAE0-56DD-B3B5-9F79CBBC4410}"/>
                      </a:ext>
                    </a:extLst>
                  </p:cNvPr>
                  <p:cNvGrpSpPr/>
                  <p:nvPr/>
                </p:nvGrpSpPr>
                <p:grpSpPr>
                  <a:xfrm>
                    <a:off x="7027981" y="6150012"/>
                    <a:ext cx="974250" cy="1024362"/>
                    <a:chOff x="3274777" y="4962181"/>
                    <a:chExt cx="974250" cy="382595"/>
                  </a:xfrm>
                </p:grpSpPr>
                <p:sp>
                  <p:nvSpPr>
                    <p:cNvPr id="1081" name="CuadroTexto 1080">
                      <a:extLst>
                        <a:ext uri="{FF2B5EF4-FFF2-40B4-BE49-F238E27FC236}">
                          <a16:creationId xmlns:a16="http://schemas.microsoft.com/office/drawing/2014/main" id="{590798AB-407B-2C3B-9AD0-44A9686784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12296" y="5218327"/>
                      <a:ext cx="763651" cy="12644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24%</a:t>
                      </a:r>
                      <a:endParaRPr lang="es-DO" sz="16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082" name="CuadroTexto 1081">
                      <a:extLst>
                        <a:ext uri="{FF2B5EF4-FFF2-40B4-BE49-F238E27FC236}">
                          <a16:creationId xmlns:a16="http://schemas.microsoft.com/office/drawing/2014/main" id="{4F87A7FF-A2A2-8B66-B32A-C0D7C67841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74777" y="4962181"/>
                      <a:ext cx="974250" cy="756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tIns="18288" bIns="18288" rtlCol="0" anchor="ctr">
                      <a:spAutoFit/>
                    </a:bodyPr>
                    <a:lstStyle/>
                    <a:p>
                      <a:pPr algn="ctr"/>
                      <a:r>
                        <a:rPr lang="en-US" sz="900" b="1" dirty="0" err="1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Masivo</a:t>
                      </a:r>
                      <a:endParaRPr lang="es-DO" sz="1200" b="1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p:txBody>
                </p:sp>
              </p:grpSp>
              <p:sp>
                <p:nvSpPr>
                  <p:cNvPr id="1080" name="CuadroTexto 1079">
                    <a:extLst>
                      <a:ext uri="{FF2B5EF4-FFF2-40B4-BE49-F238E27FC236}">
                        <a16:creationId xmlns:a16="http://schemas.microsoft.com/office/drawing/2014/main" id="{0ACACC6D-378C-0AFE-7385-1A474440B452}"/>
                      </a:ext>
                    </a:extLst>
                  </p:cNvPr>
                  <p:cNvSpPr txBox="1"/>
                  <p:nvPr/>
                </p:nvSpPr>
                <p:spPr>
                  <a:xfrm>
                    <a:off x="7252417" y="7088471"/>
                    <a:ext cx="647390" cy="302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b="1" dirty="0">
                        <a:solidFill>
                          <a:schemeClr val="bg1"/>
                        </a:solidFill>
                      </a:rPr>
                      <a:t>8,924</a:t>
                    </a:r>
                    <a:endParaRPr lang="es-DO" sz="105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92" name="Imagen 1091">
                  <a:extLst>
                    <a:ext uri="{FF2B5EF4-FFF2-40B4-BE49-F238E27FC236}">
                      <a16:creationId xmlns:a16="http://schemas.microsoft.com/office/drawing/2014/main" id="{D30CC217-90EA-518E-52EE-28496ADAE6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404193" y="6485295"/>
                  <a:ext cx="366359" cy="357377"/>
                </a:xfrm>
                <a:prstGeom prst="rect">
                  <a:avLst/>
                </a:prstGeom>
              </p:spPr>
            </p:pic>
          </p:grpSp>
          <p:grpSp>
            <p:nvGrpSpPr>
              <p:cNvPr id="1101" name="Grupo 1100">
                <a:extLst>
                  <a:ext uri="{FF2B5EF4-FFF2-40B4-BE49-F238E27FC236}">
                    <a16:creationId xmlns:a16="http://schemas.microsoft.com/office/drawing/2014/main" id="{969C4981-78FB-7F94-0A00-E4514C203E99}"/>
                  </a:ext>
                </a:extLst>
              </p:cNvPr>
              <p:cNvGrpSpPr/>
              <p:nvPr/>
            </p:nvGrpSpPr>
            <p:grpSpPr>
              <a:xfrm>
                <a:off x="8308527" y="7416488"/>
                <a:ext cx="822960" cy="1093280"/>
                <a:chOff x="8090430" y="6134097"/>
                <a:chExt cx="974250" cy="1262533"/>
              </a:xfrm>
            </p:grpSpPr>
            <p:sp>
              <p:nvSpPr>
                <p:cNvPr id="1102" name="Diagrama de flujo: proceso 1101">
                  <a:extLst>
                    <a:ext uri="{FF2B5EF4-FFF2-40B4-BE49-F238E27FC236}">
                      <a16:creationId xmlns:a16="http://schemas.microsoft.com/office/drawing/2014/main" id="{C3CB5E66-4F1E-4366-F964-38F4F57877B4}"/>
                    </a:ext>
                  </a:extLst>
                </p:cNvPr>
                <p:cNvSpPr/>
                <p:nvPr/>
              </p:nvSpPr>
              <p:spPr>
                <a:xfrm>
                  <a:off x="8090430" y="6134100"/>
                  <a:ext cx="974250" cy="1246030"/>
                </a:xfrm>
                <a:prstGeom prst="flowChartProcess">
                  <a:avLst/>
                </a:prstGeom>
                <a:solidFill>
                  <a:srgbClr val="36842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DO" dirty="0"/>
                </a:p>
              </p:txBody>
            </p:sp>
            <p:grpSp>
              <p:nvGrpSpPr>
                <p:cNvPr id="1103" name="Grupo 1102">
                  <a:extLst>
                    <a:ext uri="{FF2B5EF4-FFF2-40B4-BE49-F238E27FC236}">
                      <a16:creationId xmlns:a16="http://schemas.microsoft.com/office/drawing/2014/main" id="{CB4A134B-CD9D-DB05-9C95-81F57AFDA64B}"/>
                    </a:ext>
                  </a:extLst>
                </p:cNvPr>
                <p:cNvGrpSpPr/>
                <p:nvPr/>
              </p:nvGrpSpPr>
              <p:grpSpPr>
                <a:xfrm>
                  <a:off x="8090430" y="6134097"/>
                  <a:ext cx="974250" cy="1262533"/>
                  <a:chOff x="7027981" y="6150012"/>
                  <a:chExt cx="974250" cy="1262533"/>
                </a:xfrm>
              </p:grpSpPr>
              <p:grpSp>
                <p:nvGrpSpPr>
                  <p:cNvPr id="1105" name="Grupo 1104">
                    <a:extLst>
                      <a:ext uri="{FF2B5EF4-FFF2-40B4-BE49-F238E27FC236}">
                        <a16:creationId xmlns:a16="http://schemas.microsoft.com/office/drawing/2014/main" id="{341A220C-A89A-2797-9A06-24F7C70F8DEB}"/>
                      </a:ext>
                    </a:extLst>
                  </p:cNvPr>
                  <p:cNvGrpSpPr/>
                  <p:nvPr/>
                </p:nvGrpSpPr>
                <p:grpSpPr>
                  <a:xfrm>
                    <a:off x="7027981" y="6150012"/>
                    <a:ext cx="974250" cy="1024362"/>
                    <a:chOff x="3274777" y="4962181"/>
                    <a:chExt cx="974250" cy="382595"/>
                  </a:xfrm>
                </p:grpSpPr>
                <p:sp>
                  <p:nvSpPr>
                    <p:cNvPr id="1107" name="CuadroTexto 1106">
                      <a:extLst>
                        <a:ext uri="{FF2B5EF4-FFF2-40B4-BE49-F238E27FC236}">
                          <a16:creationId xmlns:a16="http://schemas.microsoft.com/office/drawing/2014/main" id="{9B94A0EB-F573-B8DD-E5CB-D197CD546FC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12296" y="5218327"/>
                      <a:ext cx="763651" cy="12644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25%</a:t>
                      </a:r>
                      <a:endParaRPr lang="es-DO" sz="16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08" name="CuadroTexto 1107">
                      <a:extLst>
                        <a:ext uri="{FF2B5EF4-FFF2-40B4-BE49-F238E27FC236}">
                          <a16:creationId xmlns:a16="http://schemas.microsoft.com/office/drawing/2014/main" id="{2FC4773E-EC68-3AD2-B3A8-33E043AEB2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74777" y="4962181"/>
                      <a:ext cx="974250" cy="756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tIns="18288" bIns="18288" rtlCol="0" anchor="ctr">
                      <a:spAutoFit/>
                    </a:bodyPr>
                    <a:lstStyle/>
                    <a:p>
                      <a:pPr algn="ctr"/>
                      <a:r>
                        <a:rPr lang="en-US" sz="9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Joven</a:t>
                      </a:r>
                      <a:endParaRPr lang="es-DO" sz="1200" b="1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p:txBody>
                </p:sp>
              </p:grpSp>
              <p:sp>
                <p:nvSpPr>
                  <p:cNvPr id="1106" name="CuadroTexto 1105">
                    <a:extLst>
                      <a:ext uri="{FF2B5EF4-FFF2-40B4-BE49-F238E27FC236}">
                        <a16:creationId xmlns:a16="http://schemas.microsoft.com/office/drawing/2014/main" id="{B2BF3036-1C87-8D44-81AC-639603F2B302}"/>
                      </a:ext>
                    </a:extLst>
                  </p:cNvPr>
                  <p:cNvSpPr txBox="1"/>
                  <p:nvPr/>
                </p:nvSpPr>
                <p:spPr>
                  <a:xfrm>
                    <a:off x="7189237" y="7110435"/>
                    <a:ext cx="647390" cy="302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b="1" dirty="0">
                        <a:solidFill>
                          <a:schemeClr val="bg1"/>
                        </a:solidFill>
                      </a:rPr>
                      <a:t>1,272</a:t>
                    </a:r>
                    <a:endParaRPr lang="es-DO" sz="11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104" name="Imagen 1103">
                  <a:extLst>
                    <a:ext uri="{FF2B5EF4-FFF2-40B4-BE49-F238E27FC236}">
                      <a16:creationId xmlns:a16="http://schemas.microsoft.com/office/drawing/2014/main" id="{EA8B4403-44A7-437A-F25D-7B5EDD3E95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404193" y="6480804"/>
                  <a:ext cx="366359" cy="366360"/>
                </a:xfrm>
                <a:prstGeom prst="rect">
                  <a:avLst/>
                </a:prstGeom>
              </p:spPr>
            </p:pic>
          </p:grpSp>
          <p:grpSp>
            <p:nvGrpSpPr>
              <p:cNvPr id="1109" name="Grupo 1108">
                <a:extLst>
                  <a:ext uri="{FF2B5EF4-FFF2-40B4-BE49-F238E27FC236}">
                    <a16:creationId xmlns:a16="http://schemas.microsoft.com/office/drawing/2014/main" id="{DB808D1C-243A-F4D7-5A6C-A2D53D7AE9AA}"/>
                  </a:ext>
                </a:extLst>
              </p:cNvPr>
              <p:cNvGrpSpPr/>
              <p:nvPr/>
            </p:nvGrpSpPr>
            <p:grpSpPr>
              <a:xfrm>
                <a:off x="9252638" y="7416488"/>
                <a:ext cx="822960" cy="1078992"/>
                <a:chOff x="8090430" y="6134097"/>
                <a:chExt cx="974250" cy="1246033"/>
              </a:xfrm>
            </p:grpSpPr>
            <p:sp>
              <p:nvSpPr>
                <p:cNvPr id="1110" name="Diagrama de flujo: proceso 1109">
                  <a:extLst>
                    <a:ext uri="{FF2B5EF4-FFF2-40B4-BE49-F238E27FC236}">
                      <a16:creationId xmlns:a16="http://schemas.microsoft.com/office/drawing/2014/main" id="{D4B1AC2E-63C4-4CFC-F6CA-36CAAD84B0CB}"/>
                    </a:ext>
                  </a:extLst>
                </p:cNvPr>
                <p:cNvSpPr/>
                <p:nvPr/>
              </p:nvSpPr>
              <p:spPr>
                <a:xfrm>
                  <a:off x="8090430" y="6134100"/>
                  <a:ext cx="974250" cy="1246030"/>
                </a:xfrm>
                <a:prstGeom prst="flowChartProcess">
                  <a:avLst/>
                </a:prstGeom>
                <a:solidFill>
                  <a:srgbClr val="36842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DO" dirty="0"/>
                </a:p>
              </p:txBody>
            </p:sp>
            <p:grpSp>
              <p:nvGrpSpPr>
                <p:cNvPr id="1111" name="Grupo 1110">
                  <a:extLst>
                    <a:ext uri="{FF2B5EF4-FFF2-40B4-BE49-F238E27FC236}">
                      <a16:creationId xmlns:a16="http://schemas.microsoft.com/office/drawing/2014/main" id="{1973B027-1865-1F94-9C71-D5FD4EC9A868}"/>
                    </a:ext>
                  </a:extLst>
                </p:cNvPr>
                <p:cNvGrpSpPr/>
                <p:nvPr/>
              </p:nvGrpSpPr>
              <p:grpSpPr>
                <a:xfrm>
                  <a:off x="8090430" y="6134097"/>
                  <a:ext cx="974250" cy="1242761"/>
                  <a:chOff x="7027981" y="6150012"/>
                  <a:chExt cx="974250" cy="1242761"/>
                </a:xfrm>
              </p:grpSpPr>
              <p:grpSp>
                <p:nvGrpSpPr>
                  <p:cNvPr id="1113" name="Grupo 1112">
                    <a:extLst>
                      <a:ext uri="{FF2B5EF4-FFF2-40B4-BE49-F238E27FC236}">
                        <a16:creationId xmlns:a16="http://schemas.microsoft.com/office/drawing/2014/main" id="{05AD2874-89FD-B846-0B75-080CFE4B3728}"/>
                      </a:ext>
                    </a:extLst>
                  </p:cNvPr>
                  <p:cNvGrpSpPr/>
                  <p:nvPr/>
                </p:nvGrpSpPr>
                <p:grpSpPr>
                  <a:xfrm>
                    <a:off x="7027981" y="6150012"/>
                    <a:ext cx="974250" cy="1024362"/>
                    <a:chOff x="3274777" y="4962181"/>
                    <a:chExt cx="974250" cy="382595"/>
                  </a:xfrm>
                </p:grpSpPr>
                <p:sp>
                  <p:nvSpPr>
                    <p:cNvPr id="1115" name="CuadroTexto 1114">
                      <a:extLst>
                        <a:ext uri="{FF2B5EF4-FFF2-40B4-BE49-F238E27FC236}">
                          <a16:creationId xmlns:a16="http://schemas.microsoft.com/office/drawing/2014/main" id="{753BD781-5369-A8DB-9F44-1F114C4BD9E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12296" y="5218327"/>
                      <a:ext cx="763651" cy="12644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23%</a:t>
                      </a:r>
                      <a:endParaRPr lang="es-DO" sz="16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16" name="CuadroTexto 1115">
                      <a:extLst>
                        <a:ext uri="{FF2B5EF4-FFF2-40B4-BE49-F238E27FC236}">
                          <a16:creationId xmlns:a16="http://schemas.microsoft.com/office/drawing/2014/main" id="{CA4C9DFF-FC24-EB61-DF9D-2FA2A22E2F4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74777" y="4962181"/>
                      <a:ext cx="974250" cy="756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tIns="18288" bIns="18288" rtlCol="0" anchor="ctr">
                      <a:spAutoFit/>
                    </a:bodyPr>
                    <a:lstStyle/>
                    <a:p>
                      <a:pPr algn="ctr"/>
                      <a:r>
                        <a:rPr lang="en-US" sz="9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Premium</a:t>
                      </a:r>
                      <a:endParaRPr lang="es-DO" sz="1200" b="1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p:txBody>
                </p:sp>
              </p:grpSp>
              <p:sp>
                <p:nvSpPr>
                  <p:cNvPr id="1114" name="CuadroTexto 1113">
                    <a:extLst>
                      <a:ext uri="{FF2B5EF4-FFF2-40B4-BE49-F238E27FC236}">
                        <a16:creationId xmlns:a16="http://schemas.microsoft.com/office/drawing/2014/main" id="{3CB6D211-5778-F5E9-860E-F83007E5DFF2}"/>
                      </a:ext>
                    </a:extLst>
                  </p:cNvPr>
                  <p:cNvSpPr txBox="1"/>
                  <p:nvPr/>
                </p:nvSpPr>
                <p:spPr>
                  <a:xfrm>
                    <a:off x="7299306" y="7090663"/>
                    <a:ext cx="647390" cy="302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b="1" dirty="0">
                        <a:solidFill>
                          <a:schemeClr val="bg1"/>
                        </a:solidFill>
                      </a:rPr>
                      <a:t>844</a:t>
                    </a:r>
                    <a:endParaRPr lang="es-DO" sz="105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112" name="Imagen 1111">
                  <a:extLst>
                    <a:ext uri="{FF2B5EF4-FFF2-40B4-BE49-F238E27FC236}">
                      <a16:creationId xmlns:a16="http://schemas.microsoft.com/office/drawing/2014/main" id="{F6A4A52E-80AB-D624-8EF6-F80E1DE79C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407650" y="6480804"/>
                  <a:ext cx="359446" cy="357377"/>
                </a:xfrm>
                <a:prstGeom prst="rect">
                  <a:avLst/>
                </a:prstGeom>
              </p:spPr>
            </p:pic>
          </p:grpSp>
          <p:grpSp>
            <p:nvGrpSpPr>
              <p:cNvPr id="1117" name="Grupo 1116">
                <a:extLst>
                  <a:ext uri="{FF2B5EF4-FFF2-40B4-BE49-F238E27FC236}">
                    <a16:creationId xmlns:a16="http://schemas.microsoft.com/office/drawing/2014/main" id="{9710F35E-CA86-46BC-E720-4DBC45BDA581}"/>
                  </a:ext>
                </a:extLst>
              </p:cNvPr>
              <p:cNvGrpSpPr/>
              <p:nvPr/>
            </p:nvGrpSpPr>
            <p:grpSpPr>
              <a:xfrm>
                <a:off x="10196751" y="7416488"/>
                <a:ext cx="822960" cy="1078992"/>
                <a:chOff x="8090430" y="6134097"/>
                <a:chExt cx="974250" cy="1246033"/>
              </a:xfrm>
            </p:grpSpPr>
            <p:sp>
              <p:nvSpPr>
                <p:cNvPr id="1118" name="Diagrama de flujo: proceso 1117">
                  <a:extLst>
                    <a:ext uri="{FF2B5EF4-FFF2-40B4-BE49-F238E27FC236}">
                      <a16:creationId xmlns:a16="http://schemas.microsoft.com/office/drawing/2014/main" id="{997CC273-DA32-3B28-9427-BD82B7919568}"/>
                    </a:ext>
                  </a:extLst>
                </p:cNvPr>
                <p:cNvSpPr/>
                <p:nvPr/>
              </p:nvSpPr>
              <p:spPr>
                <a:xfrm>
                  <a:off x="8090430" y="6134100"/>
                  <a:ext cx="974250" cy="1246030"/>
                </a:xfrm>
                <a:prstGeom prst="flowChartProcess">
                  <a:avLst/>
                </a:prstGeom>
                <a:solidFill>
                  <a:srgbClr val="36842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DO" dirty="0"/>
                </a:p>
              </p:txBody>
            </p:sp>
            <p:grpSp>
              <p:nvGrpSpPr>
                <p:cNvPr id="1119" name="Grupo 1118">
                  <a:extLst>
                    <a:ext uri="{FF2B5EF4-FFF2-40B4-BE49-F238E27FC236}">
                      <a16:creationId xmlns:a16="http://schemas.microsoft.com/office/drawing/2014/main" id="{61186FD2-467B-998B-3E2E-2F7521F83F12}"/>
                    </a:ext>
                  </a:extLst>
                </p:cNvPr>
                <p:cNvGrpSpPr/>
                <p:nvPr/>
              </p:nvGrpSpPr>
              <p:grpSpPr>
                <a:xfrm>
                  <a:off x="8090430" y="6134097"/>
                  <a:ext cx="974250" cy="1240569"/>
                  <a:chOff x="7027981" y="6150012"/>
                  <a:chExt cx="974250" cy="1240569"/>
                </a:xfrm>
              </p:grpSpPr>
              <p:grpSp>
                <p:nvGrpSpPr>
                  <p:cNvPr id="1121" name="Grupo 1120">
                    <a:extLst>
                      <a:ext uri="{FF2B5EF4-FFF2-40B4-BE49-F238E27FC236}">
                        <a16:creationId xmlns:a16="http://schemas.microsoft.com/office/drawing/2014/main" id="{DDF0143D-79C2-B2CB-AEC3-22BB0AF42D88}"/>
                      </a:ext>
                    </a:extLst>
                  </p:cNvPr>
                  <p:cNvGrpSpPr/>
                  <p:nvPr/>
                </p:nvGrpSpPr>
                <p:grpSpPr>
                  <a:xfrm>
                    <a:off x="7027981" y="6150012"/>
                    <a:ext cx="974250" cy="1024362"/>
                    <a:chOff x="3274777" y="4962181"/>
                    <a:chExt cx="974250" cy="382595"/>
                  </a:xfrm>
                </p:grpSpPr>
                <p:sp>
                  <p:nvSpPr>
                    <p:cNvPr id="1123" name="CuadroTexto 1122">
                      <a:extLst>
                        <a:ext uri="{FF2B5EF4-FFF2-40B4-BE49-F238E27FC236}">
                          <a16:creationId xmlns:a16="http://schemas.microsoft.com/office/drawing/2014/main" id="{D6E3F1C7-0388-D161-D809-D170E48AC9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12296" y="5218327"/>
                      <a:ext cx="763651" cy="12644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24%</a:t>
                      </a:r>
                      <a:endParaRPr lang="es-DO" sz="16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24" name="CuadroTexto 1123">
                      <a:extLst>
                        <a:ext uri="{FF2B5EF4-FFF2-40B4-BE49-F238E27FC236}">
                          <a16:creationId xmlns:a16="http://schemas.microsoft.com/office/drawing/2014/main" id="{F11E647B-341F-2ACB-308C-10D9612DE1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74777" y="4962181"/>
                      <a:ext cx="974250" cy="7566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tIns="18288" bIns="18288" rtlCol="0" anchor="ctr">
                      <a:spAutoFit/>
                    </a:bodyPr>
                    <a:lstStyle/>
                    <a:p>
                      <a:pPr algn="ctr"/>
                      <a:r>
                        <a:rPr lang="en-US" sz="900" b="1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Empresarial</a:t>
                      </a:r>
                      <a:endParaRPr lang="es-DO" sz="1050" b="1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p:txBody>
                </p:sp>
              </p:grpSp>
              <p:sp>
                <p:nvSpPr>
                  <p:cNvPr id="1122" name="CuadroTexto 1121">
                    <a:extLst>
                      <a:ext uri="{FF2B5EF4-FFF2-40B4-BE49-F238E27FC236}">
                        <a16:creationId xmlns:a16="http://schemas.microsoft.com/office/drawing/2014/main" id="{DB4D86AB-B68F-C665-CEFD-78CDFE6EDFE2}"/>
                      </a:ext>
                    </a:extLst>
                  </p:cNvPr>
                  <p:cNvSpPr txBox="1"/>
                  <p:nvPr/>
                </p:nvSpPr>
                <p:spPr>
                  <a:xfrm>
                    <a:off x="7299306" y="7088471"/>
                    <a:ext cx="647390" cy="302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b="1" dirty="0">
                        <a:solidFill>
                          <a:schemeClr val="bg1"/>
                        </a:solidFill>
                      </a:rPr>
                      <a:t>461</a:t>
                    </a:r>
                    <a:endParaRPr lang="es-DO" sz="105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120" name="Imagen 1119">
                  <a:extLst>
                    <a:ext uri="{FF2B5EF4-FFF2-40B4-BE49-F238E27FC236}">
                      <a16:creationId xmlns:a16="http://schemas.microsoft.com/office/drawing/2014/main" id="{AD36C0D4-BD95-E6A8-BC13-FB2C3268AF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404193" y="6480804"/>
                  <a:ext cx="366359" cy="357377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8CA6C3F9-36E7-019F-E13B-C700FCFB2BA1}"/>
              </a:ext>
            </a:extLst>
          </p:cNvPr>
          <p:cNvGrpSpPr/>
          <p:nvPr/>
        </p:nvGrpSpPr>
        <p:grpSpPr>
          <a:xfrm>
            <a:off x="12344400" y="1866900"/>
            <a:ext cx="5367746" cy="274216"/>
            <a:chOff x="6019800" y="3053090"/>
            <a:chExt cx="5367746" cy="274216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785E8E3F-8A3F-9AE9-74DA-AF90E9171524}"/>
                </a:ext>
              </a:extLst>
            </p:cNvPr>
            <p:cNvGrpSpPr/>
            <p:nvPr/>
          </p:nvGrpSpPr>
          <p:grpSpPr>
            <a:xfrm>
              <a:off x="6019800" y="3053090"/>
              <a:ext cx="1021080" cy="261610"/>
              <a:chOff x="6019800" y="3053090"/>
              <a:chExt cx="1021080" cy="261610"/>
            </a:xfrm>
          </p:grpSpPr>
          <p:sp>
            <p:nvSpPr>
              <p:cNvPr id="61" name="Diagrama de flujo: conector 60">
                <a:extLst>
                  <a:ext uri="{FF2B5EF4-FFF2-40B4-BE49-F238E27FC236}">
                    <a16:creationId xmlns:a16="http://schemas.microsoft.com/office/drawing/2014/main" id="{1B197639-2620-26CA-1969-92CCB2103D32}"/>
                  </a:ext>
                </a:extLst>
              </p:cNvPr>
              <p:cNvSpPr/>
              <p:nvPr/>
            </p:nvSpPr>
            <p:spPr>
              <a:xfrm>
                <a:off x="6019800" y="3086100"/>
                <a:ext cx="182880" cy="182880"/>
              </a:xfrm>
              <a:prstGeom prst="flowChartConnector">
                <a:avLst/>
              </a:prstGeom>
              <a:solidFill>
                <a:srgbClr val="1F497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29F08D41-A277-A845-980D-771F80ADEF21}"/>
                  </a:ext>
                </a:extLst>
              </p:cNvPr>
              <p:cNvSpPr txBox="1"/>
              <p:nvPr/>
            </p:nvSpPr>
            <p:spPr>
              <a:xfrm>
                <a:off x="6234793" y="3053090"/>
                <a:ext cx="806087" cy="261610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Electronica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429079A2-D841-EE72-0166-3B37CFA72D29}"/>
                </a:ext>
              </a:extLst>
            </p:cNvPr>
            <p:cNvGrpSpPr/>
            <p:nvPr/>
          </p:nvGrpSpPr>
          <p:grpSpPr>
            <a:xfrm>
              <a:off x="7010400" y="3053090"/>
              <a:ext cx="1083673" cy="253916"/>
              <a:chOff x="6019800" y="3053090"/>
              <a:chExt cx="1083673" cy="253916"/>
            </a:xfrm>
          </p:grpSpPr>
          <p:sp>
            <p:nvSpPr>
              <p:cNvPr id="59" name="Diagrama de flujo: conector 58">
                <a:extLst>
                  <a:ext uri="{FF2B5EF4-FFF2-40B4-BE49-F238E27FC236}">
                    <a16:creationId xmlns:a16="http://schemas.microsoft.com/office/drawing/2014/main" id="{89CDF8B6-9418-5186-B592-A8E8F5463F7F}"/>
                  </a:ext>
                </a:extLst>
              </p:cNvPr>
              <p:cNvSpPr/>
              <p:nvPr/>
            </p:nvSpPr>
            <p:spPr>
              <a:xfrm>
                <a:off x="6019800" y="3086100"/>
                <a:ext cx="182880" cy="182880"/>
              </a:xfrm>
              <a:prstGeom prst="flowChartConnector">
                <a:avLst/>
              </a:prstGeom>
              <a:solidFill>
                <a:srgbClr val="00639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1B4A017C-0EE4-D0A4-59A5-AA3259DF1A52}"/>
                  </a:ext>
                </a:extLst>
              </p:cNvPr>
              <p:cNvSpPr txBox="1"/>
              <p:nvPr/>
            </p:nvSpPr>
            <p:spPr>
              <a:xfrm>
                <a:off x="6234793" y="3053090"/>
                <a:ext cx="868680" cy="253916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Ecommerce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16C675EE-1DA3-51C9-EEBC-1725AAA7C567}"/>
                </a:ext>
              </a:extLst>
            </p:cNvPr>
            <p:cNvGrpSpPr/>
            <p:nvPr/>
          </p:nvGrpSpPr>
          <p:grpSpPr>
            <a:xfrm>
              <a:off x="7995013" y="3069771"/>
              <a:ext cx="1225187" cy="253916"/>
              <a:chOff x="6019800" y="3053090"/>
              <a:chExt cx="1225187" cy="253916"/>
            </a:xfrm>
          </p:grpSpPr>
          <p:sp>
            <p:nvSpPr>
              <p:cNvPr id="49" name="Diagrama de flujo: conector 48">
                <a:extLst>
                  <a:ext uri="{FF2B5EF4-FFF2-40B4-BE49-F238E27FC236}">
                    <a16:creationId xmlns:a16="http://schemas.microsoft.com/office/drawing/2014/main" id="{CA79BB6D-5447-C18B-9DE5-9C90BE6B6C39}"/>
                  </a:ext>
                </a:extLst>
              </p:cNvPr>
              <p:cNvSpPr/>
              <p:nvPr/>
            </p:nvSpPr>
            <p:spPr>
              <a:xfrm>
                <a:off x="6019800" y="3086100"/>
                <a:ext cx="182880" cy="182880"/>
              </a:xfrm>
              <a:prstGeom prst="flowChartConnector">
                <a:avLst/>
              </a:prstGeom>
              <a:solidFill>
                <a:srgbClr val="4F81B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D2B351E6-ED68-544C-3D79-F03D524E1101}"/>
                  </a:ext>
                </a:extLst>
              </p:cNvPr>
              <p:cNvSpPr txBox="1"/>
              <p:nvPr/>
            </p:nvSpPr>
            <p:spPr>
              <a:xfrm>
                <a:off x="6234793" y="3053090"/>
                <a:ext cx="1010194" cy="253916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Supermercados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CF02B59F-1F43-DEB9-DA6D-1F44D78A93C1}"/>
                </a:ext>
              </a:extLst>
            </p:cNvPr>
            <p:cNvGrpSpPr/>
            <p:nvPr/>
          </p:nvGrpSpPr>
          <p:grpSpPr>
            <a:xfrm>
              <a:off x="9220200" y="3069771"/>
              <a:ext cx="1083673" cy="253916"/>
              <a:chOff x="6019800" y="3053090"/>
              <a:chExt cx="1083673" cy="253916"/>
            </a:xfrm>
          </p:grpSpPr>
          <p:sp>
            <p:nvSpPr>
              <p:cNvPr id="47" name="Diagrama de flujo: conector 46">
                <a:extLst>
                  <a:ext uri="{FF2B5EF4-FFF2-40B4-BE49-F238E27FC236}">
                    <a16:creationId xmlns:a16="http://schemas.microsoft.com/office/drawing/2014/main" id="{ADF04B73-062A-31D6-690B-AD4D0696C21B}"/>
                  </a:ext>
                </a:extLst>
              </p:cNvPr>
              <p:cNvSpPr/>
              <p:nvPr/>
            </p:nvSpPr>
            <p:spPr>
              <a:xfrm>
                <a:off x="6019800" y="3086100"/>
                <a:ext cx="182880" cy="182880"/>
              </a:xfrm>
              <a:prstGeom prst="flowChartConnector">
                <a:avLst/>
              </a:prstGeom>
              <a:solidFill>
                <a:srgbClr val="4572A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B7D1AC8-6105-449E-B3E3-9A4F2E241349}"/>
                  </a:ext>
                </a:extLst>
              </p:cNvPr>
              <p:cNvSpPr txBox="1"/>
              <p:nvPr/>
            </p:nvSpPr>
            <p:spPr>
              <a:xfrm>
                <a:off x="6234793" y="3053090"/>
                <a:ext cx="868680" cy="253916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Restaurantes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07A29AC5-B712-3931-57F1-6ACE1543453E}"/>
                </a:ext>
              </a:extLst>
            </p:cNvPr>
            <p:cNvGrpSpPr/>
            <p:nvPr/>
          </p:nvGrpSpPr>
          <p:grpSpPr>
            <a:xfrm>
              <a:off x="10303873" y="3073390"/>
              <a:ext cx="1083673" cy="253916"/>
              <a:chOff x="6019800" y="3053090"/>
              <a:chExt cx="1083673" cy="253916"/>
            </a:xfrm>
          </p:grpSpPr>
          <p:sp>
            <p:nvSpPr>
              <p:cNvPr id="45" name="Diagrama de flujo: conector 44">
                <a:extLst>
                  <a:ext uri="{FF2B5EF4-FFF2-40B4-BE49-F238E27FC236}">
                    <a16:creationId xmlns:a16="http://schemas.microsoft.com/office/drawing/2014/main" id="{4BA97110-968E-BC58-D3A2-0123C420108D}"/>
                  </a:ext>
                </a:extLst>
              </p:cNvPr>
              <p:cNvSpPr/>
              <p:nvPr/>
            </p:nvSpPr>
            <p:spPr>
              <a:xfrm>
                <a:off x="6019800" y="3086100"/>
                <a:ext cx="182880" cy="182880"/>
              </a:xfrm>
              <a:prstGeom prst="flowChartConnector">
                <a:avLst/>
              </a:prstGeom>
              <a:solidFill>
                <a:srgbClr val="39608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1409DB37-3856-BF2E-DDCB-214978BADF96}"/>
                  </a:ext>
                </a:extLst>
              </p:cNvPr>
              <p:cNvSpPr txBox="1"/>
              <p:nvPr/>
            </p:nvSpPr>
            <p:spPr>
              <a:xfrm>
                <a:off x="6234793" y="3053090"/>
                <a:ext cx="868680" cy="253916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Farmacias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C5FEB9FD-CE61-B2BC-0440-038BFC539E9F}"/>
              </a:ext>
            </a:extLst>
          </p:cNvPr>
          <p:cNvGrpSpPr/>
          <p:nvPr/>
        </p:nvGrpSpPr>
        <p:grpSpPr>
          <a:xfrm>
            <a:off x="11576439" y="1293975"/>
            <a:ext cx="6553200" cy="7913097"/>
            <a:chOff x="11576439" y="1293975"/>
            <a:chExt cx="6553200" cy="7913097"/>
          </a:xfrm>
        </p:grpSpPr>
        <p:grpSp>
          <p:nvGrpSpPr>
            <p:cNvPr id="1142" name="Grupo 1141">
              <a:extLst>
                <a:ext uri="{FF2B5EF4-FFF2-40B4-BE49-F238E27FC236}">
                  <a16:creationId xmlns:a16="http://schemas.microsoft.com/office/drawing/2014/main" id="{743F0371-D8D3-E0CB-44CE-EDF2408A5B02}"/>
                </a:ext>
              </a:extLst>
            </p:cNvPr>
            <p:cNvGrpSpPr/>
            <p:nvPr/>
          </p:nvGrpSpPr>
          <p:grpSpPr>
            <a:xfrm>
              <a:off x="11576439" y="1293975"/>
              <a:ext cx="6553200" cy="7913097"/>
              <a:chOff x="11582400" y="1293974"/>
              <a:chExt cx="6553200" cy="8577877"/>
            </a:xfrm>
          </p:grpSpPr>
          <p:sp>
            <p:nvSpPr>
              <p:cNvPr id="55" name="Rectángulo 54">
                <a:extLst>
                  <a:ext uri="{FF2B5EF4-FFF2-40B4-BE49-F238E27FC236}">
                    <a16:creationId xmlns:a16="http://schemas.microsoft.com/office/drawing/2014/main" id="{EEA34D56-D1B1-DFDB-1A81-347D68253F5D}"/>
                  </a:ext>
                </a:extLst>
              </p:cNvPr>
              <p:cNvSpPr/>
              <p:nvPr/>
            </p:nvSpPr>
            <p:spPr>
              <a:xfrm>
                <a:off x="11582400" y="1333500"/>
                <a:ext cx="6553200" cy="85383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>
                  <a:latin typeface="Aptos" panose="020B0004020202020204" pitchFamily="34" charset="0"/>
                </a:endParaRPr>
              </a:p>
            </p:txBody>
          </p:sp>
          <p:grpSp>
            <p:nvGrpSpPr>
              <p:cNvPr id="56" name="Group 15">
                <a:extLst>
                  <a:ext uri="{FF2B5EF4-FFF2-40B4-BE49-F238E27FC236}">
                    <a16:creationId xmlns:a16="http://schemas.microsoft.com/office/drawing/2014/main" id="{D6BF5318-380F-B18B-47C8-8ED3833925F0}"/>
                  </a:ext>
                </a:extLst>
              </p:cNvPr>
              <p:cNvGrpSpPr/>
              <p:nvPr/>
            </p:nvGrpSpPr>
            <p:grpSpPr>
              <a:xfrm>
                <a:off x="11582400" y="1293974"/>
                <a:ext cx="6553199" cy="493954"/>
                <a:chOff x="-2" y="-28575"/>
                <a:chExt cx="4866538" cy="809183"/>
              </a:xfrm>
            </p:grpSpPr>
            <p:sp>
              <p:nvSpPr>
                <p:cNvPr id="57" name="Freeform 16">
                  <a:extLst>
                    <a:ext uri="{FF2B5EF4-FFF2-40B4-BE49-F238E27FC236}">
                      <a16:creationId xmlns:a16="http://schemas.microsoft.com/office/drawing/2014/main" id="{F8467056-7A63-991C-57B6-152DAE9CD5C1}"/>
                    </a:ext>
                  </a:extLst>
                </p:cNvPr>
                <p:cNvSpPr/>
                <p:nvPr/>
              </p:nvSpPr>
              <p:spPr>
                <a:xfrm>
                  <a:off x="-2" y="1"/>
                  <a:ext cx="4866538" cy="780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590" h="780608">
                      <a:moveTo>
                        <a:pt x="0" y="0"/>
                      </a:moveTo>
                      <a:lnTo>
                        <a:pt x="4741590" y="0"/>
                      </a:lnTo>
                      <a:lnTo>
                        <a:pt x="4741590" y="780608"/>
                      </a:lnTo>
                      <a:lnTo>
                        <a:pt x="0" y="780608"/>
                      </a:lnTo>
                      <a:close/>
                    </a:path>
                  </a:pathLst>
                </a:custGeom>
                <a:solidFill>
                  <a:srgbClr val="1C3F60"/>
                </a:solidFill>
              </p:spPr>
              <p:txBody>
                <a:bodyPr/>
                <a:lstStyle/>
                <a:p>
                  <a:endParaRPr lang="es-DO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58" name="TextBox 17">
                  <a:extLst>
                    <a:ext uri="{FF2B5EF4-FFF2-40B4-BE49-F238E27FC236}">
                      <a16:creationId xmlns:a16="http://schemas.microsoft.com/office/drawing/2014/main" id="{AFB71DA7-F9F5-7A8B-9750-442E49910D24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4866536" cy="770997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1" indent="0" algn="ctr">
                    <a:spcBef>
                      <a:spcPct val="0"/>
                    </a:spcBef>
                  </a:pPr>
                  <a:r>
                    <a:rPr lang="es-DO" sz="1600" b="1" u="none" strike="noStrike" spc="68" dirty="0">
                      <a:solidFill>
                        <a:srgbClr val="FFFFFF"/>
                      </a:solidFill>
                      <a:latin typeface="Segoe UI Semibold" panose="020B0702040204020203" pitchFamily="34" charset="0"/>
                      <a:ea typeface="Canva Sans"/>
                      <a:cs typeface="Segoe UI Semibold" panose="020B0702040204020203" pitchFamily="34" charset="0"/>
                      <a:sym typeface="Canva Sans"/>
                    </a:rPr>
                    <a:t>Ticket promedio</a:t>
                  </a:r>
                </a:p>
              </p:txBody>
            </p:sp>
          </p:grpSp>
        </p:grpSp>
        <p:grpSp>
          <p:nvGrpSpPr>
            <p:cNvPr id="1141" name="Grupo 1140">
              <a:extLst>
                <a:ext uri="{FF2B5EF4-FFF2-40B4-BE49-F238E27FC236}">
                  <a16:creationId xmlns:a16="http://schemas.microsoft.com/office/drawing/2014/main" id="{325F92C2-3388-4ABE-6582-CCE3775E2E2B}"/>
                </a:ext>
              </a:extLst>
            </p:cNvPr>
            <p:cNvGrpSpPr/>
            <p:nvPr/>
          </p:nvGrpSpPr>
          <p:grpSpPr>
            <a:xfrm>
              <a:off x="11789150" y="1912279"/>
              <a:ext cx="6127778" cy="6771846"/>
              <a:chOff x="11604757" y="3074669"/>
              <a:chExt cx="6127778" cy="6559574"/>
            </a:xfrm>
          </p:grpSpPr>
          <p:graphicFrame>
            <p:nvGraphicFramePr>
              <p:cNvPr id="89" name="Gráfico 88">
                <a:extLst>
                  <a:ext uri="{FF2B5EF4-FFF2-40B4-BE49-F238E27FC236}">
                    <a16:creationId xmlns:a16="http://schemas.microsoft.com/office/drawing/2014/main" id="{AF763D8F-1104-71C6-C8C4-1398B2D92A7A}"/>
                  </a:ext>
                </a:extLst>
              </p:cNvPr>
              <p:cNvGraphicFramePr>
                <a:graphicFrameLocks/>
              </p:cNvGraphicFramePr>
              <p:nvPr>
                <p:custDataLst>
                  <p:tags r:id="rId2"/>
                </p:custDataLst>
              </p:nvPr>
            </p:nvGraphicFramePr>
            <p:xfrm>
              <a:off x="11604757" y="3074669"/>
              <a:ext cx="6127778" cy="6559574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2"/>
              </a:graphicData>
            </a:graphic>
          </p:graphicFrame>
          <p:sp>
            <p:nvSpPr>
              <p:cNvPr id="103" name="Rectángulo 102">
                <a:extLst>
                  <a:ext uri="{FF2B5EF4-FFF2-40B4-BE49-F238E27FC236}">
                    <a16:creationId xmlns:a16="http://schemas.microsoft.com/office/drawing/2014/main" id="{47A24D2A-F30B-5D66-4E23-3FFD19C85E8B}"/>
                  </a:ext>
                </a:extLst>
              </p:cNvPr>
              <p:cNvSpPr/>
              <p:nvPr/>
            </p:nvSpPr>
            <p:spPr>
              <a:xfrm>
                <a:off x="12366338" y="6499849"/>
                <a:ext cx="5289997" cy="2498204"/>
              </a:xfrm>
              <a:prstGeom prst="rect">
                <a:avLst/>
              </a:prstGeom>
              <a:noFill/>
              <a:ln w="38100">
                <a:solidFill>
                  <a:srgbClr val="FFC000"/>
                </a:solidFill>
                <a:prstDash val="sysDash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9E9F418E-2809-CAFF-E002-2EC5A1595491}"/>
                </a:ext>
              </a:extLst>
            </p:cNvPr>
            <p:cNvGrpSpPr/>
            <p:nvPr/>
          </p:nvGrpSpPr>
          <p:grpSpPr>
            <a:xfrm>
              <a:off x="12816158" y="8240578"/>
              <a:ext cx="5037475" cy="584631"/>
              <a:chOff x="12816158" y="8240578"/>
              <a:chExt cx="5037475" cy="584631"/>
            </a:xfrm>
          </p:grpSpPr>
          <p:grpSp>
            <p:nvGrpSpPr>
              <p:cNvPr id="1143" name="Grupo 1142">
                <a:extLst>
                  <a:ext uri="{FF2B5EF4-FFF2-40B4-BE49-F238E27FC236}">
                    <a16:creationId xmlns:a16="http://schemas.microsoft.com/office/drawing/2014/main" id="{E6097624-C510-B97D-1ABE-FCC6979B4D1C}"/>
                  </a:ext>
                </a:extLst>
              </p:cNvPr>
              <p:cNvGrpSpPr/>
              <p:nvPr/>
            </p:nvGrpSpPr>
            <p:grpSpPr>
              <a:xfrm>
                <a:off x="13032710" y="8240578"/>
                <a:ext cx="4326038" cy="292474"/>
                <a:chOff x="12999368" y="8990143"/>
                <a:chExt cx="4326038" cy="292474"/>
              </a:xfrm>
            </p:grpSpPr>
            <p:pic>
              <p:nvPicPr>
                <p:cNvPr id="1017" name="Imagen 1016">
                  <a:extLst>
                    <a:ext uri="{FF2B5EF4-FFF2-40B4-BE49-F238E27FC236}">
                      <a16:creationId xmlns:a16="http://schemas.microsoft.com/office/drawing/2014/main" id="{E82B8FF5-1006-2D67-08FB-7616CA78B0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742568" y="8990143"/>
                  <a:ext cx="269372" cy="269372"/>
                </a:xfrm>
                <a:prstGeom prst="rect">
                  <a:avLst/>
                </a:prstGeom>
              </p:spPr>
            </p:pic>
            <p:pic>
              <p:nvPicPr>
                <p:cNvPr id="1029" name="Imagen 1028">
                  <a:extLst>
                    <a:ext uri="{FF2B5EF4-FFF2-40B4-BE49-F238E27FC236}">
                      <a16:creationId xmlns:a16="http://schemas.microsoft.com/office/drawing/2014/main" id="{D9AC4043-BEBA-8F9F-DE6F-00F2E91747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7056034" y="9013245"/>
                  <a:ext cx="269372" cy="269372"/>
                </a:xfrm>
                <a:prstGeom prst="rect">
                  <a:avLst/>
                </a:prstGeom>
                <a:noFill/>
              </p:spPr>
            </p:pic>
            <p:pic>
              <p:nvPicPr>
                <p:cNvPr id="1032" name="Imagen 1031">
                  <a:extLst>
                    <a:ext uri="{FF2B5EF4-FFF2-40B4-BE49-F238E27FC236}">
                      <a16:creationId xmlns:a16="http://schemas.microsoft.com/office/drawing/2014/main" id="{2D854CE4-A173-4852-E64A-9BAEC8FA9C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4368458" y="8990143"/>
                  <a:ext cx="269372" cy="269372"/>
                </a:xfrm>
                <a:prstGeom prst="rect">
                  <a:avLst/>
                </a:prstGeom>
              </p:spPr>
            </p:pic>
            <p:pic>
              <p:nvPicPr>
                <p:cNvPr id="1035" name="Imagen 1034">
                  <a:extLst>
                    <a:ext uri="{FF2B5EF4-FFF2-40B4-BE49-F238E27FC236}">
                      <a16:creationId xmlns:a16="http://schemas.microsoft.com/office/drawing/2014/main" id="{1077CCCD-34E4-2AC5-AF06-4DC8C10796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2999368" y="8990143"/>
                  <a:ext cx="269372" cy="269372"/>
                </a:xfrm>
                <a:prstGeom prst="rect">
                  <a:avLst/>
                </a:prstGeom>
              </p:spPr>
            </p:pic>
          </p:grpSp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BD1C497A-FB08-5BFE-4261-6DA4DF5DC8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816158" y="8516076"/>
                <a:ext cx="5037475" cy="309133"/>
              </a:xfrm>
              <a:prstGeom prst="rect">
                <a:avLst/>
              </a:prstGeom>
            </p:spPr>
          </p:pic>
        </p:grpSp>
      </p:grpSp>
      <p:pic>
        <p:nvPicPr>
          <p:cNvPr id="2" name="Imagen 1">
            <a:hlinkClick r:id="rId38" tooltip="Click para visitar perfil en gitgub"/>
            <a:extLst>
              <a:ext uri="{FF2B5EF4-FFF2-40B4-BE49-F238E27FC236}">
                <a16:creationId xmlns:a16="http://schemas.microsoft.com/office/drawing/2014/main" id="{8AE40E24-E36E-AFCD-ABF7-F386D4338E71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1622" y="1"/>
            <a:ext cx="1096379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37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9B4CB-01B4-C347-CEE2-7D7F13736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F8CEF90-A50B-A7E7-1F20-B175E2516B5D}"/>
              </a:ext>
            </a:extLst>
          </p:cNvPr>
          <p:cNvCxnSpPr>
            <a:cxnSpLocks/>
          </p:cNvCxnSpPr>
          <p:nvPr/>
        </p:nvCxnSpPr>
        <p:spPr>
          <a:xfrm>
            <a:off x="0" y="916987"/>
            <a:ext cx="18288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AF2443C-EEE7-9918-7680-5B350A0DB2F4}"/>
              </a:ext>
            </a:extLst>
          </p:cNvPr>
          <p:cNvSpPr txBox="1"/>
          <p:nvPr/>
        </p:nvSpPr>
        <p:spPr>
          <a:xfrm>
            <a:off x="304800" y="38100"/>
            <a:ext cx="3194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DO" sz="24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Recomendaciones accionables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5B2E357-0CC8-6DCB-97F9-469ED4CA603B}"/>
              </a:ext>
            </a:extLst>
          </p:cNvPr>
          <p:cNvSpPr txBox="1"/>
          <p:nvPr/>
        </p:nvSpPr>
        <p:spPr>
          <a:xfrm>
            <a:off x="3672259" y="246102"/>
            <a:ext cx="4560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DO" sz="140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¿Qué acciones priorizar por comercio y segmento?¿Dónde enfocar adquisición, retención y monetización?</a:t>
            </a:r>
            <a:endParaRPr lang="es-DO" sz="1100" i="1" dirty="0">
              <a:solidFill>
                <a:schemeClr val="tx2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644" name="Conector recto 643">
            <a:extLst>
              <a:ext uri="{FF2B5EF4-FFF2-40B4-BE49-F238E27FC236}">
                <a16:creationId xmlns:a16="http://schemas.microsoft.com/office/drawing/2014/main" id="{E4327029-846B-13EA-8258-BC1AA5B0D8AA}"/>
              </a:ext>
            </a:extLst>
          </p:cNvPr>
          <p:cNvCxnSpPr/>
          <p:nvPr/>
        </p:nvCxnSpPr>
        <p:spPr>
          <a:xfrm>
            <a:off x="3596452" y="250213"/>
            <a:ext cx="0" cy="548640"/>
          </a:xfrm>
          <a:prstGeom prst="line">
            <a:avLst/>
          </a:prstGeom>
          <a:ln w="25400">
            <a:solidFill>
              <a:srgbClr val="1C3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8103ADAC-30D9-2D6A-598C-38C93504E9DC}"/>
              </a:ext>
            </a:extLst>
          </p:cNvPr>
          <p:cNvSpPr txBox="1"/>
          <p:nvPr/>
        </p:nvSpPr>
        <p:spPr>
          <a:xfrm>
            <a:off x="5526" y="9949062"/>
            <a:ext cx="63209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DO" sz="105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*Eje X = Potencial de crecimiento / expansión</a:t>
            </a:r>
          </a:p>
        </p:txBody>
      </p:sp>
      <p:grpSp>
        <p:nvGrpSpPr>
          <p:cNvPr id="1368" name="Grupo 1367">
            <a:extLst>
              <a:ext uri="{FF2B5EF4-FFF2-40B4-BE49-F238E27FC236}">
                <a16:creationId xmlns:a16="http://schemas.microsoft.com/office/drawing/2014/main" id="{B61D87C8-FBAA-8B17-170F-C284B440C8B6}"/>
              </a:ext>
            </a:extLst>
          </p:cNvPr>
          <p:cNvGrpSpPr/>
          <p:nvPr/>
        </p:nvGrpSpPr>
        <p:grpSpPr>
          <a:xfrm>
            <a:off x="10576409" y="321436"/>
            <a:ext cx="4419600" cy="365760"/>
            <a:chOff x="12954000" y="8953500"/>
            <a:chExt cx="4419600" cy="365760"/>
          </a:xfrm>
        </p:grpSpPr>
        <p:sp>
          <p:nvSpPr>
            <p:cNvPr id="1383" name="Diagrama de flujo: conector 1382">
              <a:extLst>
                <a:ext uri="{FF2B5EF4-FFF2-40B4-BE49-F238E27FC236}">
                  <a16:creationId xmlns:a16="http://schemas.microsoft.com/office/drawing/2014/main" id="{8E76CD92-4496-2723-CB72-96DDBDA70BCC}"/>
                </a:ext>
              </a:extLst>
            </p:cNvPr>
            <p:cNvSpPr/>
            <p:nvPr/>
          </p:nvSpPr>
          <p:spPr>
            <a:xfrm>
              <a:off x="15697200" y="8953500"/>
              <a:ext cx="365760" cy="36576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/>
            </a:p>
          </p:txBody>
        </p:sp>
        <p:sp>
          <p:nvSpPr>
            <p:cNvPr id="1377" name="Diagrama de flujo: conector 1376">
              <a:extLst>
                <a:ext uri="{FF2B5EF4-FFF2-40B4-BE49-F238E27FC236}">
                  <a16:creationId xmlns:a16="http://schemas.microsoft.com/office/drawing/2014/main" id="{DF8FF5ED-C9D8-39E9-9B27-B07DB0D56961}"/>
                </a:ext>
              </a:extLst>
            </p:cNvPr>
            <p:cNvSpPr/>
            <p:nvPr/>
          </p:nvSpPr>
          <p:spPr>
            <a:xfrm>
              <a:off x="17007840" y="8953500"/>
              <a:ext cx="365760" cy="36576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/>
            </a:p>
          </p:txBody>
        </p:sp>
        <p:sp>
          <p:nvSpPr>
            <p:cNvPr id="1375" name="Diagrama de flujo: conector 1374">
              <a:extLst>
                <a:ext uri="{FF2B5EF4-FFF2-40B4-BE49-F238E27FC236}">
                  <a16:creationId xmlns:a16="http://schemas.microsoft.com/office/drawing/2014/main" id="{39E733FF-7393-F5E0-89C0-5FEC7DB71307}"/>
                </a:ext>
              </a:extLst>
            </p:cNvPr>
            <p:cNvSpPr/>
            <p:nvPr/>
          </p:nvSpPr>
          <p:spPr>
            <a:xfrm>
              <a:off x="14385658" y="8953500"/>
              <a:ext cx="365760" cy="36576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/>
            </a:p>
          </p:txBody>
        </p:sp>
        <p:sp>
          <p:nvSpPr>
            <p:cNvPr id="1373" name="Diagrama de flujo: conector 1372">
              <a:extLst>
                <a:ext uri="{FF2B5EF4-FFF2-40B4-BE49-F238E27FC236}">
                  <a16:creationId xmlns:a16="http://schemas.microsoft.com/office/drawing/2014/main" id="{87A9548E-007B-9D85-A561-8131854CBDCC}"/>
                </a:ext>
              </a:extLst>
            </p:cNvPr>
            <p:cNvSpPr/>
            <p:nvPr/>
          </p:nvSpPr>
          <p:spPr>
            <a:xfrm>
              <a:off x="12954000" y="8953500"/>
              <a:ext cx="365760" cy="36576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/>
            </a:p>
          </p:txBody>
        </p:sp>
      </p:grpSp>
      <p:sp>
        <p:nvSpPr>
          <p:cNvPr id="47" name="Rectángulo 46">
            <a:extLst>
              <a:ext uri="{FF2B5EF4-FFF2-40B4-BE49-F238E27FC236}">
                <a16:creationId xmlns:a16="http://schemas.microsoft.com/office/drawing/2014/main" id="{3EB311A0-B5EF-A77F-163F-B88293F76727}"/>
              </a:ext>
            </a:extLst>
          </p:cNvPr>
          <p:cNvSpPr/>
          <p:nvPr/>
        </p:nvSpPr>
        <p:spPr>
          <a:xfrm>
            <a:off x="106164" y="1126724"/>
            <a:ext cx="17940192" cy="8721066"/>
          </a:xfrm>
          <a:prstGeom prst="rect">
            <a:avLst/>
          </a:prstGeom>
          <a:solidFill>
            <a:srgbClr val="FBF9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>
              <a:latin typeface="Aptos" panose="020B0004020202020204" pitchFamily="34" charset="0"/>
            </a:endParaRPr>
          </a:p>
        </p:txBody>
      </p:sp>
      <p:grpSp>
        <p:nvGrpSpPr>
          <p:cNvPr id="59" name="Group 15">
            <a:extLst>
              <a:ext uri="{FF2B5EF4-FFF2-40B4-BE49-F238E27FC236}">
                <a16:creationId xmlns:a16="http://schemas.microsoft.com/office/drawing/2014/main" id="{0AA23A30-2018-399D-325F-DF4D69FF9E37}"/>
              </a:ext>
            </a:extLst>
          </p:cNvPr>
          <p:cNvGrpSpPr/>
          <p:nvPr/>
        </p:nvGrpSpPr>
        <p:grpSpPr>
          <a:xfrm>
            <a:off x="112050" y="1104900"/>
            <a:ext cx="17946078" cy="433618"/>
            <a:chOff x="-4449128" y="-175593"/>
            <a:chExt cx="9315664" cy="1063860"/>
          </a:xfrm>
        </p:grpSpPr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07138217-4162-7FCD-CC07-9D382BB011F7}"/>
                </a:ext>
              </a:extLst>
            </p:cNvPr>
            <p:cNvSpPr/>
            <p:nvPr/>
          </p:nvSpPr>
          <p:spPr>
            <a:xfrm>
              <a:off x="-4449128" y="-175593"/>
              <a:ext cx="9315664" cy="1011761"/>
            </a:xfrm>
            <a:custGeom>
              <a:avLst/>
              <a:gdLst/>
              <a:ahLst/>
              <a:cxnLst/>
              <a:rect l="l" t="t" r="r" b="b"/>
              <a:pathLst>
                <a:path w="4741590" h="780608">
                  <a:moveTo>
                    <a:pt x="0" y="0"/>
                  </a:moveTo>
                  <a:lnTo>
                    <a:pt x="4741590" y="0"/>
                  </a:lnTo>
                  <a:lnTo>
                    <a:pt x="4741590" y="780608"/>
                  </a:lnTo>
                  <a:lnTo>
                    <a:pt x="0" y="780608"/>
                  </a:lnTo>
                  <a:close/>
                </a:path>
              </a:pathLst>
            </a:custGeom>
            <a:solidFill>
              <a:srgbClr val="1C3F60"/>
            </a:solidFill>
          </p:spPr>
          <p:txBody>
            <a:bodyPr/>
            <a:lstStyle/>
            <a:p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61" name="TextBox 17">
              <a:extLst>
                <a:ext uri="{FF2B5EF4-FFF2-40B4-BE49-F238E27FC236}">
                  <a16:creationId xmlns:a16="http://schemas.microsoft.com/office/drawing/2014/main" id="{57401A93-7CF2-2F74-DCB7-57DD0ECD213C}"/>
                </a:ext>
              </a:extLst>
            </p:cNvPr>
            <p:cNvSpPr txBox="1"/>
            <p:nvPr/>
          </p:nvSpPr>
          <p:spPr>
            <a:xfrm>
              <a:off x="-4449128" y="-122049"/>
              <a:ext cx="9315664" cy="101031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/>
              <a:r>
                <a:rPr lang="es-DO" sz="16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Resumen comportamiento por comercios</a:t>
              </a:r>
            </a:p>
          </p:txBody>
        </p:sp>
      </p:grpSp>
      <p:grpSp>
        <p:nvGrpSpPr>
          <p:cNvPr id="1355" name="Grupo 1354">
            <a:extLst>
              <a:ext uri="{FF2B5EF4-FFF2-40B4-BE49-F238E27FC236}">
                <a16:creationId xmlns:a16="http://schemas.microsoft.com/office/drawing/2014/main" id="{C6F18027-CE86-486F-93CC-CF675B6EE584}"/>
              </a:ext>
            </a:extLst>
          </p:cNvPr>
          <p:cNvGrpSpPr/>
          <p:nvPr/>
        </p:nvGrpSpPr>
        <p:grpSpPr>
          <a:xfrm>
            <a:off x="228600" y="1638300"/>
            <a:ext cx="4267200" cy="3568932"/>
            <a:chOff x="1210056" y="2062749"/>
            <a:chExt cx="4352544" cy="4348487"/>
          </a:xfrm>
        </p:grpSpPr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07BA0026-4FAF-2DA2-926D-5E390A118E61}"/>
                </a:ext>
              </a:extLst>
            </p:cNvPr>
            <p:cNvSpPr/>
            <p:nvPr/>
          </p:nvSpPr>
          <p:spPr>
            <a:xfrm>
              <a:off x="1210056" y="2062749"/>
              <a:ext cx="4352544" cy="4348487"/>
            </a:xfrm>
            <a:prstGeom prst="rect">
              <a:avLst/>
            </a:prstGeom>
            <a:solidFill>
              <a:schemeClr val="bg2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/>
            </a:p>
          </p:txBody>
        </p: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50E31ED4-B264-6963-750F-7FC2ECAC7E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0232" y="3805601"/>
              <a:ext cx="3259193" cy="51526"/>
            </a:xfrm>
            <a:prstGeom prst="straightConnector1">
              <a:avLst/>
            </a:prstGeom>
            <a:ln w="19050">
              <a:noFill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F4681137-85D7-3EBC-637E-6764D9BAAD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9174" y="2725382"/>
              <a:ext cx="15381" cy="2280668"/>
            </a:xfrm>
            <a:prstGeom prst="straightConnector1">
              <a:avLst/>
            </a:prstGeom>
            <a:ln w="19050">
              <a:noFill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353" name="Grupo 1352">
              <a:extLst>
                <a:ext uri="{FF2B5EF4-FFF2-40B4-BE49-F238E27FC236}">
                  <a16:creationId xmlns:a16="http://schemas.microsoft.com/office/drawing/2014/main" id="{A75D59B3-0D5C-1A85-515F-9B04DC5D79B8}"/>
                </a:ext>
              </a:extLst>
            </p:cNvPr>
            <p:cNvGrpSpPr/>
            <p:nvPr/>
          </p:nvGrpSpPr>
          <p:grpSpPr>
            <a:xfrm>
              <a:off x="2298192" y="6048315"/>
              <a:ext cx="2098547" cy="337504"/>
              <a:chOff x="2298192" y="6048317"/>
              <a:chExt cx="2098547" cy="337504"/>
            </a:xfrm>
          </p:grpSpPr>
          <p:pic>
            <p:nvPicPr>
              <p:cNvPr id="1348" name="Imagen 1347">
                <a:extLst>
                  <a:ext uri="{FF2B5EF4-FFF2-40B4-BE49-F238E27FC236}">
                    <a16:creationId xmlns:a16="http://schemas.microsoft.com/office/drawing/2014/main" id="{606D2363-549C-C65F-FF44-4541FCD04B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98192" y="6106052"/>
                <a:ext cx="203864" cy="20386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D256C5B-03EF-4C73-FE26-23D043EEAF00}"/>
                  </a:ext>
                </a:extLst>
              </p:cNvPr>
              <p:cNvSpPr txBox="1"/>
              <p:nvPr/>
            </p:nvSpPr>
            <p:spPr>
              <a:xfrm>
                <a:off x="2453640" y="6048317"/>
                <a:ext cx="1943099" cy="337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DO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Crecimiento/expansión*</a:t>
                </a:r>
              </a:p>
            </p:txBody>
          </p:sp>
        </p:grp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AE4FD37E-FA99-DE11-CDFA-E82742A48061}"/>
                </a:ext>
              </a:extLst>
            </p:cNvPr>
            <p:cNvGrpSpPr/>
            <p:nvPr/>
          </p:nvGrpSpPr>
          <p:grpSpPr>
            <a:xfrm>
              <a:off x="1686014" y="3922958"/>
              <a:ext cx="1537600" cy="753403"/>
              <a:chOff x="6042028" y="5264925"/>
              <a:chExt cx="1617711" cy="785370"/>
            </a:xfrm>
          </p:grpSpPr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725D7888-386A-5EDA-9BA6-D30937B02F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404074" y="5264925"/>
                <a:ext cx="357024" cy="34842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3A0669E-EF5C-F2FF-7083-994981BC230D}"/>
                  </a:ext>
                </a:extLst>
              </p:cNvPr>
              <p:cNvSpPr txBox="1"/>
              <p:nvPr/>
            </p:nvSpPr>
            <p:spPr>
              <a:xfrm>
                <a:off x="6042028" y="5627102"/>
                <a:ext cx="1617711" cy="423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</a:t>
                </a:r>
                <a:r>
                  <a:rPr lang="en-US" sz="1050" b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Farmacias</a:t>
                </a:r>
                <a:endParaRPr lang="en-US" sz="1050" b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  <a:p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(</a:t>
                </a:r>
                <a:r>
                  <a:rPr lang="en-US" sz="1050" i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recurrencia</a:t>
                </a:r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)</a:t>
                </a:r>
                <a:endParaRPr lang="es-DO" sz="1100" i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354" name="Grupo 1353">
              <a:extLst>
                <a:ext uri="{FF2B5EF4-FFF2-40B4-BE49-F238E27FC236}">
                  <a16:creationId xmlns:a16="http://schemas.microsoft.com/office/drawing/2014/main" id="{FFAEE13D-D0BF-0527-FCE8-304A9627DD0E}"/>
                </a:ext>
              </a:extLst>
            </p:cNvPr>
            <p:cNvGrpSpPr/>
            <p:nvPr/>
          </p:nvGrpSpPr>
          <p:grpSpPr>
            <a:xfrm>
              <a:off x="2200657" y="2095500"/>
              <a:ext cx="2341263" cy="337503"/>
              <a:chOff x="2200657" y="2095500"/>
              <a:chExt cx="2341263" cy="337503"/>
            </a:xfrm>
          </p:grpSpPr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7DB671C-A54B-D28B-2410-634CCE4A5521}"/>
                  </a:ext>
                </a:extLst>
              </p:cNvPr>
              <p:cNvSpPr txBox="1"/>
              <p:nvPr/>
            </p:nvSpPr>
            <p:spPr>
              <a:xfrm>
                <a:off x="2332913" y="2095500"/>
                <a:ext cx="2209007" cy="337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Potencial</a:t>
                </a:r>
                <a:r>
                  <a:rPr lang="en-US" sz="12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de </a:t>
                </a:r>
                <a:r>
                  <a:rPr lang="en-US" sz="1200" b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monetización</a:t>
                </a:r>
                <a:endParaRPr lang="es-DO" sz="1200" b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3A122F73-4352-EEE8-1DC6-AB8EAD8542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00657" y="2096726"/>
                <a:ext cx="331169" cy="334239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2FDF1C2E-60D3-8DEC-B9B4-E8E836B77AD7}"/>
                </a:ext>
              </a:extLst>
            </p:cNvPr>
            <p:cNvSpPr txBox="1"/>
            <p:nvPr/>
          </p:nvSpPr>
          <p:spPr>
            <a:xfrm>
              <a:off x="1758441" y="3218773"/>
              <a:ext cx="1537600" cy="4059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  Ecommerce</a:t>
              </a:r>
            </a:p>
            <a:p>
              <a:r>
                <a:rPr lang="en-US" sz="105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   (alto ticket)</a:t>
              </a:r>
              <a:endParaRPr lang="es-DO" sz="1100" i="1" dirty="0"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D461E21A-BF9E-6EE2-D5D6-C367535FEBEA}"/>
                </a:ext>
              </a:extLst>
            </p:cNvPr>
            <p:cNvGrpSpPr/>
            <p:nvPr/>
          </p:nvGrpSpPr>
          <p:grpSpPr>
            <a:xfrm>
              <a:off x="3151189" y="2826484"/>
              <a:ext cx="2022792" cy="925641"/>
              <a:chOff x="5373739" y="5028630"/>
              <a:chExt cx="2128181" cy="964916"/>
            </a:xfrm>
          </p:grpSpPr>
          <p:pic>
            <p:nvPicPr>
              <p:cNvPr id="29" name="Imagen 28">
                <a:extLst>
                  <a:ext uri="{FF2B5EF4-FFF2-40B4-BE49-F238E27FC236}">
                    <a16:creationId xmlns:a16="http://schemas.microsoft.com/office/drawing/2014/main" id="{A14ED388-83BC-AD56-623A-64F415FDE5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059047" y="5028630"/>
                <a:ext cx="464562" cy="46456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006C446A-E175-C8DE-0538-8DC1FDEA9E07}"/>
                  </a:ext>
                </a:extLst>
              </p:cNvPr>
              <p:cNvSpPr txBox="1"/>
              <p:nvPr/>
            </p:nvSpPr>
            <p:spPr>
              <a:xfrm>
                <a:off x="5373739" y="5465811"/>
                <a:ext cx="2128181" cy="5277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       Electronica</a:t>
                </a:r>
              </a:p>
              <a:p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(alto ticket + </a:t>
                </a:r>
                <a:r>
                  <a:rPr lang="en-US" sz="1050" i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crecimiento</a:t>
                </a:r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)</a:t>
                </a:r>
                <a:endParaRPr lang="es-DO" sz="1100" i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BAB990AE-2604-7906-432A-612271D34718}"/>
                </a:ext>
              </a:extLst>
            </p:cNvPr>
            <p:cNvSpPr txBox="1"/>
            <p:nvPr/>
          </p:nvSpPr>
          <p:spPr>
            <a:xfrm>
              <a:off x="2838486" y="5789360"/>
              <a:ext cx="801376" cy="2657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DO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bajo</a:t>
              </a: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0F8FBF8B-C502-3072-8DD7-FDE663A3057B}"/>
                </a:ext>
              </a:extLst>
            </p:cNvPr>
            <p:cNvSpPr txBox="1"/>
            <p:nvPr/>
          </p:nvSpPr>
          <p:spPr>
            <a:xfrm>
              <a:off x="2853867" y="2387895"/>
              <a:ext cx="801376" cy="265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DO" sz="1200" i="1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alto</a:t>
              </a:r>
            </a:p>
          </p:txBody>
        </p: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13E3410A-FDB5-0A50-E919-36A6E18F550F}"/>
                </a:ext>
              </a:extLst>
            </p:cNvPr>
            <p:cNvGrpSpPr/>
            <p:nvPr/>
          </p:nvGrpSpPr>
          <p:grpSpPr>
            <a:xfrm>
              <a:off x="2668616" y="4950822"/>
              <a:ext cx="1537600" cy="884970"/>
              <a:chOff x="5533844" y="5150476"/>
              <a:chExt cx="1617711" cy="922519"/>
            </a:xfrm>
          </p:grpSpPr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2A7C66F0-04ED-1177-AEDD-EEB2EF649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923374" y="5150476"/>
                <a:ext cx="432586" cy="46456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5DCCC2D-C973-4F96-E41D-538D45719483}"/>
                  </a:ext>
                </a:extLst>
              </p:cNvPr>
              <p:cNvSpPr txBox="1"/>
              <p:nvPr/>
            </p:nvSpPr>
            <p:spPr>
              <a:xfrm>
                <a:off x="5533844" y="5649802"/>
                <a:ext cx="1617711" cy="423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Supermercados</a:t>
                </a:r>
              </a:p>
              <a:p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(</a:t>
                </a:r>
                <a:r>
                  <a:rPr lang="en-US" sz="1050" i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retención</a:t>
                </a:r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/</a:t>
                </a:r>
                <a:r>
                  <a:rPr lang="en-US" sz="1050" i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volumen</a:t>
                </a:r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)</a:t>
                </a:r>
                <a:endParaRPr lang="es-DO" sz="1100" i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BBEB975B-FBAD-9FE3-24E5-A3F57B9078D7}"/>
                </a:ext>
              </a:extLst>
            </p:cNvPr>
            <p:cNvGrpSpPr/>
            <p:nvPr/>
          </p:nvGrpSpPr>
          <p:grpSpPr>
            <a:xfrm>
              <a:off x="3223615" y="3849861"/>
              <a:ext cx="1998870" cy="769167"/>
              <a:chOff x="5315050" y="5158858"/>
              <a:chExt cx="2103013" cy="801803"/>
            </a:xfrm>
          </p:grpSpPr>
          <p:pic>
            <p:nvPicPr>
              <p:cNvPr id="20" name="Imagen 19">
                <a:extLst>
                  <a:ext uri="{FF2B5EF4-FFF2-40B4-BE49-F238E27FC236}">
                    <a16:creationId xmlns:a16="http://schemas.microsoft.com/office/drawing/2014/main" id="{FB6E35EA-1CFE-2C49-4D1F-F3CCEFEA35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924159" y="5158858"/>
                <a:ext cx="345494" cy="34842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CBB3BA9-EECC-AB96-45BC-C45E0CAB5C72}"/>
                  </a:ext>
                </a:extLst>
              </p:cNvPr>
              <p:cNvSpPr txBox="1"/>
              <p:nvPr/>
            </p:nvSpPr>
            <p:spPr>
              <a:xfrm>
                <a:off x="5315050" y="5527533"/>
                <a:ext cx="2103013" cy="433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    </a:t>
                </a:r>
                <a:r>
                  <a:rPr lang="en-US" sz="1050" b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Restaurantes</a:t>
                </a:r>
                <a:endParaRPr lang="en-US" sz="1050" b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  <a:p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(expansion de </a:t>
                </a:r>
                <a:r>
                  <a:rPr lang="en-US" sz="1050" i="1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clientes</a:t>
                </a:r>
                <a:r>
                  <a:rPr lang="en-US" sz="1050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)</a:t>
                </a:r>
                <a:endParaRPr lang="es-DO" sz="1100" i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pic>
          <p:nvPicPr>
            <p:cNvPr id="1349" name="Imagen 1348">
              <a:extLst>
                <a:ext uri="{FF2B5EF4-FFF2-40B4-BE49-F238E27FC236}">
                  <a16:creationId xmlns:a16="http://schemas.microsoft.com/office/drawing/2014/main" id="{DFEB41C8-AB1B-BC6E-951E-8A48C0141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55460" y="2892821"/>
              <a:ext cx="334240" cy="334239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350" name="Conector recto de flecha 1349">
              <a:extLst>
                <a:ext uri="{FF2B5EF4-FFF2-40B4-BE49-F238E27FC236}">
                  <a16:creationId xmlns:a16="http://schemas.microsoft.com/office/drawing/2014/main" id="{93DB0E53-153F-1F41-D94C-1E07BA54A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3807" y="3713555"/>
              <a:ext cx="3259193" cy="51526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1" name="Conector recto de flecha 1350">
              <a:extLst>
                <a:ext uri="{FF2B5EF4-FFF2-40B4-BE49-F238E27FC236}">
                  <a16:creationId xmlns:a16="http://schemas.microsoft.com/office/drawing/2014/main" id="{532815FC-A510-75C8-42B2-307CA60E3D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9175" y="2633335"/>
              <a:ext cx="15381" cy="2280669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17" name="Grupo 1716">
            <a:extLst>
              <a:ext uri="{FF2B5EF4-FFF2-40B4-BE49-F238E27FC236}">
                <a16:creationId xmlns:a16="http://schemas.microsoft.com/office/drawing/2014/main" id="{8CD020A9-EC78-419D-91D4-DE8CFCA34890}"/>
              </a:ext>
            </a:extLst>
          </p:cNvPr>
          <p:cNvGrpSpPr/>
          <p:nvPr/>
        </p:nvGrpSpPr>
        <p:grpSpPr>
          <a:xfrm>
            <a:off x="4732722" y="2996546"/>
            <a:ext cx="13110929" cy="2194560"/>
            <a:chOff x="4732722" y="3072746"/>
            <a:chExt cx="13110929" cy="2194560"/>
          </a:xfrm>
        </p:grpSpPr>
        <p:sp>
          <p:nvSpPr>
            <p:cNvPr id="1716" name="Rectángulo 1715">
              <a:extLst>
                <a:ext uri="{FF2B5EF4-FFF2-40B4-BE49-F238E27FC236}">
                  <a16:creationId xmlns:a16="http://schemas.microsoft.com/office/drawing/2014/main" id="{503947EE-49B1-B29F-4AA8-CB05F224A282}"/>
                </a:ext>
              </a:extLst>
            </p:cNvPr>
            <p:cNvSpPr/>
            <p:nvPr/>
          </p:nvSpPr>
          <p:spPr>
            <a:xfrm>
              <a:off x="4735545" y="3072746"/>
              <a:ext cx="13106749" cy="2194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>
                <a:latin typeface="Aptos" panose="020B0004020202020204" pitchFamily="34" charset="0"/>
              </a:endParaRPr>
            </a:p>
          </p:txBody>
        </p:sp>
        <p:sp>
          <p:nvSpPr>
            <p:cNvPr id="1358" name="Freeform 16">
              <a:extLst>
                <a:ext uri="{FF2B5EF4-FFF2-40B4-BE49-F238E27FC236}">
                  <a16:creationId xmlns:a16="http://schemas.microsoft.com/office/drawing/2014/main" id="{0868645A-8BB0-FB07-1DB5-82EAC03A13C7}"/>
                </a:ext>
              </a:extLst>
            </p:cNvPr>
            <p:cNvSpPr/>
            <p:nvPr/>
          </p:nvSpPr>
          <p:spPr>
            <a:xfrm>
              <a:off x="4732722" y="3075432"/>
              <a:ext cx="13110929" cy="274320"/>
            </a:xfrm>
            <a:custGeom>
              <a:avLst/>
              <a:gdLst/>
              <a:ahLst/>
              <a:cxnLst/>
              <a:rect l="l" t="t" r="r" b="b"/>
              <a:pathLst>
                <a:path w="4741590" h="780608">
                  <a:moveTo>
                    <a:pt x="0" y="0"/>
                  </a:moveTo>
                  <a:lnTo>
                    <a:pt x="4741590" y="0"/>
                  </a:lnTo>
                  <a:lnTo>
                    <a:pt x="4741590" y="780608"/>
                  </a:lnTo>
                  <a:lnTo>
                    <a:pt x="0" y="780608"/>
                  </a:lnTo>
                  <a:close/>
                </a:path>
              </a:pathLst>
            </a:custGeom>
            <a:solidFill>
              <a:srgbClr val="1F497D"/>
            </a:solidFill>
          </p:spPr>
          <p:txBody>
            <a:bodyPr anchor="ctr"/>
            <a:lstStyle/>
            <a:p>
              <a:pPr algn="ctr"/>
              <a:r>
                <a:rPr lang="es-DO" sz="12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Estrategias por segmento</a:t>
              </a:r>
            </a:p>
          </p:txBody>
        </p:sp>
      </p:grpSp>
      <p:grpSp>
        <p:nvGrpSpPr>
          <p:cNvPr id="1599" name="Grupo 1598">
            <a:extLst>
              <a:ext uri="{FF2B5EF4-FFF2-40B4-BE49-F238E27FC236}">
                <a16:creationId xmlns:a16="http://schemas.microsoft.com/office/drawing/2014/main" id="{999F7D01-9AB1-AE5A-E175-1A5808647507}"/>
              </a:ext>
            </a:extLst>
          </p:cNvPr>
          <p:cNvGrpSpPr/>
          <p:nvPr/>
        </p:nvGrpSpPr>
        <p:grpSpPr>
          <a:xfrm>
            <a:off x="15015754" y="9902103"/>
            <a:ext cx="2738846" cy="270597"/>
            <a:chOff x="6019800" y="3053090"/>
            <a:chExt cx="2738846" cy="270597"/>
          </a:xfrm>
        </p:grpSpPr>
        <p:grpSp>
          <p:nvGrpSpPr>
            <p:cNvPr id="1600" name="Grupo 1599">
              <a:extLst>
                <a:ext uri="{FF2B5EF4-FFF2-40B4-BE49-F238E27FC236}">
                  <a16:creationId xmlns:a16="http://schemas.microsoft.com/office/drawing/2014/main" id="{BFD8F1FE-5C94-4AAE-C171-F51368BA3556}"/>
                </a:ext>
              </a:extLst>
            </p:cNvPr>
            <p:cNvGrpSpPr/>
            <p:nvPr/>
          </p:nvGrpSpPr>
          <p:grpSpPr>
            <a:xfrm>
              <a:off x="6019800" y="3053090"/>
              <a:ext cx="1021080" cy="261610"/>
              <a:chOff x="6019800" y="3053090"/>
              <a:chExt cx="1021080" cy="261610"/>
            </a:xfrm>
          </p:grpSpPr>
          <p:sp>
            <p:nvSpPr>
              <p:cNvPr id="1610" name="Diagrama de flujo: conector 1609">
                <a:extLst>
                  <a:ext uri="{FF2B5EF4-FFF2-40B4-BE49-F238E27FC236}">
                    <a16:creationId xmlns:a16="http://schemas.microsoft.com/office/drawing/2014/main" id="{EDB83B17-4BDE-37ED-6085-D0CCE4147526}"/>
                  </a:ext>
                </a:extLst>
              </p:cNvPr>
              <p:cNvSpPr/>
              <p:nvPr/>
            </p:nvSpPr>
            <p:spPr>
              <a:xfrm>
                <a:off x="6019800" y="3086100"/>
                <a:ext cx="182880" cy="182880"/>
              </a:xfrm>
              <a:prstGeom prst="flowChartConnector">
                <a:avLst/>
              </a:prstGeom>
              <a:solidFill>
                <a:srgbClr val="D42B2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1611" name="CuadroTexto 1610">
                <a:extLst>
                  <a:ext uri="{FF2B5EF4-FFF2-40B4-BE49-F238E27FC236}">
                    <a16:creationId xmlns:a16="http://schemas.microsoft.com/office/drawing/2014/main" id="{0FD38621-E931-65AB-72DD-D4B0C3BFEB62}"/>
                  </a:ext>
                </a:extLst>
              </p:cNvPr>
              <p:cNvSpPr txBox="1"/>
              <p:nvPr/>
            </p:nvSpPr>
            <p:spPr>
              <a:xfrm>
                <a:off x="6234793" y="3053090"/>
                <a:ext cx="806087" cy="261610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Alta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601" name="Grupo 1600">
              <a:extLst>
                <a:ext uri="{FF2B5EF4-FFF2-40B4-BE49-F238E27FC236}">
                  <a16:creationId xmlns:a16="http://schemas.microsoft.com/office/drawing/2014/main" id="{15810ABA-46FF-8DD5-8D6C-CAFC178DD674}"/>
                </a:ext>
              </a:extLst>
            </p:cNvPr>
            <p:cNvGrpSpPr/>
            <p:nvPr/>
          </p:nvGrpSpPr>
          <p:grpSpPr>
            <a:xfrm>
              <a:off x="7010400" y="3053090"/>
              <a:ext cx="1083673" cy="253916"/>
              <a:chOff x="6019800" y="3053090"/>
              <a:chExt cx="1083673" cy="253916"/>
            </a:xfrm>
          </p:grpSpPr>
          <p:sp>
            <p:nvSpPr>
              <p:cNvPr id="1608" name="Diagrama de flujo: conector 1607">
                <a:extLst>
                  <a:ext uri="{FF2B5EF4-FFF2-40B4-BE49-F238E27FC236}">
                    <a16:creationId xmlns:a16="http://schemas.microsoft.com/office/drawing/2014/main" id="{8C405B57-0281-D068-F2AD-426357DBFA4F}"/>
                  </a:ext>
                </a:extLst>
              </p:cNvPr>
              <p:cNvSpPr/>
              <p:nvPr/>
            </p:nvSpPr>
            <p:spPr>
              <a:xfrm>
                <a:off x="6019800" y="3086100"/>
                <a:ext cx="182880" cy="182880"/>
              </a:xfrm>
              <a:prstGeom prst="flowChartConnector">
                <a:avLst/>
              </a:prstGeom>
              <a:solidFill>
                <a:srgbClr val="CA76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1609" name="CuadroTexto 1608">
                <a:extLst>
                  <a:ext uri="{FF2B5EF4-FFF2-40B4-BE49-F238E27FC236}">
                    <a16:creationId xmlns:a16="http://schemas.microsoft.com/office/drawing/2014/main" id="{75742068-187D-9FFB-E8E6-8F3952150C9C}"/>
                  </a:ext>
                </a:extLst>
              </p:cNvPr>
              <p:cNvSpPr txBox="1"/>
              <p:nvPr/>
            </p:nvSpPr>
            <p:spPr>
              <a:xfrm>
                <a:off x="6234793" y="3053090"/>
                <a:ext cx="868680" cy="253916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Media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602" name="Grupo 1601">
              <a:extLst>
                <a:ext uri="{FF2B5EF4-FFF2-40B4-BE49-F238E27FC236}">
                  <a16:creationId xmlns:a16="http://schemas.microsoft.com/office/drawing/2014/main" id="{954383AD-221B-14FE-70A6-FD4BD7E218F0}"/>
                </a:ext>
              </a:extLst>
            </p:cNvPr>
            <p:cNvGrpSpPr/>
            <p:nvPr/>
          </p:nvGrpSpPr>
          <p:grpSpPr>
            <a:xfrm>
              <a:off x="7995013" y="3069771"/>
              <a:ext cx="763633" cy="253916"/>
              <a:chOff x="6019800" y="3053090"/>
              <a:chExt cx="763633" cy="253916"/>
            </a:xfrm>
          </p:grpSpPr>
          <p:sp>
            <p:nvSpPr>
              <p:cNvPr id="1606" name="Diagrama de flujo: conector 1605">
                <a:extLst>
                  <a:ext uri="{FF2B5EF4-FFF2-40B4-BE49-F238E27FC236}">
                    <a16:creationId xmlns:a16="http://schemas.microsoft.com/office/drawing/2014/main" id="{DBF3089A-3552-B26F-7EB4-B88ED29A6975}"/>
                  </a:ext>
                </a:extLst>
              </p:cNvPr>
              <p:cNvSpPr/>
              <p:nvPr/>
            </p:nvSpPr>
            <p:spPr>
              <a:xfrm>
                <a:off x="6019800" y="3086100"/>
                <a:ext cx="182880" cy="182880"/>
              </a:xfrm>
              <a:prstGeom prst="flowChartConnector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1607" name="CuadroTexto 1606">
                <a:extLst>
                  <a:ext uri="{FF2B5EF4-FFF2-40B4-BE49-F238E27FC236}">
                    <a16:creationId xmlns:a16="http://schemas.microsoft.com/office/drawing/2014/main" id="{D2DCDC10-CBA7-7B15-37A2-C5B18500D632}"/>
                  </a:ext>
                </a:extLst>
              </p:cNvPr>
              <p:cNvSpPr txBox="1"/>
              <p:nvPr/>
            </p:nvSpPr>
            <p:spPr>
              <a:xfrm>
                <a:off x="6234793" y="3053090"/>
                <a:ext cx="548640" cy="253916"/>
              </a:xfrm>
              <a:prstGeom prst="rect">
                <a:avLst/>
              </a:prstGeom>
              <a:noFill/>
            </p:spPr>
            <p:txBody>
              <a:bodyPr wrap="square" lIns="18288" rtlCol="0">
                <a:spAutoFit/>
              </a:bodyPr>
              <a:lstStyle/>
              <a:p>
                <a:r>
                  <a:rPr lang="en-US" sz="105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Táctica</a:t>
                </a:r>
                <a:endParaRPr lang="es-DO" sz="1050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</p:grpSp>
      <p:sp>
        <p:nvSpPr>
          <p:cNvPr id="1459" name="Rectángulo 1458">
            <a:extLst>
              <a:ext uri="{FF2B5EF4-FFF2-40B4-BE49-F238E27FC236}">
                <a16:creationId xmlns:a16="http://schemas.microsoft.com/office/drawing/2014/main" id="{A9C1361C-7F0E-AA6C-1D6F-863A1A88F497}"/>
              </a:ext>
            </a:extLst>
          </p:cNvPr>
          <p:cNvSpPr/>
          <p:nvPr/>
        </p:nvSpPr>
        <p:spPr>
          <a:xfrm>
            <a:off x="304799" y="5329493"/>
            <a:ext cx="17652847" cy="4480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>
              <a:latin typeface="Aptos" panose="020B0004020202020204" pitchFamily="34" charset="0"/>
            </a:endParaRPr>
          </a:p>
        </p:txBody>
      </p:sp>
      <p:sp>
        <p:nvSpPr>
          <p:cNvPr id="167" name="Freeform 16">
            <a:extLst>
              <a:ext uri="{FF2B5EF4-FFF2-40B4-BE49-F238E27FC236}">
                <a16:creationId xmlns:a16="http://schemas.microsoft.com/office/drawing/2014/main" id="{1BD56260-01F6-3B24-AE74-9052600A7F4B}"/>
              </a:ext>
            </a:extLst>
          </p:cNvPr>
          <p:cNvSpPr/>
          <p:nvPr/>
        </p:nvSpPr>
        <p:spPr>
          <a:xfrm>
            <a:off x="304799" y="5295900"/>
            <a:ext cx="17657064" cy="347472"/>
          </a:xfrm>
          <a:custGeom>
            <a:avLst/>
            <a:gdLst/>
            <a:ahLst/>
            <a:cxnLst/>
            <a:rect l="l" t="t" r="r" b="b"/>
            <a:pathLst>
              <a:path w="4741590" h="780608">
                <a:moveTo>
                  <a:pt x="0" y="0"/>
                </a:moveTo>
                <a:lnTo>
                  <a:pt x="4741590" y="0"/>
                </a:lnTo>
                <a:lnTo>
                  <a:pt x="4741590" y="780608"/>
                </a:lnTo>
                <a:lnTo>
                  <a:pt x="0" y="780608"/>
                </a:lnTo>
                <a:close/>
              </a:path>
            </a:pathLst>
          </a:custGeom>
          <a:solidFill>
            <a:srgbClr val="1F497D"/>
          </a:solidFill>
        </p:spPr>
        <p:txBody>
          <a:bodyPr anchor="ctr"/>
          <a:lstStyle/>
          <a:p>
            <a:pPr algn="ctr"/>
            <a:r>
              <a:rPr lang="es-DO" sz="1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Estrategias por comercio</a:t>
            </a:r>
          </a:p>
        </p:txBody>
      </p:sp>
      <p:grpSp>
        <p:nvGrpSpPr>
          <p:cNvPr id="1468" name="Grupo 1467">
            <a:extLst>
              <a:ext uri="{FF2B5EF4-FFF2-40B4-BE49-F238E27FC236}">
                <a16:creationId xmlns:a16="http://schemas.microsoft.com/office/drawing/2014/main" id="{E88258DD-638F-333A-1701-D6C3600BC3F4}"/>
              </a:ext>
            </a:extLst>
          </p:cNvPr>
          <p:cNvGrpSpPr/>
          <p:nvPr/>
        </p:nvGrpSpPr>
        <p:grpSpPr>
          <a:xfrm>
            <a:off x="533400" y="6111044"/>
            <a:ext cx="17190720" cy="2130552"/>
            <a:chOff x="838200" y="6073451"/>
            <a:chExt cx="16361343" cy="2130552"/>
          </a:xfrm>
          <a:solidFill>
            <a:schemeClr val="bg2"/>
          </a:solidFill>
        </p:grpSpPr>
        <p:sp>
          <p:nvSpPr>
            <p:cNvPr id="1461" name="Rectángulo 1460">
              <a:extLst>
                <a:ext uri="{FF2B5EF4-FFF2-40B4-BE49-F238E27FC236}">
                  <a16:creationId xmlns:a16="http://schemas.microsoft.com/office/drawing/2014/main" id="{957CE27E-DF7A-6CA7-A85A-E642F04A80A2}"/>
                </a:ext>
              </a:extLst>
            </p:cNvPr>
            <p:cNvSpPr/>
            <p:nvPr/>
          </p:nvSpPr>
          <p:spPr>
            <a:xfrm>
              <a:off x="838200" y="6073451"/>
              <a:ext cx="16361343" cy="2130552"/>
            </a:xfrm>
            <a:prstGeom prst="rect">
              <a:avLst/>
            </a:prstGeom>
            <a:solidFill>
              <a:srgbClr val="EEEF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/>
            </a:p>
          </p:txBody>
        </p:sp>
        <p:sp>
          <p:nvSpPr>
            <p:cNvPr id="131" name="Diagrama de flujo: proceso alternativo 130">
              <a:extLst>
                <a:ext uri="{FF2B5EF4-FFF2-40B4-BE49-F238E27FC236}">
                  <a16:creationId xmlns:a16="http://schemas.microsoft.com/office/drawing/2014/main" id="{D4424A33-F13F-264E-BAB7-D34F93103409}"/>
                </a:ext>
              </a:extLst>
            </p:cNvPr>
            <p:cNvSpPr/>
            <p:nvPr/>
          </p:nvSpPr>
          <p:spPr>
            <a:xfrm rot="16200000">
              <a:off x="139980" y="6876555"/>
              <a:ext cx="2006040" cy="457200"/>
            </a:xfrm>
            <a:prstGeom prst="flowChartAlternateProcess">
              <a:avLst/>
            </a:prstGeom>
            <a:solidFill>
              <a:srgbClr val="EEEF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Migración parcial</a:t>
              </a:r>
            </a:p>
            <a:p>
              <a:pPr algn="ctr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entre rubros</a:t>
              </a:r>
            </a:p>
          </p:txBody>
        </p:sp>
      </p:grpSp>
      <p:grpSp>
        <p:nvGrpSpPr>
          <p:cNvPr id="1671" name="Grupo 1670">
            <a:extLst>
              <a:ext uri="{FF2B5EF4-FFF2-40B4-BE49-F238E27FC236}">
                <a16:creationId xmlns:a16="http://schemas.microsoft.com/office/drawing/2014/main" id="{13DBE910-07F6-F69D-33A5-708A2BA8FADE}"/>
              </a:ext>
            </a:extLst>
          </p:cNvPr>
          <p:cNvGrpSpPr/>
          <p:nvPr/>
        </p:nvGrpSpPr>
        <p:grpSpPr>
          <a:xfrm>
            <a:off x="832298" y="6192576"/>
            <a:ext cx="16823300" cy="611997"/>
            <a:chOff x="679898" y="6235183"/>
            <a:chExt cx="16823300" cy="611997"/>
          </a:xfrm>
        </p:grpSpPr>
        <p:sp>
          <p:nvSpPr>
            <p:cNvPr id="1093" name="Diagrama de flujo: proceso alternativo 1092">
              <a:extLst>
                <a:ext uri="{FF2B5EF4-FFF2-40B4-BE49-F238E27FC236}">
                  <a16:creationId xmlns:a16="http://schemas.microsoft.com/office/drawing/2014/main" id="{3928E18C-F795-2BEF-36D7-27C712CD10AB}"/>
                </a:ext>
              </a:extLst>
            </p:cNvPr>
            <p:cNvSpPr/>
            <p:nvPr/>
          </p:nvSpPr>
          <p:spPr>
            <a:xfrm>
              <a:off x="7609797" y="6252820"/>
              <a:ext cx="3191256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Cross-</a:t>
              </a:r>
              <a:r>
                <a:rPr lang="es-DO" sz="1150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sell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desde categorías esenciales; fidelización; monetización indirecta</a:t>
              </a:r>
            </a:p>
          </p:txBody>
        </p:sp>
        <p:sp>
          <p:nvSpPr>
            <p:cNvPr id="1096" name="Diagrama de flujo: proceso alternativo 1095">
              <a:extLst>
                <a:ext uri="{FF2B5EF4-FFF2-40B4-BE49-F238E27FC236}">
                  <a16:creationId xmlns:a16="http://schemas.microsoft.com/office/drawing/2014/main" id="{1F5B5634-BC1B-480D-6D1A-5AF53AE73063}"/>
                </a:ext>
              </a:extLst>
            </p:cNvPr>
            <p:cNvSpPr/>
            <p:nvPr/>
          </p:nvSpPr>
          <p:spPr>
            <a:xfrm>
              <a:off x="5141325" y="6252820"/>
              <a:ext cx="2377440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Retención y recurrencia</a:t>
              </a:r>
            </a:p>
          </p:txBody>
        </p:sp>
        <p:sp>
          <p:nvSpPr>
            <p:cNvPr id="1391" name="Diagrama de flujo: proceso alternativo 1390">
              <a:extLst>
                <a:ext uri="{FF2B5EF4-FFF2-40B4-BE49-F238E27FC236}">
                  <a16:creationId xmlns:a16="http://schemas.microsoft.com/office/drawing/2014/main" id="{00B39AAC-1D44-0A57-14DF-A17F7108EBED}"/>
                </a:ext>
              </a:extLst>
            </p:cNvPr>
            <p:cNvSpPr/>
            <p:nvPr/>
          </p:nvSpPr>
          <p:spPr>
            <a:xfrm>
              <a:off x="10892086" y="6252820"/>
              <a:ext cx="6611112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t"/>
            <a:lstStyle/>
            <a:p>
              <a:pPr algn="just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Promociones por ticket mínimo </a:t>
              </a:r>
              <a:r>
                <a:rPr lang="es-DO" sz="1400" b="1" dirty="0">
                  <a:solidFill>
                    <a:schemeClr val="tx2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+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retención y recurrencia </a:t>
              </a:r>
              <a:r>
                <a:rPr kumimoji="0" lang="es-D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+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s-DO" sz="1150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bundles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hacia Electrónica </a:t>
              </a:r>
              <a:r>
                <a:rPr kumimoji="0" lang="es-D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+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s-DO" sz="1150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cashback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digital / </a:t>
              </a:r>
              <a:r>
                <a:rPr lang="es-DO" sz="1150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Ecommerce</a:t>
              </a:r>
              <a:endParaRPr lang="es-DO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grpSp>
          <p:nvGrpSpPr>
            <p:cNvPr id="1543" name="Grupo 1542">
              <a:extLst>
                <a:ext uri="{FF2B5EF4-FFF2-40B4-BE49-F238E27FC236}">
                  <a16:creationId xmlns:a16="http://schemas.microsoft.com/office/drawing/2014/main" id="{8613FD4B-CCBD-1E2E-96BB-D58046D92604}"/>
                </a:ext>
              </a:extLst>
            </p:cNvPr>
            <p:cNvGrpSpPr/>
            <p:nvPr/>
          </p:nvGrpSpPr>
          <p:grpSpPr>
            <a:xfrm>
              <a:off x="679898" y="6235183"/>
              <a:ext cx="2617660" cy="594360"/>
              <a:chOff x="679898" y="6235183"/>
              <a:chExt cx="2617660" cy="594360"/>
            </a:xfrm>
            <a:solidFill>
              <a:srgbClr val="F1F1F2"/>
            </a:solidFill>
          </p:grpSpPr>
          <p:grpSp>
            <p:nvGrpSpPr>
              <p:cNvPr id="94" name="Grupo 93">
                <a:extLst>
                  <a:ext uri="{FF2B5EF4-FFF2-40B4-BE49-F238E27FC236}">
                    <a16:creationId xmlns:a16="http://schemas.microsoft.com/office/drawing/2014/main" id="{DA8AB880-E1CB-D95A-A635-BD383668B192}"/>
                  </a:ext>
                </a:extLst>
              </p:cNvPr>
              <p:cNvGrpSpPr/>
              <p:nvPr/>
            </p:nvGrpSpPr>
            <p:grpSpPr>
              <a:xfrm>
                <a:off x="974982" y="6235183"/>
                <a:ext cx="2322576" cy="594360"/>
                <a:chOff x="3855720" y="7308601"/>
                <a:chExt cx="2193544" cy="594360"/>
              </a:xfrm>
              <a:grpFill/>
            </p:grpSpPr>
            <p:sp>
              <p:nvSpPr>
                <p:cNvPr id="41" name="Diagrama de flujo: proceso alternativo 40">
                  <a:extLst>
                    <a:ext uri="{FF2B5EF4-FFF2-40B4-BE49-F238E27FC236}">
                      <a16:creationId xmlns:a16="http://schemas.microsoft.com/office/drawing/2014/main" id="{E707D90C-C5AA-A4EF-6D21-7E225B69D43E}"/>
                    </a:ext>
                  </a:extLst>
                </p:cNvPr>
                <p:cNvSpPr/>
                <p:nvPr/>
              </p:nvSpPr>
              <p:spPr>
                <a:xfrm>
                  <a:off x="3855720" y="7308601"/>
                  <a:ext cx="2193544" cy="594360"/>
                </a:xfrm>
                <a:prstGeom prst="flowChartAlternateProcess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3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           Supermercados</a:t>
                  </a:r>
                  <a:endParaRPr lang="es-DO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42" name="Imagen 41">
                  <a:extLst>
                    <a:ext uri="{FF2B5EF4-FFF2-40B4-BE49-F238E27FC236}">
                      <a16:creationId xmlns:a16="http://schemas.microsoft.com/office/drawing/2014/main" id="{DB548C2A-0C6A-3247-BC8A-169E3FCF95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4111639" y="7390053"/>
                  <a:ext cx="372008" cy="40062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537" name="Imagen 1536">
                <a:extLst>
                  <a:ext uri="{FF2B5EF4-FFF2-40B4-BE49-F238E27FC236}">
                    <a16:creationId xmlns:a16="http://schemas.microsoft.com/office/drawing/2014/main" id="{1A71CCA2-481A-A1FD-7ED7-D2E150842E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saturation sat="66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79898" y="6393874"/>
                <a:ext cx="228600" cy="228600"/>
              </a:xfrm>
              <a:prstGeom prst="rect">
                <a:avLst/>
              </a:prstGeom>
              <a:noFill/>
            </p:spPr>
          </p:pic>
        </p:grpSp>
        <p:grpSp>
          <p:nvGrpSpPr>
            <p:cNvPr id="1624" name="Grupo 1623">
              <a:extLst>
                <a:ext uri="{FF2B5EF4-FFF2-40B4-BE49-F238E27FC236}">
                  <a16:creationId xmlns:a16="http://schemas.microsoft.com/office/drawing/2014/main" id="{DA4B4425-141C-B86A-65E7-AC4010359A5B}"/>
                </a:ext>
              </a:extLst>
            </p:cNvPr>
            <p:cNvGrpSpPr/>
            <p:nvPr/>
          </p:nvGrpSpPr>
          <p:grpSpPr>
            <a:xfrm>
              <a:off x="3404374" y="6252820"/>
              <a:ext cx="1645919" cy="594360"/>
              <a:chOff x="3404374" y="6252820"/>
              <a:chExt cx="1645919" cy="594360"/>
            </a:xfrm>
          </p:grpSpPr>
          <p:sp>
            <p:nvSpPr>
              <p:cNvPr id="701" name="Diagrama de flujo: proceso alternativo 700">
                <a:extLst>
                  <a:ext uri="{FF2B5EF4-FFF2-40B4-BE49-F238E27FC236}">
                    <a16:creationId xmlns:a16="http://schemas.microsoft.com/office/drawing/2014/main" id="{3DDCE6DA-1348-EE14-CF21-C09641651292}"/>
                  </a:ext>
                </a:extLst>
              </p:cNvPr>
              <p:cNvSpPr/>
              <p:nvPr/>
            </p:nvSpPr>
            <p:spPr>
              <a:xfrm>
                <a:off x="3404374" y="6252820"/>
                <a:ext cx="1645919" cy="59436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grpSp>
            <p:nvGrpSpPr>
              <p:cNvPr id="1593" name="Grupo 1592">
                <a:extLst>
                  <a:ext uri="{FF2B5EF4-FFF2-40B4-BE49-F238E27FC236}">
                    <a16:creationId xmlns:a16="http://schemas.microsoft.com/office/drawing/2014/main" id="{7BAD5A4C-20F1-1001-7D59-87F528F3A0D0}"/>
                  </a:ext>
                </a:extLst>
              </p:cNvPr>
              <p:cNvGrpSpPr/>
              <p:nvPr/>
            </p:nvGrpSpPr>
            <p:grpSpPr>
              <a:xfrm>
                <a:off x="3481560" y="6378741"/>
                <a:ext cx="381398" cy="464454"/>
                <a:chOff x="3481560" y="6378741"/>
                <a:chExt cx="381398" cy="464454"/>
              </a:xfrm>
            </p:grpSpPr>
            <p:pic>
              <p:nvPicPr>
                <p:cNvPr id="1094" name="Imagen 1093">
                  <a:extLst>
                    <a:ext uri="{FF2B5EF4-FFF2-40B4-BE49-F238E27FC236}">
                      <a16:creationId xmlns:a16="http://schemas.microsoft.com/office/drawing/2014/main" id="{B4913F39-ABF0-7BCE-E3A9-C036E006AE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3537573" y="6378741"/>
                  <a:ext cx="269372" cy="263385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1564" name="CuadroTexto 1563">
                  <a:extLst>
                    <a:ext uri="{FF2B5EF4-FFF2-40B4-BE49-F238E27FC236}">
                      <a16:creationId xmlns:a16="http://schemas.microsoft.com/office/drawing/2014/main" id="{3ACCDD7E-6B3D-FF1F-3055-C40B6670B39D}"/>
                    </a:ext>
                  </a:extLst>
                </p:cNvPr>
                <p:cNvSpPr txBox="1"/>
                <p:nvPr/>
              </p:nvSpPr>
              <p:spPr>
                <a:xfrm>
                  <a:off x="3481560" y="6643140"/>
                  <a:ext cx="381398" cy="200055"/>
                </a:xfrm>
                <a:prstGeom prst="rect">
                  <a:avLst/>
                </a:prstGeom>
                <a:noFill/>
              </p:spPr>
              <p:txBody>
                <a:bodyPr wrap="square" lIns="0" tIns="0" rIns="0" rtlCol="0">
                  <a:spAutoFit/>
                </a:bodyPr>
                <a:lstStyle/>
                <a:p>
                  <a:pPr algn="ctr"/>
                  <a:r>
                    <a:rPr lang="en-US" sz="10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Joven</a:t>
                  </a:r>
                  <a:endParaRPr lang="es-DO" sz="9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p:grpSp>
        </p:grpSp>
      </p:grpSp>
      <p:grpSp>
        <p:nvGrpSpPr>
          <p:cNvPr id="1670" name="Grupo 1669">
            <a:extLst>
              <a:ext uri="{FF2B5EF4-FFF2-40B4-BE49-F238E27FC236}">
                <a16:creationId xmlns:a16="http://schemas.microsoft.com/office/drawing/2014/main" id="{74B93EAB-3A9D-612E-9901-F296C1C779FD}"/>
              </a:ext>
            </a:extLst>
          </p:cNvPr>
          <p:cNvGrpSpPr/>
          <p:nvPr/>
        </p:nvGrpSpPr>
        <p:grpSpPr>
          <a:xfrm>
            <a:off x="1127382" y="6882941"/>
            <a:ext cx="16528216" cy="604392"/>
            <a:chOff x="974982" y="6925548"/>
            <a:chExt cx="16528216" cy="604392"/>
          </a:xfrm>
        </p:grpSpPr>
        <p:sp>
          <p:nvSpPr>
            <p:cNvPr id="1120" name="Diagrama de flujo: proceso alternativo 1119">
              <a:extLst>
                <a:ext uri="{FF2B5EF4-FFF2-40B4-BE49-F238E27FC236}">
                  <a16:creationId xmlns:a16="http://schemas.microsoft.com/office/drawing/2014/main" id="{E7094441-7F74-07EE-1F77-7D2F61AF8C32}"/>
                </a:ext>
              </a:extLst>
            </p:cNvPr>
            <p:cNvSpPr/>
            <p:nvPr/>
          </p:nvSpPr>
          <p:spPr>
            <a:xfrm>
              <a:off x="5141325" y="6925548"/>
              <a:ext cx="2377440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Monetización y ticket alto</a:t>
              </a:r>
            </a:p>
          </p:txBody>
        </p:sp>
        <p:sp>
          <p:nvSpPr>
            <p:cNvPr id="1123" name="Diagrama de flujo: proceso alternativo 1122">
              <a:extLst>
                <a:ext uri="{FF2B5EF4-FFF2-40B4-BE49-F238E27FC236}">
                  <a16:creationId xmlns:a16="http://schemas.microsoft.com/office/drawing/2014/main" id="{71729E16-AC35-D4B0-F150-06D436309AF9}"/>
                </a:ext>
              </a:extLst>
            </p:cNvPr>
            <p:cNvSpPr/>
            <p:nvPr/>
          </p:nvSpPr>
          <p:spPr>
            <a:xfrm>
              <a:off x="7609797" y="6925548"/>
              <a:ext cx="3191256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Segmentación por afinidad; monetización estacional; </a:t>
              </a:r>
              <a:r>
                <a:rPr lang="es-DO" sz="1150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cross-sell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desde supermercados</a:t>
              </a:r>
            </a:p>
          </p:txBody>
        </p:sp>
        <p:sp>
          <p:nvSpPr>
            <p:cNvPr id="1392" name="Diagrama de flujo: proceso alternativo 1391">
              <a:extLst>
                <a:ext uri="{FF2B5EF4-FFF2-40B4-BE49-F238E27FC236}">
                  <a16:creationId xmlns:a16="http://schemas.microsoft.com/office/drawing/2014/main" id="{94B9DF8F-3D43-FB7E-5E28-5C4D5FF6DB87}"/>
                </a:ext>
              </a:extLst>
            </p:cNvPr>
            <p:cNvSpPr/>
            <p:nvPr/>
          </p:nvSpPr>
          <p:spPr>
            <a:xfrm>
              <a:off x="10892086" y="6925548"/>
              <a:ext cx="6611112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t"/>
            <a:lstStyle/>
            <a:p>
              <a:pPr algn="just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Monetización vía financiamiento, </a:t>
              </a:r>
              <a:r>
                <a:rPr kumimoji="0" lang="es-D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+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campañas estacionales y targeting hacia segmentos de mayor potencial (Masivo/Premium), apoyado en </a:t>
              </a:r>
              <a:r>
                <a:rPr lang="es-DO" sz="1150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cross-sell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y alianzas comerciales.</a:t>
              </a:r>
            </a:p>
          </p:txBody>
        </p: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94C98044-3356-1584-2C68-7B806B1058DC}"/>
                </a:ext>
              </a:extLst>
            </p:cNvPr>
            <p:cNvGrpSpPr/>
            <p:nvPr/>
          </p:nvGrpSpPr>
          <p:grpSpPr>
            <a:xfrm>
              <a:off x="974982" y="6935580"/>
              <a:ext cx="2322576" cy="594360"/>
              <a:chOff x="107386" y="5098823"/>
              <a:chExt cx="2322575" cy="594360"/>
            </a:xfrm>
            <a:solidFill>
              <a:srgbClr val="F1F1F2"/>
            </a:solidFill>
            <a:effectLst/>
          </p:grpSpPr>
          <p:sp>
            <p:nvSpPr>
              <p:cNvPr id="36" name="Diagrama de flujo: proceso alternativo 35">
                <a:extLst>
                  <a:ext uri="{FF2B5EF4-FFF2-40B4-BE49-F238E27FC236}">
                    <a16:creationId xmlns:a16="http://schemas.microsoft.com/office/drawing/2014/main" id="{B887EFF0-9B2F-36B0-8250-064542E0D0A9}"/>
                  </a:ext>
                </a:extLst>
              </p:cNvPr>
              <p:cNvSpPr/>
              <p:nvPr/>
            </p:nvSpPr>
            <p:spPr>
              <a:xfrm>
                <a:off x="107386" y="5098823"/>
                <a:ext cx="2322575" cy="594360"/>
              </a:xfrm>
              <a:prstGeom prst="flowChartAlternateProcess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lvl="1"/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 Electronica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7E726919-7C6E-328C-F506-23DB200847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5050" y="5171692"/>
                <a:ext cx="454477" cy="4486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25" name="Grupo 1624">
              <a:extLst>
                <a:ext uri="{FF2B5EF4-FFF2-40B4-BE49-F238E27FC236}">
                  <a16:creationId xmlns:a16="http://schemas.microsoft.com/office/drawing/2014/main" id="{F36A0E39-73EC-2978-C97F-350508E3B698}"/>
                </a:ext>
              </a:extLst>
            </p:cNvPr>
            <p:cNvGrpSpPr/>
            <p:nvPr/>
          </p:nvGrpSpPr>
          <p:grpSpPr>
            <a:xfrm>
              <a:off x="3404374" y="6925548"/>
              <a:ext cx="1645919" cy="594360"/>
              <a:chOff x="3404374" y="6925548"/>
              <a:chExt cx="1645919" cy="594360"/>
            </a:xfrm>
          </p:grpSpPr>
          <p:sp>
            <p:nvSpPr>
              <p:cNvPr id="1114" name="Diagrama de flujo: proceso alternativo 1113">
                <a:extLst>
                  <a:ext uri="{FF2B5EF4-FFF2-40B4-BE49-F238E27FC236}">
                    <a16:creationId xmlns:a16="http://schemas.microsoft.com/office/drawing/2014/main" id="{B7C73FBF-D5A5-FB50-9FED-E858AEECD33C}"/>
                  </a:ext>
                </a:extLst>
              </p:cNvPr>
              <p:cNvSpPr/>
              <p:nvPr/>
            </p:nvSpPr>
            <p:spPr>
              <a:xfrm>
                <a:off x="3404374" y="6925548"/>
                <a:ext cx="1645919" cy="59436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8288" rIns="0" bIns="18288" rtlCol="0" anchor="ctr"/>
              <a:lstStyle/>
              <a:p>
                <a:pPr algn="ctr"/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grpSp>
            <p:nvGrpSpPr>
              <p:cNvPr id="1583" name="Grupo 1582">
                <a:extLst>
                  <a:ext uri="{FF2B5EF4-FFF2-40B4-BE49-F238E27FC236}">
                    <a16:creationId xmlns:a16="http://schemas.microsoft.com/office/drawing/2014/main" id="{92094C5A-FED5-A82F-C32B-7F3CBDC7B4FD}"/>
                  </a:ext>
                </a:extLst>
              </p:cNvPr>
              <p:cNvGrpSpPr/>
              <p:nvPr/>
            </p:nvGrpSpPr>
            <p:grpSpPr>
              <a:xfrm>
                <a:off x="3438742" y="6997553"/>
                <a:ext cx="548387" cy="479602"/>
                <a:chOff x="3429000" y="6997553"/>
                <a:chExt cx="548387" cy="479602"/>
              </a:xfrm>
            </p:grpSpPr>
            <p:pic>
              <p:nvPicPr>
                <p:cNvPr id="1115" name="Imagen 1114">
                  <a:extLst>
                    <a:ext uri="{FF2B5EF4-FFF2-40B4-BE49-F238E27FC236}">
                      <a16:creationId xmlns:a16="http://schemas.microsoft.com/office/drawing/2014/main" id="{2C960D23-EB97-5201-54B0-9DE0D5BAF3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3537573" y="6997553"/>
                  <a:ext cx="269372" cy="269372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1570" name="CuadroTexto 1569">
                  <a:extLst>
                    <a:ext uri="{FF2B5EF4-FFF2-40B4-BE49-F238E27FC236}">
                      <a16:creationId xmlns:a16="http://schemas.microsoft.com/office/drawing/2014/main" id="{7A74587B-D553-C0CF-639D-EC32909D5D41}"/>
                    </a:ext>
                  </a:extLst>
                </p:cNvPr>
                <p:cNvSpPr txBox="1"/>
                <p:nvPr/>
              </p:nvSpPr>
              <p:spPr>
                <a:xfrm>
                  <a:off x="3429000" y="7277100"/>
                  <a:ext cx="548387" cy="200055"/>
                </a:xfrm>
                <a:prstGeom prst="rect">
                  <a:avLst/>
                </a:prstGeom>
                <a:noFill/>
              </p:spPr>
              <p:txBody>
                <a:bodyPr wrap="square" lIns="0" tIns="0" rIns="0" rtlCol="0">
                  <a:spAutoFit/>
                </a:bodyPr>
                <a:lstStyle/>
                <a:p>
                  <a:pPr algn="ctr"/>
                  <a:r>
                    <a:rPr lang="en-US" sz="10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Premium</a:t>
                  </a:r>
                  <a:endParaRPr lang="es-DO" sz="6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p:grpSp>
          <p:grpSp>
            <p:nvGrpSpPr>
              <p:cNvPr id="1582" name="Grupo 1581">
                <a:extLst>
                  <a:ext uri="{FF2B5EF4-FFF2-40B4-BE49-F238E27FC236}">
                    <a16:creationId xmlns:a16="http://schemas.microsoft.com/office/drawing/2014/main" id="{95FE2830-DDA8-34FC-3D30-2950A991CC72}"/>
                  </a:ext>
                </a:extLst>
              </p:cNvPr>
              <p:cNvGrpSpPr/>
              <p:nvPr/>
            </p:nvGrpSpPr>
            <p:grpSpPr>
              <a:xfrm>
                <a:off x="3965504" y="6996907"/>
                <a:ext cx="523658" cy="451772"/>
                <a:chOff x="3895942" y="6997683"/>
                <a:chExt cx="523658" cy="451772"/>
              </a:xfrm>
            </p:grpSpPr>
            <p:pic>
              <p:nvPicPr>
                <p:cNvPr id="1121" name="Imagen 1120">
                  <a:extLst>
                    <a:ext uri="{FF2B5EF4-FFF2-40B4-BE49-F238E27FC236}">
                      <a16:creationId xmlns:a16="http://schemas.microsoft.com/office/drawing/2014/main" id="{8F0B0134-762A-2144-DD72-75EC9AFD1B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4038600" y="6997683"/>
                  <a:ext cx="269372" cy="269111"/>
                </a:xfrm>
                <a:prstGeom prst="rect">
                  <a:avLst/>
                </a:prstGeom>
              </p:spPr>
            </p:pic>
            <p:sp>
              <p:nvSpPr>
                <p:cNvPr id="1571" name="CuadroTexto 1570">
                  <a:extLst>
                    <a:ext uri="{FF2B5EF4-FFF2-40B4-BE49-F238E27FC236}">
                      <a16:creationId xmlns:a16="http://schemas.microsoft.com/office/drawing/2014/main" id="{32566F8E-EB91-0CC8-66AC-B00B052FA60F}"/>
                    </a:ext>
                  </a:extLst>
                </p:cNvPr>
                <p:cNvSpPr txBox="1"/>
                <p:nvPr/>
              </p:nvSpPr>
              <p:spPr>
                <a:xfrm>
                  <a:off x="3895942" y="7277100"/>
                  <a:ext cx="523658" cy="172355"/>
                </a:xfrm>
                <a:prstGeom prst="rect">
                  <a:avLst/>
                </a:prstGeom>
                <a:noFill/>
              </p:spPr>
              <p:txBody>
                <a:bodyPr wrap="square" lIns="73152" tIns="0" rIns="0" bIns="18288" rtlCol="0">
                  <a:spAutoFit/>
                </a:bodyPr>
                <a:lstStyle/>
                <a:p>
                  <a:r>
                    <a:rPr lang="en-US" sz="1000" dirty="0" err="1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Masivo</a:t>
                  </a:r>
                  <a:endParaRPr lang="es-DO" sz="9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p:grpSp>
        </p:grpSp>
      </p:grpSp>
      <p:sp>
        <p:nvSpPr>
          <p:cNvPr id="669" name="Diagrama de flujo: proceso alternativo 668">
            <a:extLst>
              <a:ext uri="{FF2B5EF4-FFF2-40B4-BE49-F238E27FC236}">
                <a16:creationId xmlns:a16="http://schemas.microsoft.com/office/drawing/2014/main" id="{B2FE01E7-D421-2C92-2D45-CCCFBF189FD8}"/>
              </a:ext>
            </a:extLst>
          </p:cNvPr>
          <p:cNvSpPr/>
          <p:nvPr/>
        </p:nvSpPr>
        <p:spPr>
          <a:xfrm>
            <a:off x="7762197" y="7555668"/>
            <a:ext cx="3191256" cy="59436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algn="ctr"/>
            <a:r>
              <a:rPr lang="es-DO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Cross-</a:t>
            </a:r>
            <a:r>
              <a:rPr lang="es-DO" sz="1150" dirty="0" err="1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sell</a:t>
            </a:r>
            <a:r>
              <a:rPr lang="es-DO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secuencial; segmentación por afinidad; campañas diferenciadas por segmento</a:t>
            </a:r>
          </a:p>
        </p:txBody>
      </p:sp>
      <p:sp>
        <p:nvSpPr>
          <p:cNvPr id="692" name="Diagrama de flujo: proceso alternativo 691">
            <a:extLst>
              <a:ext uri="{FF2B5EF4-FFF2-40B4-BE49-F238E27FC236}">
                <a16:creationId xmlns:a16="http://schemas.microsoft.com/office/drawing/2014/main" id="{17FD8A65-53B2-8EA7-3B00-3610F6FA81FB}"/>
              </a:ext>
            </a:extLst>
          </p:cNvPr>
          <p:cNvSpPr/>
          <p:nvPr/>
        </p:nvSpPr>
        <p:spPr>
          <a:xfrm>
            <a:off x="5293725" y="7555668"/>
            <a:ext cx="2377440" cy="59436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algn="ctr"/>
            <a:r>
              <a:rPr lang="es-DO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Activación y </a:t>
            </a:r>
            <a:r>
              <a:rPr lang="es-DO" sz="1150" dirty="0" err="1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engagement</a:t>
            </a:r>
            <a:endParaRPr lang="es-DO" sz="1150" dirty="0">
              <a:solidFill>
                <a:schemeClr val="tx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393" name="Diagrama de flujo: proceso alternativo 1392">
            <a:extLst>
              <a:ext uri="{FF2B5EF4-FFF2-40B4-BE49-F238E27FC236}">
                <a16:creationId xmlns:a16="http://schemas.microsoft.com/office/drawing/2014/main" id="{46D7FE7C-A5A0-DBE5-5E13-3A41B45C1485}"/>
              </a:ext>
            </a:extLst>
          </p:cNvPr>
          <p:cNvSpPr/>
          <p:nvPr/>
        </p:nvSpPr>
        <p:spPr>
          <a:xfrm>
            <a:off x="11044486" y="7555668"/>
            <a:ext cx="6611112" cy="59436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t"/>
          <a:lstStyle/>
          <a:p>
            <a:pPr algn="just"/>
            <a:r>
              <a:rPr lang="es-DO" sz="1150" dirty="0" err="1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Cashback</a:t>
            </a:r>
            <a:r>
              <a:rPr lang="es-DO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desde supermercados </a:t>
            </a:r>
            <a:r>
              <a:rPr kumimoji="0" lang="es-DO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+</a:t>
            </a:r>
            <a:r>
              <a:rPr lang="es-DO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activación y expansión de clientes</a:t>
            </a:r>
            <a:r>
              <a:rPr lang="es-DO" sz="1150" b="1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kumimoji="0" lang="es-DO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+</a:t>
            </a:r>
            <a:r>
              <a:rPr lang="es-DO" sz="1150" b="1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DO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promociones de alta demanda (fin de semana) </a:t>
            </a:r>
            <a:r>
              <a:rPr kumimoji="0" lang="es-DO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+</a:t>
            </a:r>
            <a:r>
              <a:rPr lang="es-DO" sz="1150" b="1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DO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segmentación Premium/Joven</a:t>
            </a:r>
            <a:r>
              <a:rPr lang="es-DO" sz="1150" b="1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kumimoji="0" lang="es-DO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+</a:t>
            </a:r>
            <a:r>
              <a:rPr lang="es-DO" sz="1150" b="1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DO" sz="1150" dirty="0" err="1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bundles</a:t>
            </a:r>
            <a:r>
              <a:rPr lang="es-DO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hacia </a:t>
            </a:r>
            <a:r>
              <a:rPr lang="es-DO" sz="1150" dirty="0" err="1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Ecommerce</a:t>
            </a:r>
            <a:r>
              <a:rPr lang="es-DO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/Electrónica.</a:t>
            </a:r>
          </a:p>
        </p:txBody>
      </p:sp>
      <p:grpSp>
        <p:nvGrpSpPr>
          <p:cNvPr id="93" name="Grupo 92">
            <a:extLst>
              <a:ext uri="{FF2B5EF4-FFF2-40B4-BE49-F238E27FC236}">
                <a16:creationId xmlns:a16="http://schemas.microsoft.com/office/drawing/2014/main" id="{F70545C0-9F51-F47F-5EEB-D9B33AEDE0D6}"/>
              </a:ext>
            </a:extLst>
          </p:cNvPr>
          <p:cNvGrpSpPr/>
          <p:nvPr/>
        </p:nvGrpSpPr>
        <p:grpSpPr>
          <a:xfrm>
            <a:off x="1127382" y="7565700"/>
            <a:ext cx="2322576" cy="594360"/>
            <a:chOff x="2065598" y="7259452"/>
            <a:chExt cx="2322576" cy="594360"/>
          </a:xfrm>
          <a:solidFill>
            <a:srgbClr val="F1F1F2"/>
          </a:solidFill>
        </p:grpSpPr>
        <p:sp>
          <p:nvSpPr>
            <p:cNvPr id="35" name="Diagrama de flujo: proceso alternativo 34">
              <a:extLst>
                <a:ext uri="{FF2B5EF4-FFF2-40B4-BE49-F238E27FC236}">
                  <a16:creationId xmlns:a16="http://schemas.microsoft.com/office/drawing/2014/main" id="{77D0E784-832A-8F4B-BC5E-70FC341D8512}"/>
                </a:ext>
              </a:extLst>
            </p:cNvPr>
            <p:cNvSpPr/>
            <p:nvPr/>
          </p:nvSpPr>
          <p:spPr>
            <a:xfrm>
              <a:off x="2065598" y="7259452"/>
              <a:ext cx="2322576" cy="594360"/>
            </a:xfrm>
            <a:prstGeom prst="flowChartAlternateProcess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lvl="1"/>
              <a:r>
                <a:rPr lang="en-US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        </a:t>
              </a:r>
              <a:r>
                <a:rPr lang="en-US" sz="1300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Restaurantes</a:t>
              </a:r>
              <a:endParaRPr lang="es-DO" sz="130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B745B7E0-2ADF-4445-01BC-7859035F3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2019" y="7334565"/>
              <a:ext cx="378443" cy="3784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36" name="Grupo 1635">
            <a:extLst>
              <a:ext uri="{FF2B5EF4-FFF2-40B4-BE49-F238E27FC236}">
                <a16:creationId xmlns:a16="http://schemas.microsoft.com/office/drawing/2014/main" id="{D73C896E-9A35-0622-FC0B-E20C6306C88A}"/>
              </a:ext>
            </a:extLst>
          </p:cNvPr>
          <p:cNvGrpSpPr/>
          <p:nvPr/>
        </p:nvGrpSpPr>
        <p:grpSpPr>
          <a:xfrm>
            <a:off x="3556774" y="7555668"/>
            <a:ext cx="1645919" cy="594360"/>
            <a:chOff x="3404374" y="7598275"/>
            <a:chExt cx="1645919" cy="594360"/>
          </a:xfrm>
        </p:grpSpPr>
        <p:sp>
          <p:nvSpPr>
            <p:cNvPr id="674" name="Diagrama de flujo: proceso alternativo 673">
              <a:extLst>
                <a:ext uri="{FF2B5EF4-FFF2-40B4-BE49-F238E27FC236}">
                  <a16:creationId xmlns:a16="http://schemas.microsoft.com/office/drawing/2014/main" id="{BB783771-CB78-DA6C-6CD0-3107669CBF29}"/>
                </a:ext>
              </a:extLst>
            </p:cNvPr>
            <p:cNvSpPr/>
            <p:nvPr/>
          </p:nvSpPr>
          <p:spPr>
            <a:xfrm>
              <a:off x="3404374" y="7598275"/>
              <a:ext cx="1645919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   </a:t>
              </a:r>
              <a:endParaRPr lang="es-DO" sz="130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grpSp>
          <p:nvGrpSpPr>
            <p:cNvPr id="1590" name="Grupo 1589">
              <a:extLst>
                <a:ext uri="{FF2B5EF4-FFF2-40B4-BE49-F238E27FC236}">
                  <a16:creationId xmlns:a16="http://schemas.microsoft.com/office/drawing/2014/main" id="{A832DB50-E972-64A7-6F70-58770A2A64DD}"/>
                </a:ext>
              </a:extLst>
            </p:cNvPr>
            <p:cNvGrpSpPr/>
            <p:nvPr/>
          </p:nvGrpSpPr>
          <p:grpSpPr>
            <a:xfrm>
              <a:off x="3459606" y="7668884"/>
              <a:ext cx="578994" cy="483711"/>
              <a:chOff x="3459606" y="7725410"/>
              <a:chExt cx="578994" cy="483711"/>
            </a:xfrm>
          </p:grpSpPr>
          <p:pic>
            <p:nvPicPr>
              <p:cNvPr id="186" name="Imagen 185">
                <a:extLst>
                  <a:ext uri="{FF2B5EF4-FFF2-40B4-BE49-F238E27FC236}">
                    <a16:creationId xmlns:a16="http://schemas.microsoft.com/office/drawing/2014/main" id="{DD617C30-AAAB-570E-14BD-1B7B38067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583348" y="7725410"/>
                <a:ext cx="269372" cy="269372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1572" name="CuadroTexto 1571">
                <a:extLst>
                  <a:ext uri="{FF2B5EF4-FFF2-40B4-BE49-F238E27FC236}">
                    <a16:creationId xmlns:a16="http://schemas.microsoft.com/office/drawing/2014/main" id="{DCDD6094-03DF-F954-00E7-5FA979323FA8}"/>
                  </a:ext>
                </a:extLst>
              </p:cNvPr>
              <p:cNvSpPr txBox="1"/>
              <p:nvPr/>
            </p:nvSpPr>
            <p:spPr>
              <a:xfrm>
                <a:off x="3459606" y="7962900"/>
                <a:ext cx="578994" cy="246221"/>
              </a:xfrm>
              <a:prstGeom prst="rect">
                <a:avLst/>
              </a:prstGeom>
              <a:noFill/>
            </p:spPr>
            <p:txBody>
              <a:bodyPr wrap="square" lIns="27432" rIns="27432" rtlCol="0">
                <a:spAutoFit/>
              </a:bodyPr>
              <a:lstStyle/>
              <a:p>
                <a:pPr algn="ctr"/>
                <a:r>
                  <a:rPr lang="en-US" sz="10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Premium</a:t>
                </a:r>
                <a:endParaRPr lang="es-DO" sz="600" b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591" name="Grupo 1590">
              <a:extLst>
                <a:ext uri="{FF2B5EF4-FFF2-40B4-BE49-F238E27FC236}">
                  <a16:creationId xmlns:a16="http://schemas.microsoft.com/office/drawing/2014/main" id="{01D9B53E-7D39-703C-6043-61ACE97F8AAF}"/>
                </a:ext>
              </a:extLst>
            </p:cNvPr>
            <p:cNvGrpSpPr/>
            <p:nvPr/>
          </p:nvGrpSpPr>
          <p:grpSpPr>
            <a:xfrm>
              <a:off x="4076787" y="7658100"/>
              <a:ext cx="364148" cy="493398"/>
              <a:chOff x="4076787" y="7714626"/>
              <a:chExt cx="364148" cy="493398"/>
            </a:xfrm>
          </p:grpSpPr>
          <p:pic>
            <p:nvPicPr>
              <p:cNvPr id="686" name="Imagen 685">
                <a:extLst>
                  <a:ext uri="{FF2B5EF4-FFF2-40B4-BE49-F238E27FC236}">
                    <a16:creationId xmlns:a16="http://schemas.microsoft.com/office/drawing/2014/main" id="{A4F15052-03EB-5421-2369-FE6DB4B843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101129" y="7714626"/>
                <a:ext cx="286524" cy="280156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1574" name="CuadroTexto 1573">
                <a:extLst>
                  <a:ext uri="{FF2B5EF4-FFF2-40B4-BE49-F238E27FC236}">
                    <a16:creationId xmlns:a16="http://schemas.microsoft.com/office/drawing/2014/main" id="{2BAD0450-CD9B-B1DA-FEBD-F756CB05EE01}"/>
                  </a:ext>
                </a:extLst>
              </p:cNvPr>
              <p:cNvSpPr txBox="1"/>
              <p:nvPr/>
            </p:nvSpPr>
            <p:spPr>
              <a:xfrm>
                <a:off x="4076787" y="8007969"/>
                <a:ext cx="364148" cy="200055"/>
              </a:xfrm>
              <a:prstGeom prst="rect">
                <a:avLst/>
              </a:prstGeom>
              <a:noFill/>
            </p:spPr>
            <p:txBody>
              <a:bodyPr wrap="square" lIns="0" tIns="0" rIns="0" rtlCol="0">
                <a:spAutoFit/>
              </a:bodyPr>
              <a:lstStyle/>
              <a:p>
                <a:pPr algn="ctr"/>
                <a:r>
                  <a:rPr lang="en-US" sz="10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Joven</a:t>
                </a:r>
                <a:endParaRPr lang="es-DO" sz="600" b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grpSp>
          <p:nvGrpSpPr>
            <p:cNvPr id="1592" name="Grupo 1591">
              <a:extLst>
                <a:ext uri="{FF2B5EF4-FFF2-40B4-BE49-F238E27FC236}">
                  <a16:creationId xmlns:a16="http://schemas.microsoft.com/office/drawing/2014/main" id="{D56982BC-DE04-658A-E9A2-851172B5EEB2}"/>
                </a:ext>
              </a:extLst>
            </p:cNvPr>
            <p:cNvGrpSpPr/>
            <p:nvPr/>
          </p:nvGrpSpPr>
          <p:grpSpPr>
            <a:xfrm>
              <a:off x="4450206" y="7658100"/>
              <a:ext cx="578994" cy="494495"/>
              <a:chOff x="4450206" y="7714626"/>
              <a:chExt cx="578994" cy="494495"/>
            </a:xfrm>
          </p:grpSpPr>
          <p:pic>
            <p:nvPicPr>
              <p:cNvPr id="187" name="Imagen 186">
                <a:extLst>
                  <a:ext uri="{FF2B5EF4-FFF2-40B4-BE49-F238E27FC236}">
                    <a16:creationId xmlns:a16="http://schemas.microsoft.com/office/drawing/2014/main" id="{185F6D22-B959-B0DA-A14E-6F76795F6F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587074" y="7714626"/>
                <a:ext cx="269372" cy="269372"/>
              </a:xfrm>
              <a:prstGeom prst="rect">
                <a:avLst/>
              </a:prstGeom>
            </p:spPr>
          </p:pic>
          <p:sp>
            <p:nvSpPr>
              <p:cNvPr id="1575" name="CuadroTexto 1574">
                <a:extLst>
                  <a:ext uri="{FF2B5EF4-FFF2-40B4-BE49-F238E27FC236}">
                    <a16:creationId xmlns:a16="http://schemas.microsoft.com/office/drawing/2014/main" id="{0BD1BE22-8D56-03B7-1690-2DC8014D0C9B}"/>
                  </a:ext>
                </a:extLst>
              </p:cNvPr>
              <p:cNvSpPr txBox="1"/>
              <p:nvPr/>
            </p:nvSpPr>
            <p:spPr>
              <a:xfrm>
                <a:off x="4450206" y="7962900"/>
                <a:ext cx="578994" cy="246221"/>
              </a:xfrm>
              <a:prstGeom prst="rect">
                <a:avLst/>
              </a:prstGeom>
              <a:noFill/>
            </p:spPr>
            <p:txBody>
              <a:bodyPr wrap="square" lIns="27432" rIns="27432" rtlCol="0">
                <a:spAutoFit/>
              </a:bodyPr>
              <a:lstStyle/>
              <a:p>
                <a:pPr algn="ctr"/>
                <a:r>
                  <a:rPr lang="en-US" sz="1000" dirty="0" err="1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Masivo</a:t>
                </a:r>
                <a:endParaRPr lang="es-DO" sz="600" b="1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</p:grpSp>
      <p:grpSp>
        <p:nvGrpSpPr>
          <p:cNvPr id="1542" name="Grupo 1541">
            <a:extLst>
              <a:ext uri="{FF2B5EF4-FFF2-40B4-BE49-F238E27FC236}">
                <a16:creationId xmlns:a16="http://schemas.microsoft.com/office/drawing/2014/main" id="{369F3C26-F7D7-0D17-6DDA-98CC5FDF9545}"/>
              </a:ext>
            </a:extLst>
          </p:cNvPr>
          <p:cNvGrpSpPr/>
          <p:nvPr/>
        </p:nvGrpSpPr>
        <p:grpSpPr>
          <a:xfrm>
            <a:off x="533400" y="8280388"/>
            <a:ext cx="17190720" cy="1468705"/>
            <a:chOff x="381000" y="8322995"/>
            <a:chExt cx="17190720" cy="1468705"/>
          </a:xfrm>
          <a:solidFill>
            <a:srgbClr val="DDD9C3"/>
          </a:solidFill>
        </p:grpSpPr>
        <p:sp>
          <p:nvSpPr>
            <p:cNvPr id="1462" name="Rectángulo 1461">
              <a:extLst>
                <a:ext uri="{FF2B5EF4-FFF2-40B4-BE49-F238E27FC236}">
                  <a16:creationId xmlns:a16="http://schemas.microsoft.com/office/drawing/2014/main" id="{869CC14A-928C-FCD2-349A-2B57A02E2BDB}"/>
                </a:ext>
              </a:extLst>
            </p:cNvPr>
            <p:cNvSpPr/>
            <p:nvPr/>
          </p:nvSpPr>
          <p:spPr>
            <a:xfrm>
              <a:off x="381000" y="8322995"/>
              <a:ext cx="17190720" cy="1468705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/>
            </a:p>
          </p:txBody>
        </p:sp>
        <p:sp>
          <p:nvSpPr>
            <p:cNvPr id="1364" name="Rectángulo 1363">
              <a:extLst>
                <a:ext uri="{FF2B5EF4-FFF2-40B4-BE49-F238E27FC236}">
                  <a16:creationId xmlns:a16="http://schemas.microsoft.com/office/drawing/2014/main" id="{52ABB6ED-9875-AE7B-DBA6-5F15536F34BA}"/>
                </a:ext>
              </a:extLst>
            </p:cNvPr>
            <p:cNvSpPr/>
            <p:nvPr/>
          </p:nvSpPr>
          <p:spPr>
            <a:xfrm rot="16200000">
              <a:off x="-24595" y="8831581"/>
              <a:ext cx="1447799" cy="472437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Comportamientos diferenciados</a:t>
              </a:r>
            </a:p>
          </p:txBody>
        </p:sp>
      </p:grpSp>
      <p:grpSp>
        <p:nvGrpSpPr>
          <p:cNvPr id="1651" name="Grupo 1650">
            <a:extLst>
              <a:ext uri="{FF2B5EF4-FFF2-40B4-BE49-F238E27FC236}">
                <a16:creationId xmlns:a16="http://schemas.microsoft.com/office/drawing/2014/main" id="{28B96E01-1B96-DD1E-7837-11643F660C06}"/>
              </a:ext>
            </a:extLst>
          </p:cNvPr>
          <p:cNvGrpSpPr/>
          <p:nvPr/>
        </p:nvGrpSpPr>
        <p:grpSpPr>
          <a:xfrm>
            <a:off x="1148882" y="8351603"/>
            <a:ext cx="16506716" cy="620949"/>
            <a:chOff x="996482" y="8394210"/>
            <a:chExt cx="16506716" cy="620949"/>
          </a:xfrm>
        </p:grpSpPr>
        <p:sp>
          <p:nvSpPr>
            <p:cNvPr id="153" name="Diagrama de flujo: proceso alternativo 152">
              <a:extLst>
                <a:ext uri="{FF2B5EF4-FFF2-40B4-BE49-F238E27FC236}">
                  <a16:creationId xmlns:a16="http://schemas.microsoft.com/office/drawing/2014/main" id="{603ED8C7-FE2A-722B-617E-218E8B0DFC3D}"/>
                </a:ext>
              </a:extLst>
            </p:cNvPr>
            <p:cNvSpPr/>
            <p:nvPr/>
          </p:nvSpPr>
          <p:spPr>
            <a:xfrm>
              <a:off x="7609797" y="8395018"/>
              <a:ext cx="3191256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n-US" sz="1150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Incentivos</a:t>
              </a:r>
              <a:r>
                <a:rPr lang="en-US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de canal; digital-first; bundles</a:t>
              </a:r>
              <a:endParaRPr lang="es-DO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147" name="Diagrama de flujo: proceso alternativo 1146">
              <a:extLst>
                <a:ext uri="{FF2B5EF4-FFF2-40B4-BE49-F238E27FC236}">
                  <a16:creationId xmlns:a16="http://schemas.microsoft.com/office/drawing/2014/main" id="{66D89388-EE22-C6EC-EEF9-6941662ABBEF}"/>
                </a:ext>
              </a:extLst>
            </p:cNvPr>
            <p:cNvSpPr/>
            <p:nvPr/>
          </p:nvSpPr>
          <p:spPr>
            <a:xfrm>
              <a:off x="5141325" y="8404285"/>
              <a:ext cx="2377440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Monetización y experiencia digital</a:t>
              </a:r>
            </a:p>
          </p:txBody>
        </p:sp>
        <p:sp>
          <p:nvSpPr>
            <p:cNvPr id="1390" name="Diagrama de flujo: proceso alternativo 1389">
              <a:extLst>
                <a:ext uri="{FF2B5EF4-FFF2-40B4-BE49-F238E27FC236}">
                  <a16:creationId xmlns:a16="http://schemas.microsoft.com/office/drawing/2014/main" id="{0531805F-F008-CE69-1AD9-DC02C5A3417F}"/>
                </a:ext>
              </a:extLst>
            </p:cNvPr>
            <p:cNvSpPr/>
            <p:nvPr/>
          </p:nvSpPr>
          <p:spPr>
            <a:xfrm>
              <a:off x="10892086" y="8395018"/>
              <a:ext cx="6611112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algn="just"/>
              <a:r>
                <a:rPr lang="es-DO" sz="1150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Cashback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online </a:t>
              </a:r>
              <a:r>
                <a:rPr kumimoji="0" lang="es-D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+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promociones exclusivas online </a:t>
              </a:r>
              <a:r>
                <a:rPr kumimoji="0" lang="es-D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+</a:t>
              </a:r>
              <a:r>
                <a:rPr lang="es-DO" sz="1150" b="1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incentivos de canal </a:t>
              </a:r>
              <a:r>
                <a:rPr kumimoji="0" lang="es-D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+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s-DO" sz="1150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bundles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con Electrónica</a:t>
              </a:r>
            </a:p>
          </p:txBody>
        </p:sp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A80DB705-90C1-DEDA-89D3-E3A1E6F25FC8}"/>
                </a:ext>
              </a:extLst>
            </p:cNvPr>
            <p:cNvGrpSpPr/>
            <p:nvPr/>
          </p:nvGrpSpPr>
          <p:grpSpPr>
            <a:xfrm>
              <a:off x="996482" y="8394210"/>
              <a:ext cx="2319683" cy="594360"/>
              <a:chOff x="5646418" y="8486307"/>
              <a:chExt cx="2190812" cy="594360"/>
            </a:xfrm>
            <a:solidFill>
              <a:srgbClr val="F1F1F2"/>
            </a:solidFill>
          </p:grpSpPr>
          <p:sp>
            <p:nvSpPr>
              <p:cNvPr id="44" name="Diagrama de flujo: proceso alternativo 43">
                <a:extLst>
                  <a:ext uri="{FF2B5EF4-FFF2-40B4-BE49-F238E27FC236}">
                    <a16:creationId xmlns:a16="http://schemas.microsoft.com/office/drawing/2014/main" id="{6654DACA-0338-BCA8-973A-174017393CF8}"/>
                  </a:ext>
                </a:extLst>
              </p:cNvPr>
              <p:cNvSpPr/>
              <p:nvPr/>
            </p:nvSpPr>
            <p:spPr>
              <a:xfrm>
                <a:off x="5646418" y="8486307"/>
                <a:ext cx="2190812" cy="594360"/>
              </a:xfrm>
              <a:prstGeom prst="flowChartAlternateProcess">
                <a:avLst/>
              </a:prstGeom>
              <a:solidFill>
                <a:srgbClr val="FFFFFF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lvl="1"/>
                <a:r>
                  <a:rPr lang="en-US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    Ecommerce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pic>
            <p:nvPicPr>
              <p:cNvPr id="45" name="Imagen 44">
                <a:extLst>
                  <a:ext uri="{FF2B5EF4-FFF2-40B4-BE49-F238E27FC236}">
                    <a16:creationId xmlns:a16="http://schemas.microsoft.com/office/drawing/2014/main" id="{1CB09387-C772-DD38-7BE0-77AC7E5C9C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894206" y="8597983"/>
                <a:ext cx="371007" cy="37100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37" name="Grupo 1636">
              <a:extLst>
                <a:ext uri="{FF2B5EF4-FFF2-40B4-BE49-F238E27FC236}">
                  <a16:creationId xmlns:a16="http://schemas.microsoft.com/office/drawing/2014/main" id="{14CFB72A-DB47-CD58-1251-F04959F27C76}"/>
                </a:ext>
              </a:extLst>
            </p:cNvPr>
            <p:cNvGrpSpPr/>
            <p:nvPr/>
          </p:nvGrpSpPr>
          <p:grpSpPr>
            <a:xfrm>
              <a:off x="3404374" y="8404285"/>
              <a:ext cx="1645919" cy="610874"/>
              <a:chOff x="3404374" y="8404285"/>
              <a:chExt cx="1645919" cy="610874"/>
            </a:xfrm>
          </p:grpSpPr>
          <p:sp>
            <p:nvSpPr>
              <p:cNvPr id="154" name="Diagrama de flujo: proceso alternativo 153">
                <a:extLst>
                  <a:ext uri="{FF2B5EF4-FFF2-40B4-BE49-F238E27FC236}">
                    <a16:creationId xmlns:a16="http://schemas.microsoft.com/office/drawing/2014/main" id="{602375CA-F35E-82D0-6B45-4D7EFB97744F}"/>
                  </a:ext>
                </a:extLst>
              </p:cNvPr>
              <p:cNvSpPr/>
              <p:nvPr/>
            </p:nvSpPr>
            <p:spPr>
              <a:xfrm>
                <a:off x="3404374" y="8404285"/>
                <a:ext cx="1645919" cy="59436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grpSp>
            <p:nvGrpSpPr>
              <p:cNvPr id="1595" name="Grupo 1594">
                <a:extLst>
                  <a:ext uri="{FF2B5EF4-FFF2-40B4-BE49-F238E27FC236}">
                    <a16:creationId xmlns:a16="http://schemas.microsoft.com/office/drawing/2014/main" id="{C073D97E-D99B-AE08-CD58-C547C6635DB6}"/>
                  </a:ext>
                </a:extLst>
              </p:cNvPr>
              <p:cNvGrpSpPr/>
              <p:nvPr/>
            </p:nvGrpSpPr>
            <p:grpSpPr>
              <a:xfrm>
                <a:off x="3545823" y="8496300"/>
                <a:ext cx="1330977" cy="518859"/>
                <a:chOff x="3545823" y="8496300"/>
                <a:chExt cx="1330977" cy="518859"/>
              </a:xfrm>
            </p:grpSpPr>
            <p:pic>
              <p:nvPicPr>
                <p:cNvPr id="151" name="Imagen 150">
                  <a:extLst>
                    <a:ext uri="{FF2B5EF4-FFF2-40B4-BE49-F238E27FC236}">
                      <a16:creationId xmlns:a16="http://schemas.microsoft.com/office/drawing/2014/main" id="{1962059F-D67D-76C3-D5AE-78B6AF0E05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3926823" y="8496300"/>
                  <a:ext cx="269372" cy="269372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pic>
              <p:nvPicPr>
                <p:cNvPr id="152" name="Imagen 151">
                  <a:extLst>
                    <a:ext uri="{FF2B5EF4-FFF2-40B4-BE49-F238E27FC236}">
                      <a16:creationId xmlns:a16="http://schemas.microsoft.com/office/drawing/2014/main" id="{355C3CDB-37AF-D38D-CF09-1BDD7B5892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3545823" y="8496430"/>
                  <a:ext cx="269372" cy="269111"/>
                </a:xfrm>
                <a:prstGeom prst="rect">
                  <a:avLst/>
                </a:prstGeom>
              </p:spPr>
            </p:pic>
            <p:pic>
              <p:nvPicPr>
                <p:cNvPr id="1365" name="Imagen 1364">
                  <a:extLst>
                    <a:ext uri="{FF2B5EF4-FFF2-40B4-BE49-F238E27FC236}">
                      <a16:creationId xmlns:a16="http://schemas.microsoft.com/office/drawing/2014/main" id="{2FE5C2C3-D7E9-DF0D-D1DB-C9C51626D5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4274956" y="8499294"/>
                  <a:ext cx="269372" cy="263385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pic>
              <p:nvPicPr>
                <p:cNvPr id="1366" name="Imagen 1365">
                  <a:extLst>
                    <a:ext uri="{FF2B5EF4-FFF2-40B4-BE49-F238E27FC236}">
                      <a16:creationId xmlns:a16="http://schemas.microsoft.com/office/drawing/2014/main" id="{BB472D23-458C-6E49-3F79-C514441805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4607428" y="8496300"/>
                  <a:ext cx="269372" cy="269372"/>
                </a:xfrm>
                <a:prstGeom prst="rect">
                  <a:avLst/>
                </a:prstGeom>
              </p:spPr>
            </p:pic>
            <p:sp>
              <p:nvSpPr>
                <p:cNvPr id="1594" name="CuadroTexto 1593">
                  <a:extLst>
                    <a:ext uri="{FF2B5EF4-FFF2-40B4-BE49-F238E27FC236}">
                      <a16:creationId xmlns:a16="http://schemas.microsoft.com/office/drawing/2014/main" id="{B2223435-3A11-CDC8-8F48-8015059C060D}"/>
                    </a:ext>
                  </a:extLst>
                </p:cNvPr>
                <p:cNvSpPr txBox="1"/>
                <p:nvPr/>
              </p:nvSpPr>
              <p:spPr>
                <a:xfrm>
                  <a:off x="3886200" y="8768938"/>
                  <a:ext cx="667657" cy="246221"/>
                </a:xfrm>
                <a:prstGeom prst="rect">
                  <a:avLst/>
                </a:prstGeom>
                <a:noFill/>
              </p:spPr>
              <p:txBody>
                <a:bodyPr wrap="square" lIns="27432" rIns="27432" rtlCol="0">
                  <a:spAutoFit/>
                </a:bodyPr>
                <a:lstStyle/>
                <a:p>
                  <a:pPr algn="ctr"/>
                  <a:r>
                    <a:rPr lang="en-US" sz="10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Transversal</a:t>
                  </a:r>
                  <a:endParaRPr lang="es-DO" sz="6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p:grpSp>
        </p:grpSp>
      </p:grpSp>
      <p:grpSp>
        <p:nvGrpSpPr>
          <p:cNvPr id="1650" name="Grupo 1649">
            <a:extLst>
              <a:ext uri="{FF2B5EF4-FFF2-40B4-BE49-F238E27FC236}">
                <a16:creationId xmlns:a16="http://schemas.microsoft.com/office/drawing/2014/main" id="{7FDE3A35-D7C8-9945-ABD3-8305EDA7DAEA}"/>
              </a:ext>
            </a:extLst>
          </p:cNvPr>
          <p:cNvGrpSpPr/>
          <p:nvPr/>
        </p:nvGrpSpPr>
        <p:grpSpPr>
          <a:xfrm>
            <a:off x="853044" y="8311338"/>
            <a:ext cx="16802554" cy="1337743"/>
            <a:chOff x="700644" y="8353945"/>
            <a:chExt cx="16802554" cy="1337743"/>
          </a:xfrm>
        </p:grpSpPr>
        <p:sp>
          <p:nvSpPr>
            <p:cNvPr id="1126" name="Diagrama de flujo: proceso alternativo 1125">
              <a:extLst>
                <a:ext uri="{FF2B5EF4-FFF2-40B4-BE49-F238E27FC236}">
                  <a16:creationId xmlns:a16="http://schemas.microsoft.com/office/drawing/2014/main" id="{3C305DA5-F6E8-AF96-B4EC-D59F029E87D0}"/>
                </a:ext>
              </a:extLst>
            </p:cNvPr>
            <p:cNvSpPr/>
            <p:nvPr/>
          </p:nvSpPr>
          <p:spPr>
            <a:xfrm>
              <a:off x="7609797" y="9079897"/>
              <a:ext cx="3191256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n-US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Mayor </a:t>
              </a:r>
              <a:r>
                <a:rPr lang="en-US" sz="1150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frecuencia</a:t>
              </a:r>
              <a:r>
                <a:rPr lang="en-US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relativa</a:t>
              </a:r>
            </a:p>
          </p:txBody>
        </p:sp>
        <p:sp>
          <p:nvSpPr>
            <p:cNvPr id="1148" name="Diagrama de flujo: proceso alternativo 1147">
              <a:extLst>
                <a:ext uri="{FF2B5EF4-FFF2-40B4-BE49-F238E27FC236}">
                  <a16:creationId xmlns:a16="http://schemas.microsoft.com/office/drawing/2014/main" id="{DBB8A5BB-CDE3-BAF0-F2A8-F33F5660208E}"/>
                </a:ext>
              </a:extLst>
            </p:cNvPr>
            <p:cNvSpPr/>
            <p:nvPr/>
          </p:nvSpPr>
          <p:spPr>
            <a:xfrm>
              <a:off x="5141325" y="9097328"/>
              <a:ext cx="2377440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ctr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Retención y recurrencia</a:t>
              </a:r>
            </a:p>
          </p:txBody>
        </p:sp>
        <p:sp>
          <p:nvSpPr>
            <p:cNvPr id="1394" name="Diagrama de flujo: proceso alternativo 1393">
              <a:extLst>
                <a:ext uri="{FF2B5EF4-FFF2-40B4-BE49-F238E27FC236}">
                  <a16:creationId xmlns:a16="http://schemas.microsoft.com/office/drawing/2014/main" id="{14F9E73C-7BFF-C212-B07E-1DA3AEDC34FC}"/>
                </a:ext>
              </a:extLst>
            </p:cNvPr>
            <p:cNvSpPr/>
            <p:nvPr/>
          </p:nvSpPr>
          <p:spPr>
            <a:xfrm>
              <a:off x="10892086" y="9088061"/>
              <a:ext cx="6611112" cy="59436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t"/>
            <a:lstStyle/>
            <a:p>
              <a:pPr algn="just"/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Descuentos por recurrencia </a:t>
              </a:r>
              <a:r>
                <a:rPr kumimoji="0" lang="es-D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+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beneficios salud/bienestar </a:t>
              </a:r>
              <a:r>
                <a:rPr kumimoji="0" lang="es-D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+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campañas de bienestar laboral (Empresarial) </a:t>
              </a:r>
              <a:r>
                <a:rPr kumimoji="0" lang="es-DO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Segoe UI Semilight" panose="020B0402040204020203" pitchFamily="34" charset="0"/>
                  <a:ea typeface="+mn-ea"/>
                  <a:cs typeface="Segoe UI Semilight" panose="020B0402040204020203" pitchFamily="34" charset="0"/>
                </a:rPr>
                <a:t>+</a:t>
              </a:r>
              <a:r>
                <a:rPr lang="es-DO" sz="115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campañas temporales</a:t>
              </a:r>
              <a:endParaRPr lang="en-US" sz="115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grpSp>
          <p:nvGrpSpPr>
            <p:cNvPr id="1547" name="Grupo 1546">
              <a:extLst>
                <a:ext uri="{FF2B5EF4-FFF2-40B4-BE49-F238E27FC236}">
                  <a16:creationId xmlns:a16="http://schemas.microsoft.com/office/drawing/2014/main" id="{1C81325A-520B-33E1-B198-59E9936404BB}"/>
                </a:ext>
              </a:extLst>
            </p:cNvPr>
            <p:cNvGrpSpPr/>
            <p:nvPr/>
          </p:nvGrpSpPr>
          <p:grpSpPr>
            <a:xfrm>
              <a:off x="700644" y="8353945"/>
              <a:ext cx="2632240" cy="1327668"/>
              <a:chOff x="700644" y="8353945"/>
              <a:chExt cx="2632240" cy="1327668"/>
            </a:xfrm>
            <a:solidFill>
              <a:srgbClr val="F1F1F2"/>
            </a:solidFill>
          </p:grpSpPr>
          <p:grpSp>
            <p:nvGrpSpPr>
              <p:cNvPr id="99" name="Grupo 98">
                <a:extLst>
                  <a:ext uri="{FF2B5EF4-FFF2-40B4-BE49-F238E27FC236}">
                    <a16:creationId xmlns:a16="http://schemas.microsoft.com/office/drawing/2014/main" id="{5909E8B2-B3C2-5242-8D8F-08FC653E6780}"/>
                  </a:ext>
                </a:extLst>
              </p:cNvPr>
              <p:cNvGrpSpPr/>
              <p:nvPr/>
            </p:nvGrpSpPr>
            <p:grpSpPr>
              <a:xfrm>
                <a:off x="1010308" y="9087253"/>
                <a:ext cx="2322576" cy="594360"/>
                <a:chOff x="7437116" y="7353300"/>
                <a:chExt cx="2303067" cy="594360"/>
              </a:xfrm>
              <a:grpFill/>
            </p:grpSpPr>
            <p:sp>
              <p:nvSpPr>
                <p:cNvPr id="49" name="Diagrama de flujo: proceso alternativo 48">
                  <a:extLst>
                    <a:ext uri="{FF2B5EF4-FFF2-40B4-BE49-F238E27FC236}">
                      <a16:creationId xmlns:a16="http://schemas.microsoft.com/office/drawing/2014/main" id="{22A5E592-1357-0783-7289-26B85F1A042D}"/>
                    </a:ext>
                  </a:extLst>
                </p:cNvPr>
                <p:cNvSpPr/>
                <p:nvPr/>
              </p:nvSpPr>
              <p:spPr>
                <a:xfrm>
                  <a:off x="7437116" y="7353300"/>
                  <a:ext cx="2303067" cy="594360"/>
                </a:xfrm>
                <a:prstGeom prst="flowChartAlternateProcess">
                  <a:avLst/>
                </a:prstGeom>
                <a:solidFill>
                  <a:srgbClr val="FFFFFF">
                    <a:alpha val="50000"/>
                  </a:srgb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pPr lvl="1"/>
                  <a:r>
                    <a:rPr lang="en-US" sz="1300" dirty="0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        </a:t>
                  </a:r>
                  <a:r>
                    <a:rPr lang="en-US" sz="1300" dirty="0" err="1">
                      <a:solidFill>
                        <a:schemeClr val="tx1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Farmacias</a:t>
                  </a:r>
                  <a:endParaRPr lang="es-DO" sz="13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  <p:pic>
              <p:nvPicPr>
                <p:cNvPr id="50" name="Imagen 49">
                  <a:extLst>
                    <a:ext uri="{FF2B5EF4-FFF2-40B4-BE49-F238E27FC236}">
                      <a16:creationId xmlns:a16="http://schemas.microsoft.com/office/drawing/2014/main" id="{4EAB8683-A843-5B86-B9B5-27BA001CF4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7706271" y="7447943"/>
                  <a:ext cx="391342" cy="38351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541" name="Imagen 1540">
                <a:extLst>
                  <a:ext uri="{FF2B5EF4-FFF2-40B4-BE49-F238E27FC236}">
                    <a16:creationId xmlns:a16="http://schemas.microsoft.com/office/drawing/2014/main" id="{5CB0954E-A6AB-1A30-66EC-D4BA962451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24">
                        <a14:imgEffect>
                          <a14:sharpenSoften amount="-50000"/>
                        </a14:imgEffect>
                        <a14:imgEffect>
                          <a14:colorTemperature colorTemp="4700"/>
                        </a14:imgEffect>
                        <a14:imgEffect>
                          <a14:saturation sat="400000"/>
                        </a14:imgEffect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00644" y="8353945"/>
                <a:ext cx="202569" cy="202569"/>
              </a:xfrm>
              <a:prstGeom prst="rect">
                <a:avLst/>
              </a:prstGeom>
              <a:noFill/>
            </p:spPr>
          </p:pic>
        </p:grpSp>
        <p:grpSp>
          <p:nvGrpSpPr>
            <p:cNvPr id="1598" name="Grupo 1597">
              <a:extLst>
                <a:ext uri="{FF2B5EF4-FFF2-40B4-BE49-F238E27FC236}">
                  <a16:creationId xmlns:a16="http://schemas.microsoft.com/office/drawing/2014/main" id="{BB5D976B-5214-CF00-5DEF-BE5A9C593D5D}"/>
                </a:ext>
              </a:extLst>
            </p:cNvPr>
            <p:cNvGrpSpPr/>
            <p:nvPr/>
          </p:nvGrpSpPr>
          <p:grpSpPr>
            <a:xfrm>
              <a:off x="3400810" y="9088061"/>
              <a:ext cx="1645919" cy="594360"/>
              <a:chOff x="3400810" y="9088061"/>
              <a:chExt cx="1645919" cy="594360"/>
            </a:xfrm>
          </p:grpSpPr>
          <p:sp>
            <p:nvSpPr>
              <p:cNvPr id="191" name="Diagrama de flujo: proceso alternativo 190">
                <a:extLst>
                  <a:ext uri="{FF2B5EF4-FFF2-40B4-BE49-F238E27FC236}">
                    <a16:creationId xmlns:a16="http://schemas.microsoft.com/office/drawing/2014/main" id="{65CE05D5-812A-08FA-E3CF-3E1CB7799050}"/>
                  </a:ext>
                </a:extLst>
              </p:cNvPr>
              <p:cNvSpPr/>
              <p:nvPr/>
            </p:nvSpPr>
            <p:spPr>
              <a:xfrm>
                <a:off x="3400810" y="9088061"/>
                <a:ext cx="1645919" cy="59436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   </a:t>
                </a:r>
                <a:endParaRPr lang="es-DO" sz="1300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grpSp>
            <p:nvGrpSpPr>
              <p:cNvPr id="1597" name="Grupo 1596">
                <a:extLst>
                  <a:ext uri="{FF2B5EF4-FFF2-40B4-BE49-F238E27FC236}">
                    <a16:creationId xmlns:a16="http://schemas.microsoft.com/office/drawing/2014/main" id="{3D463029-629E-8A73-E1B3-F4EF7A9E1579}"/>
                  </a:ext>
                </a:extLst>
              </p:cNvPr>
              <p:cNvGrpSpPr/>
              <p:nvPr/>
            </p:nvGrpSpPr>
            <p:grpSpPr>
              <a:xfrm>
                <a:off x="3499702" y="9182100"/>
                <a:ext cx="691297" cy="481208"/>
                <a:chOff x="3499702" y="9182100"/>
                <a:chExt cx="691297" cy="481208"/>
              </a:xfrm>
            </p:grpSpPr>
            <p:pic>
              <p:nvPicPr>
                <p:cNvPr id="645" name="Imagen 644">
                  <a:extLst>
                    <a:ext uri="{FF2B5EF4-FFF2-40B4-BE49-F238E27FC236}">
                      <a16:creationId xmlns:a16="http://schemas.microsoft.com/office/drawing/2014/main" id="{EC63466C-C666-E39F-653F-8A15BF7BF0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3693028" y="9182100"/>
                  <a:ext cx="269372" cy="269372"/>
                </a:xfrm>
                <a:prstGeom prst="rect">
                  <a:avLst/>
                </a:prstGeom>
              </p:spPr>
            </p:pic>
            <p:sp>
              <p:nvSpPr>
                <p:cNvPr id="1596" name="CuadroTexto 1595">
                  <a:extLst>
                    <a:ext uri="{FF2B5EF4-FFF2-40B4-BE49-F238E27FC236}">
                      <a16:creationId xmlns:a16="http://schemas.microsoft.com/office/drawing/2014/main" id="{0250B38F-B75B-D8A9-1405-DB6CFF89A60C}"/>
                    </a:ext>
                  </a:extLst>
                </p:cNvPr>
                <p:cNvSpPr txBox="1"/>
                <p:nvPr/>
              </p:nvSpPr>
              <p:spPr>
                <a:xfrm>
                  <a:off x="3499702" y="9417087"/>
                  <a:ext cx="691297" cy="246221"/>
                </a:xfrm>
                <a:prstGeom prst="rect">
                  <a:avLst/>
                </a:prstGeom>
                <a:noFill/>
              </p:spPr>
              <p:txBody>
                <a:bodyPr wrap="square" lIns="27432" rIns="27432" rtlCol="0">
                  <a:spAutoFit/>
                </a:bodyPr>
                <a:lstStyle/>
                <a:p>
                  <a:pPr algn="ctr"/>
                  <a:r>
                    <a:rPr lang="en-US" sz="10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Empresarial</a:t>
                  </a:r>
                  <a:endParaRPr lang="es-DO" sz="600" b="1" dirty="0">
                    <a:latin typeface="Segoe UI Semilight" panose="020B0402040204020203" pitchFamily="34" charset="0"/>
                    <a:cs typeface="Segoe UI Semilight" panose="020B0402040204020203" pitchFamily="34" charset="0"/>
                  </a:endParaRPr>
                </a:p>
              </p:txBody>
            </p:sp>
          </p:grpSp>
        </p:grpSp>
      </p:grpSp>
      <p:grpSp>
        <p:nvGrpSpPr>
          <p:cNvPr id="1548" name="Grupo 1547">
            <a:extLst>
              <a:ext uri="{FF2B5EF4-FFF2-40B4-BE49-F238E27FC236}">
                <a16:creationId xmlns:a16="http://schemas.microsoft.com/office/drawing/2014/main" id="{1ACDBE13-D7A5-F162-459A-CCC05B0B0C07}"/>
              </a:ext>
            </a:extLst>
          </p:cNvPr>
          <p:cNvGrpSpPr/>
          <p:nvPr/>
        </p:nvGrpSpPr>
        <p:grpSpPr>
          <a:xfrm>
            <a:off x="1143000" y="5710493"/>
            <a:ext cx="16611600" cy="371204"/>
            <a:chOff x="996484" y="5741551"/>
            <a:chExt cx="16611600" cy="371204"/>
          </a:xfrm>
          <a:solidFill>
            <a:srgbClr val="F1F1F2"/>
          </a:solidFill>
        </p:grpSpPr>
        <p:sp>
          <p:nvSpPr>
            <p:cNvPr id="183" name="Diagrama de flujo: proceso alternativo 182">
              <a:extLst>
                <a:ext uri="{FF2B5EF4-FFF2-40B4-BE49-F238E27FC236}">
                  <a16:creationId xmlns:a16="http://schemas.microsoft.com/office/drawing/2014/main" id="{B18126C5-C852-3938-1832-FCB304235230}"/>
                </a:ext>
              </a:extLst>
            </p:cNvPr>
            <p:cNvSpPr/>
            <p:nvPr/>
          </p:nvSpPr>
          <p:spPr>
            <a:xfrm>
              <a:off x="3404374" y="5741552"/>
              <a:ext cx="1645920" cy="365760"/>
            </a:xfrm>
            <a:prstGeom prst="flowChartAlternateProcess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Segmento</a:t>
              </a:r>
              <a:r>
                <a:rPr lang="en-US" sz="1200" b="1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foco</a:t>
              </a:r>
              <a:endParaRPr lang="es-DO" sz="1200" b="1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145" name="Diagrama de flujo: proceso alternativo 1144">
              <a:extLst>
                <a:ext uri="{FF2B5EF4-FFF2-40B4-BE49-F238E27FC236}">
                  <a16:creationId xmlns:a16="http://schemas.microsoft.com/office/drawing/2014/main" id="{9FBEC564-19B3-CCB6-9977-F5CDAB39962F}"/>
                </a:ext>
              </a:extLst>
            </p:cNvPr>
            <p:cNvSpPr/>
            <p:nvPr/>
          </p:nvSpPr>
          <p:spPr>
            <a:xfrm>
              <a:off x="5141325" y="5746995"/>
              <a:ext cx="2377440" cy="365760"/>
            </a:xfrm>
            <a:prstGeom prst="flowChartAlternateProcess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Objetivo</a:t>
              </a:r>
              <a:r>
                <a:rPr lang="en-US" sz="1200" b="1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estratégico</a:t>
              </a:r>
              <a:endParaRPr lang="es-DO" sz="1200" b="1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361" name="Diagrama de flujo: proceso alternativo 1360">
              <a:extLst>
                <a:ext uri="{FF2B5EF4-FFF2-40B4-BE49-F238E27FC236}">
                  <a16:creationId xmlns:a16="http://schemas.microsoft.com/office/drawing/2014/main" id="{901E7451-3B03-7D90-75CF-DCA93DC2F773}"/>
                </a:ext>
              </a:extLst>
            </p:cNvPr>
            <p:cNvSpPr/>
            <p:nvPr/>
          </p:nvSpPr>
          <p:spPr>
            <a:xfrm>
              <a:off x="996484" y="5742792"/>
              <a:ext cx="2377440" cy="365760"/>
            </a:xfrm>
            <a:prstGeom prst="flowChartAlternateProcess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Comercio</a:t>
              </a:r>
              <a:endParaRPr lang="es-DO" sz="1200" b="1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384" name="Diagrama de flujo: proceso alternativo 1383">
              <a:extLst>
                <a:ext uri="{FF2B5EF4-FFF2-40B4-BE49-F238E27FC236}">
                  <a16:creationId xmlns:a16="http://schemas.microsoft.com/office/drawing/2014/main" id="{4965566F-363A-B5A6-BADB-2A0BE22571F9}"/>
                </a:ext>
              </a:extLst>
            </p:cNvPr>
            <p:cNvSpPr/>
            <p:nvPr/>
          </p:nvSpPr>
          <p:spPr>
            <a:xfrm>
              <a:off x="7609797" y="5746995"/>
              <a:ext cx="3191256" cy="365760"/>
            </a:xfrm>
            <a:prstGeom prst="flowChartAlternateProcess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Palancas</a:t>
              </a:r>
              <a:endParaRPr lang="es-DO" sz="1200" b="1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70" name="Diagrama de flujo: proceso alternativo 69">
              <a:extLst>
                <a:ext uri="{FF2B5EF4-FFF2-40B4-BE49-F238E27FC236}">
                  <a16:creationId xmlns:a16="http://schemas.microsoft.com/office/drawing/2014/main" id="{0B58F504-F446-C788-C14A-6FE19BC3FBBE}"/>
                </a:ext>
              </a:extLst>
            </p:cNvPr>
            <p:cNvSpPr/>
            <p:nvPr/>
          </p:nvSpPr>
          <p:spPr>
            <a:xfrm>
              <a:off x="10892086" y="5741551"/>
              <a:ext cx="6715998" cy="365760"/>
            </a:xfrm>
            <a:prstGeom prst="flowChartAlternateProcess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Acciones</a:t>
              </a:r>
              <a:endParaRPr lang="es-DO" sz="1200" b="1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  <p:pic>
        <p:nvPicPr>
          <p:cNvPr id="1675" name="Imagen 1674">
            <a:extLst>
              <a:ext uri="{FF2B5EF4-FFF2-40B4-BE49-F238E27FC236}">
                <a16:creationId xmlns:a16="http://schemas.microsoft.com/office/drawing/2014/main" id="{D3BB85B3-9417-79F2-F346-3192CE7A042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2200" y="5759111"/>
            <a:ext cx="268524" cy="268524"/>
          </a:xfrm>
          <a:prstGeom prst="rect">
            <a:avLst/>
          </a:prstGeom>
        </p:spPr>
      </p:pic>
      <p:grpSp>
        <p:nvGrpSpPr>
          <p:cNvPr id="1677" name="Grupo 1676">
            <a:extLst>
              <a:ext uri="{FF2B5EF4-FFF2-40B4-BE49-F238E27FC236}">
                <a16:creationId xmlns:a16="http://schemas.microsoft.com/office/drawing/2014/main" id="{1A7DD25B-555B-BC20-E2CD-1E82D9652514}"/>
              </a:ext>
            </a:extLst>
          </p:cNvPr>
          <p:cNvGrpSpPr/>
          <p:nvPr/>
        </p:nvGrpSpPr>
        <p:grpSpPr>
          <a:xfrm>
            <a:off x="4520747" y="1638300"/>
            <a:ext cx="13321547" cy="1280815"/>
            <a:chOff x="255906" y="2087033"/>
            <a:chExt cx="13321547" cy="1280815"/>
          </a:xfrm>
        </p:grpSpPr>
        <p:grpSp>
          <p:nvGrpSpPr>
            <p:cNvPr id="1678" name="Grupo 1677">
              <a:extLst>
                <a:ext uri="{FF2B5EF4-FFF2-40B4-BE49-F238E27FC236}">
                  <a16:creationId xmlns:a16="http://schemas.microsoft.com/office/drawing/2014/main" id="{7FFC4F28-C28C-344E-AD6E-30D29EA65689}"/>
                </a:ext>
              </a:extLst>
            </p:cNvPr>
            <p:cNvGrpSpPr/>
            <p:nvPr/>
          </p:nvGrpSpPr>
          <p:grpSpPr>
            <a:xfrm>
              <a:off x="255906" y="2087033"/>
              <a:ext cx="3799134" cy="521732"/>
              <a:chOff x="10972800" y="6621942"/>
              <a:chExt cx="3799134" cy="521732"/>
            </a:xfrm>
          </p:grpSpPr>
          <p:pic>
            <p:nvPicPr>
              <p:cNvPr id="1680" name="Gráfico 1679" descr="Lightbulb and gear contorno">
                <a:extLst>
                  <a:ext uri="{FF2B5EF4-FFF2-40B4-BE49-F238E27FC236}">
                    <a16:creationId xmlns:a16="http://schemas.microsoft.com/office/drawing/2014/main" id="{AF003D73-A29B-9A4E-6AFB-6DED5719CD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0972800" y="6621942"/>
                <a:ext cx="521732" cy="521732"/>
              </a:xfrm>
              <a:prstGeom prst="rect">
                <a:avLst/>
              </a:prstGeom>
            </p:spPr>
          </p:pic>
          <p:sp>
            <p:nvSpPr>
              <p:cNvPr id="1681" name="CuadroTexto 1680">
                <a:extLst>
                  <a:ext uri="{FF2B5EF4-FFF2-40B4-BE49-F238E27FC236}">
                    <a16:creationId xmlns:a16="http://schemas.microsoft.com/office/drawing/2014/main" id="{1DED7737-7418-61CA-471F-F115EF1A9769}"/>
                  </a:ext>
                </a:extLst>
              </p:cNvPr>
              <p:cNvSpPr txBox="1"/>
              <p:nvPr/>
            </p:nvSpPr>
            <p:spPr>
              <a:xfrm>
                <a:off x="11495334" y="6698142"/>
                <a:ext cx="3276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DO" dirty="0"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¿Qué significa?</a:t>
                </a:r>
              </a:p>
            </p:txBody>
          </p:sp>
        </p:grpSp>
        <p:sp>
          <p:nvSpPr>
            <p:cNvPr id="1679" name="Rectángulo 1678">
              <a:extLst>
                <a:ext uri="{FF2B5EF4-FFF2-40B4-BE49-F238E27FC236}">
                  <a16:creationId xmlns:a16="http://schemas.microsoft.com/office/drawing/2014/main" id="{C828A9DA-F459-7FF0-CC1D-4EAA7A892A51}"/>
                </a:ext>
              </a:extLst>
            </p:cNvPr>
            <p:cNvSpPr/>
            <p:nvPr/>
          </p:nvSpPr>
          <p:spPr>
            <a:xfrm>
              <a:off x="689516" y="2608766"/>
              <a:ext cx="12887937" cy="759082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No todos los comercios deben abordarse igual:  algunos son motores de volumen (Supermercados), otros de rentabilidad (Electrónica, </a:t>
              </a:r>
              <a:r>
                <a:rPr lang="es-DO" sz="1200" dirty="0" err="1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Ecommerce</a:t>
              </a:r>
              <a:r>
                <a:rPr lang="es-DO" sz="1200" dirty="0"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), y otros de activación y recurrencia (Restaurantes, Farmacias). La clave está en personalizar estrategias por afinidad del segmento y rol del comercio.</a:t>
              </a:r>
              <a:endParaRPr lang="en-US" sz="1200" dirty="0"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</p:grpSp>
      <p:grpSp>
        <p:nvGrpSpPr>
          <p:cNvPr id="1415" name="Grupo 1414">
            <a:extLst>
              <a:ext uri="{FF2B5EF4-FFF2-40B4-BE49-F238E27FC236}">
                <a16:creationId xmlns:a16="http://schemas.microsoft.com/office/drawing/2014/main" id="{C9A2CC9A-5359-197F-F14B-8CA9C80C5B06}"/>
              </a:ext>
            </a:extLst>
          </p:cNvPr>
          <p:cNvGrpSpPr/>
          <p:nvPr/>
        </p:nvGrpSpPr>
        <p:grpSpPr>
          <a:xfrm>
            <a:off x="4876800" y="3336120"/>
            <a:ext cx="3108959" cy="1724476"/>
            <a:chOff x="11496986" y="3338761"/>
            <a:chExt cx="3108959" cy="1724476"/>
          </a:xfrm>
        </p:grpSpPr>
        <p:grpSp>
          <p:nvGrpSpPr>
            <p:cNvPr id="1416" name="Grupo 1415">
              <a:extLst>
                <a:ext uri="{FF2B5EF4-FFF2-40B4-BE49-F238E27FC236}">
                  <a16:creationId xmlns:a16="http://schemas.microsoft.com/office/drawing/2014/main" id="{DBB01A61-FC34-40AA-06EA-B172E9D0CBB4}"/>
                </a:ext>
              </a:extLst>
            </p:cNvPr>
            <p:cNvGrpSpPr/>
            <p:nvPr/>
          </p:nvGrpSpPr>
          <p:grpSpPr>
            <a:xfrm>
              <a:off x="11496986" y="3338761"/>
              <a:ext cx="3108959" cy="1724476"/>
              <a:chOff x="11496986" y="3338761"/>
              <a:chExt cx="3108959" cy="1724476"/>
            </a:xfrm>
          </p:grpSpPr>
          <p:sp>
            <p:nvSpPr>
              <p:cNvPr id="1418" name="Rectángulo: esquinas redondeadas 1417">
                <a:extLst>
                  <a:ext uri="{FF2B5EF4-FFF2-40B4-BE49-F238E27FC236}">
                    <a16:creationId xmlns:a16="http://schemas.microsoft.com/office/drawing/2014/main" id="{508E4B15-0473-2512-CC84-FC5260361BA4}"/>
                  </a:ext>
                </a:extLst>
              </p:cNvPr>
              <p:cNvSpPr/>
              <p:nvPr/>
            </p:nvSpPr>
            <p:spPr>
              <a:xfrm>
                <a:off x="11496986" y="3338761"/>
                <a:ext cx="3108959" cy="1724476"/>
              </a:xfrm>
              <a:prstGeom prst="roundRect">
                <a:avLst>
                  <a:gd name="adj" fmla="val 10400"/>
                </a:avLst>
              </a:prstGeom>
              <a:solidFill>
                <a:srgbClr val="FAFAFA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  <p:sp>
            <p:nvSpPr>
              <p:cNvPr id="1419" name="CuadroTexto 1418">
                <a:extLst>
                  <a:ext uri="{FF2B5EF4-FFF2-40B4-BE49-F238E27FC236}">
                    <a16:creationId xmlns:a16="http://schemas.microsoft.com/office/drawing/2014/main" id="{F1919A11-A515-0923-FA69-8457C2BB7084}"/>
                  </a:ext>
                </a:extLst>
              </p:cNvPr>
              <p:cNvSpPr txBox="1"/>
              <p:nvPr/>
            </p:nvSpPr>
            <p:spPr>
              <a:xfrm>
                <a:off x="11597062" y="4050987"/>
                <a:ext cx="28764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DO" sz="1200" dirty="0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Retener base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DO" sz="1200" dirty="0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Campañas escalables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DO" sz="1200" dirty="0" err="1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Upsell</a:t>
                </a:r>
                <a:r>
                  <a:rPr lang="es-DO" sz="1200" dirty="0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hacia Electrónica y Restaurantes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DO" sz="1200" dirty="0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Monitoreo de </a:t>
                </a:r>
                <a:r>
                  <a:rPr lang="es-DO" sz="1200" dirty="0" err="1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churn</a:t>
                </a:r>
                <a:endParaRPr lang="es-DO" sz="1200" dirty="0">
                  <a:solidFill>
                    <a:sysClr val="windowText" lastClr="00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  <p:grpSp>
            <p:nvGrpSpPr>
              <p:cNvPr id="1420" name="Grupo 1419">
                <a:extLst>
                  <a:ext uri="{FF2B5EF4-FFF2-40B4-BE49-F238E27FC236}">
                    <a16:creationId xmlns:a16="http://schemas.microsoft.com/office/drawing/2014/main" id="{EDA74D8F-8161-1BB9-E39A-0D12FF4B8ADD}"/>
                  </a:ext>
                </a:extLst>
              </p:cNvPr>
              <p:cNvGrpSpPr/>
              <p:nvPr/>
            </p:nvGrpSpPr>
            <p:grpSpPr>
              <a:xfrm>
                <a:off x="11658600" y="3433895"/>
                <a:ext cx="2713755" cy="524414"/>
                <a:chOff x="11658600" y="3433895"/>
                <a:chExt cx="2713755" cy="524414"/>
              </a:xfrm>
            </p:grpSpPr>
            <p:grpSp>
              <p:nvGrpSpPr>
                <p:cNvPr id="1421" name="Grupo 1420">
                  <a:extLst>
                    <a:ext uri="{FF2B5EF4-FFF2-40B4-BE49-F238E27FC236}">
                      <a16:creationId xmlns:a16="http://schemas.microsoft.com/office/drawing/2014/main" id="{DCA29513-23F7-231D-FCB6-E8F478F39822}"/>
                    </a:ext>
                  </a:extLst>
                </p:cNvPr>
                <p:cNvGrpSpPr/>
                <p:nvPr/>
              </p:nvGrpSpPr>
              <p:grpSpPr>
                <a:xfrm>
                  <a:off x="11658600" y="3433895"/>
                  <a:ext cx="2484151" cy="524414"/>
                  <a:chOff x="11707039" y="3390889"/>
                  <a:chExt cx="2484151" cy="524414"/>
                </a:xfrm>
              </p:grpSpPr>
              <p:sp>
                <p:nvSpPr>
                  <p:cNvPr id="1425" name="CuadroTexto 1424">
                    <a:extLst>
                      <a:ext uri="{FF2B5EF4-FFF2-40B4-BE49-F238E27FC236}">
                        <a16:creationId xmlns:a16="http://schemas.microsoft.com/office/drawing/2014/main" id="{F4D867EA-5862-C77A-E9FC-E698D8090B22}"/>
                      </a:ext>
                    </a:extLst>
                  </p:cNvPr>
                  <p:cNvSpPr txBox="1"/>
                  <p:nvPr/>
                </p:nvSpPr>
                <p:spPr>
                  <a:xfrm>
                    <a:off x="12097788" y="3390889"/>
                    <a:ext cx="1673542" cy="280077"/>
                  </a:xfrm>
                  <a:prstGeom prst="rect">
                    <a:avLst/>
                  </a:prstGeom>
                  <a:noFill/>
                </p:spPr>
                <p:txBody>
                  <a:bodyPr wrap="square" tIns="18288" rtlCol="0">
                    <a:spAutoFit/>
                  </a:bodyPr>
                  <a:lstStyle/>
                  <a:p>
                    <a:r>
                      <a:rPr lang="en-US" sz="1200" b="1" dirty="0">
                        <a:solidFill>
                          <a:sysClr val="windowText" lastClr="000000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rPr>
                      <a:t> </a:t>
                    </a:r>
                    <a:r>
                      <a:rPr lang="en-US" sz="1400" b="1" dirty="0" err="1">
                        <a:solidFill>
                          <a:sysClr val="windowText" lastClr="000000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rPr>
                      <a:t>Masivo</a:t>
                    </a:r>
                    <a:r>
                      <a:rPr lang="en-US" sz="1200" b="1" dirty="0">
                        <a:solidFill>
                          <a:sysClr val="windowText" lastClr="000000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rPr>
                      <a:t> </a:t>
                    </a:r>
                    <a:endParaRPr lang="es-DO" sz="1400" b="1" dirty="0">
                      <a:solidFill>
                        <a:sysClr val="windowText" lastClr="000000"/>
                      </a:solidFill>
                      <a:latin typeface="Segoe UI Semibold" panose="020B0702040204020203" pitchFamily="34" charset="0"/>
                      <a:cs typeface="Segoe UI Semibold" panose="020B0702040204020203" pitchFamily="34" charset="0"/>
                    </a:endParaRPr>
                  </a:p>
                </p:txBody>
              </p:sp>
              <p:pic>
                <p:nvPicPr>
                  <p:cNvPr id="1426" name="Imagen 1425">
                    <a:extLst>
                      <a:ext uri="{FF2B5EF4-FFF2-40B4-BE49-F238E27FC236}">
                        <a16:creationId xmlns:a16="http://schemas.microsoft.com/office/drawing/2014/main" id="{BED32EDE-8A1D-E7BB-5786-5DED3C5CCF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1707039" y="3485635"/>
                    <a:ext cx="362465" cy="3624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1427" name="Grupo 1426">
                    <a:extLst>
                      <a:ext uri="{FF2B5EF4-FFF2-40B4-BE49-F238E27FC236}">
                        <a16:creationId xmlns:a16="http://schemas.microsoft.com/office/drawing/2014/main" id="{F4F524FF-B4EC-7B4F-A963-A227CE7D0ED8}"/>
                      </a:ext>
                    </a:extLst>
                  </p:cNvPr>
                  <p:cNvGrpSpPr/>
                  <p:nvPr/>
                </p:nvGrpSpPr>
                <p:grpSpPr>
                  <a:xfrm>
                    <a:off x="12139166" y="3638304"/>
                    <a:ext cx="2052024" cy="276999"/>
                    <a:chOff x="12209293" y="3663820"/>
                    <a:chExt cx="2052024" cy="276999"/>
                  </a:xfrm>
                </p:grpSpPr>
                <p:sp>
                  <p:nvSpPr>
                    <p:cNvPr id="1428" name="CuadroTexto 1427">
                      <a:extLst>
                        <a:ext uri="{FF2B5EF4-FFF2-40B4-BE49-F238E27FC236}">
                          <a16:creationId xmlns:a16="http://schemas.microsoft.com/office/drawing/2014/main" id="{7A322375-E670-95D7-D9CB-8B7A2209DA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209293" y="3663820"/>
                      <a:ext cx="91440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Prioridad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: </a:t>
                      </a:r>
                      <a:endParaRPr lang="es-DO" sz="1200" dirty="0">
                        <a:solidFill>
                          <a:sysClr val="windowText" lastClr="00000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p:txBody>
                </p:sp>
                <p:sp>
                  <p:nvSpPr>
                    <p:cNvPr id="1429" name="CuadroTexto 1428">
                      <a:extLst>
                        <a:ext uri="{FF2B5EF4-FFF2-40B4-BE49-F238E27FC236}">
                          <a16:creationId xmlns:a16="http://schemas.microsoft.com/office/drawing/2014/main" id="{392CBE60-9E45-FFCC-6B61-DA937C2C97A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907317" y="3671514"/>
                      <a:ext cx="1354000" cy="2693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18288" rIns="18288" rtlCol="0">
                      <a:spAutoFit/>
                    </a:bodyPr>
                    <a:lstStyle/>
                    <a:p>
                      <a:r>
                        <a:rPr lang="es-DO" sz="1150" dirty="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 Escala + retención</a:t>
                      </a:r>
                    </a:p>
                  </p:txBody>
                </p:sp>
              </p:grpSp>
            </p:grpSp>
            <p:grpSp>
              <p:nvGrpSpPr>
                <p:cNvPr id="1422" name="Grupo 1421">
                  <a:extLst>
                    <a:ext uri="{FF2B5EF4-FFF2-40B4-BE49-F238E27FC236}">
                      <a16:creationId xmlns:a16="http://schemas.microsoft.com/office/drawing/2014/main" id="{46872866-1D18-DC75-8934-ABA23FC5D7C0}"/>
                    </a:ext>
                  </a:extLst>
                </p:cNvPr>
                <p:cNvGrpSpPr/>
                <p:nvPr/>
              </p:nvGrpSpPr>
              <p:grpSpPr>
                <a:xfrm>
                  <a:off x="14045637" y="3737252"/>
                  <a:ext cx="326718" cy="157790"/>
                  <a:chOff x="14105113" y="3737252"/>
                  <a:chExt cx="326718" cy="157790"/>
                </a:xfrm>
              </p:grpSpPr>
              <p:pic>
                <p:nvPicPr>
                  <p:cNvPr id="1423" name="Imagen 1422">
                    <a:extLst>
                      <a:ext uri="{FF2B5EF4-FFF2-40B4-BE49-F238E27FC236}">
                        <a16:creationId xmlns:a16="http://schemas.microsoft.com/office/drawing/2014/main" id="{E2509DD8-952B-8969-5FFB-12D48C5289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8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4105113" y="3737252"/>
                    <a:ext cx="157790" cy="157790"/>
                  </a:xfrm>
                  <a:prstGeom prst="rect">
                    <a:avLst/>
                  </a:prstGeom>
                </p:spPr>
              </p:pic>
              <p:pic>
                <p:nvPicPr>
                  <p:cNvPr id="1424" name="Imagen 1423">
                    <a:extLst>
                      <a:ext uri="{FF2B5EF4-FFF2-40B4-BE49-F238E27FC236}">
                        <a16:creationId xmlns:a16="http://schemas.microsoft.com/office/drawing/2014/main" id="{92873BF3-8783-C7C7-4F0B-2A6EE43AA44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4279431" y="3738955"/>
                    <a:ext cx="152400" cy="152400"/>
                  </a:xfrm>
                  <a:prstGeom prst="rect">
                    <a:avLst/>
                  </a:prstGeom>
                </p:spPr>
              </p:pic>
            </p:grpSp>
          </p:grpSp>
        </p:grpSp>
        <p:pic>
          <p:nvPicPr>
            <p:cNvPr id="1417" name="Imagen 1416">
              <a:extLst>
                <a:ext uri="{FF2B5EF4-FFF2-40B4-BE49-F238E27FC236}">
                  <a16:creationId xmlns:a16="http://schemas.microsoft.com/office/drawing/2014/main" id="{8B59BA63-F125-B7C9-6FBF-5786ECCF4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388883" y="3744792"/>
              <a:ext cx="156103" cy="156103"/>
            </a:xfrm>
            <a:prstGeom prst="rect">
              <a:avLst/>
            </a:prstGeom>
          </p:spPr>
        </p:pic>
      </p:grpSp>
      <p:sp>
        <p:nvSpPr>
          <p:cNvPr id="1714" name="CuadroTexto 1713">
            <a:extLst>
              <a:ext uri="{FF2B5EF4-FFF2-40B4-BE49-F238E27FC236}">
                <a16:creationId xmlns:a16="http://schemas.microsoft.com/office/drawing/2014/main" id="{85C6B86B-668D-3E69-6112-00A2247B93D3}"/>
              </a:ext>
            </a:extLst>
          </p:cNvPr>
          <p:cNvSpPr txBox="1"/>
          <p:nvPr/>
        </p:nvSpPr>
        <p:spPr>
          <a:xfrm>
            <a:off x="3710137" y="2917149"/>
            <a:ext cx="785663" cy="218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DO" sz="120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alto</a:t>
            </a:r>
          </a:p>
        </p:txBody>
      </p:sp>
      <p:sp>
        <p:nvSpPr>
          <p:cNvPr id="1715" name="CuadroTexto 1714">
            <a:extLst>
              <a:ext uri="{FF2B5EF4-FFF2-40B4-BE49-F238E27FC236}">
                <a16:creationId xmlns:a16="http://schemas.microsoft.com/office/drawing/2014/main" id="{64B16D87-83AC-4FE5-EEE0-78B0E16E44BC}"/>
              </a:ext>
            </a:extLst>
          </p:cNvPr>
          <p:cNvSpPr txBox="1"/>
          <p:nvPr/>
        </p:nvSpPr>
        <p:spPr>
          <a:xfrm>
            <a:off x="94286" y="2959333"/>
            <a:ext cx="785663" cy="2180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DO" sz="120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bajo</a:t>
            </a:r>
          </a:p>
        </p:txBody>
      </p:sp>
      <p:grpSp>
        <p:nvGrpSpPr>
          <p:cNvPr id="1404" name="Grupo 1403">
            <a:extLst>
              <a:ext uri="{FF2B5EF4-FFF2-40B4-BE49-F238E27FC236}">
                <a16:creationId xmlns:a16="http://schemas.microsoft.com/office/drawing/2014/main" id="{7CE12330-45E1-72E6-E2CF-E6FA0D453183}"/>
              </a:ext>
            </a:extLst>
          </p:cNvPr>
          <p:cNvGrpSpPr/>
          <p:nvPr/>
        </p:nvGrpSpPr>
        <p:grpSpPr>
          <a:xfrm>
            <a:off x="11389360" y="3336120"/>
            <a:ext cx="3108959" cy="1724476"/>
            <a:chOff x="11496986" y="3338761"/>
            <a:chExt cx="3108959" cy="1724476"/>
          </a:xfrm>
        </p:grpSpPr>
        <p:grpSp>
          <p:nvGrpSpPr>
            <p:cNvPr id="1385" name="Grupo 1384">
              <a:extLst>
                <a:ext uri="{FF2B5EF4-FFF2-40B4-BE49-F238E27FC236}">
                  <a16:creationId xmlns:a16="http://schemas.microsoft.com/office/drawing/2014/main" id="{C73B1E41-6578-312D-0FF3-253477A98F89}"/>
                </a:ext>
              </a:extLst>
            </p:cNvPr>
            <p:cNvGrpSpPr/>
            <p:nvPr/>
          </p:nvGrpSpPr>
          <p:grpSpPr>
            <a:xfrm>
              <a:off x="11496986" y="3338761"/>
              <a:ext cx="3108959" cy="1724476"/>
              <a:chOff x="11496986" y="3338761"/>
              <a:chExt cx="3108959" cy="1724476"/>
            </a:xfrm>
          </p:grpSpPr>
          <p:sp>
            <p:nvSpPr>
              <p:cNvPr id="52" name="Rectángulo: esquinas redondeadas 51">
                <a:extLst>
                  <a:ext uri="{FF2B5EF4-FFF2-40B4-BE49-F238E27FC236}">
                    <a16:creationId xmlns:a16="http://schemas.microsoft.com/office/drawing/2014/main" id="{A5FAF4FA-2FB6-A69D-FF03-41ABF978A34A}"/>
                  </a:ext>
                </a:extLst>
              </p:cNvPr>
              <p:cNvSpPr/>
              <p:nvPr/>
            </p:nvSpPr>
            <p:spPr>
              <a:xfrm>
                <a:off x="11496986" y="3338761"/>
                <a:ext cx="3108959" cy="1724476"/>
              </a:xfrm>
              <a:prstGeom prst="roundRect">
                <a:avLst>
                  <a:gd name="adj" fmla="val 10400"/>
                </a:avLst>
              </a:prstGeom>
              <a:solidFill>
                <a:srgbClr val="FAFAFA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F514D934-D297-F30F-BCE8-0FCE57DB3406}"/>
                  </a:ext>
                </a:extLst>
              </p:cNvPr>
              <p:cNvSpPr txBox="1"/>
              <p:nvPr/>
            </p:nvSpPr>
            <p:spPr>
              <a:xfrm>
                <a:off x="11597062" y="4050987"/>
                <a:ext cx="28764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DO" sz="1200" dirty="0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Fidelización y mayor share de gasto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DO" sz="1200" dirty="0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Beneficios exclusivos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DO" sz="1200" dirty="0" err="1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Cashback</a:t>
                </a:r>
                <a:r>
                  <a:rPr lang="es-DO" sz="1200" dirty="0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premium en restaurantes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DO" sz="1200" dirty="0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Cross-</a:t>
                </a:r>
                <a:r>
                  <a:rPr lang="es-DO" sz="1200" dirty="0" err="1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sell</a:t>
                </a:r>
                <a:r>
                  <a:rPr lang="es-DO" sz="1200" dirty="0">
                    <a:solidFill>
                      <a:sysClr val="windowText" lastClr="00000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hacia rubros de alto ticket</a:t>
                </a:r>
              </a:p>
            </p:txBody>
          </p:sp>
          <p:grpSp>
            <p:nvGrpSpPr>
              <p:cNvPr id="1381" name="Grupo 1380">
                <a:extLst>
                  <a:ext uri="{FF2B5EF4-FFF2-40B4-BE49-F238E27FC236}">
                    <a16:creationId xmlns:a16="http://schemas.microsoft.com/office/drawing/2014/main" id="{891829D9-635D-A155-6E60-9F1F87BFD813}"/>
                  </a:ext>
                </a:extLst>
              </p:cNvPr>
              <p:cNvGrpSpPr/>
              <p:nvPr/>
            </p:nvGrpSpPr>
            <p:grpSpPr>
              <a:xfrm>
                <a:off x="11613826" y="3433895"/>
                <a:ext cx="2802836" cy="555192"/>
                <a:chOff x="11613826" y="3433895"/>
                <a:chExt cx="2802836" cy="555192"/>
              </a:xfrm>
            </p:grpSpPr>
            <p:grpSp>
              <p:nvGrpSpPr>
                <p:cNvPr id="1374" name="Grupo 1373">
                  <a:extLst>
                    <a:ext uri="{FF2B5EF4-FFF2-40B4-BE49-F238E27FC236}">
                      <a16:creationId xmlns:a16="http://schemas.microsoft.com/office/drawing/2014/main" id="{98981964-6933-8E27-7BAD-570FFACE3AB5}"/>
                    </a:ext>
                  </a:extLst>
                </p:cNvPr>
                <p:cNvGrpSpPr/>
                <p:nvPr/>
              </p:nvGrpSpPr>
              <p:grpSpPr>
                <a:xfrm>
                  <a:off x="11613826" y="3433895"/>
                  <a:ext cx="2484151" cy="555192"/>
                  <a:chOff x="11662265" y="3390889"/>
                  <a:chExt cx="2484151" cy="555192"/>
                </a:xfrm>
              </p:grpSpPr>
              <p:sp>
                <p:nvSpPr>
                  <p:cNvPr id="56" name="CuadroTexto 55">
                    <a:extLst>
                      <a:ext uri="{FF2B5EF4-FFF2-40B4-BE49-F238E27FC236}">
                        <a16:creationId xmlns:a16="http://schemas.microsoft.com/office/drawing/2014/main" id="{E97D2784-DD6A-3E57-27BF-305385D4FBD5}"/>
                      </a:ext>
                    </a:extLst>
                  </p:cNvPr>
                  <p:cNvSpPr txBox="1"/>
                  <p:nvPr/>
                </p:nvSpPr>
                <p:spPr>
                  <a:xfrm>
                    <a:off x="12053014" y="3390889"/>
                    <a:ext cx="1673542" cy="249299"/>
                  </a:xfrm>
                  <a:prstGeom prst="rect">
                    <a:avLst/>
                  </a:prstGeom>
                  <a:noFill/>
                </p:spPr>
                <p:txBody>
                  <a:bodyPr wrap="square" tIns="18288" rtlCol="0">
                    <a:spAutoFit/>
                  </a:bodyPr>
                  <a:lstStyle/>
                  <a:p>
                    <a:r>
                      <a:rPr lang="en-US" sz="1200" b="1" dirty="0">
                        <a:solidFill>
                          <a:sysClr val="windowText" lastClr="000000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rPr>
                      <a:t> Premium</a:t>
                    </a:r>
                    <a:endParaRPr lang="es-DO" sz="1400" b="1" dirty="0">
                      <a:solidFill>
                        <a:sysClr val="windowText" lastClr="000000"/>
                      </a:solidFill>
                      <a:latin typeface="Segoe UI Semibold" panose="020B0702040204020203" pitchFamily="34" charset="0"/>
                      <a:cs typeface="Segoe UI Semibold" panose="020B0702040204020203" pitchFamily="34" charset="0"/>
                    </a:endParaRPr>
                  </a:p>
                </p:txBody>
              </p:sp>
              <p:pic>
                <p:nvPicPr>
                  <p:cNvPr id="54" name="Imagen 53">
                    <a:extLst>
                      <a:ext uri="{FF2B5EF4-FFF2-40B4-BE49-F238E27FC236}">
                        <a16:creationId xmlns:a16="http://schemas.microsoft.com/office/drawing/2014/main" id="{8A4411F8-9044-4B97-18A4-4916B86110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1662265" y="3485635"/>
                    <a:ext cx="362465" cy="3624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1372" name="Grupo 1371">
                    <a:extLst>
                      <a:ext uri="{FF2B5EF4-FFF2-40B4-BE49-F238E27FC236}">
                        <a16:creationId xmlns:a16="http://schemas.microsoft.com/office/drawing/2014/main" id="{A55B436F-200D-C498-C7D5-0189E43B382D}"/>
                      </a:ext>
                    </a:extLst>
                  </p:cNvPr>
                  <p:cNvGrpSpPr/>
                  <p:nvPr/>
                </p:nvGrpSpPr>
                <p:grpSpPr>
                  <a:xfrm>
                    <a:off x="12094392" y="3638304"/>
                    <a:ext cx="2052024" cy="307777"/>
                    <a:chOff x="12164519" y="3663820"/>
                    <a:chExt cx="2052024" cy="307777"/>
                  </a:xfrm>
                </p:grpSpPr>
                <p:sp>
                  <p:nvSpPr>
                    <p:cNvPr id="1367" name="CuadroTexto 1366">
                      <a:extLst>
                        <a:ext uri="{FF2B5EF4-FFF2-40B4-BE49-F238E27FC236}">
                          <a16:creationId xmlns:a16="http://schemas.microsoft.com/office/drawing/2014/main" id="{454225F8-494C-FD54-EB03-3433A41CFAA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64519" y="3663820"/>
                      <a:ext cx="91440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 err="1">
                          <a:solidFill>
                            <a:sysClr val="windowText" lastClr="000000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Prioridad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: </a:t>
                      </a:r>
                      <a:endParaRPr lang="es-DO" sz="1400" dirty="0">
                        <a:solidFill>
                          <a:sysClr val="windowText" lastClr="00000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p:txBody>
                </p:sp>
                <p:sp>
                  <p:nvSpPr>
                    <p:cNvPr id="1369" name="CuadroTexto 1368">
                      <a:extLst>
                        <a:ext uri="{FF2B5EF4-FFF2-40B4-BE49-F238E27FC236}">
                          <a16:creationId xmlns:a16="http://schemas.microsoft.com/office/drawing/2014/main" id="{A78B0298-2CC5-70D5-9901-7DA2AAAE74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862543" y="3683056"/>
                      <a:ext cx="1354000" cy="2693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18288" rIns="18288" rtlCol="0">
                      <a:spAutoFit/>
                    </a:bodyPr>
                    <a:lstStyle/>
                    <a:p>
                      <a:r>
                        <a:rPr lang="es-DO" sz="1150" dirty="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 Wallet share + valor</a:t>
                      </a:r>
                    </a:p>
                  </p:txBody>
                </p:sp>
              </p:grpSp>
            </p:grpSp>
            <p:grpSp>
              <p:nvGrpSpPr>
                <p:cNvPr id="1380" name="Grupo 1379">
                  <a:extLst>
                    <a:ext uri="{FF2B5EF4-FFF2-40B4-BE49-F238E27FC236}">
                      <a16:creationId xmlns:a16="http://schemas.microsoft.com/office/drawing/2014/main" id="{19D44B85-FBB9-299A-2F2B-CD7B3BE45DB9}"/>
                    </a:ext>
                  </a:extLst>
                </p:cNvPr>
                <p:cNvGrpSpPr/>
                <p:nvPr/>
              </p:nvGrpSpPr>
              <p:grpSpPr>
                <a:xfrm>
                  <a:off x="14089455" y="3758270"/>
                  <a:ext cx="327207" cy="167289"/>
                  <a:chOff x="14148931" y="3758270"/>
                  <a:chExt cx="327207" cy="167289"/>
                </a:xfrm>
              </p:grpSpPr>
              <p:pic>
                <p:nvPicPr>
                  <p:cNvPr id="1376" name="Imagen 1375">
                    <a:extLst>
                      <a:ext uri="{FF2B5EF4-FFF2-40B4-BE49-F238E27FC236}">
                        <a16:creationId xmlns:a16="http://schemas.microsoft.com/office/drawing/2014/main" id="{80429410-1A62-67CB-4D54-1C2229F3C4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4148931" y="3758270"/>
                    <a:ext cx="157790" cy="157790"/>
                  </a:xfrm>
                  <a:prstGeom prst="rect">
                    <a:avLst/>
                  </a:prstGeom>
                </p:spPr>
              </p:pic>
              <p:pic>
                <p:nvPicPr>
                  <p:cNvPr id="1378" name="Imagen 1377">
                    <a:extLst>
                      <a:ext uri="{FF2B5EF4-FFF2-40B4-BE49-F238E27FC236}">
                        <a16:creationId xmlns:a16="http://schemas.microsoft.com/office/drawing/2014/main" id="{34F90066-A079-971F-1F1A-3F6C6F8371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14318348" y="3767769"/>
                    <a:ext cx="157790" cy="157790"/>
                  </a:xfrm>
                  <a:prstGeom prst="rect">
                    <a:avLst/>
                  </a:prstGeom>
                </p:spPr>
              </p:pic>
            </p:grpSp>
          </p:grpSp>
        </p:grpSp>
        <p:pic>
          <p:nvPicPr>
            <p:cNvPr id="1382" name="Imagen 1381">
              <a:extLst>
                <a:ext uri="{FF2B5EF4-FFF2-40B4-BE49-F238E27FC236}">
                  <a16:creationId xmlns:a16="http://schemas.microsoft.com/office/drawing/2014/main" id="{539363A2-78A3-D7A0-7030-779B66997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428288" y="3780020"/>
              <a:ext cx="134986" cy="134986"/>
            </a:xfrm>
            <a:prstGeom prst="rect">
              <a:avLst/>
            </a:prstGeom>
          </p:spPr>
        </p:pic>
      </p:grpSp>
      <p:grpSp>
        <p:nvGrpSpPr>
          <p:cNvPr id="1386" name="Grupo 1385">
            <a:extLst>
              <a:ext uri="{FF2B5EF4-FFF2-40B4-BE49-F238E27FC236}">
                <a16:creationId xmlns:a16="http://schemas.microsoft.com/office/drawing/2014/main" id="{DC077DE1-8132-75DC-2DC6-041467B02392}"/>
              </a:ext>
            </a:extLst>
          </p:cNvPr>
          <p:cNvGrpSpPr/>
          <p:nvPr/>
        </p:nvGrpSpPr>
        <p:grpSpPr>
          <a:xfrm>
            <a:off x="14645641" y="3336120"/>
            <a:ext cx="3108959" cy="1724476"/>
            <a:chOff x="11496986" y="3338761"/>
            <a:chExt cx="3108959" cy="1724476"/>
          </a:xfrm>
        </p:grpSpPr>
        <p:sp>
          <p:nvSpPr>
            <p:cNvPr id="1387" name="Rectángulo: esquinas redondeadas 1386">
              <a:extLst>
                <a:ext uri="{FF2B5EF4-FFF2-40B4-BE49-F238E27FC236}">
                  <a16:creationId xmlns:a16="http://schemas.microsoft.com/office/drawing/2014/main" id="{91066392-EE10-2F97-461F-4941E5AEC497}"/>
                </a:ext>
              </a:extLst>
            </p:cNvPr>
            <p:cNvSpPr/>
            <p:nvPr/>
          </p:nvSpPr>
          <p:spPr>
            <a:xfrm>
              <a:off x="11496986" y="3338761"/>
              <a:ext cx="3108959" cy="1724476"/>
            </a:xfrm>
            <a:prstGeom prst="roundRect">
              <a:avLst>
                <a:gd name="adj" fmla="val 10400"/>
              </a:avLst>
            </a:prstGeom>
            <a:solidFill>
              <a:srgbClr val="FAFAFA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/>
            </a:p>
          </p:txBody>
        </p:sp>
        <p:sp>
          <p:nvSpPr>
            <p:cNvPr id="1388" name="CuadroTexto 1387">
              <a:extLst>
                <a:ext uri="{FF2B5EF4-FFF2-40B4-BE49-F238E27FC236}">
                  <a16:creationId xmlns:a16="http://schemas.microsoft.com/office/drawing/2014/main" id="{9AFC16DB-50DE-FD4C-BDFF-6BC8001665E7}"/>
                </a:ext>
              </a:extLst>
            </p:cNvPr>
            <p:cNvSpPr txBox="1"/>
            <p:nvPr/>
          </p:nvSpPr>
          <p:spPr>
            <a:xfrm>
              <a:off x="11597062" y="4050987"/>
              <a:ext cx="28764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DO" sz="1200" dirty="0">
                  <a:solidFill>
                    <a:sysClr val="windowText" lastClr="00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Programas de fidelización B2B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DO" sz="1200" dirty="0">
                  <a:solidFill>
                    <a:sysClr val="windowText" lastClr="00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Beneficios por recurrencia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DO" sz="1200" dirty="0" err="1">
                  <a:solidFill>
                    <a:sysClr val="windowText" lastClr="00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Promos</a:t>
              </a:r>
              <a:r>
                <a:rPr lang="es-DO" sz="1200" dirty="0">
                  <a:solidFill>
                    <a:sysClr val="windowText" lastClr="00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tácticas de salud / bienestar</a:t>
              </a:r>
            </a:p>
          </p:txBody>
        </p:sp>
        <p:grpSp>
          <p:nvGrpSpPr>
            <p:cNvPr id="1389" name="Grupo 1388">
              <a:extLst>
                <a:ext uri="{FF2B5EF4-FFF2-40B4-BE49-F238E27FC236}">
                  <a16:creationId xmlns:a16="http://schemas.microsoft.com/office/drawing/2014/main" id="{E0183D8B-799D-6B3C-C40B-00B332730042}"/>
                </a:ext>
              </a:extLst>
            </p:cNvPr>
            <p:cNvGrpSpPr/>
            <p:nvPr/>
          </p:nvGrpSpPr>
          <p:grpSpPr>
            <a:xfrm>
              <a:off x="11597062" y="3455917"/>
              <a:ext cx="2960304" cy="555192"/>
              <a:chOff x="11597062" y="3455917"/>
              <a:chExt cx="2960304" cy="555192"/>
            </a:xfrm>
          </p:grpSpPr>
          <p:grpSp>
            <p:nvGrpSpPr>
              <p:cNvPr id="1395" name="Grupo 1394">
                <a:extLst>
                  <a:ext uri="{FF2B5EF4-FFF2-40B4-BE49-F238E27FC236}">
                    <a16:creationId xmlns:a16="http://schemas.microsoft.com/office/drawing/2014/main" id="{B053DECF-91D3-CAAC-4665-CA41F247F94C}"/>
                  </a:ext>
                </a:extLst>
              </p:cNvPr>
              <p:cNvGrpSpPr/>
              <p:nvPr/>
            </p:nvGrpSpPr>
            <p:grpSpPr>
              <a:xfrm>
                <a:off x="11597062" y="3455917"/>
                <a:ext cx="2760376" cy="555192"/>
                <a:chOff x="11645501" y="3412911"/>
                <a:chExt cx="2760376" cy="555192"/>
              </a:xfrm>
            </p:grpSpPr>
            <p:sp>
              <p:nvSpPr>
                <p:cNvPr id="1399" name="CuadroTexto 1398">
                  <a:extLst>
                    <a:ext uri="{FF2B5EF4-FFF2-40B4-BE49-F238E27FC236}">
                      <a16:creationId xmlns:a16="http://schemas.microsoft.com/office/drawing/2014/main" id="{34823BCF-6617-6BD5-24C0-7145134163F3}"/>
                    </a:ext>
                  </a:extLst>
                </p:cNvPr>
                <p:cNvSpPr txBox="1"/>
                <p:nvPr/>
              </p:nvSpPr>
              <p:spPr>
                <a:xfrm>
                  <a:off x="11984047" y="3412911"/>
                  <a:ext cx="1673542" cy="249299"/>
                </a:xfrm>
                <a:prstGeom prst="rect">
                  <a:avLst/>
                </a:prstGeom>
                <a:noFill/>
              </p:spPr>
              <p:txBody>
                <a:bodyPr wrap="square" tIns="18288" rtlCol="0">
                  <a:spAutoFit/>
                </a:bodyPr>
                <a:lstStyle/>
                <a:p>
                  <a:r>
                    <a:rPr lang="en-US" sz="1200" b="1" dirty="0">
                      <a:solidFill>
                        <a:sysClr val="windowText" lastClr="000000"/>
                      </a:solidFill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 Empresarial</a:t>
                  </a:r>
                  <a:endParaRPr lang="es-DO" sz="1400" b="1" dirty="0">
                    <a:solidFill>
                      <a:sysClr val="windowText" lastClr="000000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  <p:pic>
              <p:nvPicPr>
                <p:cNvPr id="1400" name="Imagen 1399">
                  <a:extLst>
                    <a:ext uri="{FF2B5EF4-FFF2-40B4-BE49-F238E27FC236}">
                      <a16:creationId xmlns:a16="http://schemas.microsoft.com/office/drawing/2014/main" id="{43264775-79AD-F38A-073A-8F49241BB7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1645501" y="3474562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401" name="Grupo 1400">
                  <a:extLst>
                    <a:ext uri="{FF2B5EF4-FFF2-40B4-BE49-F238E27FC236}">
                      <a16:creationId xmlns:a16="http://schemas.microsoft.com/office/drawing/2014/main" id="{18D5428B-849A-D9CC-09B4-885DD1B4B1F1}"/>
                    </a:ext>
                  </a:extLst>
                </p:cNvPr>
                <p:cNvGrpSpPr/>
                <p:nvPr/>
              </p:nvGrpSpPr>
              <p:grpSpPr>
                <a:xfrm>
                  <a:off x="12025425" y="3660326"/>
                  <a:ext cx="2380452" cy="307777"/>
                  <a:chOff x="12095552" y="3685842"/>
                  <a:chExt cx="2380452" cy="307777"/>
                </a:xfrm>
              </p:grpSpPr>
              <p:sp>
                <p:nvSpPr>
                  <p:cNvPr id="1402" name="CuadroTexto 1401">
                    <a:extLst>
                      <a:ext uri="{FF2B5EF4-FFF2-40B4-BE49-F238E27FC236}">
                        <a16:creationId xmlns:a16="http://schemas.microsoft.com/office/drawing/2014/main" id="{49CB083F-A0BB-C946-8B72-66AB77C92B8E}"/>
                      </a:ext>
                    </a:extLst>
                  </p:cNvPr>
                  <p:cNvSpPr txBox="1"/>
                  <p:nvPr/>
                </p:nvSpPr>
                <p:spPr>
                  <a:xfrm>
                    <a:off x="12095552" y="3685842"/>
                    <a:ext cx="91440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err="1">
                        <a:solidFill>
                          <a:sysClr val="windowText" lastClr="00000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Prioridad</a:t>
                    </a:r>
                    <a:r>
                      <a:rPr lang="en-US" sz="1400" dirty="0">
                        <a:solidFill>
                          <a:sysClr val="windowText" lastClr="00000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: </a:t>
                    </a:r>
                    <a:endParaRPr lang="es-DO" sz="1400" dirty="0">
                      <a:solidFill>
                        <a:sysClr val="windowText" lastClr="000000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1403" name="CuadroTexto 1402">
                    <a:extLst>
                      <a:ext uri="{FF2B5EF4-FFF2-40B4-BE49-F238E27FC236}">
                        <a16:creationId xmlns:a16="http://schemas.microsoft.com/office/drawing/2014/main" id="{C231DDA0-CCA7-6A91-4221-8D57BE88C940}"/>
                      </a:ext>
                    </a:extLst>
                  </p:cNvPr>
                  <p:cNvSpPr txBox="1"/>
                  <p:nvPr/>
                </p:nvSpPr>
                <p:spPr>
                  <a:xfrm>
                    <a:off x="12793575" y="3705078"/>
                    <a:ext cx="1682429" cy="269304"/>
                  </a:xfrm>
                  <a:prstGeom prst="rect">
                    <a:avLst/>
                  </a:prstGeom>
                  <a:noFill/>
                </p:spPr>
                <p:txBody>
                  <a:bodyPr wrap="square" lIns="18288" rIns="18288" rtlCol="0">
                    <a:spAutoFit/>
                  </a:bodyPr>
                  <a:lstStyle/>
                  <a:p>
                    <a:r>
                      <a:rPr lang="es-DO" sz="115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Recurrencia + eficiencia</a:t>
                    </a:r>
                  </a:p>
                </p:txBody>
              </p:sp>
            </p:grpSp>
          </p:grpSp>
          <p:grpSp>
            <p:nvGrpSpPr>
              <p:cNvPr id="1396" name="Grupo 1395">
                <a:extLst>
                  <a:ext uri="{FF2B5EF4-FFF2-40B4-BE49-F238E27FC236}">
                    <a16:creationId xmlns:a16="http://schemas.microsoft.com/office/drawing/2014/main" id="{1417969F-AC0B-5684-DEAC-B46337FFDF32}"/>
                  </a:ext>
                </a:extLst>
              </p:cNvPr>
              <p:cNvGrpSpPr/>
              <p:nvPr/>
            </p:nvGrpSpPr>
            <p:grpSpPr>
              <a:xfrm>
                <a:off x="14254528" y="3770164"/>
                <a:ext cx="302838" cy="157790"/>
                <a:chOff x="14314004" y="3770164"/>
                <a:chExt cx="302838" cy="157790"/>
              </a:xfrm>
            </p:grpSpPr>
            <p:pic>
              <p:nvPicPr>
                <p:cNvPr id="1397" name="Imagen 1396">
                  <a:extLst>
                    <a:ext uri="{FF2B5EF4-FFF2-40B4-BE49-F238E27FC236}">
                      <a16:creationId xmlns:a16="http://schemas.microsoft.com/office/drawing/2014/main" id="{ED8E8330-A2BE-D625-9189-090505A9DA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4314004" y="3770164"/>
                  <a:ext cx="157790" cy="157790"/>
                </a:xfrm>
                <a:prstGeom prst="rect">
                  <a:avLst/>
                </a:prstGeom>
              </p:spPr>
            </p:pic>
            <p:pic>
              <p:nvPicPr>
                <p:cNvPr id="1398" name="Imagen 1397">
                  <a:extLst>
                    <a:ext uri="{FF2B5EF4-FFF2-40B4-BE49-F238E27FC236}">
                      <a16:creationId xmlns:a16="http://schemas.microsoft.com/office/drawing/2014/main" id="{153DDCC7-2125-123F-85E8-5767202DFD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4481856" y="3791065"/>
                  <a:ext cx="134986" cy="13498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431" name="Grupo 1430">
            <a:extLst>
              <a:ext uri="{FF2B5EF4-FFF2-40B4-BE49-F238E27FC236}">
                <a16:creationId xmlns:a16="http://schemas.microsoft.com/office/drawing/2014/main" id="{A90F326F-93AD-9E67-DCBA-66B9B4AFB266}"/>
              </a:ext>
            </a:extLst>
          </p:cNvPr>
          <p:cNvGrpSpPr/>
          <p:nvPr/>
        </p:nvGrpSpPr>
        <p:grpSpPr>
          <a:xfrm>
            <a:off x="8133080" y="3336120"/>
            <a:ext cx="3108959" cy="1724476"/>
            <a:chOff x="11496986" y="3338761"/>
            <a:chExt cx="3108959" cy="1724476"/>
          </a:xfrm>
        </p:grpSpPr>
        <p:sp>
          <p:nvSpPr>
            <p:cNvPr id="1433" name="Rectángulo: esquinas redondeadas 1432">
              <a:extLst>
                <a:ext uri="{FF2B5EF4-FFF2-40B4-BE49-F238E27FC236}">
                  <a16:creationId xmlns:a16="http://schemas.microsoft.com/office/drawing/2014/main" id="{9AFFB821-018C-1371-1C6F-1D6826554886}"/>
                </a:ext>
              </a:extLst>
            </p:cNvPr>
            <p:cNvSpPr/>
            <p:nvPr/>
          </p:nvSpPr>
          <p:spPr>
            <a:xfrm>
              <a:off x="11496986" y="3338761"/>
              <a:ext cx="3108959" cy="1724476"/>
            </a:xfrm>
            <a:prstGeom prst="roundRect">
              <a:avLst>
                <a:gd name="adj" fmla="val 10400"/>
              </a:avLst>
            </a:prstGeom>
            <a:solidFill>
              <a:srgbClr val="FAFAFA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/>
            </a:p>
          </p:txBody>
        </p:sp>
        <p:sp>
          <p:nvSpPr>
            <p:cNvPr id="1434" name="CuadroTexto 1433">
              <a:extLst>
                <a:ext uri="{FF2B5EF4-FFF2-40B4-BE49-F238E27FC236}">
                  <a16:creationId xmlns:a16="http://schemas.microsoft.com/office/drawing/2014/main" id="{FFC4E44F-D284-4871-6433-2F2074237049}"/>
                </a:ext>
              </a:extLst>
            </p:cNvPr>
            <p:cNvSpPr txBox="1"/>
            <p:nvPr/>
          </p:nvSpPr>
          <p:spPr>
            <a:xfrm>
              <a:off x="11597062" y="4050987"/>
              <a:ext cx="28764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DO" sz="1200" dirty="0">
                  <a:solidFill>
                    <a:sysClr val="windowText" lastClr="00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Programas de fidelización B2B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DO" sz="1200" dirty="0">
                  <a:solidFill>
                    <a:sysClr val="windowText" lastClr="00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Beneficios por recurrencia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DO" sz="1200" dirty="0" err="1">
                  <a:solidFill>
                    <a:sysClr val="windowText" lastClr="00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Promos</a:t>
              </a:r>
              <a:r>
                <a:rPr lang="es-DO" sz="1200" dirty="0">
                  <a:solidFill>
                    <a:sysClr val="windowText" lastClr="00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 tácticas de salud / bienestar</a:t>
              </a:r>
            </a:p>
          </p:txBody>
        </p:sp>
        <p:grpSp>
          <p:nvGrpSpPr>
            <p:cNvPr id="1435" name="Grupo 1434">
              <a:extLst>
                <a:ext uri="{FF2B5EF4-FFF2-40B4-BE49-F238E27FC236}">
                  <a16:creationId xmlns:a16="http://schemas.microsoft.com/office/drawing/2014/main" id="{FD68913B-D122-2F4C-05D7-6BC26EE48F6A}"/>
                </a:ext>
              </a:extLst>
            </p:cNvPr>
            <p:cNvGrpSpPr/>
            <p:nvPr/>
          </p:nvGrpSpPr>
          <p:grpSpPr>
            <a:xfrm>
              <a:off x="11593506" y="3433895"/>
              <a:ext cx="2917598" cy="524414"/>
              <a:chOff x="11593506" y="3433895"/>
              <a:chExt cx="2917598" cy="524414"/>
            </a:xfrm>
          </p:grpSpPr>
          <p:grpSp>
            <p:nvGrpSpPr>
              <p:cNvPr id="1436" name="Grupo 1435">
                <a:extLst>
                  <a:ext uri="{FF2B5EF4-FFF2-40B4-BE49-F238E27FC236}">
                    <a16:creationId xmlns:a16="http://schemas.microsoft.com/office/drawing/2014/main" id="{3343CCD9-F971-FAA1-D64C-8CA3912971E4}"/>
                  </a:ext>
                </a:extLst>
              </p:cNvPr>
              <p:cNvGrpSpPr/>
              <p:nvPr/>
            </p:nvGrpSpPr>
            <p:grpSpPr>
              <a:xfrm>
                <a:off x="11593506" y="3433895"/>
                <a:ext cx="2667335" cy="524414"/>
                <a:chOff x="11641945" y="3390889"/>
                <a:chExt cx="2667335" cy="524414"/>
              </a:xfrm>
            </p:grpSpPr>
            <p:sp>
              <p:nvSpPr>
                <p:cNvPr id="1440" name="CuadroTexto 1439">
                  <a:extLst>
                    <a:ext uri="{FF2B5EF4-FFF2-40B4-BE49-F238E27FC236}">
                      <a16:creationId xmlns:a16="http://schemas.microsoft.com/office/drawing/2014/main" id="{D4B71092-DC21-4522-E7E2-271AC1250C89}"/>
                    </a:ext>
                  </a:extLst>
                </p:cNvPr>
                <p:cNvSpPr txBox="1"/>
                <p:nvPr/>
              </p:nvSpPr>
              <p:spPr>
                <a:xfrm>
                  <a:off x="11980491" y="3390889"/>
                  <a:ext cx="1673542" cy="280077"/>
                </a:xfrm>
                <a:prstGeom prst="rect">
                  <a:avLst/>
                </a:prstGeom>
                <a:noFill/>
              </p:spPr>
              <p:txBody>
                <a:bodyPr wrap="square" tIns="18288" rtlCol="0">
                  <a:spAutoFit/>
                </a:bodyPr>
                <a:lstStyle/>
                <a:p>
                  <a:r>
                    <a:rPr lang="en-US" sz="1200" b="1" dirty="0">
                      <a:solidFill>
                        <a:sysClr val="windowText" lastClr="000000"/>
                      </a:solidFill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 </a:t>
                  </a:r>
                  <a:r>
                    <a:rPr lang="en-US" sz="1400" b="1" dirty="0">
                      <a:solidFill>
                        <a:sysClr val="windowText" lastClr="000000"/>
                      </a:solidFill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Joven</a:t>
                  </a:r>
                  <a:endParaRPr lang="es-DO" sz="1400" b="1" dirty="0">
                    <a:solidFill>
                      <a:sysClr val="windowText" lastClr="000000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endParaRPr>
                </a:p>
              </p:txBody>
            </p:sp>
            <p:pic>
              <p:nvPicPr>
                <p:cNvPr id="1441" name="Imagen 1440">
                  <a:extLst>
                    <a:ext uri="{FF2B5EF4-FFF2-40B4-BE49-F238E27FC236}">
                      <a16:creationId xmlns:a16="http://schemas.microsoft.com/office/drawing/2014/main" id="{3E3BE653-83EF-532B-E211-C391B5CD66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1641945" y="3452540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442" name="Grupo 1441">
                  <a:extLst>
                    <a:ext uri="{FF2B5EF4-FFF2-40B4-BE49-F238E27FC236}">
                      <a16:creationId xmlns:a16="http://schemas.microsoft.com/office/drawing/2014/main" id="{82D6311F-3D6A-7475-4C54-525B4927CC9A}"/>
                    </a:ext>
                  </a:extLst>
                </p:cNvPr>
                <p:cNvGrpSpPr/>
                <p:nvPr/>
              </p:nvGrpSpPr>
              <p:grpSpPr>
                <a:xfrm>
                  <a:off x="12021869" y="3638304"/>
                  <a:ext cx="2287411" cy="276999"/>
                  <a:chOff x="12091996" y="3663820"/>
                  <a:chExt cx="2287411" cy="276999"/>
                </a:xfrm>
              </p:grpSpPr>
              <p:sp>
                <p:nvSpPr>
                  <p:cNvPr id="1443" name="CuadroTexto 1442">
                    <a:extLst>
                      <a:ext uri="{FF2B5EF4-FFF2-40B4-BE49-F238E27FC236}">
                        <a16:creationId xmlns:a16="http://schemas.microsoft.com/office/drawing/2014/main" id="{46CFB1CA-636E-D59B-46A2-4A04505FF6BF}"/>
                      </a:ext>
                    </a:extLst>
                  </p:cNvPr>
                  <p:cNvSpPr txBox="1"/>
                  <p:nvPr/>
                </p:nvSpPr>
                <p:spPr>
                  <a:xfrm>
                    <a:off x="12091996" y="3663820"/>
                    <a:ext cx="91440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err="1">
                        <a:solidFill>
                          <a:sysClr val="windowText" lastClr="00000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Prioridad</a:t>
                    </a:r>
                    <a:r>
                      <a:rPr lang="en-US" sz="1200" dirty="0">
                        <a:solidFill>
                          <a:sysClr val="windowText" lastClr="00000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: </a:t>
                    </a:r>
                    <a:endParaRPr lang="es-DO" sz="1200" dirty="0">
                      <a:solidFill>
                        <a:sysClr val="windowText" lastClr="000000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1444" name="CuadroTexto 1443">
                    <a:extLst>
                      <a:ext uri="{FF2B5EF4-FFF2-40B4-BE49-F238E27FC236}">
                        <a16:creationId xmlns:a16="http://schemas.microsoft.com/office/drawing/2014/main" id="{94592BC3-4912-4CB8-B6E6-A3D65C858B27}"/>
                      </a:ext>
                    </a:extLst>
                  </p:cNvPr>
                  <p:cNvSpPr txBox="1"/>
                  <p:nvPr/>
                </p:nvSpPr>
                <p:spPr>
                  <a:xfrm>
                    <a:off x="12790019" y="3667667"/>
                    <a:ext cx="1589388" cy="269304"/>
                  </a:xfrm>
                  <a:prstGeom prst="rect">
                    <a:avLst/>
                  </a:prstGeom>
                  <a:noFill/>
                </p:spPr>
                <p:txBody>
                  <a:bodyPr wrap="square" lIns="18288" rIns="18288" rtlCol="0">
                    <a:spAutoFit/>
                  </a:bodyPr>
                  <a:lstStyle/>
                  <a:p>
                    <a:r>
                      <a:rPr lang="es-DO" sz="1150" dirty="0"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 Recurrencia + eficiencia</a:t>
                    </a:r>
                  </a:p>
                </p:txBody>
              </p:sp>
            </p:grpSp>
          </p:grpSp>
          <p:grpSp>
            <p:nvGrpSpPr>
              <p:cNvPr id="1437" name="Grupo 1436">
                <a:extLst>
                  <a:ext uri="{FF2B5EF4-FFF2-40B4-BE49-F238E27FC236}">
                    <a16:creationId xmlns:a16="http://schemas.microsoft.com/office/drawing/2014/main" id="{122F5B88-1A77-612B-DE99-C2C2412DB209}"/>
                  </a:ext>
                </a:extLst>
              </p:cNvPr>
              <p:cNvGrpSpPr/>
              <p:nvPr/>
            </p:nvGrpSpPr>
            <p:grpSpPr>
              <a:xfrm>
                <a:off x="14208266" y="3730081"/>
                <a:ext cx="302838" cy="157790"/>
                <a:chOff x="14267742" y="3730081"/>
                <a:chExt cx="302838" cy="157790"/>
              </a:xfrm>
            </p:grpSpPr>
            <p:pic>
              <p:nvPicPr>
                <p:cNvPr id="1438" name="Imagen 1437">
                  <a:extLst>
                    <a:ext uri="{FF2B5EF4-FFF2-40B4-BE49-F238E27FC236}">
                      <a16:creationId xmlns:a16="http://schemas.microsoft.com/office/drawing/2014/main" id="{8BD456A3-B140-9264-C344-F9309289A4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4267742" y="3730081"/>
                  <a:ext cx="157790" cy="157790"/>
                </a:xfrm>
                <a:prstGeom prst="rect">
                  <a:avLst/>
                </a:prstGeom>
              </p:spPr>
            </p:pic>
            <p:pic>
              <p:nvPicPr>
                <p:cNvPr id="1439" name="Imagen 1438">
                  <a:extLst>
                    <a:ext uri="{FF2B5EF4-FFF2-40B4-BE49-F238E27FC236}">
                      <a16:creationId xmlns:a16="http://schemas.microsoft.com/office/drawing/2014/main" id="{D472DB76-B5FF-6EF4-77BE-DCBB558C69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4435594" y="3750982"/>
                  <a:ext cx="134986" cy="134986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2" name="Imagen 1">
            <a:hlinkClick r:id="rId41" tooltip="Click para visitar perfil en gitgub"/>
            <a:extLst>
              <a:ext uri="{FF2B5EF4-FFF2-40B4-BE49-F238E27FC236}">
                <a16:creationId xmlns:a16="http://schemas.microsoft.com/office/drawing/2014/main" id="{B78C2ECF-F2D6-C729-FD78-E999E2A4EBB1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1622" y="1"/>
            <a:ext cx="1096379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900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5775A-A7F3-3229-ADA1-90C098CF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443A48A-39AA-0BFA-B673-2D54310C7D9B}"/>
              </a:ext>
            </a:extLst>
          </p:cNvPr>
          <p:cNvCxnSpPr>
            <a:cxnSpLocks/>
          </p:cNvCxnSpPr>
          <p:nvPr/>
        </p:nvCxnSpPr>
        <p:spPr>
          <a:xfrm>
            <a:off x="0" y="916987"/>
            <a:ext cx="18288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033161E-E54D-990C-09DF-5490A9204BC2}"/>
              </a:ext>
            </a:extLst>
          </p:cNvPr>
          <p:cNvSpPr txBox="1"/>
          <p:nvPr/>
        </p:nvSpPr>
        <p:spPr>
          <a:xfrm>
            <a:off x="3693202" y="212939"/>
            <a:ext cx="6126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DO" sz="1400" i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¿Los datos son consistentes y confiables para el análisis?¿Existen anomalías, duplicados o valores faltantes relevantes?</a:t>
            </a:r>
            <a:endParaRPr lang="es-DO" sz="1200" i="1" dirty="0">
              <a:solidFill>
                <a:schemeClr val="tx2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644" name="Conector recto 643">
            <a:extLst>
              <a:ext uri="{FF2B5EF4-FFF2-40B4-BE49-F238E27FC236}">
                <a16:creationId xmlns:a16="http://schemas.microsoft.com/office/drawing/2014/main" id="{D70177C2-E080-B1C4-2A4E-0E588DE107E2}"/>
              </a:ext>
            </a:extLst>
          </p:cNvPr>
          <p:cNvCxnSpPr/>
          <p:nvPr/>
        </p:nvCxnSpPr>
        <p:spPr>
          <a:xfrm>
            <a:off x="3596452" y="250213"/>
            <a:ext cx="0" cy="548640"/>
          </a:xfrm>
          <a:prstGeom prst="line">
            <a:avLst/>
          </a:prstGeom>
          <a:ln w="25400">
            <a:solidFill>
              <a:srgbClr val="1C3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8BAB02FE-EE17-774D-7B54-829207AA1BAE}"/>
              </a:ext>
            </a:extLst>
          </p:cNvPr>
          <p:cNvGrpSpPr/>
          <p:nvPr/>
        </p:nvGrpSpPr>
        <p:grpSpPr>
          <a:xfrm>
            <a:off x="1885252" y="1485900"/>
            <a:ext cx="14269148" cy="6586953"/>
            <a:chOff x="199012" y="1333500"/>
            <a:chExt cx="8985639" cy="6586953"/>
          </a:xfrm>
        </p:grpSpPr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7A22D528-41E0-4D95-8D85-82FC50B3B0FE}"/>
                </a:ext>
              </a:extLst>
            </p:cNvPr>
            <p:cNvSpPr/>
            <p:nvPr/>
          </p:nvSpPr>
          <p:spPr>
            <a:xfrm>
              <a:off x="199012" y="1333501"/>
              <a:ext cx="8985639" cy="6586952"/>
            </a:xfrm>
            <a:prstGeom prst="rect">
              <a:avLst/>
            </a:prstGeom>
            <a:solidFill>
              <a:srgbClr val="FBF9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>
                <a:latin typeface="Aptos" panose="020B0004020202020204" pitchFamily="34" charset="0"/>
              </a:endParaRPr>
            </a:p>
          </p:txBody>
        </p:sp>
        <p:sp>
          <p:nvSpPr>
            <p:cNvPr id="1172" name="Freeform 16">
              <a:extLst>
                <a:ext uri="{FF2B5EF4-FFF2-40B4-BE49-F238E27FC236}">
                  <a16:creationId xmlns:a16="http://schemas.microsoft.com/office/drawing/2014/main" id="{40088711-6D7F-8676-77DB-9D37B44C2C34}"/>
                </a:ext>
              </a:extLst>
            </p:cNvPr>
            <p:cNvSpPr/>
            <p:nvPr/>
          </p:nvSpPr>
          <p:spPr>
            <a:xfrm>
              <a:off x="199012" y="1333500"/>
              <a:ext cx="8985638" cy="457977"/>
            </a:xfrm>
            <a:custGeom>
              <a:avLst/>
              <a:gdLst/>
              <a:ahLst/>
              <a:cxnLst/>
              <a:rect l="l" t="t" r="r" b="b"/>
              <a:pathLst>
                <a:path w="4741590" h="780608">
                  <a:moveTo>
                    <a:pt x="0" y="0"/>
                  </a:moveTo>
                  <a:lnTo>
                    <a:pt x="4741590" y="0"/>
                  </a:lnTo>
                  <a:lnTo>
                    <a:pt x="4741590" y="780608"/>
                  </a:lnTo>
                  <a:lnTo>
                    <a:pt x="0" y="780608"/>
                  </a:lnTo>
                  <a:close/>
                </a:path>
              </a:pathLst>
            </a:custGeom>
            <a:solidFill>
              <a:srgbClr val="1C3F60"/>
            </a:solidFill>
          </p:spPr>
          <p:txBody>
            <a:bodyPr anchor="ctr"/>
            <a:lstStyle/>
            <a:p>
              <a:pPr algn="ctr"/>
              <a:r>
                <a:rPr lang="es-DO" sz="1600" b="1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Resultado de validaciones DQC</a:t>
              </a:r>
            </a:p>
          </p:txBody>
        </p:sp>
      </p:grpSp>
      <p:grpSp>
        <p:nvGrpSpPr>
          <p:cNvPr id="1363" name="Grupo 1362">
            <a:extLst>
              <a:ext uri="{FF2B5EF4-FFF2-40B4-BE49-F238E27FC236}">
                <a16:creationId xmlns:a16="http://schemas.microsoft.com/office/drawing/2014/main" id="{B95E77AD-E16C-02DC-E048-F7CF4B2730FA}"/>
              </a:ext>
            </a:extLst>
          </p:cNvPr>
          <p:cNvGrpSpPr/>
          <p:nvPr/>
        </p:nvGrpSpPr>
        <p:grpSpPr>
          <a:xfrm>
            <a:off x="2148840" y="2214146"/>
            <a:ext cx="13624560" cy="338554"/>
            <a:chOff x="2148840" y="2214146"/>
            <a:chExt cx="13624560" cy="338554"/>
          </a:xfrm>
        </p:grpSpPr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4F5B3FAF-7AE9-5757-C064-8AE759BE72E5}"/>
                </a:ext>
              </a:extLst>
            </p:cNvPr>
            <p:cNvSpPr txBox="1"/>
            <p:nvPr/>
          </p:nvSpPr>
          <p:spPr>
            <a:xfrm>
              <a:off x="2148840" y="2214146"/>
              <a:ext cx="219456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600" b="1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 </a:t>
              </a:r>
              <a:r>
                <a:rPr lang="en-US" sz="1600" b="1" dirty="0" err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Tabla</a:t>
              </a:r>
              <a:r>
                <a:rPr lang="en-US" sz="1600" b="1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:</a:t>
              </a:r>
              <a:endParaRPr lang="es-DO" sz="1600" b="1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379EB11F-57C1-43AF-B0D0-FFE99D6B9B31}"/>
                </a:ext>
              </a:extLst>
            </p:cNvPr>
            <p:cNvSpPr txBox="1"/>
            <p:nvPr/>
          </p:nvSpPr>
          <p:spPr>
            <a:xfrm>
              <a:off x="4602480" y="2214146"/>
              <a:ext cx="640080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/>
              <a:r>
                <a:rPr lang="en-US" sz="1600" b="1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Regla:</a:t>
              </a:r>
              <a:endParaRPr lang="es-DO" sz="1600" b="1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C0A74AB0-5048-59D3-8870-1EF240F8D4D5}"/>
                </a:ext>
              </a:extLst>
            </p:cNvPr>
            <p:cNvSpPr txBox="1"/>
            <p:nvPr/>
          </p:nvSpPr>
          <p:spPr>
            <a:xfrm>
              <a:off x="11231880" y="2214146"/>
              <a:ext cx="219456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600" b="1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</a:t>
              </a:r>
              <a:r>
                <a:rPr lang="en-US" sz="1600" b="1" dirty="0" err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Incidencias</a:t>
              </a:r>
              <a:r>
                <a:rPr lang="en-US" sz="1600" b="1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:</a:t>
              </a:r>
              <a:endParaRPr lang="es-DO" sz="1600" b="1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31F4F534-B0C7-49AF-41DE-05D6AC38A7EE}"/>
                </a:ext>
              </a:extLst>
            </p:cNvPr>
            <p:cNvSpPr txBox="1"/>
            <p:nvPr/>
          </p:nvSpPr>
          <p:spPr>
            <a:xfrm>
              <a:off x="13578840" y="2214146"/>
              <a:ext cx="219456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600" b="1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 % </a:t>
              </a:r>
              <a:r>
                <a:rPr lang="en-US" sz="1600" b="1" dirty="0" err="1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sobre</a:t>
              </a:r>
              <a:r>
                <a:rPr lang="en-US" sz="1600" b="1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total:</a:t>
              </a:r>
              <a:endParaRPr lang="es-DO" sz="1600" b="1" dirty="0"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sp>
        <p:nvSpPr>
          <p:cNvPr id="25" name="Rectángulo: esquinas diagonales redondeadas 24">
            <a:extLst>
              <a:ext uri="{FF2B5EF4-FFF2-40B4-BE49-F238E27FC236}">
                <a16:creationId xmlns:a16="http://schemas.microsoft.com/office/drawing/2014/main" id="{4A3B9B70-CFC3-5119-89F4-7480ECFAA839}"/>
              </a:ext>
            </a:extLst>
          </p:cNvPr>
          <p:cNvSpPr/>
          <p:nvPr/>
        </p:nvSpPr>
        <p:spPr>
          <a:xfrm>
            <a:off x="2148840" y="2865475"/>
            <a:ext cx="2194560" cy="2819400"/>
          </a:xfrm>
          <a:prstGeom prst="round2DiagRect">
            <a:avLst/>
          </a:prstGeom>
          <a:solidFill>
            <a:srgbClr val="3131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Clientes</a:t>
            </a:r>
            <a:r>
              <a:rPr lang="en-US" sz="14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/</a:t>
            </a:r>
            <a:r>
              <a:rPr lang="en-US" sz="1400" b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Transacciones</a:t>
            </a:r>
            <a:endParaRPr lang="es-DO" sz="14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26" name="Rectángulo: esquinas diagonales redondeadas 25">
            <a:extLst>
              <a:ext uri="{FF2B5EF4-FFF2-40B4-BE49-F238E27FC236}">
                <a16:creationId xmlns:a16="http://schemas.microsoft.com/office/drawing/2014/main" id="{0AEAE3CA-4218-B3EC-5713-29DFB2F4E124}"/>
              </a:ext>
            </a:extLst>
          </p:cNvPr>
          <p:cNvSpPr/>
          <p:nvPr/>
        </p:nvSpPr>
        <p:spPr>
          <a:xfrm>
            <a:off x="2130697" y="6065875"/>
            <a:ext cx="2194560" cy="1592225"/>
          </a:xfrm>
          <a:prstGeom prst="round2DiagRect">
            <a:avLst/>
          </a:prstGeom>
          <a:solidFill>
            <a:srgbClr val="3131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Transacciones</a:t>
            </a:r>
            <a:endParaRPr lang="es-DO" sz="16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3C9AFF7-DA72-C87F-79A5-7131C375C39E}"/>
              </a:ext>
            </a:extLst>
          </p:cNvPr>
          <p:cNvSpPr txBox="1"/>
          <p:nvPr/>
        </p:nvSpPr>
        <p:spPr>
          <a:xfrm>
            <a:off x="4619105" y="2865475"/>
            <a:ext cx="6400800" cy="584775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DO" sz="16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Edades fuera de rango esperado ( &lt;18 Edad &gt;80 a la fecha de la transacción)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347C98C-325F-B5C4-5993-B05DD1A16C7B}"/>
              </a:ext>
            </a:extLst>
          </p:cNvPr>
          <p:cNvSpPr txBox="1"/>
          <p:nvPr/>
        </p:nvSpPr>
        <p:spPr>
          <a:xfrm>
            <a:off x="4608219" y="3707142"/>
            <a:ext cx="6400800" cy="584775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DO" sz="16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Clientes inactivos con actividad transaccional (Clientes marcados como INACTIVOS con transacciones en el período ene–jun 2023)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05C0375-DDC7-4393-E292-9C1F184774DB}"/>
              </a:ext>
            </a:extLst>
          </p:cNvPr>
          <p:cNvSpPr txBox="1"/>
          <p:nvPr/>
        </p:nvSpPr>
        <p:spPr>
          <a:xfrm>
            <a:off x="4608219" y="4502201"/>
            <a:ext cx="6400800" cy="830997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DO" sz="16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Transacciones realizadas por clientes inactivos (transacciones hechas por clientes marcados como INACTIVOS con transacciones en el período ene–jun 2023)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842DA50-52A4-6816-C64D-EE8C48ABB049}"/>
              </a:ext>
            </a:extLst>
          </p:cNvPr>
          <p:cNvSpPr txBox="1"/>
          <p:nvPr/>
        </p:nvSpPr>
        <p:spPr>
          <a:xfrm>
            <a:off x="4619105" y="6064946"/>
            <a:ext cx="6400800" cy="338554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DO" sz="16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Fechas fuera de rango (ene–jun 2023)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94CCD188-1686-2345-8646-01EC400EFF81}"/>
              </a:ext>
            </a:extLst>
          </p:cNvPr>
          <p:cNvSpPr txBox="1"/>
          <p:nvPr/>
        </p:nvSpPr>
        <p:spPr>
          <a:xfrm>
            <a:off x="4608219" y="6633746"/>
            <a:ext cx="6400800" cy="338554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DO" sz="16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Montos ≤0,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DFE0682-DBF2-8DEA-52CE-29CEE651FF69}"/>
              </a:ext>
            </a:extLst>
          </p:cNvPr>
          <p:cNvSpPr txBox="1"/>
          <p:nvPr/>
        </p:nvSpPr>
        <p:spPr>
          <a:xfrm>
            <a:off x="11231880" y="2865475"/>
            <a:ext cx="2205446" cy="585216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464</a:t>
            </a:r>
            <a:endParaRPr lang="es-DO" sz="16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8ECDF06-9AE3-9A58-48B6-16B9D134716B}"/>
              </a:ext>
            </a:extLst>
          </p:cNvPr>
          <p:cNvSpPr txBox="1"/>
          <p:nvPr/>
        </p:nvSpPr>
        <p:spPr>
          <a:xfrm>
            <a:off x="11220994" y="3707142"/>
            <a:ext cx="2205446" cy="585216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1">
            <a:spAutoFit/>
          </a:bodyPr>
          <a:lstStyle/>
          <a:p>
            <a:pPr algn="ctr"/>
            <a:r>
              <a:rPr lang="es-DO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158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E6AFE8EB-9A96-0BBD-B387-E3FF29B4B738}"/>
              </a:ext>
            </a:extLst>
          </p:cNvPr>
          <p:cNvSpPr txBox="1"/>
          <p:nvPr/>
        </p:nvSpPr>
        <p:spPr>
          <a:xfrm>
            <a:off x="11220994" y="4502201"/>
            <a:ext cx="2205446" cy="832104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1">
            <a:spAutoFit/>
          </a:bodyPr>
          <a:lstStyle/>
          <a:p>
            <a:pPr algn="ctr"/>
            <a:r>
              <a:rPr lang="es-DO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210</a:t>
            </a:r>
          </a:p>
        </p:txBody>
      </p:sp>
      <p:sp>
        <p:nvSpPr>
          <p:cNvPr id="1344" name="CuadroTexto 1343">
            <a:extLst>
              <a:ext uri="{FF2B5EF4-FFF2-40B4-BE49-F238E27FC236}">
                <a16:creationId xmlns:a16="http://schemas.microsoft.com/office/drawing/2014/main" id="{126822E7-0F2C-1BA2-3621-C9BC4BF2EB7A}"/>
              </a:ext>
            </a:extLst>
          </p:cNvPr>
          <p:cNvSpPr txBox="1"/>
          <p:nvPr/>
        </p:nvSpPr>
        <p:spPr>
          <a:xfrm>
            <a:off x="11231880" y="6064946"/>
            <a:ext cx="2205446" cy="338554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DO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43</a:t>
            </a:r>
          </a:p>
        </p:txBody>
      </p:sp>
      <p:sp>
        <p:nvSpPr>
          <p:cNvPr id="1345" name="CuadroTexto 1344">
            <a:extLst>
              <a:ext uri="{FF2B5EF4-FFF2-40B4-BE49-F238E27FC236}">
                <a16:creationId xmlns:a16="http://schemas.microsoft.com/office/drawing/2014/main" id="{61105041-4899-9438-0F0E-30FE74031EC9}"/>
              </a:ext>
            </a:extLst>
          </p:cNvPr>
          <p:cNvSpPr txBox="1"/>
          <p:nvPr/>
        </p:nvSpPr>
        <p:spPr>
          <a:xfrm>
            <a:off x="11220994" y="6633746"/>
            <a:ext cx="2205446" cy="338554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4</a:t>
            </a:r>
            <a:r>
              <a:rPr lang="es-DO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3</a:t>
            </a:r>
          </a:p>
        </p:txBody>
      </p:sp>
      <p:sp>
        <p:nvSpPr>
          <p:cNvPr id="1349" name="CuadroTexto 1348">
            <a:extLst>
              <a:ext uri="{FF2B5EF4-FFF2-40B4-BE49-F238E27FC236}">
                <a16:creationId xmlns:a16="http://schemas.microsoft.com/office/drawing/2014/main" id="{21F876D8-17A9-31CF-3F94-4AA8ADDEB9F7}"/>
              </a:ext>
            </a:extLst>
          </p:cNvPr>
          <p:cNvSpPr txBox="1"/>
          <p:nvPr/>
        </p:nvSpPr>
        <p:spPr>
          <a:xfrm>
            <a:off x="13601408" y="6064946"/>
            <a:ext cx="2205446" cy="338554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DO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0.20%</a:t>
            </a:r>
          </a:p>
        </p:txBody>
      </p:sp>
      <p:sp>
        <p:nvSpPr>
          <p:cNvPr id="1350" name="CuadroTexto 1349">
            <a:extLst>
              <a:ext uri="{FF2B5EF4-FFF2-40B4-BE49-F238E27FC236}">
                <a16:creationId xmlns:a16="http://schemas.microsoft.com/office/drawing/2014/main" id="{D7590F9F-44E4-A3C7-22A8-CEFACF5960F3}"/>
              </a:ext>
            </a:extLst>
          </p:cNvPr>
          <p:cNvSpPr txBox="1"/>
          <p:nvPr/>
        </p:nvSpPr>
        <p:spPr>
          <a:xfrm>
            <a:off x="13590522" y="6633746"/>
            <a:ext cx="2205446" cy="338554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0.20%</a:t>
            </a:r>
            <a:endParaRPr lang="es-DO" sz="16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358" name="CuadroTexto 1357">
            <a:extLst>
              <a:ext uri="{FF2B5EF4-FFF2-40B4-BE49-F238E27FC236}">
                <a16:creationId xmlns:a16="http://schemas.microsoft.com/office/drawing/2014/main" id="{EFF528DF-89F7-AF9D-FF9A-AFF4254E0A0D}"/>
              </a:ext>
            </a:extLst>
          </p:cNvPr>
          <p:cNvSpPr txBox="1"/>
          <p:nvPr/>
        </p:nvSpPr>
        <p:spPr>
          <a:xfrm>
            <a:off x="13567954" y="2865475"/>
            <a:ext cx="2205446" cy="585216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8.37%</a:t>
            </a:r>
            <a:endParaRPr lang="es-DO" sz="16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359" name="CuadroTexto 1358">
            <a:extLst>
              <a:ext uri="{FF2B5EF4-FFF2-40B4-BE49-F238E27FC236}">
                <a16:creationId xmlns:a16="http://schemas.microsoft.com/office/drawing/2014/main" id="{B19EBA89-4143-D9DF-AD60-05FD48CE5154}"/>
              </a:ext>
            </a:extLst>
          </p:cNvPr>
          <p:cNvSpPr txBox="1"/>
          <p:nvPr/>
        </p:nvSpPr>
        <p:spPr>
          <a:xfrm>
            <a:off x="13567954" y="3707142"/>
            <a:ext cx="2205446" cy="585216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1">
            <a:spAutoFit/>
          </a:bodyPr>
          <a:lstStyle/>
          <a:p>
            <a:pPr algn="ctr"/>
            <a:r>
              <a:rPr lang="es-DO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2.85%</a:t>
            </a:r>
          </a:p>
        </p:txBody>
      </p:sp>
      <p:sp>
        <p:nvSpPr>
          <p:cNvPr id="1360" name="CuadroTexto 1359">
            <a:extLst>
              <a:ext uri="{FF2B5EF4-FFF2-40B4-BE49-F238E27FC236}">
                <a16:creationId xmlns:a16="http://schemas.microsoft.com/office/drawing/2014/main" id="{9DEFE421-FCAD-992C-C30B-FD50992D719D}"/>
              </a:ext>
            </a:extLst>
          </p:cNvPr>
          <p:cNvSpPr txBox="1"/>
          <p:nvPr/>
        </p:nvSpPr>
        <p:spPr>
          <a:xfrm>
            <a:off x="13567954" y="4502201"/>
            <a:ext cx="2205446" cy="832104"/>
          </a:xfrm>
          <a:prstGeom prst="rect">
            <a:avLst/>
          </a:prstGeom>
          <a:solidFill>
            <a:srgbClr val="F2F2F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1">
            <a:spAutoFit/>
          </a:bodyPr>
          <a:lstStyle/>
          <a:p>
            <a:pPr algn="ctr"/>
            <a:r>
              <a:rPr lang="es-DO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0.97%</a:t>
            </a:r>
          </a:p>
        </p:txBody>
      </p:sp>
      <p:sp>
        <p:nvSpPr>
          <p:cNvPr id="1384" name="CuadroTexto 1383">
            <a:extLst>
              <a:ext uri="{FF2B5EF4-FFF2-40B4-BE49-F238E27FC236}">
                <a16:creationId xmlns:a16="http://schemas.microsoft.com/office/drawing/2014/main" id="{672BF8F2-E259-6E6F-C0A3-C6BE79135AE3}"/>
              </a:ext>
            </a:extLst>
          </p:cNvPr>
          <p:cNvSpPr txBox="1"/>
          <p:nvPr/>
        </p:nvSpPr>
        <p:spPr>
          <a:xfrm>
            <a:off x="7031109" y="8271741"/>
            <a:ext cx="91548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DO" sz="1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*Consideraciones*:</a:t>
            </a:r>
          </a:p>
          <a:p>
            <a:pPr algn="r"/>
            <a:endParaRPr lang="es-DO" sz="12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algn="r"/>
            <a:r>
              <a:rPr lang="es-DO" sz="1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- Período limitado: enero–junio 2023</a:t>
            </a:r>
          </a:p>
          <a:p>
            <a:pPr algn="r"/>
            <a:r>
              <a:rPr lang="es-DO" sz="1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- No se modeló causalidad</a:t>
            </a:r>
          </a:p>
          <a:p>
            <a:pPr algn="r"/>
            <a:r>
              <a:rPr lang="es-DO" sz="1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- Resultados orientados a patrones descriptivos</a:t>
            </a:r>
          </a:p>
        </p:txBody>
      </p:sp>
      <p:sp>
        <p:nvSpPr>
          <p:cNvPr id="1385" name="CuadroTexto 1384">
            <a:extLst>
              <a:ext uri="{FF2B5EF4-FFF2-40B4-BE49-F238E27FC236}">
                <a16:creationId xmlns:a16="http://schemas.microsoft.com/office/drawing/2014/main" id="{C8058178-4686-09EA-44C8-17771B628EEE}"/>
              </a:ext>
            </a:extLst>
          </p:cNvPr>
          <p:cNvSpPr txBox="1"/>
          <p:nvPr/>
        </p:nvSpPr>
        <p:spPr>
          <a:xfrm>
            <a:off x="304800" y="106859"/>
            <a:ext cx="31949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DO" sz="2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Calidad y consistencia de datos (DQC)</a:t>
            </a:r>
          </a:p>
        </p:txBody>
      </p:sp>
      <p:pic>
        <p:nvPicPr>
          <p:cNvPr id="11" name="Imagen 10">
            <a:hlinkClick r:id="rId3" tooltip="Click para visitar perfil en gitgub"/>
            <a:extLst>
              <a:ext uri="{FF2B5EF4-FFF2-40B4-BE49-F238E27FC236}">
                <a16:creationId xmlns:a16="http://schemas.microsoft.com/office/drawing/2014/main" id="{D12C890E-A121-35F3-AC3D-D8F7FDEB10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1622" y="1"/>
            <a:ext cx="1096379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1130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LINKS_STATUS_TAG" val="&lt;?xml version=&quot;1.0&quot; encoding=&quot;utf-16&quot;?&gt;&#10;&lt;PuLinks xmlns:xsd=&quot;http://www.w3.org/2001/XMLSchema&quot; xmlns:xsi=&quot;http://www.w3.org/2001/XMLSchema-instance&quot;&gt;&#10;  &lt;PuLink status=&quot;1&quot; id=&quot;POWER_USER_LINK_02F45331_0092_4354_9445_316A0784534C&quot; /&gt;&#10;  &lt;PuLink status=&quot;1&quot; id=&quot;POWER_USER_LINK_6ACA9150_2EB4_4BB9_B75C_FE2F43F10C9E&quot; /&gt;&#10;&lt;/PuLink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FB569310_F545_4030_8BBB_9882F0F38E12&quot;,&quot;SourceFullNameMaxLengthReached&quot;:false,&quot;SourceFullName&quot;:&quot;C:\\Users\\miria\\OneDrive - INTEC\\Documentos\\Study\\Ejercicios SQL Varios\\customer_spending_kpis_analysis\\customer_spending_kpis_outputs.xlsx&quot;,&quot;LastUpdate&quot;:&quot;2026-05-15 5:40 PM&quot;,&quot;UpdatedBy&quot;:&quot;miria&quot;,&quot;IsLinked&quot;:false,&quot;IsBrokenLink&quot;:false,&quot;Type&quot;:1,&quot;ShapeId&quot;:0,&quot;WorksheetName&quot;:null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9FEF420B_7932_4AAD_97E2_8D37B099D4F5&quot;,&quot;SourceFullNameMaxLengthReached&quot;:false,&quot;SourceFullName&quot;:&quot;C:\\Users\\miria\\OneDrive - INTEC\\Documentos\\Study\\Ejercicios SQL Varios\\customer_spending_kpis_analysis\\customer_spending_kpis_outputs.xlsx&quot;,&quot;LastUpdate&quot;:&quot;2026-05-15 5:46 PM&quot;,&quot;UpdatedBy&quot;:&quot;miria&quot;,&quot;IsLinked&quot;:false,&quot;IsBrokenLink&quot;:false,&quot;Type&quot;:1,&quot;ShapeId&quot;:0,&quot;WorksheetName&quot;:null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D2115799_8411_4212_9EEC_1700DAD0425F&quot;,&quot;SourceFullNameMaxLengthReached&quot;:false,&quot;SourceFullName&quot;:&quot;C:\\Users\\miria\\OneDrive - INTEC\\Documentos\\Study\\Ejercicios SQL Varios\\customer_spending_kpis_analysis\\customer_spending_kpis_outputs.xlsx&quot;,&quot;LastUpdate&quot;:&quot;2026-05-15 6:33 PM&quot;,&quot;UpdatedBy&quot;:&quot;miria&quot;,&quot;IsLinked&quot;:false,&quot;IsBrokenLink&quot;:false,&quot;Type&quot;:1,&quot;ShapeId&quot;:0,&quot;WorksheetName&quot;:null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972ED6DE_F257_46BE_B5EB_F001EE3ED4C9&quot;,&quot;SourceFullNameMaxLengthReached&quot;:false,&quot;SourceFullName&quot;:&quot;C:\\Users\\miria\\OneDrive - INTEC\\Documentos\\Study\\Ejercicios SQL Varios\\customer_spending_kpis_analysis\\customer_spending_kpis_outputs.xlsx&quot;,&quot;LastUpdate&quot;:&quot;2026-05-14 6:05 PM&quot;,&quot;UpdatedBy&quot;:&quot;miria&quot;,&quot;IsLinked&quot;:false,&quot;IsBrokenLink&quot;:false,&quot;Type&quot;:1,&quot;ShapeId&quot;:0,&quot;WorksheetName&quot;:null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02F45331_0092_4354_9445_316A0784534C&quot;,&quot;SourceFullNameMaxLengthReached&quot;:false,&quot;SourceFullName&quot;:&quot;C:\\Users\\miria\\OneDrive - INTEC\\Documentos\\Study\\Ejercicios SQL Varios\\customer_spending_kpis_analysis\\customer_spending_kpis_outputs.xlsx&quot;,&quot;LastUpdate&quot;:&quot;2026-05-13 8:28 PM&quot;,&quot;UpdatedBy&quot;:&quot;miria&quot;,&quot;IsLinked&quot;:true,&quot;IsBrokenLink&quot;:false,&quot;Type&quot;:1,&quot;ShapeId&quot;:14,&quot;WorksheetName&quot;:&quot;04_Gráficos&quot;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6ACA9150_2EB4_4BB9_B75C_FE2F43F10C9E&quot;,&quot;SourceFullNameMaxLengthReached&quot;:false,&quot;SourceFullName&quot;:&quot;C:\\Users\\miria\\OneDrive - INTEC\\Documentos\\Study\\Ejercicios SQL Varios\\customer_spending_kpis_analysis\\customer_spending_kpis_outputs.xlsx&quot;,&quot;LastUpdate&quot;:&quot;2026-05-14 1:18 PM&quot;,&quot;UpdatedBy&quot;:&quot;miria&quot;,&quot;IsLinked&quot;:false,&quot;IsBrokenLink&quot;:true,&quot;Type&quot;:1,&quot;ShapeId&quot;:0,&quot;WorksheetName&quot;:null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4492</TotalTime>
  <Words>2029</Words>
  <Application>Microsoft Office PowerPoint</Application>
  <PresentationFormat>Personalizado</PresentationFormat>
  <Paragraphs>498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Abadi</vt:lpstr>
      <vt:lpstr>Arial</vt:lpstr>
      <vt:lpstr>Abadi ExtraLight</vt:lpstr>
      <vt:lpstr>Calibri</vt:lpstr>
      <vt:lpstr>Segoe UI Semilight</vt:lpstr>
      <vt:lpstr>Segoe UI Semibold</vt:lpstr>
      <vt:lpstr>Aptos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gráficos diagramas y esquemas corporativo profesional azul</dc:title>
  <dc:creator>Mirianny De La Cruz Ventura</dc:creator>
  <cp:lastModifiedBy>[Est - LIF] De La Cruz Ventura, Mirianny</cp:lastModifiedBy>
  <cp:revision>182</cp:revision>
  <dcterms:created xsi:type="dcterms:W3CDTF">2006-08-16T00:00:00Z</dcterms:created>
  <dcterms:modified xsi:type="dcterms:W3CDTF">2026-05-26T18:30:03Z</dcterms:modified>
  <dc:identifier>DAGwkGDCPFg</dc:identifier>
</cp:coreProperties>
</file>