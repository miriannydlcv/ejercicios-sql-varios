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"/>
  </p:notesMasterIdLst>
  <p:sldIdLst>
    <p:sldId id="258" r:id="rId2"/>
    <p:sldId id="261" r:id="rId3"/>
    <p:sldId id="264" r:id="rId4"/>
  </p:sldIdLst>
  <p:sldSz cx="18288000" cy="10287000"/>
  <p:notesSz cx="6858000" cy="9144000"/>
  <p:embeddedFontLst>
    <p:embeddedFont>
      <p:font typeface="Canva Sans" panose="020B0604020202020204" charset="0"/>
      <p:regular r:id="rId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BF2C"/>
    <a:srgbClr val="0E73C3"/>
    <a:srgbClr val="B9B9B9"/>
    <a:srgbClr val="AFC1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89" autoAdjust="0"/>
    <p:restoredTop sz="94622" autoAdjust="0"/>
  </p:normalViewPr>
  <p:slideViewPr>
    <p:cSldViewPr>
      <p:cViewPr varScale="1">
        <p:scale>
          <a:sx n="57" d="100"/>
          <a:sy n="57" d="100"/>
        </p:scale>
        <p:origin x="274" y="5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iria\Downloads\Prueba%20T&#233;cnica%20-%20Analista%20Sr.%20Inteligencia%20de%20Segmentos%20(Analista%20de%20Datos)\Prueba%20T&#233;cnica%20-%20Analista%20Sr.%20Inteligencia%20de%20Segmentos%20(Analista%20de%20Datos)\yOUTUBE%20vIDEO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58F-407F-A814-6FC2E788A639}"/>
              </c:ext>
            </c:extLst>
          </c:dPt>
          <c:dPt>
            <c:idx val="1"/>
            <c:bubble3D val="0"/>
            <c:spPr>
              <a:solidFill>
                <a:schemeClr val="accent1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58F-407F-A814-6FC2E788A639}"/>
              </c:ext>
            </c:extLst>
          </c:dPt>
          <c:dPt>
            <c:idx val="2"/>
            <c:bubble3D val="0"/>
            <c:spPr>
              <a:solidFill>
                <a:schemeClr val="accent1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58F-407F-A814-6FC2E788A639}"/>
              </c:ext>
            </c:extLst>
          </c:dPt>
          <c:dPt>
            <c:idx val="3"/>
            <c:bubble3D val="0"/>
            <c:spPr>
              <a:solidFill>
                <a:schemeClr val="accent1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258F-407F-A814-6FC2E788A63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accent1">
                        <a:lumMod val="50000"/>
                      </a:schemeClr>
                    </a:solidFill>
                    <a:latin typeface="Canva Sans" panose="020B0604020202020204" charset="0"/>
                    <a:ea typeface="+mn-ea"/>
                    <a:cs typeface="+mn-cs"/>
                  </a:defRPr>
                </a:pPr>
                <a:endParaRPr lang="es-D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Hoja3!$A$15:$A$18</c:f>
              <c:strCache>
                <c:ptCount val="4"/>
                <c:pt idx="0">
                  <c:v>Brasil</c:v>
                </c:pt>
                <c:pt idx="1">
                  <c:v>EU</c:v>
                </c:pt>
                <c:pt idx="2">
                  <c:v>Japon</c:v>
                </c:pt>
                <c:pt idx="3">
                  <c:v>USA</c:v>
                </c:pt>
              </c:strCache>
            </c:strRef>
          </c:cat>
          <c:val>
            <c:numRef>
              <c:f>Hoja3!$C$15:$C$18</c:f>
              <c:numCache>
                <c:formatCode>0%</c:formatCode>
                <c:ptCount val="4"/>
                <c:pt idx="0">
                  <c:v>0.10996119016817593</c:v>
                </c:pt>
                <c:pt idx="1">
                  <c:v>0.39197930142302717</c:v>
                </c:pt>
                <c:pt idx="2">
                  <c:v>0.20310478654592498</c:v>
                </c:pt>
                <c:pt idx="3">
                  <c:v>0.29495472186287192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58F-407F-A814-6FC2E788A63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5130213387366671"/>
          <c:y val="0.15021373258956414"/>
          <c:w val="0.11333482302533579"/>
          <c:h val="0.4554961974222159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nva Sans" panose="020B0604020202020204" charset="0"/>
              <a:ea typeface="+mn-ea"/>
              <a:cs typeface="+mn-cs"/>
            </a:defRPr>
          </a:pPr>
          <a:endParaRPr lang="es-DO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600">
          <a:latin typeface="Canva Sans" panose="020B0604020202020204" charset="0"/>
        </a:defRPr>
      </a:pPr>
      <a:endParaRPr lang="es-DO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1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D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741029-9619-41A8-BBA5-3016E10B0847}" type="datetimeFigureOut">
              <a:rPr lang="es-DO" smtClean="0"/>
              <a:t>5/5/2026</a:t>
            </a:fld>
            <a:endParaRPr lang="es-D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D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F1BB58-FFA6-4C9C-A777-7A646D574089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095009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D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F1BB58-FFA6-4C9C-A777-7A646D574089}" type="slidenum">
              <a:rPr lang="es-DO" smtClean="0"/>
              <a:t>1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0110166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chart" Target="../charts/char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roup 18">
            <a:extLst>
              <a:ext uri="{FF2B5EF4-FFF2-40B4-BE49-F238E27FC236}">
                <a16:creationId xmlns:a16="http://schemas.microsoft.com/office/drawing/2014/main" id="{E75122AC-6D2D-5E78-F0C5-0BDDDCC4597B}"/>
              </a:ext>
            </a:extLst>
          </p:cNvPr>
          <p:cNvGrpSpPr/>
          <p:nvPr/>
        </p:nvGrpSpPr>
        <p:grpSpPr>
          <a:xfrm>
            <a:off x="0" y="-58319"/>
            <a:ext cx="18288000" cy="1132365"/>
            <a:chOff x="0" y="0"/>
            <a:chExt cx="6941618" cy="926680"/>
          </a:xfrm>
        </p:grpSpPr>
        <p:sp>
          <p:nvSpPr>
            <p:cNvPr id="93" name="Freeform 19">
              <a:extLst>
                <a:ext uri="{FF2B5EF4-FFF2-40B4-BE49-F238E27FC236}">
                  <a16:creationId xmlns:a16="http://schemas.microsoft.com/office/drawing/2014/main" id="{1C9E4F17-6BD7-131B-ADCD-5B9503D48621}"/>
                </a:ext>
              </a:extLst>
            </p:cNvPr>
            <p:cNvSpPr/>
            <p:nvPr/>
          </p:nvSpPr>
          <p:spPr>
            <a:xfrm>
              <a:off x="0" y="0"/>
              <a:ext cx="6941617" cy="926680"/>
            </a:xfrm>
            <a:custGeom>
              <a:avLst/>
              <a:gdLst/>
              <a:ahLst/>
              <a:cxnLst/>
              <a:rect l="l" t="t" r="r" b="b"/>
              <a:pathLst>
                <a:path w="6941617" h="926680">
                  <a:moveTo>
                    <a:pt x="0" y="0"/>
                  </a:moveTo>
                  <a:lnTo>
                    <a:pt x="6941617" y="0"/>
                  </a:lnTo>
                  <a:lnTo>
                    <a:pt x="6941617" y="926680"/>
                  </a:lnTo>
                  <a:lnTo>
                    <a:pt x="0" y="926680"/>
                  </a:lnTo>
                  <a:close/>
                </a:path>
              </a:pathLst>
            </a:custGeom>
            <a:solidFill>
              <a:srgbClr val="0E73C3"/>
            </a:solidFill>
          </p:spPr>
          <p:txBody>
            <a:bodyPr/>
            <a:lstStyle/>
            <a:p>
              <a:endParaRPr lang="es-DO">
                <a:latin typeface="Canva Sans" panose="020B0604020202020204" charset="0"/>
              </a:endParaRPr>
            </a:p>
          </p:txBody>
        </p:sp>
        <p:sp>
          <p:nvSpPr>
            <p:cNvPr id="94" name="TextBox 20">
              <a:extLst>
                <a:ext uri="{FF2B5EF4-FFF2-40B4-BE49-F238E27FC236}">
                  <a16:creationId xmlns:a16="http://schemas.microsoft.com/office/drawing/2014/main" id="{4BAA2CB0-31DA-D278-AC34-8930B405C770}"/>
                </a:ext>
              </a:extLst>
            </p:cNvPr>
            <p:cNvSpPr txBox="1"/>
            <p:nvPr/>
          </p:nvSpPr>
          <p:spPr>
            <a:xfrm>
              <a:off x="0" y="-19050"/>
              <a:ext cx="6941618" cy="945730"/>
            </a:xfrm>
            <a:prstGeom prst="rect">
              <a:avLst/>
            </a:prstGeom>
          </p:spPr>
          <p:txBody>
            <a:bodyPr lIns="47963" tIns="47963" rIns="47963" bIns="47963" rtlCol="0" anchor="ctr"/>
            <a:lstStyle/>
            <a:p>
              <a:pPr algn="ctr">
                <a:lnSpc>
                  <a:spcPts val="1519"/>
                </a:lnSpc>
              </a:pPr>
              <a:endParaRPr>
                <a:latin typeface="Canva Sans" panose="020B0604020202020204" charset="0"/>
              </a:endParaRPr>
            </a:p>
          </p:txBody>
        </p:sp>
      </p:grpSp>
      <p:grpSp>
        <p:nvGrpSpPr>
          <p:cNvPr id="216" name="Grupo 215">
            <a:extLst>
              <a:ext uri="{FF2B5EF4-FFF2-40B4-BE49-F238E27FC236}">
                <a16:creationId xmlns:a16="http://schemas.microsoft.com/office/drawing/2014/main" id="{747846EA-655D-62FF-10F7-AE1A0859668E}"/>
              </a:ext>
            </a:extLst>
          </p:cNvPr>
          <p:cNvGrpSpPr/>
          <p:nvPr/>
        </p:nvGrpSpPr>
        <p:grpSpPr>
          <a:xfrm>
            <a:off x="10134600" y="1282571"/>
            <a:ext cx="8023298" cy="8738175"/>
            <a:chOff x="8838995" y="1790700"/>
            <a:chExt cx="9264685" cy="7105799"/>
          </a:xfrm>
        </p:grpSpPr>
        <p:sp>
          <p:nvSpPr>
            <p:cNvPr id="165" name="Rectángulo 164">
              <a:extLst>
                <a:ext uri="{FF2B5EF4-FFF2-40B4-BE49-F238E27FC236}">
                  <a16:creationId xmlns:a16="http://schemas.microsoft.com/office/drawing/2014/main" id="{38ED8AC3-16D1-6D55-784E-D3141897EC5E}"/>
                </a:ext>
              </a:extLst>
            </p:cNvPr>
            <p:cNvSpPr/>
            <p:nvPr/>
          </p:nvSpPr>
          <p:spPr>
            <a:xfrm>
              <a:off x="8935706" y="2026023"/>
              <a:ext cx="9125350" cy="656885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DO" dirty="0">
                <a:latin typeface="Aptos" panose="020B0004020202020204" pitchFamily="34" charset="0"/>
              </a:endParaRPr>
            </a:p>
          </p:txBody>
        </p:sp>
        <p:grpSp>
          <p:nvGrpSpPr>
            <p:cNvPr id="88" name="Grupo 87">
              <a:extLst>
                <a:ext uri="{FF2B5EF4-FFF2-40B4-BE49-F238E27FC236}">
                  <a16:creationId xmlns:a16="http://schemas.microsoft.com/office/drawing/2014/main" id="{ADB362CC-703F-2DD6-3DE8-A67B3E53AED2}"/>
                </a:ext>
              </a:extLst>
            </p:cNvPr>
            <p:cNvGrpSpPr/>
            <p:nvPr/>
          </p:nvGrpSpPr>
          <p:grpSpPr>
            <a:xfrm>
              <a:off x="8838995" y="1790700"/>
              <a:ext cx="9264685" cy="7105799"/>
              <a:chOff x="7924800" y="1790700"/>
              <a:chExt cx="10182518" cy="7105799"/>
            </a:xfrm>
          </p:grpSpPr>
          <p:grpSp>
            <p:nvGrpSpPr>
              <p:cNvPr id="61" name="Grupo 60">
                <a:extLst>
                  <a:ext uri="{FF2B5EF4-FFF2-40B4-BE49-F238E27FC236}">
                    <a16:creationId xmlns:a16="http://schemas.microsoft.com/office/drawing/2014/main" id="{50EF14FF-7A6C-01C8-4496-A3BA1F60BCE2}"/>
                  </a:ext>
                </a:extLst>
              </p:cNvPr>
              <p:cNvGrpSpPr/>
              <p:nvPr/>
            </p:nvGrpSpPr>
            <p:grpSpPr>
              <a:xfrm>
                <a:off x="7924800" y="1790700"/>
                <a:ext cx="10182518" cy="7105799"/>
                <a:chOff x="8153399" y="1866900"/>
                <a:chExt cx="10182518" cy="7105799"/>
              </a:xfrm>
            </p:grpSpPr>
            <p:sp>
              <p:nvSpPr>
                <p:cNvPr id="10" name="TextBox 10"/>
                <p:cNvSpPr txBox="1"/>
                <p:nvPr/>
              </p:nvSpPr>
              <p:spPr>
                <a:xfrm>
                  <a:off x="8257247" y="2446882"/>
                  <a:ext cx="10009319" cy="381765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lIns="47963" tIns="47963" rIns="47963" bIns="47963" rtlCol="0" anchor="ctr"/>
                <a:lstStyle/>
                <a:p>
                  <a:pPr algn="ctr">
                    <a:lnSpc>
                      <a:spcPts val="1519"/>
                    </a:lnSpc>
                  </a:pPr>
                  <a:endParaRPr>
                    <a:latin typeface="Aptos" panose="020B0004020202020204" pitchFamily="34" charset="0"/>
                  </a:endParaRPr>
                </a:p>
              </p:txBody>
            </p:sp>
            <p:grpSp>
              <p:nvGrpSpPr>
                <p:cNvPr id="53" name="Grupo 52">
                  <a:extLst>
                    <a:ext uri="{FF2B5EF4-FFF2-40B4-BE49-F238E27FC236}">
                      <a16:creationId xmlns:a16="http://schemas.microsoft.com/office/drawing/2014/main" id="{ED308F87-56F5-F212-F5E1-05C8E0692450}"/>
                    </a:ext>
                  </a:extLst>
                </p:cNvPr>
                <p:cNvGrpSpPr/>
                <p:nvPr/>
              </p:nvGrpSpPr>
              <p:grpSpPr>
                <a:xfrm>
                  <a:off x="8153400" y="1866900"/>
                  <a:ext cx="10182517" cy="548639"/>
                  <a:chOff x="7283932" y="1352190"/>
                  <a:chExt cx="11045378" cy="802262"/>
                </a:xfrm>
              </p:grpSpPr>
              <p:grpSp>
                <p:nvGrpSpPr>
                  <p:cNvPr id="2" name="Group 2"/>
                  <p:cNvGrpSpPr/>
                  <p:nvPr/>
                </p:nvGrpSpPr>
                <p:grpSpPr>
                  <a:xfrm>
                    <a:off x="7283932" y="1352190"/>
                    <a:ext cx="10972800" cy="802262"/>
                    <a:chOff x="0" y="-208750"/>
                    <a:chExt cx="7015331" cy="1138198"/>
                  </a:xfrm>
                </p:grpSpPr>
                <p:sp>
                  <p:nvSpPr>
                    <p:cNvPr id="3" name="Freeform 3"/>
                    <p:cNvSpPr/>
                    <p:nvPr/>
                  </p:nvSpPr>
                  <p:spPr>
                    <a:xfrm>
                      <a:off x="73714" y="-208750"/>
                      <a:ext cx="6941617" cy="113819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941617" h="926680">
                          <a:moveTo>
                            <a:pt x="0" y="0"/>
                          </a:moveTo>
                          <a:lnTo>
                            <a:pt x="6941617" y="0"/>
                          </a:lnTo>
                          <a:lnTo>
                            <a:pt x="6941617" y="926680"/>
                          </a:lnTo>
                          <a:lnTo>
                            <a:pt x="0" y="926680"/>
                          </a:lnTo>
                          <a:close/>
                        </a:path>
                      </a:pathLst>
                    </a:custGeom>
                    <a:solidFill>
                      <a:srgbClr val="0E73C3"/>
                    </a:solidFill>
                    <a:ln>
                      <a:noFill/>
                    </a:ln>
                  </p:spPr>
                  <p:txBody>
                    <a:bodyPr anchor="ctr"/>
                    <a:lstStyle/>
                    <a:p>
                      <a:endParaRPr lang="es-DO" dirty="0">
                        <a:latin typeface="Aptos" panose="020B0004020202020204" pitchFamily="34" charset="0"/>
                      </a:endParaRPr>
                    </a:p>
                  </p:txBody>
                </p:sp>
                <p:sp>
                  <p:nvSpPr>
                    <p:cNvPr id="4" name="TextBox 4"/>
                    <p:cNvSpPr txBox="1"/>
                    <p:nvPr/>
                  </p:nvSpPr>
                  <p:spPr>
                    <a:xfrm>
                      <a:off x="0" y="-19050"/>
                      <a:ext cx="6941618" cy="945730"/>
                    </a:xfrm>
                    <a:prstGeom prst="rect">
                      <a:avLst/>
                    </a:prstGeom>
                    <a:ln>
                      <a:noFill/>
                    </a:ln>
                  </p:spPr>
                  <p:txBody>
                    <a:bodyPr lIns="47963" tIns="47963" rIns="47963" bIns="47963" rtlCol="0" anchor="ctr"/>
                    <a:lstStyle/>
                    <a:p>
                      <a:pPr algn="ctr">
                        <a:lnSpc>
                          <a:spcPts val="1519"/>
                        </a:lnSpc>
                      </a:pPr>
                      <a:endParaRPr>
                        <a:latin typeface="Aptos" panose="020B0004020202020204" pitchFamily="34" charset="0"/>
                      </a:endParaRPr>
                    </a:p>
                  </p:txBody>
                </p:sp>
              </p:grpSp>
              <p:sp>
                <p:nvSpPr>
                  <p:cNvPr id="47" name="CuadroTexto 46">
                    <a:extLst>
                      <a:ext uri="{FF2B5EF4-FFF2-40B4-BE49-F238E27FC236}">
                        <a16:creationId xmlns:a16="http://schemas.microsoft.com/office/drawing/2014/main" id="{9D4FB33C-C039-5B53-9397-FEE6419657D4}"/>
                      </a:ext>
                    </a:extLst>
                  </p:cNvPr>
                  <p:cNvSpPr txBox="1"/>
                  <p:nvPr/>
                </p:nvSpPr>
                <p:spPr>
                  <a:xfrm>
                    <a:off x="7432712" y="1474304"/>
                    <a:ext cx="10896598" cy="54897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2400" b="1" dirty="0" err="1">
                        <a:solidFill>
                          <a:schemeClr val="bg1"/>
                        </a:solidFill>
                        <a:latin typeface="Aptos" panose="020B0004020202020204" pitchFamily="34" charset="0"/>
                      </a:rPr>
                      <a:t>Visualizaciones</a:t>
                    </a:r>
                    <a:r>
                      <a:rPr lang="en-US" sz="2400" b="1" dirty="0">
                        <a:solidFill>
                          <a:schemeClr val="bg1"/>
                        </a:solidFill>
                        <a:latin typeface="Aptos" panose="020B0004020202020204" pitchFamily="34" charset="0"/>
                      </a:rPr>
                      <a:t> </a:t>
                    </a:r>
                    <a:r>
                      <a:rPr lang="en-US" sz="2400" b="1" dirty="0" err="1">
                        <a:solidFill>
                          <a:schemeClr val="bg1"/>
                        </a:solidFill>
                        <a:latin typeface="Aptos" panose="020B0004020202020204" pitchFamily="34" charset="0"/>
                      </a:rPr>
                      <a:t>por</a:t>
                    </a:r>
                    <a:r>
                      <a:rPr lang="en-US" sz="2400" b="1" dirty="0">
                        <a:solidFill>
                          <a:schemeClr val="bg1"/>
                        </a:solidFill>
                        <a:latin typeface="Aptos" panose="020B0004020202020204" pitchFamily="34" charset="0"/>
                      </a:rPr>
                      <a:t> </a:t>
                    </a:r>
                    <a:r>
                      <a:rPr lang="en-US" sz="2400" b="1" dirty="0" err="1">
                        <a:solidFill>
                          <a:schemeClr val="bg1"/>
                        </a:solidFill>
                        <a:latin typeface="Aptos" panose="020B0004020202020204" pitchFamily="34" charset="0"/>
                      </a:rPr>
                      <a:t>país</a:t>
                    </a:r>
                    <a:endParaRPr lang="es-DO" sz="2400" b="1" dirty="0">
                      <a:solidFill>
                        <a:schemeClr val="bg1"/>
                      </a:solidFill>
                      <a:latin typeface="Aptos" panose="020B0004020202020204" pitchFamily="34" charset="0"/>
                    </a:endParaRPr>
                  </a:p>
                </p:txBody>
              </p:sp>
            </p:grpSp>
            <p:sp>
              <p:nvSpPr>
                <p:cNvPr id="58" name="TextBox 10">
                  <a:extLst>
                    <a:ext uri="{FF2B5EF4-FFF2-40B4-BE49-F238E27FC236}">
                      <a16:creationId xmlns:a16="http://schemas.microsoft.com/office/drawing/2014/main" id="{D59BDA84-30E0-10DE-6FC1-9DC1036D7144}"/>
                    </a:ext>
                  </a:extLst>
                </p:cNvPr>
                <p:cNvSpPr txBox="1"/>
                <p:nvPr/>
              </p:nvSpPr>
              <p:spPr>
                <a:xfrm>
                  <a:off x="8153399" y="8590934"/>
                  <a:ext cx="10112478" cy="381765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lIns="47963" tIns="47963" rIns="47963" bIns="47963" rtlCol="0" anchor="ctr"/>
                <a:lstStyle/>
                <a:p>
                  <a:pPr algn="ctr">
                    <a:lnSpc>
                      <a:spcPts val="1519"/>
                    </a:lnSpc>
                  </a:pPr>
                  <a:endParaRPr>
                    <a:latin typeface="Aptos" panose="020B0004020202020204" pitchFamily="34" charset="0"/>
                  </a:endParaRPr>
                </a:p>
              </p:txBody>
            </p:sp>
          </p:grpSp>
          <p:sp>
            <p:nvSpPr>
              <p:cNvPr id="64" name="TextBox 15">
                <a:extLst>
                  <a:ext uri="{FF2B5EF4-FFF2-40B4-BE49-F238E27FC236}">
                    <a16:creationId xmlns:a16="http://schemas.microsoft.com/office/drawing/2014/main" id="{CF1400F9-8D19-9BAD-C69E-A1335F9C56CA}"/>
                  </a:ext>
                </a:extLst>
              </p:cNvPr>
              <p:cNvSpPr txBox="1"/>
              <p:nvPr/>
            </p:nvSpPr>
            <p:spPr>
              <a:xfrm>
                <a:off x="8419928" y="3163382"/>
                <a:ext cx="328700" cy="364970"/>
              </a:xfrm>
              <a:prstGeom prst="rect">
                <a:avLst/>
              </a:prstGeom>
              <a:ln>
                <a:noFill/>
              </a:ln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380"/>
                  </a:lnSpc>
                </a:pPr>
                <a:endParaRPr lang="en-US" sz="1700" b="1" dirty="0">
                  <a:solidFill>
                    <a:srgbClr val="FFFFFF"/>
                  </a:solidFill>
                  <a:latin typeface="Aptos" panose="020B0004020202020204" pitchFamily="34" charset="0"/>
                  <a:ea typeface="Open Sans Bold"/>
                  <a:cs typeface="Open Sans Bold"/>
                  <a:sym typeface="Open Sans Bold"/>
                </a:endParaRPr>
              </a:p>
            </p:txBody>
          </p:sp>
        </p:grpSp>
      </p:grpSp>
      <p:sp>
        <p:nvSpPr>
          <p:cNvPr id="90" name="CuadroTexto 89">
            <a:extLst>
              <a:ext uri="{FF2B5EF4-FFF2-40B4-BE49-F238E27FC236}">
                <a16:creationId xmlns:a16="http://schemas.microsoft.com/office/drawing/2014/main" id="{689C9F38-9B36-BB87-4552-2A62B99F9D4F}"/>
              </a:ext>
            </a:extLst>
          </p:cNvPr>
          <p:cNvSpPr txBox="1"/>
          <p:nvPr/>
        </p:nvSpPr>
        <p:spPr>
          <a:xfrm>
            <a:off x="0" y="215325"/>
            <a:ext cx="1828799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DO" sz="3200" b="1" dirty="0">
                <a:solidFill>
                  <a:schemeClr val="bg1"/>
                </a:solidFill>
                <a:latin typeface="Canva Sans" panose="020B0604020202020204" charset="0"/>
              </a:rPr>
              <a:t>Análisis de Audiencia, </a:t>
            </a:r>
            <a:r>
              <a:rPr lang="es-DO" sz="3200" b="1" dirty="0" err="1">
                <a:solidFill>
                  <a:schemeClr val="bg1"/>
                </a:solidFill>
                <a:latin typeface="Canva Sans" panose="020B0604020202020204" charset="0"/>
              </a:rPr>
              <a:t>Engagement</a:t>
            </a:r>
            <a:r>
              <a:rPr lang="es-DO" sz="3200" b="1" dirty="0">
                <a:solidFill>
                  <a:schemeClr val="bg1"/>
                </a:solidFill>
                <a:latin typeface="Canva Sans" panose="020B0604020202020204" charset="0"/>
              </a:rPr>
              <a:t> y Crecimiento por País</a:t>
            </a:r>
          </a:p>
        </p:txBody>
      </p:sp>
      <p:grpSp>
        <p:nvGrpSpPr>
          <p:cNvPr id="1169" name="Grupo 1168">
            <a:extLst>
              <a:ext uri="{FF2B5EF4-FFF2-40B4-BE49-F238E27FC236}">
                <a16:creationId xmlns:a16="http://schemas.microsoft.com/office/drawing/2014/main" id="{1A76E8A1-7006-BE77-BAE7-868654F1BCB6}"/>
              </a:ext>
            </a:extLst>
          </p:cNvPr>
          <p:cNvGrpSpPr/>
          <p:nvPr/>
        </p:nvGrpSpPr>
        <p:grpSpPr>
          <a:xfrm>
            <a:off x="10640619" y="7418337"/>
            <a:ext cx="7162800" cy="850722"/>
            <a:chOff x="9852910" y="7188378"/>
            <a:chExt cx="7878576" cy="850722"/>
          </a:xfrm>
        </p:grpSpPr>
        <p:sp>
          <p:nvSpPr>
            <p:cNvPr id="1038" name="Rectángulo: esquinas redondeadas 1037">
              <a:extLst>
                <a:ext uri="{FF2B5EF4-FFF2-40B4-BE49-F238E27FC236}">
                  <a16:creationId xmlns:a16="http://schemas.microsoft.com/office/drawing/2014/main" id="{D231A4A7-2CBC-1036-7C21-B976B772D16B}"/>
                </a:ext>
              </a:extLst>
            </p:cNvPr>
            <p:cNvSpPr/>
            <p:nvPr/>
          </p:nvSpPr>
          <p:spPr>
            <a:xfrm>
              <a:off x="9852910" y="7188378"/>
              <a:ext cx="7878576" cy="850722"/>
            </a:xfrm>
            <a:prstGeom prst="roundRect">
              <a:avLst/>
            </a:prstGeom>
            <a:solidFill>
              <a:srgbClr val="FFC000">
                <a:alpha val="5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DO">
                <a:latin typeface="Aptos" panose="020B0004020202020204" pitchFamily="34" charset="0"/>
              </a:endParaRPr>
            </a:p>
          </p:txBody>
        </p:sp>
        <p:pic>
          <p:nvPicPr>
            <p:cNvPr id="1026" name="Picture 2" descr="Bombilla - Iconos gratis de tecnología">
              <a:extLst>
                <a:ext uri="{FF2B5EF4-FFF2-40B4-BE49-F238E27FC236}">
                  <a16:creationId xmlns:a16="http://schemas.microsoft.com/office/drawing/2014/main" id="{41976B1D-27C6-F04A-9DFC-DDC74FF6CAA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79170" y="7388477"/>
              <a:ext cx="457200" cy="4474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39" name="TextBox 28">
              <a:extLst>
                <a:ext uri="{FF2B5EF4-FFF2-40B4-BE49-F238E27FC236}">
                  <a16:creationId xmlns:a16="http://schemas.microsoft.com/office/drawing/2014/main" id="{3FF6B7A7-AD4A-2506-90C8-4DABB6A0EB67}"/>
                </a:ext>
              </a:extLst>
            </p:cNvPr>
            <p:cNvSpPr txBox="1"/>
            <p:nvPr/>
          </p:nvSpPr>
          <p:spPr>
            <a:xfrm>
              <a:off x="10467482" y="7478172"/>
              <a:ext cx="7058518" cy="302968"/>
            </a:xfrm>
            <a:prstGeom prst="rect">
              <a:avLst/>
            </a:prstGeom>
            <a:ln>
              <a:noFill/>
            </a:ln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464"/>
                </a:lnSpc>
              </a:pPr>
              <a:r>
                <a:rPr lang="es-DO" sz="1760" b="1" u="none" strike="noStrike" spc="73" dirty="0">
                  <a:solidFill>
                    <a:srgbClr val="000000"/>
                  </a:solidFill>
                  <a:latin typeface="Aptos" panose="020B0004020202020204" pitchFamily="34" charset="0"/>
                  <a:ea typeface="Canva Sans"/>
                  <a:cs typeface="Canva Sans"/>
                  <a:sym typeface="Canva Sans"/>
                </a:rPr>
                <a:t>20% de las visualizaciones</a:t>
              </a:r>
              <a:r>
                <a:rPr lang="es-DO" sz="1760" u="none" strike="noStrike" spc="73" dirty="0">
                  <a:solidFill>
                    <a:srgbClr val="000000"/>
                  </a:solidFill>
                  <a:latin typeface="Aptos" panose="020B0004020202020204" pitchFamily="34" charset="0"/>
                  <a:ea typeface="Canva Sans"/>
                  <a:cs typeface="Canva Sans"/>
                  <a:sym typeface="Canva Sans"/>
                </a:rPr>
                <a:t> se concentra en </a:t>
              </a:r>
              <a:r>
                <a:rPr lang="es-DO" sz="1760" b="1" u="none" strike="noStrike" spc="73" dirty="0">
                  <a:solidFill>
                    <a:srgbClr val="000000"/>
                  </a:solidFill>
                  <a:latin typeface="Aptos" panose="020B0004020202020204" pitchFamily="34" charset="0"/>
                  <a:ea typeface="Canva Sans"/>
                  <a:cs typeface="Canva Sans"/>
                  <a:sym typeface="Canva Sans"/>
                </a:rPr>
                <a:t>Japón</a:t>
              </a:r>
              <a:r>
                <a:rPr lang="es-DO" sz="1760" u="none" strike="noStrike" spc="73" dirty="0">
                  <a:solidFill>
                    <a:srgbClr val="000000"/>
                  </a:solidFill>
                  <a:latin typeface="Aptos" panose="020B0004020202020204" pitchFamily="34" charset="0"/>
                  <a:ea typeface="Canva Sans"/>
                  <a:cs typeface="Canva Sans"/>
                  <a:sym typeface="Canva Sans"/>
                </a:rPr>
                <a:t>.</a:t>
              </a:r>
              <a:endParaRPr lang="en-US" sz="1760" u="none" strike="noStrike" spc="73" dirty="0">
                <a:solidFill>
                  <a:srgbClr val="000000"/>
                </a:solidFill>
                <a:latin typeface="Aptos" panose="020B0004020202020204" pitchFamily="34" charset="0"/>
                <a:ea typeface="Canva Sans"/>
                <a:cs typeface="Canva Sans"/>
                <a:sym typeface="Canva Sans"/>
              </a:endParaRPr>
            </a:p>
          </p:txBody>
        </p:sp>
      </p:grpSp>
      <p:grpSp>
        <p:nvGrpSpPr>
          <p:cNvPr id="1088" name="Grupo 1087">
            <a:extLst>
              <a:ext uri="{FF2B5EF4-FFF2-40B4-BE49-F238E27FC236}">
                <a16:creationId xmlns:a16="http://schemas.microsoft.com/office/drawing/2014/main" id="{632292A2-4EA4-80F9-8403-43930D63B646}"/>
              </a:ext>
            </a:extLst>
          </p:cNvPr>
          <p:cNvGrpSpPr/>
          <p:nvPr/>
        </p:nvGrpSpPr>
        <p:grpSpPr>
          <a:xfrm>
            <a:off x="800965" y="1283887"/>
            <a:ext cx="8571635" cy="4114800"/>
            <a:chOff x="152400" y="1322606"/>
            <a:chExt cx="8571635" cy="4114800"/>
          </a:xfrm>
        </p:grpSpPr>
        <p:sp>
          <p:nvSpPr>
            <p:cNvPr id="1089" name="Rectángulo 1088">
              <a:extLst>
                <a:ext uri="{FF2B5EF4-FFF2-40B4-BE49-F238E27FC236}">
                  <a16:creationId xmlns:a16="http://schemas.microsoft.com/office/drawing/2014/main" id="{E87E9A7C-20D1-365D-0D57-C45C81988AB4}"/>
                </a:ext>
              </a:extLst>
            </p:cNvPr>
            <p:cNvSpPr/>
            <p:nvPr/>
          </p:nvSpPr>
          <p:spPr>
            <a:xfrm>
              <a:off x="152400" y="1322606"/>
              <a:ext cx="8571635" cy="4114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DO">
                <a:latin typeface="Aptos" panose="020B0004020202020204" pitchFamily="34" charset="0"/>
              </a:endParaRPr>
            </a:p>
          </p:txBody>
        </p:sp>
        <p:sp>
          <p:nvSpPr>
            <p:cNvPr id="1090" name="TextBox 4">
              <a:extLst>
                <a:ext uri="{FF2B5EF4-FFF2-40B4-BE49-F238E27FC236}">
                  <a16:creationId xmlns:a16="http://schemas.microsoft.com/office/drawing/2014/main" id="{5CB26E31-EA43-9F8A-9ED0-0A16A0CF3E1C}"/>
                </a:ext>
              </a:extLst>
            </p:cNvPr>
            <p:cNvSpPr txBox="1"/>
            <p:nvPr/>
          </p:nvSpPr>
          <p:spPr>
            <a:xfrm>
              <a:off x="479196" y="1333500"/>
              <a:ext cx="2377440" cy="731520"/>
            </a:xfrm>
            <a:prstGeom prst="round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  <a:r>
                <a:rPr lang="en-US" sz="1599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rPr>
                <a:t>País</a:t>
              </a:r>
            </a:p>
          </p:txBody>
        </p:sp>
        <p:grpSp>
          <p:nvGrpSpPr>
            <p:cNvPr id="1091" name="Group 15">
              <a:extLst>
                <a:ext uri="{FF2B5EF4-FFF2-40B4-BE49-F238E27FC236}">
                  <a16:creationId xmlns:a16="http://schemas.microsoft.com/office/drawing/2014/main" id="{9861BDB9-3149-1253-DDB7-F6FA5D786CE7}"/>
                </a:ext>
              </a:extLst>
            </p:cNvPr>
            <p:cNvGrpSpPr/>
            <p:nvPr/>
          </p:nvGrpSpPr>
          <p:grpSpPr>
            <a:xfrm>
              <a:off x="152400" y="1333500"/>
              <a:ext cx="8571634" cy="493954"/>
              <a:chOff x="-2" y="-28575"/>
              <a:chExt cx="4866538" cy="809183"/>
            </a:xfrm>
          </p:grpSpPr>
          <p:sp>
            <p:nvSpPr>
              <p:cNvPr id="1125" name="Freeform 16">
                <a:extLst>
                  <a:ext uri="{FF2B5EF4-FFF2-40B4-BE49-F238E27FC236}">
                    <a16:creationId xmlns:a16="http://schemas.microsoft.com/office/drawing/2014/main" id="{BFA52DD1-57AD-55D7-2F68-F272135A65AF}"/>
                  </a:ext>
                </a:extLst>
              </p:cNvPr>
              <p:cNvSpPr/>
              <p:nvPr/>
            </p:nvSpPr>
            <p:spPr>
              <a:xfrm>
                <a:off x="-2" y="1"/>
                <a:ext cx="4866538" cy="780607"/>
              </a:xfrm>
              <a:custGeom>
                <a:avLst/>
                <a:gdLst/>
                <a:ahLst/>
                <a:cxnLst/>
                <a:rect l="l" t="t" r="r" b="b"/>
                <a:pathLst>
                  <a:path w="4741590" h="780608">
                    <a:moveTo>
                      <a:pt x="0" y="0"/>
                    </a:moveTo>
                    <a:lnTo>
                      <a:pt x="4741590" y="0"/>
                    </a:lnTo>
                    <a:lnTo>
                      <a:pt x="4741590" y="780608"/>
                    </a:lnTo>
                    <a:lnTo>
                      <a:pt x="0" y="780608"/>
                    </a:lnTo>
                    <a:close/>
                  </a:path>
                </a:pathLst>
              </a:custGeom>
              <a:solidFill>
                <a:srgbClr val="0E73C3"/>
              </a:solidFill>
            </p:spPr>
            <p:txBody>
              <a:bodyPr/>
              <a:lstStyle/>
              <a:p>
                <a:endParaRPr lang="es-DO">
                  <a:latin typeface="Aptos" panose="020B0004020202020204" pitchFamily="34" charset="0"/>
                </a:endParaRPr>
              </a:p>
            </p:txBody>
          </p:sp>
          <p:sp>
            <p:nvSpPr>
              <p:cNvPr id="1126" name="TextBox 17">
                <a:extLst>
                  <a:ext uri="{FF2B5EF4-FFF2-40B4-BE49-F238E27FC236}">
                    <a16:creationId xmlns:a16="http://schemas.microsoft.com/office/drawing/2014/main" id="{1F2F7332-D612-09F4-7808-272467024116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4866536" cy="77099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1" indent="0" algn="ctr">
                  <a:lnSpc>
                    <a:spcPts val="2267"/>
                  </a:lnSpc>
                  <a:spcBef>
                    <a:spcPct val="0"/>
                  </a:spcBef>
                </a:pPr>
                <a:r>
                  <a:rPr lang="es-DO" sz="1619" b="1" u="none" strike="noStrike" spc="68" dirty="0">
                    <a:solidFill>
                      <a:srgbClr val="FFFFFF"/>
                    </a:solidFill>
                    <a:latin typeface="Aptos" panose="020B0004020202020204" pitchFamily="34" charset="0"/>
                    <a:ea typeface="Canva Sans"/>
                    <a:cs typeface="Canva Sans"/>
                    <a:sym typeface="Canva Sans"/>
                  </a:rPr>
                  <a:t>Vistas y tiempo promedio por país</a:t>
                </a:r>
              </a:p>
            </p:txBody>
          </p:sp>
        </p:grpSp>
        <p:grpSp>
          <p:nvGrpSpPr>
            <p:cNvPr id="1092" name="Group 5">
              <a:extLst>
                <a:ext uri="{FF2B5EF4-FFF2-40B4-BE49-F238E27FC236}">
                  <a16:creationId xmlns:a16="http://schemas.microsoft.com/office/drawing/2014/main" id="{E8C08AD3-B80F-4369-7E68-4959A1682775}"/>
                </a:ext>
              </a:extLst>
            </p:cNvPr>
            <p:cNvGrpSpPr/>
            <p:nvPr/>
          </p:nvGrpSpPr>
          <p:grpSpPr>
            <a:xfrm>
              <a:off x="5486603" y="1790700"/>
              <a:ext cx="2377440" cy="731520"/>
              <a:chOff x="-21207" y="-38100"/>
              <a:chExt cx="851044" cy="256414"/>
            </a:xfrm>
          </p:grpSpPr>
          <p:sp>
            <p:nvSpPr>
              <p:cNvPr id="1123" name="Freeform 6">
                <a:extLst>
                  <a:ext uri="{FF2B5EF4-FFF2-40B4-BE49-F238E27FC236}">
                    <a16:creationId xmlns:a16="http://schemas.microsoft.com/office/drawing/2014/main" id="{3E8060FA-D47F-3D1B-C063-3F1CA94CEED2}"/>
                  </a:ext>
                </a:extLst>
              </p:cNvPr>
              <p:cNvSpPr/>
              <p:nvPr/>
            </p:nvSpPr>
            <p:spPr>
              <a:xfrm>
                <a:off x="-21207" y="16250"/>
                <a:ext cx="829837" cy="176591"/>
              </a:xfrm>
              <a:prstGeom prst="roundRect">
                <a:avLst/>
              </a:prstGeom>
              <a:solidFill>
                <a:srgbClr val="1C3F60"/>
              </a:solidFill>
            </p:spPr>
            <p:txBody>
              <a:bodyPr anchor="ctr"/>
              <a:lstStyle/>
              <a:p>
                <a:pPr algn="ctr"/>
                <a:r>
                  <a:rPr lang="en-US" sz="1600" spc="6" dirty="0">
                    <a:solidFill>
                      <a:srgbClr val="F3F6FA"/>
                    </a:solidFill>
                    <a:latin typeface="Aptos" panose="020B0004020202020204" pitchFamily="34" charset="0"/>
                    <a:ea typeface="Barlow"/>
                    <a:cs typeface="Barlow"/>
                    <a:sym typeface="Barlow"/>
                  </a:rPr>
                  <a:t>Tiempo </a:t>
                </a:r>
                <a:r>
                  <a:rPr lang="en-US" sz="1600" spc="6" dirty="0" err="1">
                    <a:solidFill>
                      <a:srgbClr val="F3F6FA"/>
                    </a:solidFill>
                    <a:latin typeface="Aptos" panose="020B0004020202020204" pitchFamily="34" charset="0"/>
                    <a:ea typeface="Barlow"/>
                    <a:cs typeface="Barlow"/>
                    <a:sym typeface="Barlow"/>
                  </a:rPr>
                  <a:t>promedio</a:t>
                </a:r>
                <a:r>
                  <a:rPr lang="en-US" sz="1600" spc="6" dirty="0">
                    <a:solidFill>
                      <a:srgbClr val="F3F6FA"/>
                    </a:solidFill>
                    <a:latin typeface="Aptos" panose="020B0004020202020204" pitchFamily="34" charset="0"/>
                    <a:ea typeface="Barlow"/>
                    <a:cs typeface="Barlow"/>
                    <a:sym typeface="Barlow"/>
                  </a:rPr>
                  <a:t> *</a:t>
                </a:r>
              </a:p>
            </p:txBody>
          </p:sp>
          <p:sp>
            <p:nvSpPr>
              <p:cNvPr id="1124" name="TextBox 7">
                <a:extLst>
                  <a:ext uri="{FF2B5EF4-FFF2-40B4-BE49-F238E27FC236}">
                    <a16:creationId xmlns:a16="http://schemas.microsoft.com/office/drawing/2014/main" id="{AEBB65E1-E840-3E60-EC1A-CED60113542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29837" cy="256414"/>
              </a:xfrm>
              <a:prstGeom prst="round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spcBef>
                    <a:spcPct val="0"/>
                  </a:spcBef>
                </a:pPr>
                <a:endParaRPr lang="en-US" sz="1599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endParaRPr>
              </a:p>
            </p:txBody>
          </p:sp>
        </p:grpSp>
        <p:grpSp>
          <p:nvGrpSpPr>
            <p:cNvPr id="1093" name="Group 5">
              <a:extLst>
                <a:ext uri="{FF2B5EF4-FFF2-40B4-BE49-F238E27FC236}">
                  <a16:creationId xmlns:a16="http://schemas.microsoft.com/office/drawing/2014/main" id="{06307FF0-EFF2-EF4B-BEC9-7F1C378C00C8}"/>
                </a:ext>
              </a:extLst>
            </p:cNvPr>
            <p:cNvGrpSpPr/>
            <p:nvPr/>
          </p:nvGrpSpPr>
          <p:grpSpPr>
            <a:xfrm>
              <a:off x="3010002" y="1790700"/>
              <a:ext cx="2377440" cy="731520"/>
              <a:chOff x="-21207" y="-38100"/>
              <a:chExt cx="851044" cy="256414"/>
            </a:xfrm>
          </p:grpSpPr>
          <p:sp>
            <p:nvSpPr>
              <p:cNvPr id="1121" name="Freeform 6">
                <a:extLst>
                  <a:ext uri="{FF2B5EF4-FFF2-40B4-BE49-F238E27FC236}">
                    <a16:creationId xmlns:a16="http://schemas.microsoft.com/office/drawing/2014/main" id="{870A3136-D04E-0D01-352F-C0F7B0821603}"/>
                  </a:ext>
                </a:extLst>
              </p:cNvPr>
              <p:cNvSpPr/>
              <p:nvPr/>
            </p:nvSpPr>
            <p:spPr>
              <a:xfrm>
                <a:off x="-21207" y="16250"/>
                <a:ext cx="829837" cy="176591"/>
              </a:xfrm>
              <a:prstGeom prst="roundRect">
                <a:avLst/>
              </a:prstGeom>
              <a:solidFill>
                <a:srgbClr val="1C3F60"/>
              </a:solidFill>
            </p:spPr>
            <p:txBody>
              <a:bodyPr anchor="ctr"/>
              <a:lstStyle/>
              <a:p>
                <a:pPr algn="ctr"/>
                <a:r>
                  <a:rPr lang="en-US" sz="1600" spc="6" dirty="0">
                    <a:solidFill>
                      <a:srgbClr val="F3F6FA"/>
                    </a:solidFill>
                    <a:latin typeface="Aptos" panose="020B0004020202020204" pitchFamily="34" charset="0"/>
                    <a:ea typeface="Barlow"/>
                    <a:cs typeface="Barlow"/>
                    <a:sym typeface="Barlow"/>
                  </a:rPr>
                  <a:t>Vistas </a:t>
                </a:r>
                <a:r>
                  <a:rPr lang="en-US" sz="1600" spc="6" dirty="0" err="1">
                    <a:solidFill>
                      <a:srgbClr val="F3F6FA"/>
                    </a:solidFill>
                    <a:latin typeface="Aptos" panose="020B0004020202020204" pitchFamily="34" charset="0"/>
                    <a:ea typeface="Barlow"/>
                    <a:cs typeface="Barlow"/>
                    <a:sym typeface="Barlow"/>
                  </a:rPr>
                  <a:t>promedio</a:t>
                </a:r>
                <a:r>
                  <a:rPr lang="en-US" sz="1400" spc="6" dirty="0">
                    <a:solidFill>
                      <a:srgbClr val="F3F6FA"/>
                    </a:solidFill>
                    <a:latin typeface="Aptos" panose="020B0004020202020204" pitchFamily="34" charset="0"/>
                    <a:ea typeface="Barlow"/>
                    <a:cs typeface="Barlow"/>
                    <a:sym typeface="Barlow"/>
                  </a:rPr>
                  <a:t>*</a:t>
                </a:r>
                <a:endParaRPr lang="en-US" sz="1600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1122" name="TextBox 7">
                <a:extLst>
                  <a:ext uri="{FF2B5EF4-FFF2-40B4-BE49-F238E27FC236}">
                    <a16:creationId xmlns:a16="http://schemas.microsoft.com/office/drawing/2014/main" id="{031B0AA3-E35B-C05A-4BB3-B2D737AF13D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29837" cy="256414"/>
              </a:xfrm>
              <a:prstGeom prst="round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spcBef>
                    <a:spcPct val="0"/>
                  </a:spcBef>
                </a:pPr>
                <a:endParaRPr lang="en-US" sz="1599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endParaRPr>
              </a:p>
            </p:txBody>
          </p:sp>
        </p:grpSp>
        <p:grpSp>
          <p:nvGrpSpPr>
            <p:cNvPr id="1094" name="Group 5">
              <a:extLst>
                <a:ext uri="{FF2B5EF4-FFF2-40B4-BE49-F238E27FC236}">
                  <a16:creationId xmlns:a16="http://schemas.microsoft.com/office/drawing/2014/main" id="{A4F50A1C-7CFD-25D1-85DA-B1531F685AD8}"/>
                </a:ext>
              </a:extLst>
            </p:cNvPr>
            <p:cNvGrpSpPr/>
            <p:nvPr/>
          </p:nvGrpSpPr>
          <p:grpSpPr>
            <a:xfrm>
              <a:off x="533400" y="1790700"/>
              <a:ext cx="2377440" cy="731520"/>
              <a:chOff x="-21207" y="-38100"/>
              <a:chExt cx="851044" cy="256414"/>
            </a:xfrm>
          </p:grpSpPr>
          <p:sp>
            <p:nvSpPr>
              <p:cNvPr id="1119" name="Freeform 6">
                <a:extLst>
                  <a:ext uri="{FF2B5EF4-FFF2-40B4-BE49-F238E27FC236}">
                    <a16:creationId xmlns:a16="http://schemas.microsoft.com/office/drawing/2014/main" id="{2D84E8BB-2AA7-68BA-E3AC-BD2397F203B1}"/>
                  </a:ext>
                </a:extLst>
              </p:cNvPr>
              <p:cNvSpPr/>
              <p:nvPr/>
            </p:nvSpPr>
            <p:spPr>
              <a:xfrm>
                <a:off x="-21207" y="16250"/>
                <a:ext cx="829837" cy="176591"/>
              </a:xfrm>
              <a:prstGeom prst="roundRect">
                <a:avLst/>
              </a:prstGeom>
              <a:solidFill>
                <a:srgbClr val="1C3F60"/>
              </a:solidFill>
            </p:spPr>
            <p:txBody>
              <a:bodyPr anchor="ctr"/>
              <a:lstStyle/>
              <a:p>
                <a:pPr algn="ctr"/>
                <a:r>
                  <a:rPr lang="en-US" sz="1600" spc="6" dirty="0">
                    <a:solidFill>
                      <a:srgbClr val="F3F6FA"/>
                    </a:solidFill>
                    <a:latin typeface="Aptos" panose="020B0004020202020204" pitchFamily="34" charset="0"/>
                    <a:ea typeface="Barlow"/>
                    <a:cs typeface="Barlow"/>
                    <a:sym typeface="Barlow"/>
                  </a:rPr>
                  <a:t>Pa</a:t>
                </a:r>
                <a:r>
                  <a:rPr lang="es-DO" sz="1600" spc="6" dirty="0" err="1">
                    <a:solidFill>
                      <a:srgbClr val="F3F6FA"/>
                    </a:solidFill>
                    <a:latin typeface="Aptos" panose="020B0004020202020204" pitchFamily="34" charset="0"/>
                    <a:ea typeface="Barlow"/>
                    <a:cs typeface="Barlow"/>
                    <a:sym typeface="Barlow"/>
                  </a:rPr>
                  <a:t>ís</a:t>
                </a:r>
                <a:endParaRPr lang="en-US" sz="1600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1120" name="TextBox 7">
                <a:extLst>
                  <a:ext uri="{FF2B5EF4-FFF2-40B4-BE49-F238E27FC236}">
                    <a16:creationId xmlns:a16="http://schemas.microsoft.com/office/drawing/2014/main" id="{258C1B14-8667-7E65-D5E2-37DCDC1D03F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29837" cy="256414"/>
              </a:xfrm>
              <a:prstGeom prst="round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spcBef>
                    <a:spcPct val="0"/>
                  </a:spcBef>
                </a:pPr>
                <a:endParaRPr lang="en-US" sz="1599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endParaRPr>
              </a:p>
            </p:txBody>
          </p:sp>
        </p:grpSp>
        <p:grpSp>
          <p:nvGrpSpPr>
            <p:cNvPr id="1095" name="Group 5">
              <a:extLst>
                <a:ext uri="{FF2B5EF4-FFF2-40B4-BE49-F238E27FC236}">
                  <a16:creationId xmlns:a16="http://schemas.microsoft.com/office/drawing/2014/main" id="{A108F508-7311-9F88-DCFC-B79617C8FD2C}"/>
                </a:ext>
              </a:extLst>
            </p:cNvPr>
            <p:cNvGrpSpPr/>
            <p:nvPr/>
          </p:nvGrpSpPr>
          <p:grpSpPr>
            <a:xfrm>
              <a:off x="533400" y="2354580"/>
              <a:ext cx="2377440" cy="731520"/>
              <a:chOff x="-21207" y="-38100"/>
              <a:chExt cx="851044" cy="256414"/>
            </a:xfrm>
          </p:grpSpPr>
          <p:sp>
            <p:nvSpPr>
              <p:cNvPr id="1117" name="Freeform 6">
                <a:extLst>
                  <a:ext uri="{FF2B5EF4-FFF2-40B4-BE49-F238E27FC236}">
                    <a16:creationId xmlns:a16="http://schemas.microsoft.com/office/drawing/2014/main" id="{7DF12358-383A-A141-FC54-A8DF78F5BC74}"/>
                  </a:ext>
                </a:extLst>
              </p:cNvPr>
              <p:cNvSpPr/>
              <p:nvPr/>
            </p:nvSpPr>
            <p:spPr>
              <a:xfrm>
                <a:off x="-21207" y="16250"/>
                <a:ext cx="829837" cy="176591"/>
              </a:xfrm>
              <a:prstGeom prst="roundRect">
                <a:avLst/>
              </a:prstGeom>
              <a:solidFill>
                <a:srgbClr val="1C3F60"/>
              </a:solidFill>
            </p:spPr>
            <p:txBody>
              <a:bodyPr anchor="ctr"/>
              <a:lstStyle/>
              <a:p>
                <a:pPr algn="ctr"/>
                <a:r>
                  <a:rPr lang="en-US" sz="1600" spc="6" dirty="0">
                    <a:solidFill>
                      <a:srgbClr val="F3F6FA"/>
                    </a:solidFill>
                    <a:latin typeface="Aptos" panose="020B0004020202020204" pitchFamily="34" charset="0"/>
                    <a:ea typeface="Barlow"/>
                    <a:cs typeface="Barlow"/>
                    <a:sym typeface="Barlow"/>
                  </a:rPr>
                  <a:t>EU</a:t>
                </a:r>
              </a:p>
            </p:txBody>
          </p:sp>
          <p:sp>
            <p:nvSpPr>
              <p:cNvPr id="1118" name="TextBox 7">
                <a:extLst>
                  <a:ext uri="{FF2B5EF4-FFF2-40B4-BE49-F238E27FC236}">
                    <a16:creationId xmlns:a16="http://schemas.microsoft.com/office/drawing/2014/main" id="{738EADF0-8DD3-4CA2-2FFE-2E37420F24D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29837" cy="256414"/>
              </a:xfrm>
              <a:prstGeom prst="round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spcBef>
                    <a:spcPct val="0"/>
                  </a:spcBef>
                </a:pPr>
                <a:endParaRPr lang="en-US" sz="1599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endParaRPr>
              </a:p>
            </p:txBody>
          </p:sp>
        </p:grpSp>
        <p:sp>
          <p:nvSpPr>
            <p:cNvPr id="1096" name="Freeform 6">
              <a:extLst>
                <a:ext uri="{FF2B5EF4-FFF2-40B4-BE49-F238E27FC236}">
                  <a16:creationId xmlns:a16="http://schemas.microsoft.com/office/drawing/2014/main" id="{E968AF0F-E665-B957-0480-A93FF76DD9CA}"/>
                </a:ext>
              </a:extLst>
            </p:cNvPr>
            <p:cNvSpPr/>
            <p:nvPr/>
          </p:nvSpPr>
          <p:spPr>
            <a:xfrm>
              <a:off x="5471160" y="2509634"/>
              <a:ext cx="2318197" cy="503794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txBody>
            <a:bodyPr anchor="ctr"/>
            <a:lstStyle/>
            <a:p>
              <a:pPr algn="ctr"/>
              <a:r>
                <a:rPr lang="en-US" sz="1600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rPr>
                <a:t> 0.07 </a:t>
              </a:r>
            </a:p>
          </p:txBody>
        </p:sp>
        <p:sp>
          <p:nvSpPr>
            <p:cNvPr id="1097" name="Freeform 6">
              <a:extLst>
                <a:ext uri="{FF2B5EF4-FFF2-40B4-BE49-F238E27FC236}">
                  <a16:creationId xmlns:a16="http://schemas.microsoft.com/office/drawing/2014/main" id="{2CCE0F32-BE89-6616-BDC1-009A80565AEB}"/>
                </a:ext>
              </a:extLst>
            </p:cNvPr>
            <p:cNvSpPr/>
            <p:nvPr/>
          </p:nvSpPr>
          <p:spPr>
            <a:xfrm>
              <a:off x="2994559" y="2509635"/>
              <a:ext cx="2318197" cy="503794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txBody>
            <a:bodyPr anchor="ctr"/>
            <a:lstStyle/>
            <a:p>
              <a:pPr algn="ctr"/>
              <a:r>
                <a:rPr lang="en-US" sz="1600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rPr>
                <a:t> 1.07 </a:t>
              </a:r>
            </a:p>
          </p:txBody>
        </p:sp>
        <p:grpSp>
          <p:nvGrpSpPr>
            <p:cNvPr id="1098" name="Group 5">
              <a:extLst>
                <a:ext uri="{FF2B5EF4-FFF2-40B4-BE49-F238E27FC236}">
                  <a16:creationId xmlns:a16="http://schemas.microsoft.com/office/drawing/2014/main" id="{CFBA7300-E8D3-11C1-F614-CFB54C4CF7F9}"/>
                </a:ext>
              </a:extLst>
            </p:cNvPr>
            <p:cNvGrpSpPr/>
            <p:nvPr/>
          </p:nvGrpSpPr>
          <p:grpSpPr>
            <a:xfrm>
              <a:off x="533400" y="2933700"/>
              <a:ext cx="2377440" cy="731520"/>
              <a:chOff x="-21207" y="-38100"/>
              <a:chExt cx="851044" cy="256414"/>
            </a:xfrm>
          </p:grpSpPr>
          <p:sp>
            <p:nvSpPr>
              <p:cNvPr id="1115" name="Freeform 6">
                <a:extLst>
                  <a:ext uri="{FF2B5EF4-FFF2-40B4-BE49-F238E27FC236}">
                    <a16:creationId xmlns:a16="http://schemas.microsoft.com/office/drawing/2014/main" id="{0626CCB6-201E-4331-E9BB-4FAA34F3012C}"/>
                  </a:ext>
                </a:extLst>
              </p:cNvPr>
              <p:cNvSpPr/>
              <p:nvPr/>
            </p:nvSpPr>
            <p:spPr>
              <a:xfrm>
                <a:off x="-21207" y="16250"/>
                <a:ext cx="829837" cy="176591"/>
              </a:xfrm>
              <a:prstGeom prst="roundRect">
                <a:avLst/>
              </a:prstGeom>
              <a:solidFill>
                <a:srgbClr val="1C3F60"/>
              </a:solidFill>
            </p:spPr>
            <p:txBody>
              <a:bodyPr anchor="ctr"/>
              <a:lstStyle/>
              <a:p>
                <a:pPr algn="ctr"/>
                <a:r>
                  <a:rPr lang="en-US" sz="1600" spc="6" dirty="0">
                    <a:solidFill>
                      <a:srgbClr val="F3F6FA"/>
                    </a:solidFill>
                    <a:latin typeface="Aptos" panose="020B0004020202020204" pitchFamily="34" charset="0"/>
                    <a:ea typeface="Barlow"/>
                    <a:cs typeface="Barlow"/>
                    <a:sym typeface="Barlow"/>
                  </a:rPr>
                  <a:t>USA</a:t>
                </a:r>
              </a:p>
            </p:txBody>
          </p:sp>
          <p:sp>
            <p:nvSpPr>
              <p:cNvPr id="1116" name="TextBox 7">
                <a:extLst>
                  <a:ext uri="{FF2B5EF4-FFF2-40B4-BE49-F238E27FC236}">
                    <a16:creationId xmlns:a16="http://schemas.microsoft.com/office/drawing/2014/main" id="{0F7A89B0-8A12-1EDC-A59E-34EABE23D62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29837" cy="256414"/>
              </a:xfrm>
              <a:prstGeom prst="round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spcBef>
                    <a:spcPct val="0"/>
                  </a:spcBef>
                </a:pPr>
                <a:endParaRPr lang="en-US" sz="1599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endParaRPr>
              </a:p>
            </p:txBody>
          </p:sp>
        </p:grpSp>
        <p:sp>
          <p:nvSpPr>
            <p:cNvPr id="1099" name="Freeform 6">
              <a:extLst>
                <a:ext uri="{FF2B5EF4-FFF2-40B4-BE49-F238E27FC236}">
                  <a16:creationId xmlns:a16="http://schemas.microsoft.com/office/drawing/2014/main" id="{071A086B-FEF1-85D6-5A30-DD795986E20A}"/>
                </a:ext>
              </a:extLst>
            </p:cNvPr>
            <p:cNvSpPr/>
            <p:nvPr/>
          </p:nvSpPr>
          <p:spPr>
            <a:xfrm>
              <a:off x="5471160" y="3088754"/>
              <a:ext cx="2318197" cy="503794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txBody>
            <a:bodyPr anchor="ctr"/>
            <a:lstStyle/>
            <a:p>
              <a:pPr algn="ctr"/>
              <a:r>
                <a:rPr lang="en-US" sz="1600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rPr>
                <a:t> 0.05 </a:t>
              </a:r>
            </a:p>
          </p:txBody>
        </p:sp>
        <p:sp>
          <p:nvSpPr>
            <p:cNvPr id="1100" name="Freeform 6">
              <a:extLst>
                <a:ext uri="{FF2B5EF4-FFF2-40B4-BE49-F238E27FC236}">
                  <a16:creationId xmlns:a16="http://schemas.microsoft.com/office/drawing/2014/main" id="{596F6A19-D069-EF6B-44BF-3D6CFE3AEAE6}"/>
                </a:ext>
              </a:extLst>
            </p:cNvPr>
            <p:cNvSpPr/>
            <p:nvPr/>
          </p:nvSpPr>
          <p:spPr>
            <a:xfrm>
              <a:off x="2994559" y="3088755"/>
              <a:ext cx="2318197" cy="503794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txBody>
            <a:bodyPr anchor="ctr"/>
            <a:lstStyle/>
            <a:p>
              <a:pPr algn="ctr"/>
              <a:r>
                <a:rPr lang="en-US" sz="1600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rPr>
                <a:t> 1.08 </a:t>
              </a:r>
            </a:p>
          </p:txBody>
        </p:sp>
        <p:grpSp>
          <p:nvGrpSpPr>
            <p:cNvPr id="1101" name="Group 5">
              <a:extLst>
                <a:ext uri="{FF2B5EF4-FFF2-40B4-BE49-F238E27FC236}">
                  <a16:creationId xmlns:a16="http://schemas.microsoft.com/office/drawing/2014/main" id="{9F0EBD29-C182-9FBC-1125-555DE48C8B0F}"/>
                </a:ext>
              </a:extLst>
            </p:cNvPr>
            <p:cNvGrpSpPr/>
            <p:nvPr/>
          </p:nvGrpSpPr>
          <p:grpSpPr>
            <a:xfrm>
              <a:off x="533400" y="3467100"/>
              <a:ext cx="2377440" cy="731520"/>
              <a:chOff x="-21207" y="-38100"/>
              <a:chExt cx="851044" cy="256414"/>
            </a:xfrm>
          </p:grpSpPr>
          <p:sp>
            <p:nvSpPr>
              <p:cNvPr id="1113" name="Freeform 6">
                <a:extLst>
                  <a:ext uri="{FF2B5EF4-FFF2-40B4-BE49-F238E27FC236}">
                    <a16:creationId xmlns:a16="http://schemas.microsoft.com/office/drawing/2014/main" id="{81C4439C-9210-081A-E32E-012D98132C1E}"/>
                  </a:ext>
                </a:extLst>
              </p:cNvPr>
              <p:cNvSpPr/>
              <p:nvPr/>
            </p:nvSpPr>
            <p:spPr>
              <a:xfrm>
                <a:off x="-21207" y="16250"/>
                <a:ext cx="829837" cy="176591"/>
              </a:xfrm>
              <a:prstGeom prst="roundRect">
                <a:avLst/>
              </a:prstGeom>
              <a:solidFill>
                <a:srgbClr val="1C3F60"/>
              </a:solidFill>
            </p:spPr>
            <p:txBody>
              <a:bodyPr anchor="ctr"/>
              <a:lstStyle/>
              <a:p>
                <a:pPr algn="ctr"/>
                <a:r>
                  <a:rPr lang="en-US" sz="1600" spc="6" dirty="0" err="1">
                    <a:solidFill>
                      <a:srgbClr val="F3F6FA"/>
                    </a:solidFill>
                    <a:latin typeface="Aptos" panose="020B0004020202020204" pitchFamily="34" charset="0"/>
                    <a:ea typeface="Barlow"/>
                    <a:cs typeface="Barlow"/>
                    <a:sym typeface="Barlow"/>
                  </a:rPr>
                  <a:t>Jápón</a:t>
                </a:r>
                <a:endParaRPr lang="en-US" sz="1600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1114" name="TextBox 7">
                <a:extLst>
                  <a:ext uri="{FF2B5EF4-FFF2-40B4-BE49-F238E27FC236}">
                    <a16:creationId xmlns:a16="http://schemas.microsoft.com/office/drawing/2014/main" id="{7ED9B09C-8FCC-1AAE-3534-4FE30A4824F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29837" cy="256414"/>
              </a:xfrm>
              <a:prstGeom prst="round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spcBef>
                    <a:spcPct val="0"/>
                  </a:spcBef>
                </a:pPr>
                <a:endParaRPr lang="en-US" sz="1599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endParaRPr>
              </a:p>
            </p:txBody>
          </p:sp>
        </p:grpSp>
        <p:sp>
          <p:nvSpPr>
            <p:cNvPr id="1102" name="Freeform 6">
              <a:extLst>
                <a:ext uri="{FF2B5EF4-FFF2-40B4-BE49-F238E27FC236}">
                  <a16:creationId xmlns:a16="http://schemas.microsoft.com/office/drawing/2014/main" id="{9AACA272-6419-8157-B030-2CE230795E55}"/>
                </a:ext>
              </a:extLst>
            </p:cNvPr>
            <p:cNvSpPr/>
            <p:nvPr/>
          </p:nvSpPr>
          <p:spPr>
            <a:xfrm>
              <a:off x="5471160" y="3622154"/>
              <a:ext cx="2318197" cy="503794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txBody>
            <a:bodyPr anchor="ctr"/>
            <a:lstStyle/>
            <a:p>
              <a:pPr algn="ctr"/>
              <a:r>
                <a:rPr lang="en-US" sz="1600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rPr>
                <a:t> 0.03 </a:t>
              </a:r>
            </a:p>
          </p:txBody>
        </p:sp>
        <p:sp>
          <p:nvSpPr>
            <p:cNvPr id="1103" name="Freeform 6">
              <a:extLst>
                <a:ext uri="{FF2B5EF4-FFF2-40B4-BE49-F238E27FC236}">
                  <a16:creationId xmlns:a16="http://schemas.microsoft.com/office/drawing/2014/main" id="{DB541C2A-E967-8C0F-19B6-AFB6465B60F6}"/>
                </a:ext>
              </a:extLst>
            </p:cNvPr>
            <p:cNvSpPr/>
            <p:nvPr/>
          </p:nvSpPr>
          <p:spPr>
            <a:xfrm>
              <a:off x="2994559" y="3622155"/>
              <a:ext cx="2318197" cy="503794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txBody>
            <a:bodyPr anchor="ctr"/>
            <a:lstStyle/>
            <a:p>
              <a:pPr algn="ctr"/>
              <a:r>
                <a:rPr lang="en-US" sz="1600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rPr>
                <a:t> 0.93 </a:t>
              </a:r>
            </a:p>
          </p:txBody>
        </p:sp>
        <p:grpSp>
          <p:nvGrpSpPr>
            <p:cNvPr id="1104" name="Group 5">
              <a:extLst>
                <a:ext uri="{FF2B5EF4-FFF2-40B4-BE49-F238E27FC236}">
                  <a16:creationId xmlns:a16="http://schemas.microsoft.com/office/drawing/2014/main" id="{0F7E50FB-2801-55AC-FCDD-7F42D3848404}"/>
                </a:ext>
              </a:extLst>
            </p:cNvPr>
            <p:cNvGrpSpPr/>
            <p:nvPr/>
          </p:nvGrpSpPr>
          <p:grpSpPr>
            <a:xfrm>
              <a:off x="533400" y="4046220"/>
              <a:ext cx="2377440" cy="731520"/>
              <a:chOff x="-21207" y="-38100"/>
              <a:chExt cx="851044" cy="256414"/>
            </a:xfrm>
          </p:grpSpPr>
          <p:sp>
            <p:nvSpPr>
              <p:cNvPr id="1111" name="Freeform 6">
                <a:extLst>
                  <a:ext uri="{FF2B5EF4-FFF2-40B4-BE49-F238E27FC236}">
                    <a16:creationId xmlns:a16="http://schemas.microsoft.com/office/drawing/2014/main" id="{A5D76071-1F6E-8EBC-ED8D-1D5173A58A8D}"/>
                  </a:ext>
                </a:extLst>
              </p:cNvPr>
              <p:cNvSpPr/>
              <p:nvPr/>
            </p:nvSpPr>
            <p:spPr>
              <a:xfrm>
                <a:off x="-21207" y="16250"/>
                <a:ext cx="829837" cy="176591"/>
              </a:xfrm>
              <a:prstGeom prst="roundRect">
                <a:avLst/>
              </a:prstGeom>
              <a:solidFill>
                <a:srgbClr val="1C3F60"/>
              </a:solidFill>
            </p:spPr>
            <p:txBody>
              <a:bodyPr anchor="ctr"/>
              <a:lstStyle/>
              <a:p>
                <a:pPr algn="ctr"/>
                <a:r>
                  <a:rPr lang="en-US" sz="1600" spc="6" dirty="0" err="1">
                    <a:solidFill>
                      <a:srgbClr val="F3F6FA"/>
                    </a:solidFill>
                    <a:latin typeface="Aptos" panose="020B0004020202020204" pitchFamily="34" charset="0"/>
                    <a:ea typeface="Barlow"/>
                    <a:cs typeface="Barlow"/>
                    <a:sym typeface="Barlow"/>
                  </a:rPr>
                  <a:t>Brasil</a:t>
                </a:r>
                <a:endParaRPr lang="en-US" sz="1600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1112" name="TextBox 7">
                <a:extLst>
                  <a:ext uri="{FF2B5EF4-FFF2-40B4-BE49-F238E27FC236}">
                    <a16:creationId xmlns:a16="http://schemas.microsoft.com/office/drawing/2014/main" id="{BD1D1CDE-D274-6FAD-03AA-BCDF797E20C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29837" cy="256414"/>
              </a:xfrm>
              <a:prstGeom prst="round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spcBef>
                    <a:spcPct val="0"/>
                  </a:spcBef>
                </a:pPr>
                <a:endParaRPr lang="en-US" sz="1599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endParaRPr>
              </a:p>
            </p:txBody>
          </p:sp>
        </p:grpSp>
        <p:sp>
          <p:nvSpPr>
            <p:cNvPr id="1105" name="Freeform 6">
              <a:extLst>
                <a:ext uri="{FF2B5EF4-FFF2-40B4-BE49-F238E27FC236}">
                  <a16:creationId xmlns:a16="http://schemas.microsoft.com/office/drawing/2014/main" id="{4D8C7340-F22A-99C5-180D-7DE9DF017639}"/>
                </a:ext>
              </a:extLst>
            </p:cNvPr>
            <p:cNvSpPr/>
            <p:nvPr/>
          </p:nvSpPr>
          <p:spPr>
            <a:xfrm>
              <a:off x="5471160" y="4201274"/>
              <a:ext cx="2318197" cy="503794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txBody>
            <a:bodyPr anchor="ctr"/>
            <a:lstStyle/>
            <a:p>
              <a:pPr algn="ctr"/>
              <a:r>
                <a:rPr lang="en-US" sz="1600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rPr>
                <a:t>0.03</a:t>
              </a:r>
            </a:p>
          </p:txBody>
        </p:sp>
        <p:sp>
          <p:nvSpPr>
            <p:cNvPr id="1106" name="Freeform 6">
              <a:extLst>
                <a:ext uri="{FF2B5EF4-FFF2-40B4-BE49-F238E27FC236}">
                  <a16:creationId xmlns:a16="http://schemas.microsoft.com/office/drawing/2014/main" id="{52A6B8D1-45B2-6635-0C35-B85701F43489}"/>
                </a:ext>
              </a:extLst>
            </p:cNvPr>
            <p:cNvSpPr/>
            <p:nvPr/>
          </p:nvSpPr>
          <p:spPr>
            <a:xfrm>
              <a:off x="2994559" y="4201275"/>
              <a:ext cx="2318197" cy="503794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txBody>
            <a:bodyPr anchor="ctr"/>
            <a:lstStyle/>
            <a:p>
              <a:pPr algn="ctr"/>
              <a:r>
                <a:rPr lang="en-US" sz="1600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rPr>
                <a:t> 0.93 </a:t>
              </a:r>
            </a:p>
          </p:txBody>
        </p:sp>
        <p:grpSp>
          <p:nvGrpSpPr>
            <p:cNvPr id="1107" name="Grupo 1106">
              <a:extLst>
                <a:ext uri="{FF2B5EF4-FFF2-40B4-BE49-F238E27FC236}">
                  <a16:creationId xmlns:a16="http://schemas.microsoft.com/office/drawing/2014/main" id="{29CC4A31-A7A4-3F85-C882-482424F42241}"/>
                </a:ext>
              </a:extLst>
            </p:cNvPr>
            <p:cNvGrpSpPr/>
            <p:nvPr/>
          </p:nvGrpSpPr>
          <p:grpSpPr>
            <a:xfrm>
              <a:off x="544508" y="4819390"/>
              <a:ext cx="7761292" cy="476510"/>
              <a:chOff x="544508" y="4792106"/>
              <a:chExt cx="7837492" cy="503794"/>
            </a:xfrm>
          </p:grpSpPr>
          <p:sp>
            <p:nvSpPr>
              <p:cNvPr id="1108" name="Rectángulo: esquinas redondeadas 1107">
                <a:extLst>
                  <a:ext uri="{FF2B5EF4-FFF2-40B4-BE49-F238E27FC236}">
                    <a16:creationId xmlns:a16="http://schemas.microsoft.com/office/drawing/2014/main" id="{FBF6288C-67DC-1184-11AD-91B1E1E63C29}"/>
                  </a:ext>
                </a:extLst>
              </p:cNvPr>
              <p:cNvSpPr/>
              <p:nvPr/>
            </p:nvSpPr>
            <p:spPr>
              <a:xfrm>
                <a:off x="544508" y="4792106"/>
                <a:ext cx="7837492" cy="503794"/>
              </a:xfrm>
              <a:prstGeom prst="roundRect">
                <a:avLst/>
              </a:prstGeom>
              <a:solidFill>
                <a:srgbClr val="FFC000">
                  <a:alpha val="5000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DO">
                  <a:latin typeface="Aptos" panose="020B0004020202020204" pitchFamily="34" charset="0"/>
                </a:endParaRPr>
              </a:p>
            </p:txBody>
          </p:sp>
          <p:pic>
            <p:nvPicPr>
              <p:cNvPr id="1109" name="Picture 2" descr="Bombilla - Iconos gratis de tecnología">
                <a:extLst>
                  <a:ext uri="{FF2B5EF4-FFF2-40B4-BE49-F238E27FC236}">
                    <a16:creationId xmlns:a16="http://schemas.microsoft.com/office/drawing/2014/main" id="{3CE000AA-6793-9E49-08B3-CBB455D0F09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92438" y="4877477"/>
                <a:ext cx="396032" cy="38347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110" name="TextBox 28">
                <a:extLst>
                  <a:ext uri="{FF2B5EF4-FFF2-40B4-BE49-F238E27FC236}">
                    <a16:creationId xmlns:a16="http://schemas.microsoft.com/office/drawing/2014/main" id="{E82D416A-D9E7-D630-BE14-EF0FA4AE549B}"/>
                  </a:ext>
                </a:extLst>
              </p:cNvPr>
              <p:cNvSpPr txBox="1"/>
              <p:nvPr/>
            </p:nvSpPr>
            <p:spPr>
              <a:xfrm>
                <a:off x="1084394" y="4867634"/>
                <a:ext cx="7258258" cy="306825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0" tIns="0" rIns="0" bIns="0" rtlCol="0" anchor="t">
                <a:spAutoFit/>
              </a:bodyPr>
              <a:lstStyle/>
              <a:p>
                <a:pPr algn="l">
                  <a:lnSpc>
                    <a:spcPts val="2464"/>
                  </a:lnSpc>
                </a:pPr>
                <a:r>
                  <a:rPr lang="es-DO" sz="1400" b="1" u="none" strike="noStrike" spc="73" dirty="0">
                    <a:solidFill>
                      <a:srgbClr val="000000"/>
                    </a:solidFill>
                    <a:latin typeface="Aptos" panose="020B0004020202020204" pitchFamily="34" charset="0"/>
                    <a:ea typeface="Canva Sans"/>
                    <a:cs typeface="Canva Sans"/>
                    <a:sym typeface="Canva Sans"/>
                  </a:rPr>
                  <a:t>USA</a:t>
                </a:r>
                <a:r>
                  <a:rPr lang="es-DO" sz="1400" u="none" strike="noStrike" spc="73" dirty="0">
                    <a:solidFill>
                      <a:srgbClr val="000000"/>
                    </a:solidFill>
                    <a:latin typeface="Aptos" panose="020B0004020202020204" pitchFamily="34" charset="0"/>
                    <a:ea typeface="Canva Sans"/>
                    <a:cs typeface="Canva Sans"/>
                    <a:sym typeface="Canva Sans"/>
                  </a:rPr>
                  <a:t> más </a:t>
                </a:r>
                <a:r>
                  <a:rPr lang="es-DO" sz="1400" b="1" u="none" strike="noStrike" spc="73" dirty="0">
                    <a:solidFill>
                      <a:srgbClr val="000000"/>
                    </a:solidFill>
                    <a:latin typeface="Aptos" panose="020B0004020202020204" pitchFamily="34" charset="0"/>
                    <a:ea typeface="Canva Sans"/>
                    <a:cs typeface="Canva Sans"/>
                    <a:sym typeface="Canva Sans"/>
                  </a:rPr>
                  <a:t>vídeos por usuario</a:t>
                </a:r>
                <a:r>
                  <a:rPr lang="es-DO" sz="1400" u="none" strike="noStrike" spc="73" dirty="0">
                    <a:solidFill>
                      <a:srgbClr val="000000"/>
                    </a:solidFill>
                    <a:latin typeface="Aptos" panose="020B0004020202020204" pitchFamily="34" charset="0"/>
                    <a:ea typeface="Canva Sans"/>
                    <a:cs typeface="Canva Sans"/>
                    <a:sym typeface="Canva Sans"/>
                  </a:rPr>
                  <a:t>, </a:t>
                </a:r>
                <a:r>
                  <a:rPr lang="es-DO" sz="1400" b="1" u="none" strike="noStrike" spc="73" dirty="0">
                    <a:solidFill>
                      <a:srgbClr val="000000"/>
                    </a:solidFill>
                    <a:latin typeface="Aptos" panose="020B0004020202020204" pitchFamily="34" charset="0"/>
                    <a:ea typeface="Canva Sans"/>
                    <a:cs typeface="Canva Sans"/>
                    <a:sym typeface="Canva Sans"/>
                  </a:rPr>
                  <a:t>EU</a:t>
                </a:r>
                <a:r>
                  <a:rPr lang="es-DO" sz="1400" u="none" strike="noStrike" spc="73" dirty="0">
                    <a:solidFill>
                      <a:srgbClr val="000000"/>
                    </a:solidFill>
                    <a:latin typeface="Aptos" panose="020B0004020202020204" pitchFamily="34" charset="0"/>
                    <a:ea typeface="Canva Sans"/>
                    <a:cs typeface="Canva Sans"/>
                    <a:sym typeface="Canva Sans"/>
                  </a:rPr>
                  <a:t> más </a:t>
                </a:r>
                <a:r>
                  <a:rPr lang="es-DO" sz="1400" b="1" u="none" strike="noStrike" spc="73" dirty="0">
                    <a:solidFill>
                      <a:srgbClr val="000000"/>
                    </a:solidFill>
                    <a:latin typeface="Aptos" panose="020B0004020202020204" pitchFamily="34" charset="0"/>
                    <a:ea typeface="Canva Sans"/>
                    <a:cs typeface="Canva Sans"/>
                    <a:sym typeface="Canva Sans"/>
                  </a:rPr>
                  <a:t>tiempo de visualización</a:t>
                </a:r>
                <a:r>
                  <a:rPr lang="es-DO" sz="1400" u="none" strike="noStrike" spc="73" dirty="0">
                    <a:solidFill>
                      <a:srgbClr val="000000"/>
                    </a:solidFill>
                    <a:latin typeface="Aptos" panose="020B0004020202020204" pitchFamily="34" charset="0"/>
                    <a:ea typeface="Canva Sans"/>
                    <a:cs typeface="Canva Sans"/>
                    <a:sym typeface="Canva Sans"/>
                  </a:rPr>
                  <a:t> por usuario.</a:t>
                </a:r>
                <a:endParaRPr lang="en-US" sz="1400" u="none" strike="noStrike" spc="73" dirty="0">
                  <a:solidFill>
                    <a:srgbClr val="000000"/>
                  </a:solidFill>
                  <a:latin typeface="Aptos" panose="020B0004020202020204" pitchFamily="34" charset="0"/>
                  <a:ea typeface="Canva Sans"/>
                  <a:cs typeface="Canva Sans"/>
                  <a:sym typeface="Canva Sans"/>
                </a:endParaRPr>
              </a:p>
            </p:txBody>
          </p:sp>
        </p:grpSp>
      </p:grpSp>
      <p:grpSp>
        <p:nvGrpSpPr>
          <p:cNvPr id="1049" name="Grupo 1048">
            <a:extLst>
              <a:ext uri="{FF2B5EF4-FFF2-40B4-BE49-F238E27FC236}">
                <a16:creationId xmlns:a16="http://schemas.microsoft.com/office/drawing/2014/main" id="{D600D7DB-6561-391B-7CB3-68267F2AB2D8}"/>
              </a:ext>
            </a:extLst>
          </p:cNvPr>
          <p:cNvGrpSpPr/>
          <p:nvPr/>
        </p:nvGrpSpPr>
        <p:grpSpPr>
          <a:xfrm>
            <a:off x="711697" y="5573756"/>
            <a:ext cx="8571635" cy="4114800"/>
            <a:chOff x="152400" y="1322606"/>
            <a:chExt cx="8571635" cy="4114800"/>
          </a:xfrm>
        </p:grpSpPr>
        <p:sp>
          <p:nvSpPr>
            <p:cNvPr id="1050" name="Rectángulo 1049">
              <a:extLst>
                <a:ext uri="{FF2B5EF4-FFF2-40B4-BE49-F238E27FC236}">
                  <a16:creationId xmlns:a16="http://schemas.microsoft.com/office/drawing/2014/main" id="{499BD493-9484-A213-8B58-6A9FB3156E7D}"/>
                </a:ext>
              </a:extLst>
            </p:cNvPr>
            <p:cNvSpPr/>
            <p:nvPr/>
          </p:nvSpPr>
          <p:spPr>
            <a:xfrm>
              <a:off x="152400" y="1322606"/>
              <a:ext cx="8571635" cy="4114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DO">
                <a:latin typeface="Aptos" panose="020B0004020202020204" pitchFamily="34" charset="0"/>
              </a:endParaRPr>
            </a:p>
          </p:txBody>
        </p:sp>
        <p:sp>
          <p:nvSpPr>
            <p:cNvPr id="1051" name="TextBox 4">
              <a:extLst>
                <a:ext uri="{FF2B5EF4-FFF2-40B4-BE49-F238E27FC236}">
                  <a16:creationId xmlns:a16="http://schemas.microsoft.com/office/drawing/2014/main" id="{0A562053-96FA-DFF0-5F2A-06FB7AA9647D}"/>
                </a:ext>
              </a:extLst>
            </p:cNvPr>
            <p:cNvSpPr txBox="1"/>
            <p:nvPr/>
          </p:nvSpPr>
          <p:spPr>
            <a:xfrm>
              <a:off x="479196" y="1333500"/>
              <a:ext cx="2377440" cy="731520"/>
            </a:xfrm>
            <a:prstGeom prst="round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  <a:r>
                <a:rPr lang="en-US" sz="1599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rPr>
                <a:t>País</a:t>
              </a:r>
            </a:p>
          </p:txBody>
        </p:sp>
        <p:grpSp>
          <p:nvGrpSpPr>
            <p:cNvPr id="1052" name="Group 15">
              <a:extLst>
                <a:ext uri="{FF2B5EF4-FFF2-40B4-BE49-F238E27FC236}">
                  <a16:creationId xmlns:a16="http://schemas.microsoft.com/office/drawing/2014/main" id="{CAC22C2C-BC0A-6E2A-D9E7-02EBA9546A9E}"/>
                </a:ext>
              </a:extLst>
            </p:cNvPr>
            <p:cNvGrpSpPr/>
            <p:nvPr/>
          </p:nvGrpSpPr>
          <p:grpSpPr>
            <a:xfrm>
              <a:off x="152400" y="1333500"/>
              <a:ext cx="8571634" cy="493954"/>
              <a:chOff x="-2" y="-28575"/>
              <a:chExt cx="4866538" cy="809183"/>
            </a:xfrm>
          </p:grpSpPr>
          <p:sp>
            <p:nvSpPr>
              <p:cNvPr id="1086" name="Freeform 16">
                <a:extLst>
                  <a:ext uri="{FF2B5EF4-FFF2-40B4-BE49-F238E27FC236}">
                    <a16:creationId xmlns:a16="http://schemas.microsoft.com/office/drawing/2014/main" id="{08718883-B121-F46D-3180-579D7F0D97D5}"/>
                  </a:ext>
                </a:extLst>
              </p:cNvPr>
              <p:cNvSpPr/>
              <p:nvPr/>
            </p:nvSpPr>
            <p:spPr>
              <a:xfrm>
                <a:off x="-2" y="1"/>
                <a:ext cx="4866538" cy="780607"/>
              </a:xfrm>
              <a:custGeom>
                <a:avLst/>
                <a:gdLst/>
                <a:ahLst/>
                <a:cxnLst/>
                <a:rect l="l" t="t" r="r" b="b"/>
                <a:pathLst>
                  <a:path w="4741590" h="780608">
                    <a:moveTo>
                      <a:pt x="0" y="0"/>
                    </a:moveTo>
                    <a:lnTo>
                      <a:pt x="4741590" y="0"/>
                    </a:lnTo>
                    <a:lnTo>
                      <a:pt x="4741590" y="780608"/>
                    </a:lnTo>
                    <a:lnTo>
                      <a:pt x="0" y="780608"/>
                    </a:lnTo>
                    <a:close/>
                  </a:path>
                </a:pathLst>
              </a:custGeom>
              <a:solidFill>
                <a:srgbClr val="0E73C3"/>
              </a:solidFill>
            </p:spPr>
            <p:txBody>
              <a:bodyPr/>
              <a:lstStyle/>
              <a:p>
                <a:endParaRPr lang="es-DO">
                  <a:latin typeface="Aptos" panose="020B0004020202020204" pitchFamily="34" charset="0"/>
                </a:endParaRPr>
              </a:p>
            </p:txBody>
          </p:sp>
          <p:sp>
            <p:nvSpPr>
              <p:cNvPr id="1087" name="TextBox 17">
                <a:extLst>
                  <a:ext uri="{FF2B5EF4-FFF2-40B4-BE49-F238E27FC236}">
                    <a16:creationId xmlns:a16="http://schemas.microsoft.com/office/drawing/2014/main" id="{4D234A12-3EF3-A18C-B75A-5CBA4D1D48CF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4866536" cy="77099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1" indent="0" algn="ctr">
                  <a:lnSpc>
                    <a:spcPts val="2267"/>
                  </a:lnSpc>
                  <a:spcBef>
                    <a:spcPct val="0"/>
                  </a:spcBef>
                </a:pPr>
                <a:r>
                  <a:rPr lang="es-DO" sz="1619" b="1" u="none" strike="noStrike" spc="68" dirty="0">
                    <a:solidFill>
                      <a:srgbClr val="FFFFFF"/>
                    </a:solidFill>
                    <a:latin typeface="Aptos" panose="020B0004020202020204" pitchFamily="34" charset="0"/>
                    <a:ea typeface="Canva Sans"/>
                    <a:cs typeface="Canva Sans"/>
                    <a:sym typeface="Canva Sans"/>
                  </a:rPr>
                  <a:t>Géneros con mayor TCR por país</a:t>
                </a:r>
              </a:p>
            </p:txBody>
          </p:sp>
        </p:grpSp>
        <p:grpSp>
          <p:nvGrpSpPr>
            <p:cNvPr id="1053" name="Group 5">
              <a:extLst>
                <a:ext uri="{FF2B5EF4-FFF2-40B4-BE49-F238E27FC236}">
                  <a16:creationId xmlns:a16="http://schemas.microsoft.com/office/drawing/2014/main" id="{32D69D3E-753F-37C7-3CC3-0C3B2BB6460A}"/>
                </a:ext>
              </a:extLst>
            </p:cNvPr>
            <p:cNvGrpSpPr/>
            <p:nvPr/>
          </p:nvGrpSpPr>
          <p:grpSpPr>
            <a:xfrm>
              <a:off x="5486603" y="1790700"/>
              <a:ext cx="2377440" cy="731520"/>
              <a:chOff x="-21207" y="-38100"/>
              <a:chExt cx="851044" cy="256414"/>
            </a:xfrm>
          </p:grpSpPr>
          <p:sp>
            <p:nvSpPr>
              <p:cNvPr id="1084" name="Freeform 6">
                <a:extLst>
                  <a:ext uri="{FF2B5EF4-FFF2-40B4-BE49-F238E27FC236}">
                    <a16:creationId xmlns:a16="http://schemas.microsoft.com/office/drawing/2014/main" id="{20A6FC92-5DEA-890D-D3B5-F1D62143CD42}"/>
                  </a:ext>
                </a:extLst>
              </p:cNvPr>
              <p:cNvSpPr/>
              <p:nvPr/>
            </p:nvSpPr>
            <p:spPr>
              <a:xfrm>
                <a:off x="-21207" y="16250"/>
                <a:ext cx="829837" cy="176591"/>
              </a:xfrm>
              <a:prstGeom prst="roundRect">
                <a:avLst/>
              </a:prstGeom>
              <a:solidFill>
                <a:srgbClr val="1C3F60"/>
              </a:solidFill>
            </p:spPr>
            <p:txBody>
              <a:bodyPr anchor="ctr"/>
              <a:lstStyle/>
              <a:p>
                <a:pPr algn="ctr"/>
                <a:r>
                  <a:rPr lang="en-US" sz="1600" spc="6" dirty="0">
                    <a:solidFill>
                      <a:srgbClr val="F3F6FA"/>
                    </a:solidFill>
                    <a:latin typeface="Aptos" panose="020B0004020202020204" pitchFamily="34" charset="0"/>
                    <a:ea typeface="Barlow"/>
                    <a:cs typeface="Barlow"/>
                    <a:sym typeface="Barlow"/>
                  </a:rPr>
                  <a:t>Tiempo </a:t>
                </a:r>
                <a:r>
                  <a:rPr lang="en-US" sz="1600" spc="6" dirty="0" err="1">
                    <a:solidFill>
                      <a:srgbClr val="F3F6FA"/>
                    </a:solidFill>
                    <a:latin typeface="Aptos" panose="020B0004020202020204" pitchFamily="34" charset="0"/>
                    <a:ea typeface="Barlow"/>
                    <a:cs typeface="Barlow"/>
                    <a:sym typeface="Barlow"/>
                  </a:rPr>
                  <a:t>promedio</a:t>
                </a:r>
                <a:endParaRPr lang="en-US" sz="1600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1085" name="TextBox 7">
                <a:extLst>
                  <a:ext uri="{FF2B5EF4-FFF2-40B4-BE49-F238E27FC236}">
                    <a16:creationId xmlns:a16="http://schemas.microsoft.com/office/drawing/2014/main" id="{FDBF7A31-357C-7156-6088-4D50A458D42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29837" cy="256414"/>
              </a:xfrm>
              <a:prstGeom prst="round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spcBef>
                    <a:spcPct val="0"/>
                  </a:spcBef>
                </a:pPr>
                <a:endParaRPr lang="en-US" sz="1599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endParaRPr>
              </a:p>
            </p:txBody>
          </p:sp>
        </p:grpSp>
        <p:grpSp>
          <p:nvGrpSpPr>
            <p:cNvPr id="1054" name="Group 5">
              <a:extLst>
                <a:ext uri="{FF2B5EF4-FFF2-40B4-BE49-F238E27FC236}">
                  <a16:creationId xmlns:a16="http://schemas.microsoft.com/office/drawing/2014/main" id="{A78F773C-6F74-CDD7-1F59-A5CB85AB0C3F}"/>
                </a:ext>
              </a:extLst>
            </p:cNvPr>
            <p:cNvGrpSpPr/>
            <p:nvPr/>
          </p:nvGrpSpPr>
          <p:grpSpPr>
            <a:xfrm>
              <a:off x="3010002" y="1790700"/>
              <a:ext cx="2377440" cy="731520"/>
              <a:chOff x="-21207" y="-38100"/>
              <a:chExt cx="851044" cy="256414"/>
            </a:xfrm>
          </p:grpSpPr>
          <p:sp>
            <p:nvSpPr>
              <p:cNvPr id="1082" name="Freeform 6">
                <a:extLst>
                  <a:ext uri="{FF2B5EF4-FFF2-40B4-BE49-F238E27FC236}">
                    <a16:creationId xmlns:a16="http://schemas.microsoft.com/office/drawing/2014/main" id="{434E489E-1555-1AEF-7C22-6E109D95C3E8}"/>
                  </a:ext>
                </a:extLst>
              </p:cNvPr>
              <p:cNvSpPr/>
              <p:nvPr/>
            </p:nvSpPr>
            <p:spPr>
              <a:xfrm>
                <a:off x="-21207" y="16250"/>
                <a:ext cx="829837" cy="176591"/>
              </a:xfrm>
              <a:prstGeom prst="roundRect">
                <a:avLst/>
              </a:prstGeom>
              <a:solidFill>
                <a:srgbClr val="1C3F60"/>
              </a:solidFill>
            </p:spPr>
            <p:txBody>
              <a:bodyPr anchor="ctr"/>
              <a:lstStyle/>
              <a:p>
                <a:pPr algn="ctr"/>
                <a:r>
                  <a:rPr lang="en-US" sz="1600" spc="6" dirty="0">
                    <a:solidFill>
                      <a:srgbClr val="F3F6FA"/>
                    </a:solidFill>
                    <a:latin typeface="Aptos" panose="020B0004020202020204" pitchFamily="34" charset="0"/>
                    <a:ea typeface="Barlow"/>
                    <a:cs typeface="Barlow"/>
                    <a:sym typeface="Barlow"/>
                  </a:rPr>
                  <a:t>Vistas </a:t>
                </a:r>
                <a:r>
                  <a:rPr lang="en-US" sz="1600" spc="6" dirty="0" err="1">
                    <a:solidFill>
                      <a:srgbClr val="F3F6FA"/>
                    </a:solidFill>
                    <a:latin typeface="Aptos" panose="020B0004020202020204" pitchFamily="34" charset="0"/>
                    <a:ea typeface="Barlow"/>
                    <a:cs typeface="Barlow"/>
                    <a:sym typeface="Barlow"/>
                  </a:rPr>
                  <a:t>promedio</a:t>
                </a:r>
                <a:endParaRPr lang="en-US" sz="1600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1083" name="TextBox 7">
                <a:extLst>
                  <a:ext uri="{FF2B5EF4-FFF2-40B4-BE49-F238E27FC236}">
                    <a16:creationId xmlns:a16="http://schemas.microsoft.com/office/drawing/2014/main" id="{B5091958-094A-7E60-9594-92D109C9B76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29837" cy="256414"/>
              </a:xfrm>
              <a:prstGeom prst="round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spcBef>
                    <a:spcPct val="0"/>
                  </a:spcBef>
                </a:pPr>
                <a:endParaRPr lang="en-US" sz="1599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endParaRPr>
              </a:p>
            </p:txBody>
          </p:sp>
        </p:grpSp>
        <p:grpSp>
          <p:nvGrpSpPr>
            <p:cNvPr id="1055" name="Group 5">
              <a:extLst>
                <a:ext uri="{FF2B5EF4-FFF2-40B4-BE49-F238E27FC236}">
                  <a16:creationId xmlns:a16="http://schemas.microsoft.com/office/drawing/2014/main" id="{526AE789-2EC8-8EC5-3211-BBDB3A1FF1DB}"/>
                </a:ext>
              </a:extLst>
            </p:cNvPr>
            <p:cNvGrpSpPr/>
            <p:nvPr/>
          </p:nvGrpSpPr>
          <p:grpSpPr>
            <a:xfrm>
              <a:off x="533400" y="1790700"/>
              <a:ext cx="2377440" cy="731520"/>
              <a:chOff x="-21207" y="-38100"/>
              <a:chExt cx="851044" cy="256414"/>
            </a:xfrm>
          </p:grpSpPr>
          <p:sp>
            <p:nvSpPr>
              <p:cNvPr id="1080" name="Freeform 6">
                <a:extLst>
                  <a:ext uri="{FF2B5EF4-FFF2-40B4-BE49-F238E27FC236}">
                    <a16:creationId xmlns:a16="http://schemas.microsoft.com/office/drawing/2014/main" id="{622D82B6-85E4-E0D2-A40C-E192EC874BA2}"/>
                  </a:ext>
                </a:extLst>
              </p:cNvPr>
              <p:cNvSpPr/>
              <p:nvPr/>
            </p:nvSpPr>
            <p:spPr>
              <a:xfrm>
                <a:off x="-21207" y="16250"/>
                <a:ext cx="829837" cy="176591"/>
              </a:xfrm>
              <a:prstGeom prst="roundRect">
                <a:avLst/>
              </a:prstGeom>
              <a:solidFill>
                <a:srgbClr val="1C3F60"/>
              </a:solidFill>
            </p:spPr>
            <p:txBody>
              <a:bodyPr anchor="ctr"/>
              <a:lstStyle/>
              <a:p>
                <a:pPr algn="ctr"/>
                <a:r>
                  <a:rPr lang="en-US" sz="1600" spc="6" dirty="0">
                    <a:solidFill>
                      <a:srgbClr val="F3F6FA"/>
                    </a:solidFill>
                    <a:latin typeface="Aptos" panose="020B0004020202020204" pitchFamily="34" charset="0"/>
                    <a:ea typeface="Barlow"/>
                    <a:cs typeface="Barlow"/>
                    <a:sym typeface="Barlow"/>
                  </a:rPr>
                  <a:t>Pa</a:t>
                </a:r>
                <a:r>
                  <a:rPr lang="es-DO" sz="1600" spc="6" dirty="0" err="1">
                    <a:solidFill>
                      <a:srgbClr val="F3F6FA"/>
                    </a:solidFill>
                    <a:latin typeface="Aptos" panose="020B0004020202020204" pitchFamily="34" charset="0"/>
                    <a:ea typeface="Barlow"/>
                    <a:cs typeface="Barlow"/>
                    <a:sym typeface="Barlow"/>
                  </a:rPr>
                  <a:t>ís</a:t>
                </a:r>
                <a:endParaRPr lang="en-US" sz="1600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1081" name="TextBox 7">
                <a:extLst>
                  <a:ext uri="{FF2B5EF4-FFF2-40B4-BE49-F238E27FC236}">
                    <a16:creationId xmlns:a16="http://schemas.microsoft.com/office/drawing/2014/main" id="{2D0BBA02-50D5-86E2-BBF2-C6B9AE912EF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29837" cy="256414"/>
              </a:xfrm>
              <a:prstGeom prst="round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spcBef>
                    <a:spcPct val="0"/>
                  </a:spcBef>
                </a:pPr>
                <a:endParaRPr lang="en-US" sz="1599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endParaRPr>
              </a:p>
            </p:txBody>
          </p:sp>
        </p:grpSp>
        <p:grpSp>
          <p:nvGrpSpPr>
            <p:cNvPr id="1056" name="Group 5">
              <a:extLst>
                <a:ext uri="{FF2B5EF4-FFF2-40B4-BE49-F238E27FC236}">
                  <a16:creationId xmlns:a16="http://schemas.microsoft.com/office/drawing/2014/main" id="{86341B0C-70A9-FF35-C584-34F07E37ACBF}"/>
                </a:ext>
              </a:extLst>
            </p:cNvPr>
            <p:cNvGrpSpPr/>
            <p:nvPr/>
          </p:nvGrpSpPr>
          <p:grpSpPr>
            <a:xfrm>
              <a:off x="533400" y="2354580"/>
              <a:ext cx="2377440" cy="731520"/>
              <a:chOff x="-21207" y="-38100"/>
              <a:chExt cx="851044" cy="256414"/>
            </a:xfrm>
          </p:grpSpPr>
          <p:sp>
            <p:nvSpPr>
              <p:cNvPr id="1078" name="Freeform 6">
                <a:extLst>
                  <a:ext uri="{FF2B5EF4-FFF2-40B4-BE49-F238E27FC236}">
                    <a16:creationId xmlns:a16="http://schemas.microsoft.com/office/drawing/2014/main" id="{E43D69C1-D580-0B6C-FA3B-2BC7348541A4}"/>
                  </a:ext>
                </a:extLst>
              </p:cNvPr>
              <p:cNvSpPr/>
              <p:nvPr/>
            </p:nvSpPr>
            <p:spPr>
              <a:xfrm>
                <a:off x="-21207" y="16250"/>
                <a:ext cx="829837" cy="176591"/>
              </a:xfrm>
              <a:prstGeom prst="roundRect">
                <a:avLst/>
              </a:prstGeom>
              <a:solidFill>
                <a:srgbClr val="1C3F60"/>
              </a:solidFill>
            </p:spPr>
            <p:txBody>
              <a:bodyPr anchor="ctr"/>
              <a:lstStyle/>
              <a:p>
                <a:pPr algn="ctr"/>
                <a:r>
                  <a:rPr lang="en-US" sz="1600" spc="6" dirty="0">
                    <a:solidFill>
                      <a:srgbClr val="F3F6FA"/>
                    </a:solidFill>
                    <a:latin typeface="Aptos" panose="020B0004020202020204" pitchFamily="34" charset="0"/>
                    <a:ea typeface="Barlow"/>
                    <a:cs typeface="Barlow"/>
                    <a:sym typeface="Barlow"/>
                  </a:rPr>
                  <a:t>Pa</a:t>
                </a:r>
                <a:r>
                  <a:rPr lang="es-DO" sz="1600" spc="6" dirty="0" err="1">
                    <a:solidFill>
                      <a:srgbClr val="F3F6FA"/>
                    </a:solidFill>
                    <a:latin typeface="Aptos" panose="020B0004020202020204" pitchFamily="34" charset="0"/>
                    <a:ea typeface="Barlow"/>
                    <a:cs typeface="Barlow"/>
                    <a:sym typeface="Barlow"/>
                  </a:rPr>
                  <a:t>ís</a:t>
                </a:r>
                <a:endParaRPr lang="en-US" sz="1600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1079" name="TextBox 7">
                <a:extLst>
                  <a:ext uri="{FF2B5EF4-FFF2-40B4-BE49-F238E27FC236}">
                    <a16:creationId xmlns:a16="http://schemas.microsoft.com/office/drawing/2014/main" id="{45C5A06A-E351-377D-9203-24995E6AAED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29837" cy="256414"/>
              </a:xfrm>
              <a:prstGeom prst="round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spcBef>
                    <a:spcPct val="0"/>
                  </a:spcBef>
                </a:pPr>
                <a:endParaRPr lang="en-US" sz="1599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endParaRPr>
              </a:p>
            </p:txBody>
          </p:sp>
        </p:grpSp>
        <p:sp>
          <p:nvSpPr>
            <p:cNvPr id="1057" name="Freeform 6">
              <a:extLst>
                <a:ext uri="{FF2B5EF4-FFF2-40B4-BE49-F238E27FC236}">
                  <a16:creationId xmlns:a16="http://schemas.microsoft.com/office/drawing/2014/main" id="{90237BE5-9A50-DDA2-A38B-4083A8D36C3E}"/>
                </a:ext>
              </a:extLst>
            </p:cNvPr>
            <p:cNvSpPr/>
            <p:nvPr/>
          </p:nvSpPr>
          <p:spPr>
            <a:xfrm>
              <a:off x="5471160" y="2509634"/>
              <a:ext cx="2318197" cy="503794"/>
            </a:xfrm>
            <a:prstGeom prst="roundRect">
              <a:avLst/>
            </a:prstGeom>
            <a:solidFill>
              <a:srgbClr val="AFC1D0"/>
            </a:solidFill>
          </p:spPr>
          <p:txBody>
            <a:bodyPr anchor="ctr"/>
            <a:lstStyle/>
            <a:p>
              <a:pPr algn="ctr"/>
              <a:r>
                <a:rPr lang="en-US" sz="1600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rPr>
                <a:t>Tiempo </a:t>
              </a:r>
              <a:r>
                <a:rPr lang="en-US" sz="1600" spc="6" dirty="0" err="1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rPr>
                <a:t>promedio</a:t>
              </a:r>
              <a:endParaRPr lang="en-US" sz="1600" spc="6" dirty="0">
                <a:solidFill>
                  <a:srgbClr val="F3F6FA"/>
                </a:solidFill>
                <a:latin typeface="Aptos" panose="020B0004020202020204" pitchFamily="34" charset="0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58" name="Freeform 6">
              <a:extLst>
                <a:ext uri="{FF2B5EF4-FFF2-40B4-BE49-F238E27FC236}">
                  <a16:creationId xmlns:a16="http://schemas.microsoft.com/office/drawing/2014/main" id="{6D035AAC-A574-D09A-AC05-774BA90CF274}"/>
                </a:ext>
              </a:extLst>
            </p:cNvPr>
            <p:cNvSpPr/>
            <p:nvPr/>
          </p:nvSpPr>
          <p:spPr>
            <a:xfrm>
              <a:off x="2994559" y="2509635"/>
              <a:ext cx="2318197" cy="503794"/>
            </a:xfrm>
            <a:prstGeom prst="roundRect">
              <a:avLst/>
            </a:prstGeom>
            <a:solidFill>
              <a:srgbClr val="AFC1D0"/>
            </a:solidFill>
          </p:spPr>
          <p:txBody>
            <a:bodyPr anchor="ctr"/>
            <a:lstStyle/>
            <a:p>
              <a:pPr algn="ctr"/>
              <a:r>
                <a:rPr lang="en-US" sz="1600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rPr>
                <a:t>Vistas </a:t>
              </a:r>
              <a:r>
                <a:rPr lang="en-US" sz="1600" spc="6" dirty="0" err="1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rPr>
                <a:t>promedio</a:t>
              </a:r>
              <a:endParaRPr lang="en-US" sz="1600" spc="6" dirty="0">
                <a:solidFill>
                  <a:srgbClr val="F3F6FA"/>
                </a:solidFill>
                <a:latin typeface="Aptos" panose="020B0004020202020204" pitchFamily="34" charset="0"/>
                <a:ea typeface="Barlow"/>
                <a:cs typeface="Barlow"/>
                <a:sym typeface="Barlow"/>
              </a:endParaRPr>
            </a:p>
          </p:txBody>
        </p:sp>
        <p:grpSp>
          <p:nvGrpSpPr>
            <p:cNvPr id="1059" name="Group 5">
              <a:extLst>
                <a:ext uri="{FF2B5EF4-FFF2-40B4-BE49-F238E27FC236}">
                  <a16:creationId xmlns:a16="http://schemas.microsoft.com/office/drawing/2014/main" id="{D09F21F6-7878-6155-F75A-7F56E9460981}"/>
                </a:ext>
              </a:extLst>
            </p:cNvPr>
            <p:cNvGrpSpPr/>
            <p:nvPr/>
          </p:nvGrpSpPr>
          <p:grpSpPr>
            <a:xfrm>
              <a:off x="533400" y="2933700"/>
              <a:ext cx="2377440" cy="731520"/>
              <a:chOff x="-21207" y="-38100"/>
              <a:chExt cx="851044" cy="256414"/>
            </a:xfrm>
          </p:grpSpPr>
          <p:sp>
            <p:nvSpPr>
              <p:cNvPr id="1076" name="Freeform 6">
                <a:extLst>
                  <a:ext uri="{FF2B5EF4-FFF2-40B4-BE49-F238E27FC236}">
                    <a16:creationId xmlns:a16="http://schemas.microsoft.com/office/drawing/2014/main" id="{FC92FDA1-E3FB-2677-D9B7-24E4EFBD8327}"/>
                  </a:ext>
                </a:extLst>
              </p:cNvPr>
              <p:cNvSpPr/>
              <p:nvPr/>
            </p:nvSpPr>
            <p:spPr>
              <a:xfrm>
                <a:off x="-21207" y="16250"/>
                <a:ext cx="829837" cy="176591"/>
              </a:xfrm>
              <a:prstGeom prst="roundRect">
                <a:avLst/>
              </a:prstGeom>
              <a:solidFill>
                <a:srgbClr val="1C3F60"/>
              </a:solidFill>
            </p:spPr>
            <p:txBody>
              <a:bodyPr anchor="ctr"/>
              <a:lstStyle/>
              <a:p>
                <a:pPr algn="ctr"/>
                <a:r>
                  <a:rPr lang="en-US" sz="1600" spc="6" dirty="0">
                    <a:solidFill>
                      <a:srgbClr val="F3F6FA"/>
                    </a:solidFill>
                    <a:latin typeface="Aptos" panose="020B0004020202020204" pitchFamily="34" charset="0"/>
                    <a:ea typeface="Barlow"/>
                    <a:cs typeface="Barlow"/>
                    <a:sym typeface="Barlow"/>
                  </a:rPr>
                  <a:t>Pa</a:t>
                </a:r>
                <a:r>
                  <a:rPr lang="es-DO" sz="1600" spc="6" dirty="0" err="1">
                    <a:solidFill>
                      <a:srgbClr val="F3F6FA"/>
                    </a:solidFill>
                    <a:latin typeface="Aptos" panose="020B0004020202020204" pitchFamily="34" charset="0"/>
                    <a:ea typeface="Barlow"/>
                    <a:cs typeface="Barlow"/>
                    <a:sym typeface="Barlow"/>
                  </a:rPr>
                  <a:t>ís</a:t>
                </a:r>
                <a:endParaRPr lang="en-US" sz="1600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1077" name="TextBox 7">
                <a:extLst>
                  <a:ext uri="{FF2B5EF4-FFF2-40B4-BE49-F238E27FC236}">
                    <a16:creationId xmlns:a16="http://schemas.microsoft.com/office/drawing/2014/main" id="{A8463FD1-28CC-20BE-04AA-2EF0D901364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29837" cy="256414"/>
              </a:xfrm>
              <a:prstGeom prst="round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spcBef>
                    <a:spcPct val="0"/>
                  </a:spcBef>
                </a:pPr>
                <a:endParaRPr lang="en-US" sz="1599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endParaRPr>
              </a:p>
            </p:txBody>
          </p:sp>
        </p:grpSp>
        <p:sp>
          <p:nvSpPr>
            <p:cNvPr id="1060" name="Freeform 6">
              <a:extLst>
                <a:ext uri="{FF2B5EF4-FFF2-40B4-BE49-F238E27FC236}">
                  <a16:creationId xmlns:a16="http://schemas.microsoft.com/office/drawing/2014/main" id="{3D919270-FB48-E27F-7D49-6F8545FD2301}"/>
                </a:ext>
              </a:extLst>
            </p:cNvPr>
            <p:cNvSpPr/>
            <p:nvPr/>
          </p:nvSpPr>
          <p:spPr>
            <a:xfrm>
              <a:off x="5471160" y="3088754"/>
              <a:ext cx="2318197" cy="503794"/>
            </a:xfrm>
            <a:prstGeom prst="roundRect">
              <a:avLst/>
            </a:prstGeom>
            <a:solidFill>
              <a:srgbClr val="AFC1D0"/>
            </a:solidFill>
          </p:spPr>
          <p:txBody>
            <a:bodyPr anchor="ctr"/>
            <a:lstStyle/>
            <a:p>
              <a:pPr algn="ctr"/>
              <a:r>
                <a:rPr lang="en-US" sz="1600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rPr>
                <a:t>Tiempo </a:t>
              </a:r>
              <a:r>
                <a:rPr lang="en-US" sz="1600" spc="6" dirty="0" err="1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rPr>
                <a:t>promedio</a:t>
              </a:r>
              <a:endParaRPr lang="en-US" sz="1600" spc="6" dirty="0">
                <a:solidFill>
                  <a:srgbClr val="F3F6FA"/>
                </a:solidFill>
                <a:latin typeface="Aptos" panose="020B0004020202020204" pitchFamily="34" charset="0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61" name="Freeform 6">
              <a:extLst>
                <a:ext uri="{FF2B5EF4-FFF2-40B4-BE49-F238E27FC236}">
                  <a16:creationId xmlns:a16="http://schemas.microsoft.com/office/drawing/2014/main" id="{BAA134F6-A55E-66DC-BC48-1FF5A9D21EC2}"/>
                </a:ext>
              </a:extLst>
            </p:cNvPr>
            <p:cNvSpPr/>
            <p:nvPr/>
          </p:nvSpPr>
          <p:spPr>
            <a:xfrm>
              <a:off x="2994559" y="3088755"/>
              <a:ext cx="2318197" cy="503794"/>
            </a:xfrm>
            <a:prstGeom prst="roundRect">
              <a:avLst/>
            </a:prstGeom>
            <a:solidFill>
              <a:srgbClr val="AFC1D0"/>
            </a:solidFill>
          </p:spPr>
          <p:txBody>
            <a:bodyPr anchor="ctr"/>
            <a:lstStyle/>
            <a:p>
              <a:pPr algn="ctr"/>
              <a:r>
                <a:rPr lang="en-US" sz="1600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rPr>
                <a:t>Vistas </a:t>
              </a:r>
              <a:r>
                <a:rPr lang="en-US" sz="1600" spc="6" dirty="0" err="1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rPr>
                <a:t>promedio</a:t>
              </a:r>
              <a:endParaRPr lang="en-US" sz="1600" spc="6" dirty="0">
                <a:solidFill>
                  <a:srgbClr val="F3F6FA"/>
                </a:solidFill>
                <a:latin typeface="Aptos" panose="020B0004020202020204" pitchFamily="34" charset="0"/>
                <a:ea typeface="Barlow"/>
                <a:cs typeface="Barlow"/>
                <a:sym typeface="Barlow"/>
              </a:endParaRPr>
            </a:p>
          </p:txBody>
        </p:sp>
        <p:grpSp>
          <p:nvGrpSpPr>
            <p:cNvPr id="1062" name="Group 5">
              <a:extLst>
                <a:ext uri="{FF2B5EF4-FFF2-40B4-BE49-F238E27FC236}">
                  <a16:creationId xmlns:a16="http://schemas.microsoft.com/office/drawing/2014/main" id="{724DD998-8A4C-4023-AA59-86D709062DC9}"/>
                </a:ext>
              </a:extLst>
            </p:cNvPr>
            <p:cNvGrpSpPr/>
            <p:nvPr/>
          </p:nvGrpSpPr>
          <p:grpSpPr>
            <a:xfrm>
              <a:off x="533400" y="3467100"/>
              <a:ext cx="2377440" cy="731520"/>
              <a:chOff x="-21207" y="-38100"/>
              <a:chExt cx="851044" cy="256414"/>
            </a:xfrm>
          </p:grpSpPr>
          <p:sp>
            <p:nvSpPr>
              <p:cNvPr id="1074" name="Freeform 6">
                <a:extLst>
                  <a:ext uri="{FF2B5EF4-FFF2-40B4-BE49-F238E27FC236}">
                    <a16:creationId xmlns:a16="http://schemas.microsoft.com/office/drawing/2014/main" id="{AA5B6914-0E9A-5F4D-534A-2D154B6587E3}"/>
                  </a:ext>
                </a:extLst>
              </p:cNvPr>
              <p:cNvSpPr/>
              <p:nvPr/>
            </p:nvSpPr>
            <p:spPr>
              <a:xfrm>
                <a:off x="-21207" y="16250"/>
                <a:ext cx="829837" cy="176591"/>
              </a:xfrm>
              <a:prstGeom prst="roundRect">
                <a:avLst/>
              </a:prstGeom>
              <a:solidFill>
                <a:srgbClr val="1C3F60"/>
              </a:solidFill>
            </p:spPr>
            <p:txBody>
              <a:bodyPr anchor="ctr"/>
              <a:lstStyle/>
              <a:p>
                <a:pPr algn="ctr"/>
                <a:r>
                  <a:rPr lang="en-US" sz="1600" spc="6" dirty="0">
                    <a:solidFill>
                      <a:srgbClr val="F3F6FA"/>
                    </a:solidFill>
                    <a:latin typeface="Aptos" panose="020B0004020202020204" pitchFamily="34" charset="0"/>
                    <a:ea typeface="Barlow"/>
                    <a:cs typeface="Barlow"/>
                    <a:sym typeface="Barlow"/>
                  </a:rPr>
                  <a:t>Pa</a:t>
                </a:r>
                <a:r>
                  <a:rPr lang="es-DO" sz="1600" spc="6" dirty="0" err="1">
                    <a:solidFill>
                      <a:srgbClr val="F3F6FA"/>
                    </a:solidFill>
                    <a:latin typeface="Aptos" panose="020B0004020202020204" pitchFamily="34" charset="0"/>
                    <a:ea typeface="Barlow"/>
                    <a:cs typeface="Barlow"/>
                    <a:sym typeface="Barlow"/>
                  </a:rPr>
                  <a:t>ís</a:t>
                </a:r>
                <a:endParaRPr lang="en-US" sz="1600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1075" name="TextBox 7">
                <a:extLst>
                  <a:ext uri="{FF2B5EF4-FFF2-40B4-BE49-F238E27FC236}">
                    <a16:creationId xmlns:a16="http://schemas.microsoft.com/office/drawing/2014/main" id="{9419CEDC-6679-7C42-003B-5F16029BBF7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29837" cy="256414"/>
              </a:xfrm>
              <a:prstGeom prst="round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spcBef>
                    <a:spcPct val="0"/>
                  </a:spcBef>
                </a:pPr>
                <a:endParaRPr lang="en-US" sz="1599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endParaRPr>
              </a:p>
            </p:txBody>
          </p:sp>
        </p:grpSp>
        <p:sp>
          <p:nvSpPr>
            <p:cNvPr id="1063" name="Freeform 6">
              <a:extLst>
                <a:ext uri="{FF2B5EF4-FFF2-40B4-BE49-F238E27FC236}">
                  <a16:creationId xmlns:a16="http://schemas.microsoft.com/office/drawing/2014/main" id="{125CACB6-DFB0-DA17-2270-55B7B4845674}"/>
                </a:ext>
              </a:extLst>
            </p:cNvPr>
            <p:cNvSpPr/>
            <p:nvPr/>
          </p:nvSpPr>
          <p:spPr>
            <a:xfrm>
              <a:off x="5471160" y="3622154"/>
              <a:ext cx="2318197" cy="503794"/>
            </a:xfrm>
            <a:prstGeom prst="roundRect">
              <a:avLst/>
            </a:prstGeom>
            <a:solidFill>
              <a:srgbClr val="AFC1D0"/>
            </a:solidFill>
          </p:spPr>
          <p:txBody>
            <a:bodyPr anchor="ctr"/>
            <a:lstStyle/>
            <a:p>
              <a:pPr algn="ctr"/>
              <a:r>
                <a:rPr lang="en-US" sz="1600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rPr>
                <a:t>Tiempo </a:t>
              </a:r>
              <a:r>
                <a:rPr lang="en-US" sz="1600" spc="6" dirty="0" err="1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rPr>
                <a:t>promedio</a:t>
              </a:r>
              <a:endParaRPr lang="en-US" sz="1600" spc="6" dirty="0">
                <a:solidFill>
                  <a:srgbClr val="F3F6FA"/>
                </a:solidFill>
                <a:latin typeface="Aptos" panose="020B0004020202020204" pitchFamily="34" charset="0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64" name="Freeform 6">
              <a:extLst>
                <a:ext uri="{FF2B5EF4-FFF2-40B4-BE49-F238E27FC236}">
                  <a16:creationId xmlns:a16="http://schemas.microsoft.com/office/drawing/2014/main" id="{AB8F1BE0-3CD3-E7FA-EA00-9A88D5A6E9FE}"/>
                </a:ext>
              </a:extLst>
            </p:cNvPr>
            <p:cNvSpPr/>
            <p:nvPr/>
          </p:nvSpPr>
          <p:spPr>
            <a:xfrm>
              <a:off x="2994559" y="3622155"/>
              <a:ext cx="2318197" cy="503794"/>
            </a:xfrm>
            <a:prstGeom prst="roundRect">
              <a:avLst/>
            </a:prstGeom>
            <a:solidFill>
              <a:srgbClr val="AFC1D0"/>
            </a:solidFill>
          </p:spPr>
          <p:txBody>
            <a:bodyPr anchor="ctr"/>
            <a:lstStyle/>
            <a:p>
              <a:pPr algn="ctr"/>
              <a:r>
                <a:rPr lang="en-US" sz="1600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rPr>
                <a:t>Vistas </a:t>
              </a:r>
              <a:r>
                <a:rPr lang="en-US" sz="1600" spc="6" dirty="0" err="1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rPr>
                <a:t>promedio</a:t>
              </a:r>
              <a:endParaRPr lang="en-US" sz="1600" spc="6" dirty="0">
                <a:solidFill>
                  <a:srgbClr val="F3F6FA"/>
                </a:solidFill>
                <a:latin typeface="Aptos" panose="020B0004020202020204" pitchFamily="34" charset="0"/>
                <a:ea typeface="Barlow"/>
                <a:cs typeface="Barlow"/>
                <a:sym typeface="Barlow"/>
              </a:endParaRPr>
            </a:p>
          </p:txBody>
        </p:sp>
        <p:grpSp>
          <p:nvGrpSpPr>
            <p:cNvPr id="1065" name="Group 5">
              <a:extLst>
                <a:ext uri="{FF2B5EF4-FFF2-40B4-BE49-F238E27FC236}">
                  <a16:creationId xmlns:a16="http://schemas.microsoft.com/office/drawing/2014/main" id="{B740FC10-D9F4-26E2-4D5C-DBF190431EDA}"/>
                </a:ext>
              </a:extLst>
            </p:cNvPr>
            <p:cNvGrpSpPr/>
            <p:nvPr/>
          </p:nvGrpSpPr>
          <p:grpSpPr>
            <a:xfrm>
              <a:off x="533400" y="4046220"/>
              <a:ext cx="2377440" cy="731520"/>
              <a:chOff x="-21207" y="-38100"/>
              <a:chExt cx="851044" cy="256414"/>
            </a:xfrm>
          </p:grpSpPr>
          <p:sp>
            <p:nvSpPr>
              <p:cNvPr id="1072" name="Freeform 6">
                <a:extLst>
                  <a:ext uri="{FF2B5EF4-FFF2-40B4-BE49-F238E27FC236}">
                    <a16:creationId xmlns:a16="http://schemas.microsoft.com/office/drawing/2014/main" id="{A389453E-83EB-439D-7878-D2187291BC08}"/>
                  </a:ext>
                </a:extLst>
              </p:cNvPr>
              <p:cNvSpPr/>
              <p:nvPr/>
            </p:nvSpPr>
            <p:spPr>
              <a:xfrm>
                <a:off x="-21207" y="16250"/>
                <a:ext cx="829837" cy="176591"/>
              </a:xfrm>
              <a:prstGeom prst="roundRect">
                <a:avLst/>
              </a:prstGeom>
              <a:solidFill>
                <a:srgbClr val="1C3F60"/>
              </a:solidFill>
            </p:spPr>
            <p:txBody>
              <a:bodyPr anchor="ctr"/>
              <a:lstStyle/>
              <a:p>
                <a:pPr algn="ctr"/>
                <a:r>
                  <a:rPr lang="en-US" sz="1600" spc="6" dirty="0">
                    <a:solidFill>
                      <a:srgbClr val="F3F6FA"/>
                    </a:solidFill>
                    <a:latin typeface="Aptos" panose="020B0004020202020204" pitchFamily="34" charset="0"/>
                    <a:ea typeface="Barlow"/>
                    <a:cs typeface="Barlow"/>
                    <a:sym typeface="Barlow"/>
                  </a:rPr>
                  <a:t>Pa</a:t>
                </a:r>
                <a:r>
                  <a:rPr lang="es-DO" sz="1600" spc="6" dirty="0" err="1">
                    <a:solidFill>
                      <a:srgbClr val="F3F6FA"/>
                    </a:solidFill>
                    <a:latin typeface="Aptos" panose="020B0004020202020204" pitchFamily="34" charset="0"/>
                    <a:ea typeface="Barlow"/>
                    <a:cs typeface="Barlow"/>
                    <a:sym typeface="Barlow"/>
                  </a:rPr>
                  <a:t>ís</a:t>
                </a:r>
                <a:endParaRPr lang="en-US" sz="1600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1073" name="TextBox 7">
                <a:extLst>
                  <a:ext uri="{FF2B5EF4-FFF2-40B4-BE49-F238E27FC236}">
                    <a16:creationId xmlns:a16="http://schemas.microsoft.com/office/drawing/2014/main" id="{24A0AA6D-61E9-9203-DB27-4BC8261BAA2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29837" cy="256414"/>
              </a:xfrm>
              <a:prstGeom prst="round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spcBef>
                    <a:spcPct val="0"/>
                  </a:spcBef>
                </a:pPr>
                <a:endParaRPr lang="en-US" sz="1599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endParaRPr>
              </a:p>
            </p:txBody>
          </p:sp>
        </p:grpSp>
        <p:sp>
          <p:nvSpPr>
            <p:cNvPr id="1066" name="Freeform 6">
              <a:extLst>
                <a:ext uri="{FF2B5EF4-FFF2-40B4-BE49-F238E27FC236}">
                  <a16:creationId xmlns:a16="http://schemas.microsoft.com/office/drawing/2014/main" id="{F1F906BA-A02D-71EB-17DE-5945D205AC20}"/>
                </a:ext>
              </a:extLst>
            </p:cNvPr>
            <p:cNvSpPr/>
            <p:nvPr/>
          </p:nvSpPr>
          <p:spPr>
            <a:xfrm>
              <a:off x="5471160" y="4201274"/>
              <a:ext cx="2318197" cy="503794"/>
            </a:xfrm>
            <a:prstGeom prst="roundRect">
              <a:avLst/>
            </a:prstGeom>
            <a:solidFill>
              <a:srgbClr val="AFC1D0"/>
            </a:solidFill>
          </p:spPr>
          <p:txBody>
            <a:bodyPr anchor="ctr"/>
            <a:lstStyle/>
            <a:p>
              <a:pPr algn="ctr"/>
              <a:r>
                <a:rPr lang="en-US" sz="1600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rPr>
                <a:t>Tiempo </a:t>
              </a:r>
              <a:r>
                <a:rPr lang="en-US" sz="1600" spc="6" dirty="0" err="1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rPr>
                <a:t>promedio</a:t>
              </a:r>
              <a:endParaRPr lang="en-US" sz="1600" spc="6" dirty="0">
                <a:solidFill>
                  <a:srgbClr val="F3F6FA"/>
                </a:solidFill>
                <a:latin typeface="Aptos" panose="020B0004020202020204" pitchFamily="34" charset="0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67" name="Freeform 6">
              <a:extLst>
                <a:ext uri="{FF2B5EF4-FFF2-40B4-BE49-F238E27FC236}">
                  <a16:creationId xmlns:a16="http://schemas.microsoft.com/office/drawing/2014/main" id="{84D60066-C831-20C8-2D2E-CA6BC9C6707A}"/>
                </a:ext>
              </a:extLst>
            </p:cNvPr>
            <p:cNvSpPr/>
            <p:nvPr/>
          </p:nvSpPr>
          <p:spPr>
            <a:xfrm>
              <a:off x="2994559" y="4201275"/>
              <a:ext cx="2318197" cy="503794"/>
            </a:xfrm>
            <a:prstGeom prst="roundRect">
              <a:avLst/>
            </a:prstGeom>
            <a:solidFill>
              <a:srgbClr val="AFC1D0"/>
            </a:solidFill>
          </p:spPr>
          <p:txBody>
            <a:bodyPr anchor="ctr"/>
            <a:lstStyle/>
            <a:p>
              <a:pPr algn="ctr"/>
              <a:r>
                <a:rPr lang="en-US" sz="1600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rPr>
                <a:t>Vistas </a:t>
              </a:r>
              <a:r>
                <a:rPr lang="en-US" sz="1600" spc="6" dirty="0" err="1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rPr>
                <a:t>promedio</a:t>
              </a:r>
              <a:endParaRPr lang="en-US" sz="1600" spc="6" dirty="0">
                <a:solidFill>
                  <a:srgbClr val="F3F6FA"/>
                </a:solidFill>
                <a:latin typeface="Aptos" panose="020B0004020202020204" pitchFamily="34" charset="0"/>
                <a:ea typeface="Barlow"/>
                <a:cs typeface="Barlow"/>
                <a:sym typeface="Barlow"/>
              </a:endParaRPr>
            </a:p>
          </p:txBody>
        </p:sp>
        <p:grpSp>
          <p:nvGrpSpPr>
            <p:cNvPr id="1068" name="Grupo 1067">
              <a:extLst>
                <a:ext uri="{FF2B5EF4-FFF2-40B4-BE49-F238E27FC236}">
                  <a16:creationId xmlns:a16="http://schemas.microsoft.com/office/drawing/2014/main" id="{9FD14B4C-2EF9-5B3A-286B-F8392BC97D61}"/>
                </a:ext>
              </a:extLst>
            </p:cNvPr>
            <p:cNvGrpSpPr/>
            <p:nvPr/>
          </p:nvGrpSpPr>
          <p:grpSpPr>
            <a:xfrm>
              <a:off x="544508" y="4819390"/>
              <a:ext cx="7761292" cy="476510"/>
              <a:chOff x="544508" y="4792106"/>
              <a:chExt cx="7837492" cy="503794"/>
            </a:xfrm>
          </p:grpSpPr>
          <p:sp>
            <p:nvSpPr>
              <p:cNvPr id="1069" name="Rectángulo: esquinas redondeadas 1068">
                <a:extLst>
                  <a:ext uri="{FF2B5EF4-FFF2-40B4-BE49-F238E27FC236}">
                    <a16:creationId xmlns:a16="http://schemas.microsoft.com/office/drawing/2014/main" id="{DBDD997B-CFBA-A014-4F25-3BA032B16437}"/>
                  </a:ext>
                </a:extLst>
              </p:cNvPr>
              <p:cNvSpPr/>
              <p:nvPr/>
            </p:nvSpPr>
            <p:spPr>
              <a:xfrm>
                <a:off x="544508" y="4792106"/>
                <a:ext cx="7837492" cy="503794"/>
              </a:xfrm>
              <a:prstGeom prst="roundRect">
                <a:avLst/>
              </a:prstGeom>
              <a:solidFill>
                <a:srgbClr val="FFC000">
                  <a:alpha val="22000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DO">
                  <a:latin typeface="Aptos" panose="020B0004020202020204" pitchFamily="34" charset="0"/>
                </a:endParaRPr>
              </a:p>
            </p:txBody>
          </p:sp>
          <p:pic>
            <p:nvPicPr>
              <p:cNvPr id="1070" name="Picture 2" descr="Bombilla - Iconos gratis de tecnología">
                <a:extLst>
                  <a:ext uri="{FF2B5EF4-FFF2-40B4-BE49-F238E27FC236}">
                    <a16:creationId xmlns:a16="http://schemas.microsoft.com/office/drawing/2014/main" id="{1AC8EDB7-DC33-41E3-FEBE-B1D46C2D69E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92438" y="4877477"/>
                <a:ext cx="396032" cy="38347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71" name="TextBox 28">
                <a:extLst>
                  <a:ext uri="{FF2B5EF4-FFF2-40B4-BE49-F238E27FC236}">
                    <a16:creationId xmlns:a16="http://schemas.microsoft.com/office/drawing/2014/main" id="{ABBA30ED-5FB7-3C7C-036F-3283B02B6A79}"/>
                  </a:ext>
                </a:extLst>
              </p:cNvPr>
              <p:cNvSpPr txBox="1"/>
              <p:nvPr/>
            </p:nvSpPr>
            <p:spPr>
              <a:xfrm>
                <a:off x="1084394" y="4867634"/>
                <a:ext cx="5469664" cy="306825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0" tIns="0" rIns="0" bIns="0" rtlCol="0" anchor="t">
                <a:spAutoFit/>
              </a:bodyPr>
              <a:lstStyle/>
              <a:p>
                <a:pPr algn="l">
                  <a:lnSpc>
                    <a:spcPts val="2464"/>
                  </a:lnSpc>
                </a:pPr>
                <a:r>
                  <a:rPr lang="es-DO" sz="1400" u="none" strike="noStrike" spc="73" dirty="0">
                    <a:solidFill>
                      <a:srgbClr val="000000"/>
                    </a:solidFill>
                    <a:latin typeface="Aptos" panose="020B0004020202020204" pitchFamily="34" charset="0"/>
                    <a:ea typeface="Canva Sans"/>
                    <a:cs typeface="Canva Sans"/>
                    <a:sym typeface="Canva Sans"/>
                  </a:rPr>
                  <a:t>El 20% de las visualizaciones se del consumo.</a:t>
                </a:r>
                <a:endParaRPr lang="en-US" sz="1400" u="none" strike="noStrike" spc="73" dirty="0">
                  <a:solidFill>
                    <a:srgbClr val="000000"/>
                  </a:solidFill>
                  <a:latin typeface="Aptos" panose="020B0004020202020204" pitchFamily="34" charset="0"/>
                  <a:ea typeface="Canva Sans"/>
                  <a:cs typeface="Canva Sans"/>
                  <a:sym typeface="Canva Sans"/>
                </a:endParaRPr>
              </a:p>
            </p:txBody>
          </p:sp>
        </p:grpSp>
      </p:grpSp>
      <p:grpSp>
        <p:nvGrpSpPr>
          <p:cNvPr id="1127" name="Grupo 1126">
            <a:extLst>
              <a:ext uri="{FF2B5EF4-FFF2-40B4-BE49-F238E27FC236}">
                <a16:creationId xmlns:a16="http://schemas.microsoft.com/office/drawing/2014/main" id="{7DFEBA07-14C2-842E-9ADA-7FD117E36811}"/>
              </a:ext>
            </a:extLst>
          </p:cNvPr>
          <p:cNvGrpSpPr/>
          <p:nvPr/>
        </p:nvGrpSpPr>
        <p:grpSpPr>
          <a:xfrm>
            <a:off x="711701" y="5535036"/>
            <a:ext cx="8571635" cy="4409063"/>
            <a:chOff x="152400" y="1322605"/>
            <a:chExt cx="8571635" cy="4409063"/>
          </a:xfrm>
        </p:grpSpPr>
        <p:sp>
          <p:nvSpPr>
            <p:cNvPr id="1128" name="Rectángulo 1127">
              <a:extLst>
                <a:ext uri="{FF2B5EF4-FFF2-40B4-BE49-F238E27FC236}">
                  <a16:creationId xmlns:a16="http://schemas.microsoft.com/office/drawing/2014/main" id="{C2EB08BE-8DFF-5583-9F4E-73907A7C262F}"/>
                </a:ext>
              </a:extLst>
            </p:cNvPr>
            <p:cNvSpPr/>
            <p:nvPr/>
          </p:nvSpPr>
          <p:spPr>
            <a:xfrm>
              <a:off x="152400" y="1322605"/>
              <a:ext cx="8571635" cy="44090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DO">
                <a:latin typeface="Aptos" panose="020B0004020202020204" pitchFamily="34" charset="0"/>
              </a:endParaRPr>
            </a:p>
          </p:txBody>
        </p:sp>
        <p:sp>
          <p:nvSpPr>
            <p:cNvPr id="1129" name="TextBox 4">
              <a:extLst>
                <a:ext uri="{FF2B5EF4-FFF2-40B4-BE49-F238E27FC236}">
                  <a16:creationId xmlns:a16="http://schemas.microsoft.com/office/drawing/2014/main" id="{075E5B6D-6B91-2B32-AB21-85D89C3F760A}"/>
                </a:ext>
              </a:extLst>
            </p:cNvPr>
            <p:cNvSpPr txBox="1"/>
            <p:nvPr/>
          </p:nvSpPr>
          <p:spPr>
            <a:xfrm>
              <a:off x="479196" y="1333500"/>
              <a:ext cx="2377440" cy="731520"/>
            </a:xfrm>
            <a:prstGeom prst="round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  <a:r>
                <a:rPr lang="en-US" sz="1599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rPr>
                <a:t>País</a:t>
              </a:r>
            </a:p>
          </p:txBody>
        </p:sp>
        <p:grpSp>
          <p:nvGrpSpPr>
            <p:cNvPr id="1130" name="Group 15">
              <a:extLst>
                <a:ext uri="{FF2B5EF4-FFF2-40B4-BE49-F238E27FC236}">
                  <a16:creationId xmlns:a16="http://schemas.microsoft.com/office/drawing/2014/main" id="{45B51B0E-1420-D082-58A5-046687A3F85D}"/>
                </a:ext>
              </a:extLst>
            </p:cNvPr>
            <p:cNvGrpSpPr/>
            <p:nvPr/>
          </p:nvGrpSpPr>
          <p:grpSpPr>
            <a:xfrm>
              <a:off x="152400" y="1333500"/>
              <a:ext cx="8571634" cy="493954"/>
              <a:chOff x="-2" y="-28575"/>
              <a:chExt cx="4866538" cy="809183"/>
            </a:xfrm>
          </p:grpSpPr>
          <p:sp>
            <p:nvSpPr>
              <p:cNvPr id="1164" name="Freeform 16">
                <a:extLst>
                  <a:ext uri="{FF2B5EF4-FFF2-40B4-BE49-F238E27FC236}">
                    <a16:creationId xmlns:a16="http://schemas.microsoft.com/office/drawing/2014/main" id="{66769889-8500-C3C4-DA03-D4D6AF06D4A3}"/>
                  </a:ext>
                </a:extLst>
              </p:cNvPr>
              <p:cNvSpPr/>
              <p:nvPr/>
            </p:nvSpPr>
            <p:spPr>
              <a:xfrm>
                <a:off x="-2" y="1"/>
                <a:ext cx="4866538" cy="780607"/>
              </a:xfrm>
              <a:custGeom>
                <a:avLst/>
                <a:gdLst/>
                <a:ahLst/>
                <a:cxnLst/>
                <a:rect l="l" t="t" r="r" b="b"/>
                <a:pathLst>
                  <a:path w="4741590" h="780608">
                    <a:moveTo>
                      <a:pt x="0" y="0"/>
                    </a:moveTo>
                    <a:lnTo>
                      <a:pt x="4741590" y="0"/>
                    </a:lnTo>
                    <a:lnTo>
                      <a:pt x="4741590" y="780608"/>
                    </a:lnTo>
                    <a:lnTo>
                      <a:pt x="0" y="780608"/>
                    </a:lnTo>
                    <a:close/>
                  </a:path>
                </a:pathLst>
              </a:custGeom>
              <a:solidFill>
                <a:srgbClr val="0E73C3"/>
              </a:solidFill>
            </p:spPr>
            <p:txBody>
              <a:bodyPr/>
              <a:lstStyle/>
              <a:p>
                <a:endParaRPr lang="es-DO">
                  <a:latin typeface="Aptos" panose="020B0004020202020204" pitchFamily="34" charset="0"/>
                </a:endParaRPr>
              </a:p>
            </p:txBody>
          </p:sp>
          <p:sp>
            <p:nvSpPr>
              <p:cNvPr id="1165" name="TextBox 17">
                <a:extLst>
                  <a:ext uri="{FF2B5EF4-FFF2-40B4-BE49-F238E27FC236}">
                    <a16:creationId xmlns:a16="http://schemas.microsoft.com/office/drawing/2014/main" id="{869BD00A-00DA-BFEF-825D-CE2D7823A67B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4866536" cy="77099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1" indent="0" algn="ctr">
                  <a:lnSpc>
                    <a:spcPts val="2267"/>
                  </a:lnSpc>
                  <a:spcBef>
                    <a:spcPct val="0"/>
                  </a:spcBef>
                </a:pPr>
                <a:r>
                  <a:rPr lang="es-DO" sz="1619" b="1" u="none" strike="noStrike" spc="68" dirty="0">
                    <a:solidFill>
                      <a:srgbClr val="FFFFFF"/>
                    </a:solidFill>
                    <a:latin typeface="Aptos" panose="020B0004020202020204" pitchFamily="34" charset="0"/>
                    <a:ea typeface="Canva Sans"/>
                    <a:cs typeface="Canva Sans"/>
                    <a:sym typeface="Canva Sans"/>
                  </a:rPr>
                  <a:t>Géneros con mayor </a:t>
                </a:r>
                <a:r>
                  <a:rPr lang="es-DO" sz="1619" b="1" spc="68" dirty="0">
                    <a:solidFill>
                      <a:srgbClr val="FFFFFF"/>
                    </a:solidFill>
                    <a:latin typeface="Aptos" panose="020B0004020202020204" pitchFamily="34" charset="0"/>
                    <a:ea typeface="Canva Sans"/>
                    <a:cs typeface="Canva Sans"/>
                    <a:sym typeface="Canva Sans"/>
                  </a:rPr>
                  <a:t>CT</a:t>
                </a:r>
                <a:r>
                  <a:rPr lang="es-DO" sz="1619" b="1" u="none" strike="noStrike" spc="68" dirty="0">
                    <a:solidFill>
                      <a:srgbClr val="FFFFFF"/>
                    </a:solidFill>
                    <a:latin typeface="Aptos" panose="020B0004020202020204" pitchFamily="34" charset="0"/>
                    <a:ea typeface="Canva Sans"/>
                    <a:cs typeface="Canva Sans"/>
                    <a:sym typeface="Canva Sans"/>
                  </a:rPr>
                  <a:t>R por país</a:t>
                </a:r>
              </a:p>
            </p:txBody>
          </p:sp>
        </p:grpSp>
        <p:grpSp>
          <p:nvGrpSpPr>
            <p:cNvPr id="1131" name="Group 5">
              <a:extLst>
                <a:ext uri="{FF2B5EF4-FFF2-40B4-BE49-F238E27FC236}">
                  <a16:creationId xmlns:a16="http://schemas.microsoft.com/office/drawing/2014/main" id="{CF7FC141-8F18-5D82-FC90-D02A9680068C}"/>
                </a:ext>
              </a:extLst>
            </p:cNvPr>
            <p:cNvGrpSpPr/>
            <p:nvPr/>
          </p:nvGrpSpPr>
          <p:grpSpPr>
            <a:xfrm>
              <a:off x="5486603" y="1790700"/>
              <a:ext cx="2377440" cy="731520"/>
              <a:chOff x="-21207" y="-38100"/>
              <a:chExt cx="851044" cy="256414"/>
            </a:xfrm>
          </p:grpSpPr>
          <p:sp>
            <p:nvSpPr>
              <p:cNvPr id="1162" name="Freeform 6">
                <a:extLst>
                  <a:ext uri="{FF2B5EF4-FFF2-40B4-BE49-F238E27FC236}">
                    <a16:creationId xmlns:a16="http://schemas.microsoft.com/office/drawing/2014/main" id="{896E1402-81AA-7DF9-980C-65A346F60FD0}"/>
                  </a:ext>
                </a:extLst>
              </p:cNvPr>
              <p:cNvSpPr/>
              <p:nvPr/>
            </p:nvSpPr>
            <p:spPr>
              <a:xfrm>
                <a:off x="-21207" y="16250"/>
                <a:ext cx="829837" cy="176591"/>
              </a:xfrm>
              <a:prstGeom prst="roundRect">
                <a:avLst/>
              </a:prstGeom>
              <a:solidFill>
                <a:srgbClr val="1C3F60"/>
              </a:solidFill>
            </p:spPr>
            <p:txBody>
              <a:bodyPr anchor="ctr"/>
              <a:lstStyle/>
              <a:p>
                <a:pPr algn="ctr"/>
                <a:r>
                  <a:rPr lang="en-US" sz="1600" spc="6" dirty="0">
                    <a:solidFill>
                      <a:srgbClr val="F3F6FA"/>
                    </a:solidFill>
                    <a:latin typeface="Aptos" panose="020B0004020202020204" pitchFamily="34" charset="0"/>
                    <a:ea typeface="Barlow"/>
                    <a:cs typeface="Barlow"/>
                    <a:sym typeface="Barlow"/>
                  </a:rPr>
                  <a:t>CTR </a:t>
                </a:r>
              </a:p>
            </p:txBody>
          </p:sp>
          <p:sp>
            <p:nvSpPr>
              <p:cNvPr id="1163" name="TextBox 7">
                <a:extLst>
                  <a:ext uri="{FF2B5EF4-FFF2-40B4-BE49-F238E27FC236}">
                    <a16:creationId xmlns:a16="http://schemas.microsoft.com/office/drawing/2014/main" id="{4B1FD5E9-3F07-135D-230E-46E814C2088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29837" cy="256414"/>
              </a:xfrm>
              <a:prstGeom prst="round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spcBef>
                    <a:spcPct val="0"/>
                  </a:spcBef>
                </a:pPr>
                <a:endParaRPr lang="en-US" sz="1599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endParaRPr>
              </a:p>
            </p:txBody>
          </p:sp>
        </p:grpSp>
        <p:grpSp>
          <p:nvGrpSpPr>
            <p:cNvPr id="1132" name="Group 5">
              <a:extLst>
                <a:ext uri="{FF2B5EF4-FFF2-40B4-BE49-F238E27FC236}">
                  <a16:creationId xmlns:a16="http://schemas.microsoft.com/office/drawing/2014/main" id="{FA10D918-57A1-30E2-B242-3EACF74EAC7E}"/>
                </a:ext>
              </a:extLst>
            </p:cNvPr>
            <p:cNvGrpSpPr/>
            <p:nvPr/>
          </p:nvGrpSpPr>
          <p:grpSpPr>
            <a:xfrm>
              <a:off x="3010002" y="1790700"/>
              <a:ext cx="2377440" cy="731520"/>
              <a:chOff x="-21207" y="-38100"/>
              <a:chExt cx="851044" cy="256414"/>
            </a:xfrm>
          </p:grpSpPr>
          <p:sp>
            <p:nvSpPr>
              <p:cNvPr id="1160" name="Freeform 6">
                <a:extLst>
                  <a:ext uri="{FF2B5EF4-FFF2-40B4-BE49-F238E27FC236}">
                    <a16:creationId xmlns:a16="http://schemas.microsoft.com/office/drawing/2014/main" id="{76740658-2B48-DC08-DBCA-C9A5486A2FD0}"/>
                  </a:ext>
                </a:extLst>
              </p:cNvPr>
              <p:cNvSpPr/>
              <p:nvPr/>
            </p:nvSpPr>
            <p:spPr>
              <a:xfrm>
                <a:off x="-21207" y="16250"/>
                <a:ext cx="829837" cy="176591"/>
              </a:xfrm>
              <a:prstGeom prst="roundRect">
                <a:avLst/>
              </a:prstGeom>
              <a:solidFill>
                <a:srgbClr val="1C3F60"/>
              </a:solidFill>
            </p:spPr>
            <p:txBody>
              <a:bodyPr anchor="ctr"/>
              <a:lstStyle/>
              <a:p>
                <a:pPr algn="ctr"/>
                <a:r>
                  <a:rPr lang="en-US" sz="1600" spc="6" dirty="0" err="1">
                    <a:solidFill>
                      <a:srgbClr val="F3F6FA"/>
                    </a:solidFill>
                    <a:latin typeface="Aptos" panose="020B0004020202020204" pitchFamily="34" charset="0"/>
                    <a:ea typeface="Barlow"/>
                    <a:cs typeface="Barlow"/>
                    <a:sym typeface="Barlow"/>
                  </a:rPr>
                  <a:t>Género</a:t>
                </a:r>
                <a:endParaRPr lang="en-US" sz="1600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1161" name="TextBox 7">
                <a:extLst>
                  <a:ext uri="{FF2B5EF4-FFF2-40B4-BE49-F238E27FC236}">
                    <a16:creationId xmlns:a16="http://schemas.microsoft.com/office/drawing/2014/main" id="{AEBEA705-CA5E-55B3-E53E-1F5543F1EFA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29837" cy="256414"/>
              </a:xfrm>
              <a:prstGeom prst="round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spcBef>
                    <a:spcPct val="0"/>
                  </a:spcBef>
                </a:pPr>
                <a:endParaRPr lang="en-US" sz="1599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endParaRPr>
              </a:p>
            </p:txBody>
          </p:sp>
        </p:grpSp>
        <p:grpSp>
          <p:nvGrpSpPr>
            <p:cNvPr id="1133" name="Group 5">
              <a:extLst>
                <a:ext uri="{FF2B5EF4-FFF2-40B4-BE49-F238E27FC236}">
                  <a16:creationId xmlns:a16="http://schemas.microsoft.com/office/drawing/2014/main" id="{7719D6A1-C289-8305-7A0F-F5489CEB4CC4}"/>
                </a:ext>
              </a:extLst>
            </p:cNvPr>
            <p:cNvGrpSpPr/>
            <p:nvPr/>
          </p:nvGrpSpPr>
          <p:grpSpPr>
            <a:xfrm>
              <a:off x="533400" y="1790700"/>
              <a:ext cx="2377440" cy="731520"/>
              <a:chOff x="-21207" y="-38100"/>
              <a:chExt cx="851044" cy="256414"/>
            </a:xfrm>
          </p:grpSpPr>
          <p:sp>
            <p:nvSpPr>
              <p:cNvPr id="1158" name="Freeform 6">
                <a:extLst>
                  <a:ext uri="{FF2B5EF4-FFF2-40B4-BE49-F238E27FC236}">
                    <a16:creationId xmlns:a16="http://schemas.microsoft.com/office/drawing/2014/main" id="{43408C20-2B06-3ABA-8547-53E28BE9F9DE}"/>
                  </a:ext>
                </a:extLst>
              </p:cNvPr>
              <p:cNvSpPr/>
              <p:nvPr/>
            </p:nvSpPr>
            <p:spPr>
              <a:xfrm>
                <a:off x="-21207" y="16250"/>
                <a:ext cx="829837" cy="176591"/>
              </a:xfrm>
              <a:prstGeom prst="roundRect">
                <a:avLst/>
              </a:prstGeom>
              <a:solidFill>
                <a:srgbClr val="1C3F60"/>
              </a:solidFill>
            </p:spPr>
            <p:txBody>
              <a:bodyPr anchor="ctr"/>
              <a:lstStyle/>
              <a:p>
                <a:pPr algn="ctr"/>
                <a:r>
                  <a:rPr lang="en-US" sz="1600" spc="6" dirty="0">
                    <a:solidFill>
                      <a:srgbClr val="F3F6FA"/>
                    </a:solidFill>
                    <a:latin typeface="Aptos" panose="020B0004020202020204" pitchFamily="34" charset="0"/>
                    <a:ea typeface="Barlow"/>
                    <a:cs typeface="Barlow"/>
                    <a:sym typeface="Barlow"/>
                  </a:rPr>
                  <a:t>Pa</a:t>
                </a:r>
                <a:r>
                  <a:rPr lang="es-DO" sz="1600" spc="6" dirty="0" err="1">
                    <a:solidFill>
                      <a:srgbClr val="F3F6FA"/>
                    </a:solidFill>
                    <a:latin typeface="Aptos" panose="020B0004020202020204" pitchFamily="34" charset="0"/>
                    <a:ea typeface="Barlow"/>
                    <a:cs typeface="Barlow"/>
                    <a:sym typeface="Barlow"/>
                  </a:rPr>
                  <a:t>ís</a:t>
                </a:r>
                <a:endParaRPr lang="en-US" sz="1600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1159" name="TextBox 7">
                <a:extLst>
                  <a:ext uri="{FF2B5EF4-FFF2-40B4-BE49-F238E27FC236}">
                    <a16:creationId xmlns:a16="http://schemas.microsoft.com/office/drawing/2014/main" id="{ACABD9BA-B745-0997-5C35-6BE061E5565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29837" cy="256414"/>
              </a:xfrm>
              <a:prstGeom prst="round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spcBef>
                    <a:spcPct val="0"/>
                  </a:spcBef>
                </a:pPr>
                <a:endParaRPr lang="en-US" sz="1599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endParaRPr>
              </a:p>
            </p:txBody>
          </p:sp>
        </p:grpSp>
        <p:grpSp>
          <p:nvGrpSpPr>
            <p:cNvPr id="1134" name="Group 5">
              <a:extLst>
                <a:ext uri="{FF2B5EF4-FFF2-40B4-BE49-F238E27FC236}">
                  <a16:creationId xmlns:a16="http://schemas.microsoft.com/office/drawing/2014/main" id="{7197CD57-27F4-70D7-ACE7-3A5E45B148B4}"/>
                </a:ext>
              </a:extLst>
            </p:cNvPr>
            <p:cNvGrpSpPr/>
            <p:nvPr/>
          </p:nvGrpSpPr>
          <p:grpSpPr>
            <a:xfrm>
              <a:off x="533400" y="2354580"/>
              <a:ext cx="2377440" cy="731520"/>
              <a:chOff x="-21207" y="-38100"/>
              <a:chExt cx="851044" cy="256414"/>
            </a:xfrm>
          </p:grpSpPr>
          <p:sp>
            <p:nvSpPr>
              <p:cNvPr id="1156" name="Freeform 6">
                <a:extLst>
                  <a:ext uri="{FF2B5EF4-FFF2-40B4-BE49-F238E27FC236}">
                    <a16:creationId xmlns:a16="http://schemas.microsoft.com/office/drawing/2014/main" id="{7B75E227-E6FE-0609-AB9A-2E90BFB648BB}"/>
                  </a:ext>
                </a:extLst>
              </p:cNvPr>
              <p:cNvSpPr/>
              <p:nvPr/>
            </p:nvSpPr>
            <p:spPr>
              <a:xfrm>
                <a:off x="-21207" y="16250"/>
                <a:ext cx="829837" cy="176591"/>
              </a:xfrm>
              <a:prstGeom prst="roundRect">
                <a:avLst/>
              </a:prstGeom>
              <a:solidFill>
                <a:srgbClr val="1C3F60"/>
              </a:solidFill>
            </p:spPr>
            <p:txBody>
              <a:bodyPr anchor="ctr"/>
              <a:lstStyle/>
              <a:p>
                <a:pPr algn="ctr"/>
                <a:r>
                  <a:rPr lang="en-US" sz="1600" spc="6" dirty="0">
                    <a:solidFill>
                      <a:srgbClr val="F3F6FA"/>
                    </a:solidFill>
                    <a:latin typeface="Aptos" panose="020B0004020202020204" pitchFamily="34" charset="0"/>
                    <a:ea typeface="Barlow"/>
                    <a:cs typeface="Barlow"/>
                    <a:sym typeface="Barlow"/>
                  </a:rPr>
                  <a:t>EU</a:t>
                </a:r>
              </a:p>
            </p:txBody>
          </p:sp>
          <p:sp>
            <p:nvSpPr>
              <p:cNvPr id="1157" name="TextBox 7">
                <a:extLst>
                  <a:ext uri="{FF2B5EF4-FFF2-40B4-BE49-F238E27FC236}">
                    <a16:creationId xmlns:a16="http://schemas.microsoft.com/office/drawing/2014/main" id="{BFC2C7A2-6400-F3CE-1E47-CE5ECB67C57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29837" cy="256414"/>
              </a:xfrm>
              <a:prstGeom prst="round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spcBef>
                    <a:spcPct val="0"/>
                  </a:spcBef>
                </a:pPr>
                <a:endParaRPr lang="en-US" sz="1599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endParaRPr>
              </a:p>
            </p:txBody>
          </p:sp>
        </p:grpSp>
        <p:sp>
          <p:nvSpPr>
            <p:cNvPr id="1135" name="Freeform 6">
              <a:extLst>
                <a:ext uri="{FF2B5EF4-FFF2-40B4-BE49-F238E27FC236}">
                  <a16:creationId xmlns:a16="http://schemas.microsoft.com/office/drawing/2014/main" id="{1B0E161D-595C-4FE2-285E-E8F9A7C04CA5}"/>
                </a:ext>
              </a:extLst>
            </p:cNvPr>
            <p:cNvSpPr/>
            <p:nvPr/>
          </p:nvSpPr>
          <p:spPr>
            <a:xfrm>
              <a:off x="5471160" y="2509634"/>
              <a:ext cx="2318197" cy="503794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txBody>
            <a:bodyPr anchor="ctr"/>
            <a:lstStyle/>
            <a:p>
              <a:pPr algn="ctr"/>
              <a:r>
                <a:rPr lang="en-US" sz="1600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rPr>
                <a:t>2,613</a:t>
              </a:r>
            </a:p>
          </p:txBody>
        </p:sp>
        <p:sp>
          <p:nvSpPr>
            <p:cNvPr id="1136" name="Freeform 6">
              <a:extLst>
                <a:ext uri="{FF2B5EF4-FFF2-40B4-BE49-F238E27FC236}">
                  <a16:creationId xmlns:a16="http://schemas.microsoft.com/office/drawing/2014/main" id="{9BAFECD4-DC5A-2B98-9720-65BD32D46399}"/>
                </a:ext>
              </a:extLst>
            </p:cNvPr>
            <p:cNvSpPr/>
            <p:nvPr/>
          </p:nvSpPr>
          <p:spPr>
            <a:xfrm>
              <a:off x="2994559" y="2509635"/>
              <a:ext cx="2318197" cy="503794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txBody>
            <a:bodyPr anchor="ctr"/>
            <a:lstStyle/>
            <a:p>
              <a:pPr algn="ctr"/>
              <a:r>
                <a:rPr lang="en-US" sz="1600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rPr>
                <a:t>Travel</a:t>
              </a:r>
            </a:p>
          </p:txBody>
        </p:sp>
        <p:grpSp>
          <p:nvGrpSpPr>
            <p:cNvPr id="1137" name="Group 5">
              <a:extLst>
                <a:ext uri="{FF2B5EF4-FFF2-40B4-BE49-F238E27FC236}">
                  <a16:creationId xmlns:a16="http://schemas.microsoft.com/office/drawing/2014/main" id="{DA318AF5-0034-6ACC-624D-FD93C0F75740}"/>
                </a:ext>
              </a:extLst>
            </p:cNvPr>
            <p:cNvGrpSpPr/>
            <p:nvPr/>
          </p:nvGrpSpPr>
          <p:grpSpPr>
            <a:xfrm>
              <a:off x="533400" y="2933700"/>
              <a:ext cx="2377440" cy="731520"/>
              <a:chOff x="-21207" y="-38100"/>
              <a:chExt cx="851044" cy="256414"/>
            </a:xfrm>
          </p:grpSpPr>
          <p:sp>
            <p:nvSpPr>
              <p:cNvPr id="1154" name="Freeform 6">
                <a:extLst>
                  <a:ext uri="{FF2B5EF4-FFF2-40B4-BE49-F238E27FC236}">
                    <a16:creationId xmlns:a16="http://schemas.microsoft.com/office/drawing/2014/main" id="{750517EF-2354-3407-46AC-63B50F5CDD55}"/>
                  </a:ext>
                </a:extLst>
              </p:cNvPr>
              <p:cNvSpPr/>
              <p:nvPr/>
            </p:nvSpPr>
            <p:spPr>
              <a:xfrm>
                <a:off x="-21207" y="16250"/>
                <a:ext cx="829837" cy="176591"/>
              </a:xfrm>
              <a:prstGeom prst="roundRect">
                <a:avLst/>
              </a:prstGeom>
              <a:solidFill>
                <a:srgbClr val="1C3F60"/>
              </a:solidFill>
            </p:spPr>
            <p:txBody>
              <a:bodyPr anchor="ctr"/>
              <a:lstStyle/>
              <a:p>
                <a:pPr algn="ctr"/>
                <a:r>
                  <a:rPr lang="en-US" sz="1600" spc="6" dirty="0">
                    <a:solidFill>
                      <a:srgbClr val="F3F6FA"/>
                    </a:solidFill>
                    <a:latin typeface="Aptos" panose="020B0004020202020204" pitchFamily="34" charset="0"/>
                    <a:ea typeface="Barlow"/>
                    <a:cs typeface="Barlow"/>
                    <a:sym typeface="Barlow"/>
                  </a:rPr>
                  <a:t>USA</a:t>
                </a:r>
              </a:p>
            </p:txBody>
          </p:sp>
          <p:sp>
            <p:nvSpPr>
              <p:cNvPr id="1155" name="TextBox 7">
                <a:extLst>
                  <a:ext uri="{FF2B5EF4-FFF2-40B4-BE49-F238E27FC236}">
                    <a16:creationId xmlns:a16="http://schemas.microsoft.com/office/drawing/2014/main" id="{F7904CC1-31FC-E896-BDCE-AF38F745B41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29837" cy="256414"/>
              </a:xfrm>
              <a:prstGeom prst="round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spcBef>
                    <a:spcPct val="0"/>
                  </a:spcBef>
                </a:pPr>
                <a:endParaRPr lang="en-US" sz="1599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endParaRPr>
              </a:p>
            </p:txBody>
          </p:sp>
        </p:grpSp>
        <p:sp>
          <p:nvSpPr>
            <p:cNvPr id="1138" name="Freeform 6">
              <a:extLst>
                <a:ext uri="{FF2B5EF4-FFF2-40B4-BE49-F238E27FC236}">
                  <a16:creationId xmlns:a16="http://schemas.microsoft.com/office/drawing/2014/main" id="{46CF2608-D3E2-4332-0C22-8FEB9C5D0931}"/>
                </a:ext>
              </a:extLst>
            </p:cNvPr>
            <p:cNvSpPr/>
            <p:nvPr/>
          </p:nvSpPr>
          <p:spPr>
            <a:xfrm>
              <a:off x="5471160" y="3088754"/>
              <a:ext cx="2318197" cy="503794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txBody>
            <a:bodyPr anchor="ctr"/>
            <a:lstStyle/>
            <a:p>
              <a:pPr algn="ctr"/>
              <a:r>
                <a:rPr lang="en-US" sz="1600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rPr>
                <a:t>2,051</a:t>
              </a:r>
            </a:p>
          </p:txBody>
        </p:sp>
        <p:sp>
          <p:nvSpPr>
            <p:cNvPr id="1139" name="Freeform 6">
              <a:extLst>
                <a:ext uri="{FF2B5EF4-FFF2-40B4-BE49-F238E27FC236}">
                  <a16:creationId xmlns:a16="http://schemas.microsoft.com/office/drawing/2014/main" id="{DE7DEBA0-5FEA-2357-CC31-90AEB9204D3C}"/>
                </a:ext>
              </a:extLst>
            </p:cNvPr>
            <p:cNvSpPr/>
            <p:nvPr/>
          </p:nvSpPr>
          <p:spPr>
            <a:xfrm>
              <a:off x="2994559" y="3088755"/>
              <a:ext cx="2318197" cy="503794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txBody>
            <a:bodyPr anchor="ctr"/>
            <a:lstStyle/>
            <a:p>
              <a:pPr algn="ctr"/>
              <a:r>
                <a:rPr lang="en-US" sz="1600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rPr>
                <a:t>Travel</a:t>
              </a:r>
            </a:p>
          </p:txBody>
        </p:sp>
        <p:grpSp>
          <p:nvGrpSpPr>
            <p:cNvPr id="1140" name="Group 5">
              <a:extLst>
                <a:ext uri="{FF2B5EF4-FFF2-40B4-BE49-F238E27FC236}">
                  <a16:creationId xmlns:a16="http://schemas.microsoft.com/office/drawing/2014/main" id="{51F01FDE-22E4-1994-DC18-181A9A074232}"/>
                </a:ext>
              </a:extLst>
            </p:cNvPr>
            <p:cNvGrpSpPr/>
            <p:nvPr/>
          </p:nvGrpSpPr>
          <p:grpSpPr>
            <a:xfrm>
              <a:off x="533400" y="3467100"/>
              <a:ext cx="2377440" cy="731520"/>
              <a:chOff x="-21207" y="-38100"/>
              <a:chExt cx="851044" cy="256414"/>
            </a:xfrm>
          </p:grpSpPr>
          <p:sp>
            <p:nvSpPr>
              <p:cNvPr id="1152" name="Freeform 6">
                <a:extLst>
                  <a:ext uri="{FF2B5EF4-FFF2-40B4-BE49-F238E27FC236}">
                    <a16:creationId xmlns:a16="http://schemas.microsoft.com/office/drawing/2014/main" id="{5BD21018-57A7-A10D-7E22-DC440898C331}"/>
                  </a:ext>
                </a:extLst>
              </p:cNvPr>
              <p:cNvSpPr/>
              <p:nvPr/>
            </p:nvSpPr>
            <p:spPr>
              <a:xfrm>
                <a:off x="-21207" y="16250"/>
                <a:ext cx="829837" cy="176591"/>
              </a:xfrm>
              <a:prstGeom prst="roundRect">
                <a:avLst/>
              </a:prstGeom>
              <a:solidFill>
                <a:srgbClr val="1C3F60"/>
              </a:solidFill>
            </p:spPr>
            <p:txBody>
              <a:bodyPr anchor="ctr"/>
              <a:lstStyle/>
              <a:p>
                <a:pPr algn="ctr"/>
                <a:r>
                  <a:rPr lang="en-US" sz="1600" spc="6" dirty="0" err="1">
                    <a:solidFill>
                      <a:srgbClr val="F3F6FA"/>
                    </a:solidFill>
                    <a:latin typeface="Aptos" panose="020B0004020202020204" pitchFamily="34" charset="0"/>
                    <a:ea typeface="Barlow"/>
                    <a:cs typeface="Barlow"/>
                    <a:sym typeface="Barlow"/>
                  </a:rPr>
                  <a:t>Japón</a:t>
                </a:r>
                <a:endParaRPr lang="en-US" sz="1600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1153" name="TextBox 7">
                <a:extLst>
                  <a:ext uri="{FF2B5EF4-FFF2-40B4-BE49-F238E27FC236}">
                    <a16:creationId xmlns:a16="http://schemas.microsoft.com/office/drawing/2014/main" id="{871B83DF-9C27-612B-0C08-F95C787DACB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29837" cy="256414"/>
              </a:xfrm>
              <a:prstGeom prst="round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spcBef>
                    <a:spcPct val="0"/>
                  </a:spcBef>
                </a:pPr>
                <a:endParaRPr lang="en-US" sz="1599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endParaRPr>
              </a:p>
            </p:txBody>
          </p:sp>
        </p:grpSp>
        <p:sp>
          <p:nvSpPr>
            <p:cNvPr id="1141" name="Freeform 6">
              <a:extLst>
                <a:ext uri="{FF2B5EF4-FFF2-40B4-BE49-F238E27FC236}">
                  <a16:creationId xmlns:a16="http://schemas.microsoft.com/office/drawing/2014/main" id="{27AF51FA-BB5B-9D40-C38F-B512052775AA}"/>
                </a:ext>
              </a:extLst>
            </p:cNvPr>
            <p:cNvSpPr/>
            <p:nvPr/>
          </p:nvSpPr>
          <p:spPr>
            <a:xfrm>
              <a:off x="5471160" y="3622154"/>
              <a:ext cx="2318197" cy="503794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txBody>
            <a:bodyPr anchor="ctr"/>
            <a:lstStyle/>
            <a:p>
              <a:pPr algn="ctr"/>
              <a:r>
                <a:rPr lang="en-US" sz="1600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rPr>
                <a:t>1,807</a:t>
              </a:r>
            </a:p>
          </p:txBody>
        </p:sp>
        <p:sp>
          <p:nvSpPr>
            <p:cNvPr id="1142" name="Freeform 6">
              <a:extLst>
                <a:ext uri="{FF2B5EF4-FFF2-40B4-BE49-F238E27FC236}">
                  <a16:creationId xmlns:a16="http://schemas.microsoft.com/office/drawing/2014/main" id="{9781F4B5-5671-DB3C-E713-556CC9080AB7}"/>
                </a:ext>
              </a:extLst>
            </p:cNvPr>
            <p:cNvSpPr/>
            <p:nvPr/>
          </p:nvSpPr>
          <p:spPr>
            <a:xfrm>
              <a:off x="2994559" y="3622155"/>
              <a:ext cx="2318197" cy="503794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txBody>
            <a:bodyPr anchor="ctr"/>
            <a:lstStyle/>
            <a:p>
              <a:pPr algn="ctr"/>
              <a:r>
                <a:rPr lang="en-US" sz="1600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rPr>
                <a:t>Travel</a:t>
              </a:r>
            </a:p>
          </p:txBody>
        </p:sp>
        <p:grpSp>
          <p:nvGrpSpPr>
            <p:cNvPr id="1143" name="Group 5">
              <a:extLst>
                <a:ext uri="{FF2B5EF4-FFF2-40B4-BE49-F238E27FC236}">
                  <a16:creationId xmlns:a16="http://schemas.microsoft.com/office/drawing/2014/main" id="{B8ADC530-406A-1B94-F518-EB9E82AEAD26}"/>
                </a:ext>
              </a:extLst>
            </p:cNvPr>
            <p:cNvGrpSpPr/>
            <p:nvPr/>
          </p:nvGrpSpPr>
          <p:grpSpPr>
            <a:xfrm>
              <a:off x="533400" y="4046220"/>
              <a:ext cx="2377440" cy="731520"/>
              <a:chOff x="-21207" y="-38100"/>
              <a:chExt cx="851044" cy="256414"/>
            </a:xfrm>
          </p:grpSpPr>
          <p:sp>
            <p:nvSpPr>
              <p:cNvPr id="1150" name="Freeform 6">
                <a:extLst>
                  <a:ext uri="{FF2B5EF4-FFF2-40B4-BE49-F238E27FC236}">
                    <a16:creationId xmlns:a16="http://schemas.microsoft.com/office/drawing/2014/main" id="{2AC22B0A-C56A-77C1-5C1A-DD2B9515AF5A}"/>
                  </a:ext>
                </a:extLst>
              </p:cNvPr>
              <p:cNvSpPr/>
              <p:nvPr/>
            </p:nvSpPr>
            <p:spPr>
              <a:xfrm>
                <a:off x="-21207" y="16250"/>
                <a:ext cx="829837" cy="176591"/>
              </a:xfrm>
              <a:prstGeom prst="roundRect">
                <a:avLst/>
              </a:prstGeom>
              <a:solidFill>
                <a:srgbClr val="1C3F60"/>
              </a:solidFill>
            </p:spPr>
            <p:txBody>
              <a:bodyPr anchor="ctr"/>
              <a:lstStyle/>
              <a:p>
                <a:pPr algn="ctr"/>
                <a:r>
                  <a:rPr lang="en-US" sz="1600" spc="6" dirty="0" err="1">
                    <a:solidFill>
                      <a:srgbClr val="F3F6FA"/>
                    </a:solidFill>
                    <a:latin typeface="Aptos" panose="020B0004020202020204" pitchFamily="34" charset="0"/>
                    <a:ea typeface="Barlow"/>
                    <a:cs typeface="Barlow"/>
                    <a:sym typeface="Barlow"/>
                  </a:rPr>
                  <a:t>Brasil</a:t>
                </a:r>
                <a:endParaRPr lang="en-US" sz="1600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1151" name="TextBox 7">
                <a:extLst>
                  <a:ext uri="{FF2B5EF4-FFF2-40B4-BE49-F238E27FC236}">
                    <a16:creationId xmlns:a16="http://schemas.microsoft.com/office/drawing/2014/main" id="{F8D41851-C709-E49B-6B72-110074B5A75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29837" cy="256414"/>
              </a:xfrm>
              <a:prstGeom prst="round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spcBef>
                    <a:spcPct val="0"/>
                  </a:spcBef>
                </a:pPr>
                <a:endParaRPr lang="en-US" sz="1599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endParaRPr>
              </a:p>
            </p:txBody>
          </p:sp>
        </p:grpSp>
        <p:sp>
          <p:nvSpPr>
            <p:cNvPr id="1144" name="Freeform 6">
              <a:extLst>
                <a:ext uri="{FF2B5EF4-FFF2-40B4-BE49-F238E27FC236}">
                  <a16:creationId xmlns:a16="http://schemas.microsoft.com/office/drawing/2014/main" id="{BE673FB9-097D-6937-1A9A-193F43AB3311}"/>
                </a:ext>
              </a:extLst>
            </p:cNvPr>
            <p:cNvSpPr/>
            <p:nvPr/>
          </p:nvSpPr>
          <p:spPr>
            <a:xfrm>
              <a:off x="5471160" y="4201274"/>
              <a:ext cx="2318197" cy="503794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txBody>
            <a:bodyPr anchor="ctr"/>
            <a:lstStyle/>
            <a:p>
              <a:pPr algn="ctr"/>
              <a:r>
                <a:rPr lang="en-US" sz="1600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rPr>
                <a:t>883</a:t>
              </a:r>
            </a:p>
          </p:txBody>
        </p:sp>
        <p:sp>
          <p:nvSpPr>
            <p:cNvPr id="1145" name="Freeform 6">
              <a:extLst>
                <a:ext uri="{FF2B5EF4-FFF2-40B4-BE49-F238E27FC236}">
                  <a16:creationId xmlns:a16="http://schemas.microsoft.com/office/drawing/2014/main" id="{15098AC0-9707-EE5E-BFDB-12992AFB70F3}"/>
                </a:ext>
              </a:extLst>
            </p:cNvPr>
            <p:cNvSpPr/>
            <p:nvPr/>
          </p:nvSpPr>
          <p:spPr>
            <a:xfrm>
              <a:off x="2994559" y="4201275"/>
              <a:ext cx="2318197" cy="503794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txBody>
            <a:bodyPr anchor="ctr"/>
            <a:lstStyle/>
            <a:p>
              <a:pPr algn="ctr"/>
              <a:r>
                <a:rPr lang="en-US" sz="1600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rPr>
                <a:t>Travel</a:t>
              </a:r>
            </a:p>
          </p:txBody>
        </p:sp>
        <p:grpSp>
          <p:nvGrpSpPr>
            <p:cNvPr id="1146" name="Grupo 1145">
              <a:extLst>
                <a:ext uri="{FF2B5EF4-FFF2-40B4-BE49-F238E27FC236}">
                  <a16:creationId xmlns:a16="http://schemas.microsoft.com/office/drawing/2014/main" id="{A8D976D8-3316-96AF-B5EE-14F508C41990}"/>
                </a:ext>
              </a:extLst>
            </p:cNvPr>
            <p:cNvGrpSpPr/>
            <p:nvPr/>
          </p:nvGrpSpPr>
          <p:grpSpPr>
            <a:xfrm>
              <a:off x="544508" y="4819393"/>
              <a:ext cx="7761292" cy="708349"/>
              <a:chOff x="544508" y="4792105"/>
              <a:chExt cx="7837492" cy="748907"/>
            </a:xfrm>
          </p:grpSpPr>
          <p:sp>
            <p:nvSpPr>
              <p:cNvPr id="1147" name="Rectángulo: esquinas redondeadas 1146">
                <a:extLst>
                  <a:ext uri="{FF2B5EF4-FFF2-40B4-BE49-F238E27FC236}">
                    <a16:creationId xmlns:a16="http://schemas.microsoft.com/office/drawing/2014/main" id="{C5AE7C9A-59D3-6CC5-C65F-F26EBFA094F2}"/>
                  </a:ext>
                </a:extLst>
              </p:cNvPr>
              <p:cNvSpPr/>
              <p:nvPr/>
            </p:nvSpPr>
            <p:spPr>
              <a:xfrm>
                <a:off x="544508" y="4792105"/>
                <a:ext cx="7837492" cy="748907"/>
              </a:xfrm>
              <a:prstGeom prst="roundRect">
                <a:avLst/>
              </a:prstGeom>
              <a:solidFill>
                <a:srgbClr val="FFC000">
                  <a:alpha val="5000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DO" dirty="0">
                  <a:latin typeface="Aptos" panose="020B0004020202020204" pitchFamily="34" charset="0"/>
                </a:endParaRPr>
              </a:p>
            </p:txBody>
          </p:sp>
          <p:pic>
            <p:nvPicPr>
              <p:cNvPr id="1148" name="Picture 2" descr="Bombilla - Iconos gratis de tecnología">
                <a:extLst>
                  <a:ext uri="{FF2B5EF4-FFF2-40B4-BE49-F238E27FC236}">
                    <a16:creationId xmlns:a16="http://schemas.microsoft.com/office/drawing/2014/main" id="{F5AE7C31-0C38-5CBB-C013-97857D498BC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92438" y="4877477"/>
                <a:ext cx="396032" cy="38347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149" name="TextBox 28">
                <a:extLst>
                  <a:ext uri="{FF2B5EF4-FFF2-40B4-BE49-F238E27FC236}">
                    <a16:creationId xmlns:a16="http://schemas.microsoft.com/office/drawing/2014/main" id="{1C0CECA7-2350-60D9-C76C-54FE4E9AF228}"/>
                  </a:ext>
                </a:extLst>
              </p:cNvPr>
              <p:cNvSpPr txBox="1"/>
              <p:nvPr/>
            </p:nvSpPr>
            <p:spPr>
              <a:xfrm>
                <a:off x="1084394" y="4867634"/>
                <a:ext cx="7040606" cy="306824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0" tIns="0" rIns="0" bIns="0" rtlCol="0" anchor="t">
                <a:spAutoFit/>
              </a:bodyPr>
              <a:lstStyle/>
              <a:p>
                <a:pPr algn="l">
                  <a:lnSpc>
                    <a:spcPts val="2464"/>
                  </a:lnSpc>
                </a:pPr>
                <a:r>
                  <a:rPr lang="es-DO" sz="1400" u="none" strike="noStrike" spc="73" dirty="0">
                    <a:solidFill>
                      <a:srgbClr val="000000"/>
                    </a:solidFill>
                    <a:latin typeface="Aptos" panose="020B0004020202020204" pitchFamily="34" charset="0"/>
                    <a:ea typeface="Canva Sans"/>
                    <a:cs typeface="Canva Sans"/>
                    <a:sym typeface="Canva Sans"/>
                  </a:rPr>
                  <a:t>Interés de los usuarios se concentran en el género ‘</a:t>
                </a:r>
                <a:r>
                  <a:rPr lang="es-DO" sz="1400" b="1" u="none" strike="noStrike" spc="73" dirty="0" err="1">
                    <a:solidFill>
                      <a:srgbClr val="000000"/>
                    </a:solidFill>
                    <a:latin typeface="Aptos" panose="020B0004020202020204" pitchFamily="34" charset="0"/>
                    <a:ea typeface="Canva Sans"/>
                    <a:cs typeface="Canva Sans"/>
                    <a:sym typeface="Canva Sans"/>
                  </a:rPr>
                  <a:t>Travel</a:t>
                </a:r>
                <a:r>
                  <a:rPr lang="es-DO" sz="1400" u="none" strike="noStrike" spc="73" dirty="0">
                    <a:solidFill>
                      <a:srgbClr val="000000"/>
                    </a:solidFill>
                    <a:latin typeface="Aptos" panose="020B0004020202020204" pitchFamily="34" charset="0"/>
                    <a:ea typeface="Canva Sans"/>
                    <a:cs typeface="Canva Sans"/>
                    <a:sym typeface="Canva Sans"/>
                  </a:rPr>
                  <a:t>’ con mayor </a:t>
                </a:r>
                <a:r>
                  <a:rPr lang="es-DO" sz="1400" b="1" u="none" strike="noStrike" spc="73" dirty="0">
                    <a:solidFill>
                      <a:srgbClr val="000000"/>
                    </a:solidFill>
                    <a:latin typeface="Aptos" panose="020B0004020202020204" pitchFamily="34" charset="0"/>
                    <a:ea typeface="Canva Sans"/>
                    <a:cs typeface="Canva Sans"/>
                    <a:sym typeface="Canva Sans"/>
                  </a:rPr>
                  <a:t>CTR</a:t>
                </a:r>
                <a:r>
                  <a:rPr lang="es-DO" sz="1400" u="none" strike="noStrike" spc="73" dirty="0">
                    <a:solidFill>
                      <a:srgbClr val="000000"/>
                    </a:solidFill>
                    <a:latin typeface="Aptos" panose="020B0004020202020204" pitchFamily="34" charset="0"/>
                    <a:ea typeface="Canva Sans"/>
                    <a:cs typeface="Canva Sans"/>
                    <a:sym typeface="Canva Sans"/>
                  </a:rPr>
                  <a:t> en </a:t>
                </a:r>
                <a:r>
                  <a:rPr lang="es-DO" sz="1400" b="1" u="none" strike="noStrike" spc="73" dirty="0">
                    <a:solidFill>
                      <a:srgbClr val="000000"/>
                    </a:solidFill>
                    <a:latin typeface="Aptos" panose="020B0004020202020204" pitchFamily="34" charset="0"/>
                    <a:ea typeface="Canva Sans"/>
                    <a:cs typeface="Canva Sans"/>
                    <a:sym typeface="Canva Sans"/>
                  </a:rPr>
                  <a:t>EU</a:t>
                </a:r>
                <a:r>
                  <a:rPr lang="es-DO" sz="1400" u="none" strike="noStrike" spc="73" dirty="0">
                    <a:solidFill>
                      <a:srgbClr val="000000"/>
                    </a:solidFill>
                    <a:latin typeface="Aptos" panose="020B0004020202020204" pitchFamily="34" charset="0"/>
                    <a:ea typeface="Canva Sans"/>
                    <a:cs typeface="Canva Sans"/>
                    <a:sym typeface="Canva Sans"/>
                  </a:rPr>
                  <a:t>.</a:t>
                </a:r>
                <a:endParaRPr lang="en-US" sz="1400" u="none" strike="noStrike" spc="73" dirty="0">
                  <a:solidFill>
                    <a:srgbClr val="000000"/>
                  </a:solidFill>
                  <a:latin typeface="Aptos" panose="020B0004020202020204" pitchFamily="34" charset="0"/>
                  <a:ea typeface="Canva Sans"/>
                  <a:cs typeface="Canva Sans"/>
                  <a:sym typeface="Canva Sans"/>
                </a:endParaRPr>
              </a:p>
            </p:txBody>
          </p:sp>
        </p:grpSp>
      </p:grpSp>
      <p:graphicFrame>
        <p:nvGraphicFramePr>
          <p:cNvPr id="1168" name="Gráfico 1167">
            <a:extLst>
              <a:ext uri="{FF2B5EF4-FFF2-40B4-BE49-F238E27FC236}">
                <a16:creationId xmlns:a16="http://schemas.microsoft.com/office/drawing/2014/main" id="{0CB12281-3B2D-7CE1-C090-3EA09094AA5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67982584"/>
              </p:ext>
            </p:extLst>
          </p:nvPr>
        </p:nvGraphicFramePr>
        <p:xfrm>
          <a:off x="10640619" y="2874167"/>
          <a:ext cx="7162801" cy="41211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1258" name="Picture 4" descr="Estrella - Iconos gratis de señales">
            <a:extLst>
              <a:ext uri="{FF2B5EF4-FFF2-40B4-BE49-F238E27FC236}">
                <a16:creationId xmlns:a16="http://schemas.microsoft.com/office/drawing/2014/main" id="{547B0A3A-C1AE-364D-1656-664C03F494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6580" y="6631729"/>
            <a:ext cx="503794" cy="503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60" name="CuadroTexto 1259">
            <a:extLst>
              <a:ext uri="{FF2B5EF4-FFF2-40B4-BE49-F238E27FC236}">
                <a16:creationId xmlns:a16="http://schemas.microsoft.com/office/drawing/2014/main" id="{901DD331-913F-C02B-3CA7-ECC51416D82B}"/>
              </a:ext>
            </a:extLst>
          </p:cNvPr>
          <p:cNvSpPr txBox="1"/>
          <p:nvPr/>
        </p:nvSpPr>
        <p:spPr>
          <a:xfrm>
            <a:off x="8361718" y="5234396"/>
            <a:ext cx="1143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i="1" spc="6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ea typeface="Barlow"/>
                <a:cs typeface="Barlow"/>
                <a:sym typeface="Barlow"/>
              </a:rPr>
              <a:t>*Por </a:t>
            </a:r>
            <a:r>
              <a:rPr lang="en-US" sz="1000" i="1" spc="6" dirty="0" err="1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ea typeface="Barlow"/>
                <a:cs typeface="Barlow"/>
                <a:sym typeface="Barlow"/>
              </a:rPr>
              <a:t>usuario</a:t>
            </a:r>
            <a:endParaRPr lang="es-DO" sz="1000" i="1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pic>
        <p:nvPicPr>
          <p:cNvPr id="1261" name="Picture 4" descr="Estrella - Iconos gratis de señales">
            <a:extLst>
              <a:ext uri="{FF2B5EF4-FFF2-40B4-BE49-F238E27FC236}">
                <a16:creationId xmlns:a16="http://schemas.microsoft.com/office/drawing/2014/main" id="{F90EA2B5-6ADB-E24E-003A-57A1B054E8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4807" y="2926425"/>
            <a:ext cx="503794" cy="503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2" name="Picture 4" descr="Estrella - Iconos gratis de señales">
            <a:extLst>
              <a:ext uri="{FF2B5EF4-FFF2-40B4-BE49-F238E27FC236}">
                <a16:creationId xmlns:a16="http://schemas.microsoft.com/office/drawing/2014/main" id="{7D47755D-1716-17BC-8D56-155F969226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2353706"/>
            <a:ext cx="503794" cy="503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0" y="9965159"/>
            <a:ext cx="18288000" cy="359941"/>
            <a:chOff x="0" y="0"/>
            <a:chExt cx="6941618" cy="13662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941617" cy="136624"/>
            </a:xfrm>
            <a:custGeom>
              <a:avLst/>
              <a:gdLst/>
              <a:ahLst/>
              <a:cxnLst/>
              <a:rect l="l" t="t" r="r" b="b"/>
              <a:pathLst>
                <a:path w="6941617" h="136624">
                  <a:moveTo>
                    <a:pt x="0" y="0"/>
                  </a:moveTo>
                  <a:lnTo>
                    <a:pt x="6941617" y="0"/>
                  </a:lnTo>
                  <a:lnTo>
                    <a:pt x="6941617" y="136624"/>
                  </a:lnTo>
                  <a:lnTo>
                    <a:pt x="0" y="136624"/>
                  </a:lnTo>
                  <a:close/>
                </a:path>
              </a:pathLst>
            </a:custGeom>
            <a:solidFill>
              <a:srgbClr val="D6EBFB"/>
            </a:solidFill>
          </p:spPr>
          <p:txBody>
            <a:bodyPr/>
            <a:lstStyle/>
            <a:p>
              <a:endParaRPr lang="es-DO">
                <a:latin typeface="Aptos" panose="020B0004020202020204" pitchFamily="34" charset="0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6941618" cy="155674"/>
            </a:xfrm>
            <a:prstGeom prst="rect">
              <a:avLst/>
            </a:prstGeom>
          </p:spPr>
          <p:txBody>
            <a:bodyPr lIns="47963" tIns="47963" rIns="47963" bIns="47963" rtlCol="0" anchor="ctr"/>
            <a:lstStyle/>
            <a:p>
              <a:pPr algn="ctr">
                <a:lnSpc>
                  <a:spcPts val="1519"/>
                </a:lnSpc>
              </a:pPr>
              <a:endParaRPr>
                <a:latin typeface="Aptos" panose="020B0004020202020204" pitchFamily="34" charset="0"/>
              </a:endParaRPr>
            </a:p>
          </p:txBody>
        </p:sp>
      </p:grpSp>
      <p:grpSp>
        <p:nvGrpSpPr>
          <p:cNvPr id="37" name="Group 18">
            <a:extLst>
              <a:ext uri="{FF2B5EF4-FFF2-40B4-BE49-F238E27FC236}">
                <a16:creationId xmlns:a16="http://schemas.microsoft.com/office/drawing/2014/main" id="{6F7F2E8F-389F-53E6-62B4-2E9B5F0835AC}"/>
              </a:ext>
            </a:extLst>
          </p:cNvPr>
          <p:cNvGrpSpPr/>
          <p:nvPr/>
        </p:nvGrpSpPr>
        <p:grpSpPr>
          <a:xfrm>
            <a:off x="0" y="-58319"/>
            <a:ext cx="18288000" cy="1132365"/>
            <a:chOff x="0" y="0"/>
            <a:chExt cx="6941618" cy="926680"/>
          </a:xfrm>
        </p:grpSpPr>
        <p:sp>
          <p:nvSpPr>
            <p:cNvPr id="38" name="Freeform 19">
              <a:extLst>
                <a:ext uri="{FF2B5EF4-FFF2-40B4-BE49-F238E27FC236}">
                  <a16:creationId xmlns:a16="http://schemas.microsoft.com/office/drawing/2014/main" id="{050A6267-3ED1-CC34-5496-745C9AE32696}"/>
                </a:ext>
              </a:extLst>
            </p:cNvPr>
            <p:cNvSpPr/>
            <p:nvPr/>
          </p:nvSpPr>
          <p:spPr>
            <a:xfrm>
              <a:off x="0" y="0"/>
              <a:ext cx="6941617" cy="926680"/>
            </a:xfrm>
            <a:custGeom>
              <a:avLst/>
              <a:gdLst/>
              <a:ahLst/>
              <a:cxnLst/>
              <a:rect l="l" t="t" r="r" b="b"/>
              <a:pathLst>
                <a:path w="6941617" h="926680">
                  <a:moveTo>
                    <a:pt x="0" y="0"/>
                  </a:moveTo>
                  <a:lnTo>
                    <a:pt x="6941617" y="0"/>
                  </a:lnTo>
                  <a:lnTo>
                    <a:pt x="6941617" y="926680"/>
                  </a:lnTo>
                  <a:lnTo>
                    <a:pt x="0" y="926680"/>
                  </a:lnTo>
                  <a:close/>
                </a:path>
              </a:pathLst>
            </a:custGeom>
            <a:solidFill>
              <a:srgbClr val="0E73C3"/>
            </a:solidFill>
          </p:spPr>
          <p:txBody>
            <a:bodyPr/>
            <a:lstStyle/>
            <a:p>
              <a:endParaRPr lang="es-DO">
                <a:latin typeface="Aptos" panose="020B0004020202020204" pitchFamily="34" charset="0"/>
              </a:endParaRPr>
            </a:p>
          </p:txBody>
        </p:sp>
        <p:sp>
          <p:nvSpPr>
            <p:cNvPr id="39" name="TextBox 20">
              <a:extLst>
                <a:ext uri="{FF2B5EF4-FFF2-40B4-BE49-F238E27FC236}">
                  <a16:creationId xmlns:a16="http://schemas.microsoft.com/office/drawing/2014/main" id="{D382C142-2614-3307-EA5B-4B704D65F7A7}"/>
                </a:ext>
              </a:extLst>
            </p:cNvPr>
            <p:cNvSpPr txBox="1"/>
            <p:nvPr/>
          </p:nvSpPr>
          <p:spPr>
            <a:xfrm>
              <a:off x="0" y="-19050"/>
              <a:ext cx="6941618" cy="945730"/>
            </a:xfrm>
            <a:prstGeom prst="rect">
              <a:avLst/>
            </a:prstGeom>
          </p:spPr>
          <p:txBody>
            <a:bodyPr lIns="47963" tIns="47963" rIns="47963" bIns="47963" rtlCol="0" anchor="ctr"/>
            <a:lstStyle/>
            <a:p>
              <a:pPr algn="ctr">
                <a:lnSpc>
                  <a:spcPts val="1519"/>
                </a:lnSpc>
              </a:pPr>
              <a:endParaRPr>
                <a:latin typeface="Aptos" panose="020B0004020202020204" pitchFamily="34" charset="0"/>
              </a:endParaRP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438636" y="-62419"/>
            <a:ext cx="14682069" cy="907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8043"/>
              </a:lnSpc>
            </a:pPr>
            <a:r>
              <a:rPr lang="es-DO" sz="3600" b="1" dirty="0">
                <a:solidFill>
                  <a:schemeClr val="bg1"/>
                </a:solidFill>
                <a:latin typeface="Aptos" panose="020B0004020202020204" pitchFamily="34" charset="0"/>
              </a:rPr>
              <a:t>Estimación del crecimiento futuro de impresiones </a:t>
            </a:r>
            <a:endParaRPr lang="en-US" sz="11500" b="1" spc="42" dirty="0">
              <a:solidFill>
                <a:schemeClr val="bg1"/>
              </a:solidFill>
              <a:latin typeface="Aptos" panose="020B0004020202020204" pitchFamily="34" charset="0"/>
              <a:ea typeface="Garet"/>
              <a:cs typeface="Garet"/>
              <a:sym typeface="Garet"/>
            </a:endParaRP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689A0CAE-24D9-E3B8-4814-5570C17A217B}"/>
              </a:ext>
            </a:extLst>
          </p:cNvPr>
          <p:cNvGrpSpPr/>
          <p:nvPr/>
        </p:nvGrpSpPr>
        <p:grpSpPr>
          <a:xfrm>
            <a:off x="10150355" y="1181100"/>
            <a:ext cx="7187691" cy="6095127"/>
            <a:chOff x="10150355" y="1181100"/>
            <a:chExt cx="7187691" cy="6095127"/>
          </a:xfrm>
        </p:grpSpPr>
        <p:sp>
          <p:nvSpPr>
            <p:cNvPr id="41" name="Rectángulo 40">
              <a:extLst>
                <a:ext uri="{FF2B5EF4-FFF2-40B4-BE49-F238E27FC236}">
                  <a16:creationId xmlns:a16="http://schemas.microsoft.com/office/drawing/2014/main" id="{D492B0DE-64F7-190B-6FB5-476BA0B236E2}"/>
                </a:ext>
              </a:extLst>
            </p:cNvPr>
            <p:cNvSpPr/>
            <p:nvPr/>
          </p:nvSpPr>
          <p:spPr>
            <a:xfrm>
              <a:off x="10150355" y="1241187"/>
              <a:ext cx="7187691" cy="60350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DO">
                <a:latin typeface="Aptos" panose="020B0004020202020204" pitchFamily="34" charset="0"/>
              </a:endParaRPr>
            </a:p>
          </p:txBody>
        </p:sp>
        <p:sp>
          <p:nvSpPr>
            <p:cNvPr id="42" name="TextBox 4">
              <a:extLst>
                <a:ext uri="{FF2B5EF4-FFF2-40B4-BE49-F238E27FC236}">
                  <a16:creationId xmlns:a16="http://schemas.microsoft.com/office/drawing/2014/main" id="{8C05DE7E-4C60-DB29-4E95-01EAD507B593}"/>
                </a:ext>
              </a:extLst>
            </p:cNvPr>
            <p:cNvSpPr txBox="1"/>
            <p:nvPr/>
          </p:nvSpPr>
          <p:spPr>
            <a:xfrm>
              <a:off x="10477151" y="1252081"/>
              <a:ext cx="2377440" cy="731520"/>
            </a:xfrm>
            <a:prstGeom prst="round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  <a:r>
                <a:rPr lang="en-US" sz="1599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rPr>
                <a:t>País</a:t>
              </a:r>
            </a:p>
          </p:txBody>
        </p:sp>
        <p:grpSp>
          <p:nvGrpSpPr>
            <p:cNvPr id="43" name="Group 15">
              <a:extLst>
                <a:ext uri="{FF2B5EF4-FFF2-40B4-BE49-F238E27FC236}">
                  <a16:creationId xmlns:a16="http://schemas.microsoft.com/office/drawing/2014/main" id="{77DE7D11-DF2F-49F0-E5D2-A9B08478A0D1}"/>
                </a:ext>
              </a:extLst>
            </p:cNvPr>
            <p:cNvGrpSpPr/>
            <p:nvPr/>
          </p:nvGrpSpPr>
          <p:grpSpPr>
            <a:xfrm>
              <a:off x="10150355" y="1181100"/>
              <a:ext cx="7187691" cy="538275"/>
              <a:chOff x="-2" y="-28575"/>
              <a:chExt cx="4866538" cy="770997"/>
            </a:xfrm>
          </p:grpSpPr>
          <p:sp>
            <p:nvSpPr>
              <p:cNvPr id="77" name="Freeform 16">
                <a:extLst>
                  <a:ext uri="{FF2B5EF4-FFF2-40B4-BE49-F238E27FC236}">
                    <a16:creationId xmlns:a16="http://schemas.microsoft.com/office/drawing/2014/main" id="{F2172128-0F0F-16BF-5421-885FEDF62BF3}"/>
                  </a:ext>
                </a:extLst>
              </p:cNvPr>
              <p:cNvSpPr/>
              <p:nvPr/>
            </p:nvSpPr>
            <p:spPr>
              <a:xfrm>
                <a:off x="-2" y="0"/>
                <a:ext cx="4866538" cy="654869"/>
              </a:xfrm>
              <a:custGeom>
                <a:avLst/>
                <a:gdLst/>
                <a:ahLst/>
                <a:cxnLst/>
                <a:rect l="l" t="t" r="r" b="b"/>
                <a:pathLst>
                  <a:path w="4741590" h="780608">
                    <a:moveTo>
                      <a:pt x="0" y="0"/>
                    </a:moveTo>
                    <a:lnTo>
                      <a:pt x="4741590" y="0"/>
                    </a:lnTo>
                    <a:lnTo>
                      <a:pt x="4741590" y="780608"/>
                    </a:lnTo>
                    <a:lnTo>
                      <a:pt x="0" y="780608"/>
                    </a:lnTo>
                    <a:close/>
                  </a:path>
                </a:pathLst>
              </a:custGeom>
              <a:solidFill>
                <a:srgbClr val="0E73C3"/>
              </a:solidFill>
            </p:spPr>
            <p:txBody>
              <a:bodyPr/>
              <a:lstStyle/>
              <a:p>
                <a:endParaRPr lang="es-DO">
                  <a:latin typeface="Aptos" panose="020B0004020202020204" pitchFamily="34" charset="0"/>
                </a:endParaRPr>
              </a:p>
            </p:txBody>
          </p:sp>
          <p:sp>
            <p:nvSpPr>
              <p:cNvPr id="78" name="TextBox 17">
                <a:extLst>
                  <a:ext uri="{FF2B5EF4-FFF2-40B4-BE49-F238E27FC236}">
                    <a16:creationId xmlns:a16="http://schemas.microsoft.com/office/drawing/2014/main" id="{E44A4311-9CAD-AF56-6B3B-B317E565B9CB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4866536" cy="77099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1" indent="0" algn="ctr">
                  <a:lnSpc>
                    <a:spcPts val="2267"/>
                  </a:lnSpc>
                  <a:spcBef>
                    <a:spcPct val="0"/>
                  </a:spcBef>
                </a:pPr>
                <a:r>
                  <a:rPr lang="es-DO" sz="2000" b="1" u="none" strike="noStrike" spc="68" dirty="0">
                    <a:solidFill>
                      <a:srgbClr val="FFFFFF"/>
                    </a:solidFill>
                    <a:latin typeface="Aptos" panose="020B0004020202020204" pitchFamily="34" charset="0"/>
                    <a:ea typeface="Canva Sans"/>
                    <a:cs typeface="Canva Sans"/>
                    <a:sym typeface="Canva Sans"/>
                  </a:rPr>
                  <a:t>Evolutivo  mensual de Impresiones </a:t>
                </a:r>
              </a:p>
            </p:txBody>
          </p:sp>
        </p:grpSp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355F72ED-FB62-A2F5-8716-8D6346C8AC5F}"/>
                </a:ext>
              </a:extLst>
            </p:cNvPr>
            <p:cNvGrpSpPr/>
            <p:nvPr/>
          </p:nvGrpSpPr>
          <p:grpSpPr>
            <a:xfrm>
              <a:off x="11314599" y="1714500"/>
              <a:ext cx="4855556" cy="5257800"/>
              <a:chOff x="11314599" y="1790700"/>
              <a:chExt cx="4855556" cy="5257800"/>
            </a:xfrm>
          </p:grpSpPr>
          <p:grpSp>
            <p:nvGrpSpPr>
              <p:cNvPr id="45" name="Group 5">
                <a:extLst>
                  <a:ext uri="{FF2B5EF4-FFF2-40B4-BE49-F238E27FC236}">
                    <a16:creationId xmlns:a16="http://schemas.microsoft.com/office/drawing/2014/main" id="{8CA368EB-C993-88F2-26BF-94FC8DFD675B}"/>
                  </a:ext>
                </a:extLst>
              </p:cNvPr>
              <p:cNvGrpSpPr/>
              <p:nvPr/>
            </p:nvGrpSpPr>
            <p:grpSpPr>
              <a:xfrm>
                <a:off x="13792715" y="1790700"/>
                <a:ext cx="2377440" cy="731520"/>
                <a:chOff x="-21207" y="-38100"/>
                <a:chExt cx="851044" cy="256414"/>
              </a:xfrm>
            </p:grpSpPr>
            <p:sp>
              <p:nvSpPr>
                <p:cNvPr id="73" name="Freeform 6">
                  <a:extLst>
                    <a:ext uri="{FF2B5EF4-FFF2-40B4-BE49-F238E27FC236}">
                      <a16:creationId xmlns:a16="http://schemas.microsoft.com/office/drawing/2014/main" id="{00D9478A-EE72-A0A5-5E3B-B7DED26AA821}"/>
                    </a:ext>
                  </a:extLst>
                </p:cNvPr>
                <p:cNvSpPr/>
                <p:nvPr/>
              </p:nvSpPr>
              <p:spPr>
                <a:xfrm>
                  <a:off x="-21207" y="16250"/>
                  <a:ext cx="829837" cy="176591"/>
                </a:xfrm>
                <a:prstGeom prst="roundRect">
                  <a:avLst/>
                </a:prstGeom>
                <a:solidFill>
                  <a:srgbClr val="1C3F60"/>
                </a:solidFill>
              </p:spPr>
              <p:txBody>
                <a:bodyPr anchor="ctr"/>
                <a:lstStyle/>
                <a:p>
                  <a:pPr algn="ctr"/>
                  <a:r>
                    <a:rPr lang="en-US" sz="1600" spc="6" dirty="0">
                      <a:solidFill>
                        <a:srgbClr val="F3F6FA"/>
                      </a:solidFill>
                      <a:latin typeface="Aptos" panose="020B0004020202020204" pitchFamily="34" charset="0"/>
                      <a:ea typeface="Barlow"/>
                      <a:cs typeface="Barlow"/>
                      <a:sym typeface="Barlow"/>
                    </a:rPr>
                    <a:t>Impresiones</a:t>
                  </a:r>
                </a:p>
              </p:txBody>
            </p:sp>
            <p:sp>
              <p:nvSpPr>
                <p:cNvPr id="74" name="TextBox 7">
                  <a:extLst>
                    <a:ext uri="{FF2B5EF4-FFF2-40B4-BE49-F238E27FC236}">
                      <a16:creationId xmlns:a16="http://schemas.microsoft.com/office/drawing/2014/main" id="{0CEA5FDD-5E04-781B-ECDB-5544CD011BDB}"/>
                    </a:ext>
                  </a:extLst>
                </p:cNvPr>
                <p:cNvSpPr txBox="1"/>
                <p:nvPr/>
              </p:nvSpPr>
              <p:spPr>
                <a:xfrm>
                  <a:off x="0" y="-38100"/>
                  <a:ext cx="829837" cy="256414"/>
                </a:xfrm>
                <a:prstGeom prst="round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239"/>
                    </a:lnSpc>
                    <a:spcBef>
                      <a:spcPct val="0"/>
                    </a:spcBef>
                  </a:pPr>
                  <a:endParaRPr lang="en-US" sz="1599" spc="6" dirty="0">
                    <a:solidFill>
                      <a:srgbClr val="F3F6FA"/>
                    </a:solidFill>
                    <a:latin typeface="Aptos" panose="020B0004020202020204" pitchFamily="34" charset="0"/>
                    <a:ea typeface="Barlow"/>
                    <a:cs typeface="Barlow"/>
                    <a:sym typeface="Barlow"/>
                  </a:endParaRPr>
                </a:p>
              </p:txBody>
            </p:sp>
          </p:grpSp>
          <p:grpSp>
            <p:nvGrpSpPr>
              <p:cNvPr id="46" name="Group 5">
                <a:extLst>
                  <a:ext uri="{FF2B5EF4-FFF2-40B4-BE49-F238E27FC236}">
                    <a16:creationId xmlns:a16="http://schemas.microsoft.com/office/drawing/2014/main" id="{83C057DA-2D2B-FF25-7356-E4F08EBFF3DE}"/>
                  </a:ext>
                </a:extLst>
              </p:cNvPr>
              <p:cNvGrpSpPr/>
              <p:nvPr/>
            </p:nvGrpSpPr>
            <p:grpSpPr>
              <a:xfrm>
                <a:off x="11316113" y="1790700"/>
                <a:ext cx="2377440" cy="731520"/>
                <a:chOff x="-21207" y="-38100"/>
                <a:chExt cx="851044" cy="256414"/>
              </a:xfrm>
            </p:grpSpPr>
            <p:sp>
              <p:nvSpPr>
                <p:cNvPr id="71" name="Freeform 6">
                  <a:extLst>
                    <a:ext uri="{FF2B5EF4-FFF2-40B4-BE49-F238E27FC236}">
                      <a16:creationId xmlns:a16="http://schemas.microsoft.com/office/drawing/2014/main" id="{243A5344-1ACB-0FC4-056E-DC0E950951CB}"/>
                    </a:ext>
                  </a:extLst>
                </p:cNvPr>
                <p:cNvSpPr/>
                <p:nvPr/>
              </p:nvSpPr>
              <p:spPr>
                <a:xfrm>
                  <a:off x="-21207" y="16250"/>
                  <a:ext cx="829837" cy="176591"/>
                </a:xfrm>
                <a:prstGeom prst="roundRect">
                  <a:avLst/>
                </a:prstGeom>
                <a:solidFill>
                  <a:srgbClr val="1C3F60"/>
                </a:solidFill>
              </p:spPr>
              <p:txBody>
                <a:bodyPr anchor="ctr"/>
                <a:lstStyle/>
                <a:p>
                  <a:pPr algn="ctr"/>
                  <a:r>
                    <a:rPr lang="en-US" sz="1600" spc="6" dirty="0" err="1">
                      <a:solidFill>
                        <a:srgbClr val="F3F6FA"/>
                      </a:solidFill>
                      <a:latin typeface="Aptos" panose="020B0004020202020204" pitchFamily="34" charset="0"/>
                      <a:ea typeface="Barlow"/>
                      <a:cs typeface="Barlow"/>
                      <a:sym typeface="Barlow"/>
                    </a:rPr>
                    <a:t>Fecha</a:t>
                  </a:r>
                  <a:endParaRPr lang="en-US" sz="1600" spc="6" dirty="0">
                    <a:solidFill>
                      <a:srgbClr val="F3F6FA"/>
                    </a:solidFill>
                    <a:latin typeface="Aptos" panose="020B0004020202020204" pitchFamily="34" charset="0"/>
                    <a:ea typeface="Barlow"/>
                    <a:cs typeface="Barlow"/>
                    <a:sym typeface="Barlow"/>
                  </a:endParaRPr>
                </a:p>
              </p:txBody>
            </p:sp>
            <p:sp>
              <p:nvSpPr>
                <p:cNvPr id="72" name="TextBox 7">
                  <a:extLst>
                    <a:ext uri="{FF2B5EF4-FFF2-40B4-BE49-F238E27FC236}">
                      <a16:creationId xmlns:a16="http://schemas.microsoft.com/office/drawing/2014/main" id="{70C47D3D-32D1-AEC2-BBA9-000E6850913C}"/>
                    </a:ext>
                  </a:extLst>
                </p:cNvPr>
                <p:cNvSpPr txBox="1"/>
                <p:nvPr/>
              </p:nvSpPr>
              <p:spPr>
                <a:xfrm>
                  <a:off x="0" y="-38100"/>
                  <a:ext cx="829837" cy="256414"/>
                </a:xfrm>
                <a:prstGeom prst="round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239"/>
                    </a:lnSpc>
                    <a:spcBef>
                      <a:spcPct val="0"/>
                    </a:spcBef>
                  </a:pPr>
                  <a:endParaRPr lang="en-US" sz="1599" spc="6" dirty="0">
                    <a:solidFill>
                      <a:srgbClr val="F3F6FA"/>
                    </a:solidFill>
                    <a:latin typeface="Aptos" panose="020B0004020202020204" pitchFamily="34" charset="0"/>
                    <a:ea typeface="Barlow"/>
                    <a:cs typeface="Barlow"/>
                    <a:sym typeface="Barlow"/>
                  </a:endParaRPr>
                </a:p>
              </p:txBody>
            </p:sp>
          </p:grpSp>
          <p:grpSp>
            <p:nvGrpSpPr>
              <p:cNvPr id="88" name="Group 5">
                <a:extLst>
                  <a:ext uri="{FF2B5EF4-FFF2-40B4-BE49-F238E27FC236}">
                    <a16:creationId xmlns:a16="http://schemas.microsoft.com/office/drawing/2014/main" id="{17A38123-BD48-7BF4-2CB4-D2A91F88997D}"/>
                  </a:ext>
                </a:extLst>
              </p:cNvPr>
              <p:cNvGrpSpPr/>
              <p:nvPr/>
            </p:nvGrpSpPr>
            <p:grpSpPr>
              <a:xfrm>
                <a:off x="11314599" y="6316980"/>
                <a:ext cx="2377440" cy="731520"/>
                <a:chOff x="-21207" y="-38100"/>
                <a:chExt cx="851044" cy="256414"/>
              </a:xfrm>
            </p:grpSpPr>
            <p:sp>
              <p:nvSpPr>
                <p:cNvPr id="89" name="Freeform 6">
                  <a:extLst>
                    <a:ext uri="{FF2B5EF4-FFF2-40B4-BE49-F238E27FC236}">
                      <a16:creationId xmlns:a16="http://schemas.microsoft.com/office/drawing/2014/main" id="{BF36B6E7-86C6-A85D-884D-F7AA90DF2066}"/>
                    </a:ext>
                  </a:extLst>
                </p:cNvPr>
                <p:cNvSpPr/>
                <p:nvPr/>
              </p:nvSpPr>
              <p:spPr>
                <a:xfrm>
                  <a:off x="-21207" y="16250"/>
                  <a:ext cx="829837" cy="176591"/>
                </a:xfrm>
                <a:prstGeom prst="roundRect">
                  <a:avLst/>
                </a:prstGeom>
                <a:solidFill>
                  <a:srgbClr val="1C3F60"/>
                </a:solidFill>
              </p:spPr>
              <p:txBody>
                <a:bodyPr anchor="ctr"/>
                <a:lstStyle/>
                <a:p>
                  <a:pPr algn="ctr"/>
                  <a:r>
                    <a:rPr lang="en-US" sz="1600" spc="6" dirty="0">
                      <a:solidFill>
                        <a:srgbClr val="F3F6FA"/>
                      </a:solidFill>
                      <a:latin typeface="Aptos" panose="020B0004020202020204" pitchFamily="34" charset="0"/>
                      <a:ea typeface="Barlow"/>
                      <a:cs typeface="Barlow"/>
                      <a:sym typeface="Barlow"/>
                    </a:rPr>
                    <a:t>Mayo 2023</a:t>
                  </a:r>
                </a:p>
              </p:txBody>
            </p:sp>
            <p:sp>
              <p:nvSpPr>
                <p:cNvPr id="90" name="TextBox 7">
                  <a:extLst>
                    <a:ext uri="{FF2B5EF4-FFF2-40B4-BE49-F238E27FC236}">
                      <a16:creationId xmlns:a16="http://schemas.microsoft.com/office/drawing/2014/main" id="{26C44A9F-E3D9-BA73-1ECF-3C7A3549BF20}"/>
                    </a:ext>
                  </a:extLst>
                </p:cNvPr>
                <p:cNvSpPr txBox="1"/>
                <p:nvPr/>
              </p:nvSpPr>
              <p:spPr>
                <a:xfrm>
                  <a:off x="0" y="-38100"/>
                  <a:ext cx="829837" cy="256414"/>
                </a:xfrm>
                <a:prstGeom prst="round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239"/>
                    </a:lnSpc>
                    <a:spcBef>
                      <a:spcPct val="0"/>
                    </a:spcBef>
                  </a:pPr>
                  <a:endParaRPr lang="en-US" sz="1599" spc="6" dirty="0">
                    <a:solidFill>
                      <a:srgbClr val="F3F6FA"/>
                    </a:solidFill>
                    <a:latin typeface="Aptos" panose="020B0004020202020204" pitchFamily="34" charset="0"/>
                    <a:ea typeface="Barlow"/>
                    <a:cs typeface="Barlow"/>
                    <a:sym typeface="Barlow"/>
                  </a:endParaRPr>
                </a:p>
              </p:txBody>
            </p:sp>
          </p:grpSp>
          <p:grpSp>
            <p:nvGrpSpPr>
              <p:cNvPr id="2" name="Grupo 1">
                <a:extLst>
                  <a:ext uri="{FF2B5EF4-FFF2-40B4-BE49-F238E27FC236}">
                    <a16:creationId xmlns:a16="http://schemas.microsoft.com/office/drawing/2014/main" id="{C3D7C494-FD4E-D9B3-868F-AF5A4F53E2DE}"/>
                  </a:ext>
                </a:extLst>
              </p:cNvPr>
              <p:cNvGrpSpPr/>
              <p:nvPr/>
            </p:nvGrpSpPr>
            <p:grpSpPr>
              <a:xfrm>
                <a:off x="11314599" y="2354580"/>
                <a:ext cx="4780870" cy="4621249"/>
                <a:chOff x="11314599" y="2498314"/>
                <a:chExt cx="4780870" cy="4621249"/>
              </a:xfrm>
            </p:grpSpPr>
            <p:grpSp>
              <p:nvGrpSpPr>
                <p:cNvPr id="47" name="Group 5">
                  <a:extLst>
                    <a:ext uri="{FF2B5EF4-FFF2-40B4-BE49-F238E27FC236}">
                      <a16:creationId xmlns:a16="http://schemas.microsoft.com/office/drawing/2014/main" id="{EDFAD53C-0F60-DA7A-E649-1092E11B6338}"/>
                    </a:ext>
                  </a:extLst>
                </p:cNvPr>
                <p:cNvGrpSpPr/>
                <p:nvPr/>
              </p:nvGrpSpPr>
              <p:grpSpPr>
                <a:xfrm>
                  <a:off x="11316113" y="2498314"/>
                  <a:ext cx="2377440" cy="731520"/>
                  <a:chOff x="-21207" y="-38100"/>
                  <a:chExt cx="851044" cy="256414"/>
                </a:xfrm>
              </p:grpSpPr>
              <p:sp>
                <p:nvSpPr>
                  <p:cNvPr id="69" name="Freeform 6">
                    <a:extLst>
                      <a:ext uri="{FF2B5EF4-FFF2-40B4-BE49-F238E27FC236}">
                        <a16:creationId xmlns:a16="http://schemas.microsoft.com/office/drawing/2014/main" id="{0E99EF7E-DEBF-C00A-E4A2-C92AA6140BF0}"/>
                      </a:ext>
                    </a:extLst>
                  </p:cNvPr>
                  <p:cNvSpPr/>
                  <p:nvPr/>
                </p:nvSpPr>
                <p:spPr>
                  <a:xfrm>
                    <a:off x="-21207" y="16250"/>
                    <a:ext cx="829837" cy="176591"/>
                  </a:xfrm>
                  <a:prstGeom prst="roundRect">
                    <a:avLst/>
                  </a:prstGeom>
                  <a:solidFill>
                    <a:srgbClr val="1C3F60"/>
                  </a:solidFill>
                </p:spPr>
                <p:txBody>
                  <a:bodyPr anchor="ctr"/>
                  <a:lstStyle/>
                  <a:p>
                    <a:pPr algn="ctr"/>
                    <a:r>
                      <a:rPr lang="en-US" sz="1600" spc="6" dirty="0">
                        <a:solidFill>
                          <a:srgbClr val="F3F6FA"/>
                        </a:solidFill>
                        <a:latin typeface="Aptos" panose="020B0004020202020204" pitchFamily="34" charset="0"/>
                        <a:ea typeface="Barlow"/>
                        <a:cs typeface="Barlow"/>
                        <a:sym typeface="Barlow"/>
                      </a:rPr>
                      <a:t>Abril 2022</a:t>
                    </a:r>
                  </a:p>
                </p:txBody>
              </p:sp>
              <p:sp>
                <p:nvSpPr>
                  <p:cNvPr id="70" name="TextBox 7">
                    <a:extLst>
                      <a:ext uri="{FF2B5EF4-FFF2-40B4-BE49-F238E27FC236}">
                        <a16:creationId xmlns:a16="http://schemas.microsoft.com/office/drawing/2014/main" id="{8F019844-D351-55E4-ABF7-D0211673D190}"/>
                      </a:ext>
                    </a:extLst>
                  </p:cNvPr>
                  <p:cNvSpPr txBox="1"/>
                  <p:nvPr/>
                </p:nvSpPr>
                <p:spPr>
                  <a:xfrm>
                    <a:off x="0" y="-38100"/>
                    <a:ext cx="829837" cy="256414"/>
                  </a:xfrm>
                  <a:prstGeom prst="roundRect">
                    <a:avLst/>
                  </a:prstGeom>
                </p:spPr>
                <p:txBody>
                  <a:bodyPr lIns="50800" tIns="50800" rIns="50800" bIns="50800" rtlCol="0" anchor="ctr"/>
                  <a:lstStyle/>
                  <a:p>
                    <a:pPr algn="ctr">
                      <a:lnSpc>
                        <a:spcPts val="2239"/>
                      </a:lnSpc>
                      <a:spcBef>
                        <a:spcPct val="0"/>
                      </a:spcBef>
                    </a:pPr>
                    <a:endParaRPr lang="en-US" sz="1599" spc="6" dirty="0">
                      <a:solidFill>
                        <a:srgbClr val="F3F6FA"/>
                      </a:solidFill>
                      <a:latin typeface="Aptos" panose="020B0004020202020204" pitchFamily="34" charset="0"/>
                      <a:ea typeface="Barlow"/>
                      <a:cs typeface="Barlow"/>
                      <a:sym typeface="Barlow"/>
                    </a:endParaRPr>
                  </a:p>
                </p:txBody>
              </p:sp>
            </p:grpSp>
            <p:sp>
              <p:nvSpPr>
                <p:cNvPr id="49" name="Freeform 6">
                  <a:extLst>
                    <a:ext uri="{FF2B5EF4-FFF2-40B4-BE49-F238E27FC236}">
                      <a16:creationId xmlns:a16="http://schemas.microsoft.com/office/drawing/2014/main" id="{867C4165-65FF-0021-0804-12AEE10D0D60}"/>
                    </a:ext>
                  </a:extLst>
                </p:cNvPr>
                <p:cNvSpPr/>
                <p:nvPr/>
              </p:nvSpPr>
              <p:spPr>
                <a:xfrm>
                  <a:off x="13777272" y="2653369"/>
                  <a:ext cx="2318197" cy="503794"/>
                </a:xfrm>
                <a:prstGeom prst="roundRect">
                  <a:avLst/>
                </a:prstGeom>
                <a:solidFill>
                  <a:schemeClr val="accent1">
                    <a:lumMod val="75000"/>
                  </a:schemeClr>
                </a:solidFill>
              </p:spPr>
              <p:txBody>
                <a:bodyPr anchor="ctr"/>
                <a:lstStyle/>
                <a:p>
                  <a:pPr algn="ctr"/>
                  <a:r>
                    <a:rPr lang="en-US" sz="1600" spc="6" dirty="0">
                      <a:solidFill>
                        <a:srgbClr val="F3F6FA"/>
                      </a:solidFill>
                      <a:latin typeface="Aptos" panose="020B0004020202020204" pitchFamily="34" charset="0"/>
                      <a:ea typeface="Barlow"/>
                      <a:cs typeface="Barlow"/>
                      <a:sym typeface="Barlow"/>
                    </a:rPr>
                    <a:t>153</a:t>
                  </a:r>
                </a:p>
              </p:txBody>
            </p:sp>
            <p:grpSp>
              <p:nvGrpSpPr>
                <p:cNvPr id="50" name="Group 5">
                  <a:extLst>
                    <a:ext uri="{FF2B5EF4-FFF2-40B4-BE49-F238E27FC236}">
                      <a16:creationId xmlns:a16="http://schemas.microsoft.com/office/drawing/2014/main" id="{A08AF373-FA76-5328-9E8B-AAFA8DBA8398}"/>
                    </a:ext>
                  </a:extLst>
                </p:cNvPr>
                <p:cNvGrpSpPr/>
                <p:nvPr/>
              </p:nvGrpSpPr>
              <p:grpSpPr>
                <a:xfrm>
                  <a:off x="11316113" y="3077434"/>
                  <a:ext cx="2377440" cy="731520"/>
                  <a:chOff x="-21207" y="-38100"/>
                  <a:chExt cx="851044" cy="256414"/>
                </a:xfrm>
              </p:grpSpPr>
              <p:sp>
                <p:nvSpPr>
                  <p:cNvPr id="67" name="Freeform 6">
                    <a:extLst>
                      <a:ext uri="{FF2B5EF4-FFF2-40B4-BE49-F238E27FC236}">
                        <a16:creationId xmlns:a16="http://schemas.microsoft.com/office/drawing/2014/main" id="{ADC551A0-C741-6BF0-F70F-48FAFA76E933}"/>
                      </a:ext>
                    </a:extLst>
                  </p:cNvPr>
                  <p:cNvSpPr/>
                  <p:nvPr/>
                </p:nvSpPr>
                <p:spPr>
                  <a:xfrm>
                    <a:off x="-21207" y="16250"/>
                    <a:ext cx="829837" cy="176591"/>
                  </a:xfrm>
                  <a:prstGeom prst="roundRect">
                    <a:avLst/>
                  </a:prstGeom>
                  <a:solidFill>
                    <a:srgbClr val="1C3F60"/>
                  </a:solidFill>
                </p:spPr>
                <p:txBody>
                  <a:bodyPr anchor="ctr"/>
                  <a:lstStyle/>
                  <a:p>
                    <a:pPr algn="ctr"/>
                    <a:r>
                      <a:rPr lang="en-US" sz="1600" spc="6" dirty="0">
                        <a:solidFill>
                          <a:srgbClr val="F3F6FA"/>
                        </a:solidFill>
                        <a:latin typeface="Aptos" panose="020B0004020202020204" pitchFamily="34" charset="0"/>
                        <a:ea typeface="Barlow"/>
                        <a:cs typeface="Barlow"/>
                        <a:sym typeface="Barlow"/>
                      </a:rPr>
                      <a:t>Julio 2022</a:t>
                    </a:r>
                  </a:p>
                </p:txBody>
              </p:sp>
              <p:sp>
                <p:nvSpPr>
                  <p:cNvPr id="68" name="TextBox 7">
                    <a:extLst>
                      <a:ext uri="{FF2B5EF4-FFF2-40B4-BE49-F238E27FC236}">
                        <a16:creationId xmlns:a16="http://schemas.microsoft.com/office/drawing/2014/main" id="{7BA7D09B-DE96-7652-AF2D-64089F73AE78}"/>
                      </a:ext>
                    </a:extLst>
                  </p:cNvPr>
                  <p:cNvSpPr txBox="1"/>
                  <p:nvPr/>
                </p:nvSpPr>
                <p:spPr>
                  <a:xfrm>
                    <a:off x="0" y="-38100"/>
                    <a:ext cx="829837" cy="256414"/>
                  </a:xfrm>
                  <a:prstGeom prst="roundRect">
                    <a:avLst/>
                  </a:prstGeom>
                </p:spPr>
                <p:txBody>
                  <a:bodyPr lIns="50800" tIns="50800" rIns="50800" bIns="50800" rtlCol="0" anchor="ctr"/>
                  <a:lstStyle/>
                  <a:p>
                    <a:pPr algn="ctr">
                      <a:lnSpc>
                        <a:spcPts val="2239"/>
                      </a:lnSpc>
                      <a:spcBef>
                        <a:spcPct val="0"/>
                      </a:spcBef>
                    </a:pPr>
                    <a:endParaRPr lang="en-US" sz="1599" spc="6" dirty="0">
                      <a:solidFill>
                        <a:srgbClr val="F3F6FA"/>
                      </a:solidFill>
                      <a:latin typeface="Aptos" panose="020B0004020202020204" pitchFamily="34" charset="0"/>
                      <a:ea typeface="Barlow"/>
                      <a:cs typeface="Barlow"/>
                      <a:sym typeface="Barlow"/>
                    </a:endParaRPr>
                  </a:p>
                </p:txBody>
              </p:sp>
            </p:grpSp>
            <p:sp>
              <p:nvSpPr>
                <p:cNvPr id="52" name="Freeform 6">
                  <a:extLst>
                    <a:ext uri="{FF2B5EF4-FFF2-40B4-BE49-F238E27FC236}">
                      <a16:creationId xmlns:a16="http://schemas.microsoft.com/office/drawing/2014/main" id="{D13B6F75-85BB-A80B-7C95-7F2BE3491CB8}"/>
                    </a:ext>
                  </a:extLst>
                </p:cNvPr>
                <p:cNvSpPr/>
                <p:nvPr/>
              </p:nvSpPr>
              <p:spPr>
                <a:xfrm>
                  <a:off x="13777272" y="3232489"/>
                  <a:ext cx="2318197" cy="503794"/>
                </a:xfrm>
                <a:prstGeom prst="roundRect">
                  <a:avLst/>
                </a:prstGeom>
                <a:solidFill>
                  <a:schemeClr val="accent1">
                    <a:lumMod val="75000"/>
                  </a:schemeClr>
                </a:solidFill>
              </p:spPr>
              <p:txBody>
                <a:bodyPr anchor="ctr"/>
                <a:lstStyle/>
                <a:p>
                  <a:pPr algn="ctr"/>
                  <a:r>
                    <a:rPr lang="en-US" sz="1600" spc="6" dirty="0">
                      <a:solidFill>
                        <a:srgbClr val="F3F6FA"/>
                      </a:solidFill>
                      <a:latin typeface="Aptos" panose="020B0004020202020204" pitchFamily="34" charset="0"/>
                      <a:ea typeface="Barlow"/>
                      <a:cs typeface="Barlow"/>
                      <a:sym typeface="Barlow"/>
                    </a:rPr>
                    <a:t>54</a:t>
                  </a:r>
                </a:p>
              </p:txBody>
            </p:sp>
            <p:grpSp>
              <p:nvGrpSpPr>
                <p:cNvPr id="53" name="Group 5">
                  <a:extLst>
                    <a:ext uri="{FF2B5EF4-FFF2-40B4-BE49-F238E27FC236}">
                      <a16:creationId xmlns:a16="http://schemas.microsoft.com/office/drawing/2014/main" id="{1189B577-1B50-7A8F-8C25-C720C1AE8CE1}"/>
                    </a:ext>
                  </a:extLst>
                </p:cNvPr>
                <p:cNvGrpSpPr/>
                <p:nvPr/>
              </p:nvGrpSpPr>
              <p:grpSpPr>
                <a:xfrm>
                  <a:off x="11316113" y="3610834"/>
                  <a:ext cx="2377440" cy="731520"/>
                  <a:chOff x="-21207" y="-38100"/>
                  <a:chExt cx="851044" cy="256414"/>
                </a:xfrm>
              </p:grpSpPr>
              <p:sp>
                <p:nvSpPr>
                  <p:cNvPr id="65" name="Freeform 6">
                    <a:extLst>
                      <a:ext uri="{FF2B5EF4-FFF2-40B4-BE49-F238E27FC236}">
                        <a16:creationId xmlns:a16="http://schemas.microsoft.com/office/drawing/2014/main" id="{1E38159B-2C18-C573-567F-0B06299EE98B}"/>
                      </a:ext>
                    </a:extLst>
                  </p:cNvPr>
                  <p:cNvSpPr/>
                  <p:nvPr/>
                </p:nvSpPr>
                <p:spPr>
                  <a:xfrm>
                    <a:off x="-21207" y="16250"/>
                    <a:ext cx="829837" cy="176591"/>
                  </a:xfrm>
                  <a:prstGeom prst="roundRect">
                    <a:avLst/>
                  </a:prstGeom>
                  <a:solidFill>
                    <a:srgbClr val="1C3F60"/>
                  </a:solidFill>
                </p:spPr>
                <p:txBody>
                  <a:bodyPr anchor="ctr"/>
                  <a:lstStyle/>
                  <a:p>
                    <a:pPr algn="ctr"/>
                    <a:r>
                      <a:rPr lang="en-US" sz="1600" spc="6" dirty="0">
                        <a:solidFill>
                          <a:srgbClr val="F3F6FA"/>
                        </a:solidFill>
                        <a:latin typeface="Aptos" panose="020B0004020202020204" pitchFamily="34" charset="0"/>
                        <a:ea typeface="Barlow"/>
                        <a:cs typeface="Barlow"/>
                        <a:sym typeface="Barlow"/>
                      </a:rPr>
                      <a:t>Agosto 2022</a:t>
                    </a:r>
                  </a:p>
                </p:txBody>
              </p:sp>
              <p:sp>
                <p:nvSpPr>
                  <p:cNvPr id="66" name="TextBox 7">
                    <a:extLst>
                      <a:ext uri="{FF2B5EF4-FFF2-40B4-BE49-F238E27FC236}">
                        <a16:creationId xmlns:a16="http://schemas.microsoft.com/office/drawing/2014/main" id="{F8139174-046E-A241-C3E8-DB680A438850}"/>
                      </a:ext>
                    </a:extLst>
                  </p:cNvPr>
                  <p:cNvSpPr txBox="1"/>
                  <p:nvPr/>
                </p:nvSpPr>
                <p:spPr>
                  <a:xfrm>
                    <a:off x="0" y="-38100"/>
                    <a:ext cx="829837" cy="256414"/>
                  </a:xfrm>
                  <a:prstGeom prst="roundRect">
                    <a:avLst/>
                  </a:prstGeom>
                </p:spPr>
                <p:txBody>
                  <a:bodyPr lIns="50800" tIns="50800" rIns="50800" bIns="50800" rtlCol="0" anchor="ctr"/>
                  <a:lstStyle/>
                  <a:p>
                    <a:pPr algn="ctr">
                      <a:lnSpc>
                        <a:spcPts val="2239"/>
                      </a:lnSpc>
                      <a:spcBef>
                        <a:spcPct val="0"/>
                      </a:spcBef>
                    </a:pPr>
                    <a:endParaRPr lang="en-US" sz="1599" spc="6" dirty="0">
                      <a:solidFill>
                        <a:srgbClr val="F3F6FA"/>
                      </a:solidFill>
                      <a:latin typeface="Aptos" panose="020B0004020202020204" pitchFamily="34" charset="0"/>
                      <a:ea typeface="Barlow"/>
                      <a:cs typeface="Barlow"/>
                      <a:sym typeface="Barlow"/>
                    </a:endParaRPr>
                  </a:p>
                </p:txBody>
              </p:sp>
            </p:grpSp>
            <p:sp>
              <p:nvSpPr>
                <p:cNvPr id="55" name="Freeform 6">
                  <a:extLst>
                    <a:ext uri="{FF2B5EF4-FFF2-40B4-BE49-F238E27FC236}">
                      <a16:creationId xmlns:a16="http://schemas.microsoft.com/office/drawing/2014/main" id="{633A4205-F684-49AA-0A60-C394EDE42BCE}"/>
                    </a:ext>
                  </a:extLst>
                </p:cNvPr>
                <p:cNvSpPr/>
                <p:nvPr/>
              </p:nvSpPr>
              <p:spPr>
                <a:xfrm>
                  <a:off x="13777272" y="3765889"/>
                  <a:ext cx="2318197" cy="503794"/>
                </a:xfrm>
                <a:prstGeom prst="roundRect">
                  <a:avLst/>
                </a:prstGeom>
                <a:solidFill>
                  <a:schemeClr val="accent1">
                    <a:lumMod val="75000"/>
                  </a:schemeClr>
                </a:solidFill>
              </p:spPr>
              <p:txBody>
                <a:bodyPr anchor="ctr"/>
                <a:lstStyle/>
                <a:p>
                  <a:pPr algn="ctr"/>
                  <a:r>
                    <a:rPr lang="en-US" sz="1600" spc="6" dirty="0">
                      <a:solidFill>
                        <a:srgbClr val="F3F6FA"/>
                      </a:solidFill>
                      <a:latin typeface="Aptos" panose="020B0004020202020204" pitchFamily="34" charset="0"/>
                      <a:ea typeface="Barlow"/>
                      <a:cs typeface="Barlow"/>
                      <a:sym typeface="Barlow"/>
                    </a:rPr>
                    <a:t>310</a:t>
                  </a:r>
                </a:p>
              </p:txBody>
            </p:sp>
            <p:grpSp>
              <p:nvGrpSpPr>
                <p:cNvPr id="56" name="Group 5">
                  <a:extLst>
                    <a:ext uri="{FF2B5EF4-FFF2-40B4-BE49-F238E27FC236}">
                      <a16:creationId xmlns:a16="http://schemas.microsoft.com/office/drawing/2014/main" id="{E743A36A-2E0B-2390-2689-F9F4AA6CA483}"/>
                    </a:ext>
                  </a:extLst>
                </p:cNvPr>
                <p:cNvGrpSpPr/>
                <p:nvPr/>
              </p:nvGrpSpPr>
              <p:grpSpPr>
                <a:xfrm>
                  <a:off x="11316113" y="4189954"/>
                  <a:ext cx="2377440" cy="731520"/>
                  <a:chOff x="-21207" y="-38100"/>
                  <a:chExt cx="851044" cy="256414"/>
                </a:xfrm>
              </p:grpSpPr>
              <p:sp>
                <p:nvSpPr>
                  <p:cNvPr id="63" name="Freeform 6">
                    <a:extLst>
                      <a:ext uri="{FF2B5EF4-FFF2-40B4-BE49-F238E27FC236}">
                        <a16:creationId xmlns:a16="http://schemas.microsoft.com/office/drawing/2014/main" id="{E8A4DFE5-93F7-40C5-79AC-3478F4A79232}"/>
                      </a:ext>
                    </a:extLst>
                  </p:cNvPr>
                  <p:cNvSpPr/>
                  <p:nvPr/>
                </p:nvSpPr>
                <p:spPr>
                  <a:xfrm>
                    <a:off x="-21207" y="16250"/>
                    <a:ext cx="829837" cy="176591"/>
                  </a:xfrm>
                  <a:prstGeom prst="roundRect">
                    <a:avLst/>
                  </a:prstGeom>
                  <a:solidFill>
                    <a:srgbClr val="1C3F60"/>
                  </a:solidFill>
                </p:spPr>
                <p:txBody>
                  <a:bodyPr anchor="ctr"/>
                  <a:lstStyle/>
                  <a:p>
                    <a:pPr algn="ctr"/>
                    <a:r>
                      <a:rPr lang="en-US" sz="1600" spc="6" dirty="0" err="1">
                        <a:solidFill>
                          <a:srgbClr val="F3F6FA"/>
                        </a:solidFill>
                        <a:latin typeface="Aptos" panose="020B0004020202020204" pitchFamily="34" charset="0"/>
                        <a:ea typeface="Barlow"/>
                        <a:cs typeface="Barlow"/>
                        <a:sym typeface="Barlow"/>
                      </a:rPr>
                      <a:t>Octubre</a:t>
                    </a:r>
                    <a:r>
                      <a:rPr lang="en-US" sz="1600" spc="6" dirty="0">
                        <a:solidFill>
                          <a:srgbClr val="F3F6FA"/>
                        </a:solidFill>
                        <a:latin typeface="Aptos" panose="020B0004020202020204" pitchFamily="34" charset="0"/>
                        <a:ea typeface="Barlow"/>
                        <a:cs typeface="Barlow"/>
                        <a:sym typeface="Barlow"/>
                      </a:rPr>
                      <a:t> 2022</a:t>
                    </a:r>
                  </a:p>
                </p:txBody>
              </p:sp>
              <p:sp>
                <p:nvSpPr>
                  <p:cNvPr id="64" name="TextBox 7">
                    <a:extLst>
                      <a:ext uri="{FF2B5EF4-FFF2-40B4-BE49-F238E27FC236}">
                        <a16:creationId xmlns:a16="http://schemas.microsoft.com/office/drawing/2014/main" id="{BD608AE4-B896-480C-5740-FDF339DF17A6}"/>
                      </a:ext>
                    </a:extLst>
                  </p:cNvPr>
                  <p:cNvSpPr txBox="1"/>
                  <p:nvPr/>
                </p:nvSpPr>
                <p:spPr>
                  <a:xfrm>
                    <a:off x="0" y="-38100"/>
                    <a:ext cx="829837" cy="256414"/>
                  </a:xfrm>
                  <a:prstGeom prst="roundRect">
                    <a:avLst/>
                  </a:prstGeom>
                </p:spPr>
                <p:txBody>
                  <a:bodyPr lIns="50800" tIns="50800" rIns="50800" bIns="50800" rtlCol="0" anchor="ctr"/>
                  <a:lstStyle/>
                  <a:p>
                    <a:pPr algn="ctr">
                      <a:lnSpc>
                        <a:spcPts val="2239"/>
                      </a:lnSpc>
                      <a:spcBef>
                        <a:spcPct val="0"/>
                      </a:spcBef>
                    </a:pPr>
                    <a:endParaRPr lang="en-US" sz="1599" spc="6" dirty="0">
                      <a:solidFill>
                        <a:srgbClr val="F3F6FA"/>
                      </a:solidFill>
                      <a:latin typeface="Aptos" panose="020B0004020202020204" pitchFamily="34" charset="0"/>
                      <a:ea typeface="Barlow"/>
                      <a:cs typeface="Barlow"/>
                      <a:sym typeface="Barlow"/>
                    </a:endParaRPr>
                  </a:p>
                </p:txBody>
              </p:sp>
            </p:grpSp>
            <p:sp>
              <p:nvSpPr>
                <p:cNvPr id="58" name="Freeform 6">
                  <a:extLst>
                    <a:ext uri="{FF2B5EF4-FFF2-40B4-BE49-F238E27FC236}">
                      <a16:creationId xmlns:a16="http://schemas.microsoft.com/office/drawing/2014/main" id="{A2A2481F-75DB-254E-A54F-D0174178226E}"/>
                    </a:ext>
                  </a:extLst>
                </p:cNvPr>
                <p:cNvSpPr/>
                <p:nvPr/>
              </p:nvSpPr>
              <p:spPr>
                <a:xfrm>
                  <a:off x="13777272" y="4345009"/>
                  <a:ext cx="2318197" cy="503794"/>
                </a:xfrm>
                <a:prstGeom prst="roundRect">
                  <a:avLst/>
                </a:prstGeom>
                <a:solidFill>
                  <a:schemeClr val="accent1">
                    <a:lumMod val="75000"/>
                  </a:schemeClr>
                </a:solidFill>
              </p:spPr>
              <p:txBody>
                <a:bodyPr anchor="ctr"/>
                <a:lstStyle/>
                <a:p>
                  <a:pPr algn="ctr"/>
                  <a:r>
                    <a:rPr lang="en-US" sz="1600" spc="6" dirty="0">
                      <a:solidFill>
                        <a:srgbClr val="F3F6FA"/>
                      </a:solidFill>
                      <a:latin typeface="Aptos" panose="020B0004020202020204" pitchFamily="34" charset="0"/>
                      <a:ea typeface="Barlow"/>
                      <a:cs typeface="Barlow"/>
                      <a:sym typeface="Barlow"/>
                    </a:rPr>
                    <a:t> 4,528</a:t>
                  </a:r>
                </a:p>
              </p:txBody>
            </p:sp>
            <p:sp>
              <p:nvSpPr>
                <p:cNvPr id="79" name="Freeform 6">
                  <a:extLst>
                    <a:ext uri="{FF2B5EF4-FFF2-40B4-BE49-F238E27FC236}">
                      <a16:creationId xmlns:a16="http://schemas.microsoft.com/office/drawing/2014/main" id="{CBD2299C-A3A5-29FD-13A9-E40457877E1C}"/>
                    </a:ext>
                  </a:extLst>
                </p:cNvPr>
                <p:cNvSpPr/>
                <p:nvPr/>
              </p:nvSpPr>
              <p:spPr>
                <a:xfrm>
                  <a:off x="13775758" y="4924129"/>
                  <a:ext cx="2318197" cy="503794"/>
                </a:xfrm>
                <a:prstGeom prst="roundRect">
                  <a:avLst/>
                </a:prstGeom>
                <a:solidFill>
                  <a:schemeClr val="accent1">
                    <a:lumMod val="75000"/>
                  </a:schemeClr>
                </a:solidFill>
              </p:spPr>
              <p:txBody>
                <a:bodyPr anchor="ctr"/>
                <a:lstStyle/>
                <a:p>
                  <a:pPr algn="ctr"/>
                  <a:r>
                    <a:rPr lang="en-US" sz="1600" spc="6" dirty="0">
                      <a:solidFill>
                        <a:srgbClr val="F3F6FA"/>
                      </a:solidFill>
                      <a:latin typeface="Aptos" panose="020B0004020202020204" pitchFamily="34" charset="0"/>
                      <a:ea typeface="Barlow"/>
                      <a:cs typeface="Barlow"/>
                      <a:sym typeface="Barlow"/>
                    </a:rPr>
                    <a:t>2,116</a:t>
                  </a:r>
                </a:p>
              </p:txBody>
            </p:sp>
            <p:grpSp>
              <p:nvGrpSpPr>
                <p:cNvPr id="80" name="Group 5">
                  <a:extLst>
                    <a:ext uri="{FF2B5EF4-FFF2-40B4-BE49-F238E27FC236}">
                      <a16:creationId xmlns:a16="http://schemas.microsoft.com/office/drawing/2014/main" id="{0DE37FAF-90D5-0104-CCA8-2EBA66089084}"/>
                    </a:ext>
                  </a:extLst>
                </p:cNvPr>
                <p:cNvGrpSpPr/>
                <p:nvPr/>
              </p:nvGrpSpPr>
              <p:grpSpPr>
                <a:xfrm>
                  <a:off x="11314599" y="5348194"/>
                  <a:ext cx="2377440" cy="731520"/>
                  <a:chOff x="-21207" y="-38100"/>
                  <a:chExt cx="851044" cy="256414"/>
                </a:xfrm>
              </p:grpSpPr>
              <p:sp>
                <p:nvSpPr>
                  <p:cNvPr id="81" name="Freeform 6">
                    <a:extLst>
                      <a:ext uri="{FF2B5EF4-FFF2-40B4-BE49-F238E27FC236}">
                        <a16:creationId xmlns:a16="http://schemas.microsoft.com/office/drawing/2014/main" id="{E150F92C-4B74-B896-1411-A0EA78F7A9C2}"/>
                      </a:ext>
                    </a:extLst>
                  </p:cNvPr>
                  <p:cNvSpPr/>
                  <p:nvPr/>
                </p:nvSpPr>
                <p:spPr>
                  <a:xfrm>
                    <a:off x="-21207" y="16250"/>
                    <a:ext cx="829837" cy="176591"/>
                  </a:xfrm>
                  <a:prstGeom prst="roundRect">
                    <a:avLst/>
                  </a:prstGeom>
                  <a:solidFill>
                    <a:srgbClr val="1C3F60"/>
                  </a:solidFill>
                </p:spPr>
                <p:txBody>
                  <a:bodyPr anchor="ctr"/>
                  <a:lstStyle/>
                  <a:p>
                    <a:pPr algn="ctr"/>
                    <a:r>
                      <a:rPr lang="en-US" sz="1600" spc="6" dirty="0" err="1">
                        <a:solidFill>
                          <a:srgbClr val="F3F6FA"/>
                        </a:solidFill>
                        <a:latin typeface="Aptos" panose="020B0004020202020204" pitchFamily="34" charset="0"/>
                        <a:ea typeface="Barlow"/>
                        <a:cs typeface="Barlow"/>
                        <a:sym typeface="Barlow"/>
                      </a:rPr>
                      <a:t>Enero</a:t>
                    </a:r>
                    <a:r>
                      <a:rPr lang="en-US" sz="1600" spc="6" dirty="0">
                        <a:solidFill>
                          <a:srgbClr val="F3F6FA"/>
                        </a:solidFill>
                        <a:latin typeface="Aptos" panose="020B0004020202020204" pitchFamily="34" charset="0"/>
                        <a:ea typeface="Barlow"/>
                        <a:cs typeface="Barlow"/>
                        <a:sym typeface="Barlow"/>
                      </a:rPr>
                      <a:t> 2023</a:t>
                    </a:r>
                  </a:p>
                </p:txBody>
              </p:sp>
              <p:sp>
                <p:nvSpPr>
                  <p:cNvPr id="82" name="TextBox 7">
                    <a:extLst>
                      <a:ext uri="{FF2B5EF4-FFF2-40B4-BE49-F238E27FC236}">
                        <a16:creationId xmlns:a16="http://schemas.microsoft.com/office/drawing/2014/main" id="{89CF3C0E-9CC5-78C0-23B3-600A79B42B8A}"/>
                      </a:ext>
                    </a:extLst>
                  </p:cNvPr>
                  <p:cNvSpPr txBox="1"/>
                  <p:nvPr/>
                </p:nvSpPr>
                <p:spPr>
                  <a:xfrm>
                    <a:off x="0" y="-38100"/>
                    <a:ext cx="829837" cy="256414"/>
                  </a:xfrm>
                  <a:prstGeom prst="roundRect">
                    <a:avLst/>
                  </a:prstGeom>
                </p:spPr>
                <p:txBody>
                  <a:bodyPr lIns="50800" tIns="50800" rIns="50800" bIns="50800" rtlCol="0" anchor="ctr"/>
                  <a:lstStyle/>
                  <a:p>
                    <a:pPr algn="ctr">
                      <a:lnSpc>
                        <a:spcPts val="2239"/>
                      </a:lnSpc>
                      <a:spcBef>
                        <a:spcPct val="0"/>
                      </a:spcBef>
                    </a:pPr>
                    <a:endParaRPr lang="en-US" sz="1599" spc="6" dirty="0">
                      <a:solidFill>
                        <a:srgbClr val="F3F6FA"/>
                      </a:solidFill>
                      <a:latin typeface="Aptos" panose="020B0004020202020204" pitchFamily="34" charset="0"/>
                      <a:ea typeface="Barlow"/>
                      <a:cs typeface="Barlow"/>
                      <a:sym typeface="Barlow"/>
                    </a:endParaRPr>
                  </a:p>
                </p:txBody>
              </p:sp>
            </p:grpSp>
            <p:sp>
              <p:nvSpPr>
                <p:cNvPr id="83" name="Freeform 6">
                  <a:extLst>
                    <a:ext uri="{FF2B5EF4-FFF2-40B4-BE49-F238E27FC236}">
                      <a16:creationId xmlns:a16="http://schemas.microsoft.com/office/drawing/2014/main" id="{014E6D5E-792C-5D5C-8829-2FE34C8D8BDC}"/>
                    </a:ext>
                  </a:extLst>
                </p:cNvPr>
                <p:cNvSpPr/>
                <p:nvPr/>
              </p:nvSpPr>
              <p:spPr>
                <a:xfrm>
                  <a:off x="13775758" y="5503249"/>
                  <a:ext cx="2318197" cy="503794"/>
                </a:xfrm>
                <a:prstGeom prst="roundRect">
                  <a:avLst/>
                </a:prstGeom>
                <a:solidFill>
                  <a:schemeClr val="accent1">
                    <a:lumMod val="75000"/>
                  </a:schemeClr>
                </a:solidFill>
              </p:spPr>
              <p:txBody>
                <a:bodyPr anchor="ctr"/>
                <a:lstStyle/>
                <a:p>
                  <a:pPr algn="ctr"/>
                  <a:r>
                    <a:rPr lang="en-US" sz="1600" spc="6" dirty="0">
                      <a:solidFill>
                        <a:srgbClr val="F3F6FA"/>
                      </a:solidFill>
                      <a:latin typeface="Aptos" panose="020B0004020202020204" pitchFamily="34" charset="0"/>
                      <a:ea typeface="Barlow"/>
                      <a:cs typeface="Barlow"/>
                      <a:sym typeface="Barlow"/>
                    </a:rPr>
                    <a:t>247</a:t>
                  </a:r>
                </a:p>
              </p:txBody>
            </p:sp>
            <p:grpSp>
              <p:nvGrpSpPr>
                <p:cNvPr id="84" name="Group 5">
                  <a:extLst>
                    <a:ext uri="{FF2B5EF4-FFF2-40B4-BE49-F238E27FC236}">
                      <a16:creationId xmlns:a16="http://schemas.microsoft.com/office/drawing/2014/main" id="{86F590BD-B621-75C3-8D78-18D7F9556CA9}"/>
                    </a:ext>
                  </a:extLst>
                </p:cNvPr>
                <p:cNvGrpSpPr/>
                <p:nvPr/>
              </p:nvGrpSpPr>
              <p:grpSpPr>
                <a:xfrm>
                  <a:off x="11314599" y="5881594"/>
                  <a:ext cx="2377440" cy="731520"/>
                  <a:chOff x="-21207" y="-38100"/>
                  <a:chExt cx="851044" cy="256414"/>
                </a:xfrm>
              </p:grpSpPr>
              <p:sp>
                <p:nvSpPr>
                  <p:cNvPr id="85" name="Freeform 6">
                    <a:extLst>
                      <a:ext uri="{FF2B5EF4-FFF2-40B4-BE49-F238E27FC236}">
                        <a16:creationId xmlns:a16="http://schemas.microsoft.com/office/drawing/2014/main" id="{1B701427-4BB9-4305-B8D3-A481AC7A3BE0}"/>
                      </a:ext>
                    </a:extLst>
                  </p:cNvPr>
                  <p:cNvSpPr/>
                  <p:nvPr/>
                </p:nvSpPr>
                <p:spPr>
                  <a:xfrm>
                    <a:off x="-21207" y="16250"/>
                    <a:ext cx="829837" cy="176591"/>
                  </a:xfrm>
                  <a:prstGeom prst="roundRect">
                    <a:avLst/>
                  </a:prstGeom>
                  <a:solidFill>
                    <a:srgbClr val="1C3F60"/>
                  </a:solidFill>
                </p:spPr>
                <p:txBody>
                  <a:bodyPr anchor="ctr"/>
                  <a:lstStyle/>
                  <a:p>
                    <a:pPr algn="ctr"/>
                    <a:r>
                      <a:rPr lang="en-US" sz="1600" spc="6" dirty="0">
                        <a:solidFill>
                          <a:srgbClr val="F3F6FA"/>
                        </a:solidFill>
                        <a:latin typeface="Aptos" panose="020B0004020202020204" pitchFamily="34" charset="0"/>
                        <a:ea typeface="Barlow"/>
                        <a:cs typeface="Barlow"/>
                        <a:sym typeface="Barlow"/>
                      </a:rPr>
                      <a:t>Abril 2023</a:t>
                    </a:r>
                  </a:p>
                </p:txBody>
              </p:sp>
              <p:sp>
                <p:nvSpPr>
                  <p:cNvPr id="86" name="TextBox 7">
                    <a:extLst>
                      <a:ext uri="{FF2B5EF4-FFF2-40B4-BE49-F238E27FC236}">
                        <a16:creationId xmlns:a16="http://schemas.microsoft.com/office/drawing/2014/main" id="{FD1DE4CC-25A3-564E-B1C5-924265BBB993}"/>
                      </a:ext>
                    </a:extLst>
                  </p:cNvPr>
                  <p:cNvSpPr txBox="1"/>
                  <p:nvPr/>
                </p:nvSpPr>
                <p:spPr>
                  <a:xfrm>
                    <a:off x="0" y="-38100"/>
                    <a:ext cx="829837" cy="256414"/>
                  </a:xfrm>
                  <a:prstGeom prst="roundRect">
                    <a:avLst/>
                  </a:prstGeom>
                </p:spPr>
                <p:txBody>
                  <a:bodyPr lIns="50800" tIns="50800" rIns="50800" bIns="50800" rtlCol="0" anchor="ctr"/>
                  <a:lstStyle/>
                  <a:p>
                    <a:pPr algn="ctr">
                      <a:lnSpc>
                        <a:spcPts val="2239"/>
                      </a:lnSpc>
                      <a:spcBef>
                        <a:spcPct val="0"/>
                      </a:spcBef>
                    </a:pPr>
                    <a:endParaRPr lang="en-US" sz="1599" spc="6" dirty="0">
                      <a:solidFill>
                        <a:srgbClr val="F3F6FA"/>
                      </a:solidFill>
                      <a:latin typeface="Aptos" panose="020B0004020202020204" pitchFamily="34" charset="0"/>
                      <a:ea typeface="Barlow"/>
                      <a:cs typeface="Barlow"/>
                      <a:sym typeface="Barlow"/>
                    </a:endParaRPr>
                  </a:p>
                </p:txBody>
              </p:sp>
            </p:grpSp>
            <p:sp>
              <p:nvSpPr>
                <p:cNvPr id="87" name="Freeform 6">
                  <a:extLst>
                    <a:ext uri="{FF2B5EF4-FFF2-40B4-BE49-F238E27FC236}">
                      <a16:creationId xmlns:a16="http://schemas.microsoft.com/office/drawing/2014/main" id="{6A736E6A-4621-C8AE-CDB0-AC0DCD1873AF}"/>
                    </a:ext>
                  </a:extLst>
                </p:cNvPr>
                <p:cNvSpPr/>
                <p:nvPr/>
              </p:nvSpPr>
              <p:spPr>
                <a:xfrm>
                  <a:off x="13775758" y="6036649"/>
                  <a:ext cx="2318197" cy="503794"/>
                </a:xfrm>
                <a:prstGeom prst="roundRect">
                  <a:avLst/>
                </a:prstGeom>
                <a:solidFill>
                  <a:schemeClr val="accent1">
                    <a:lumMod val="75000"/>
                  </a:schemeClr>
                </a:solidFill>
              </p:spPr>
              <p:txBody>
                <a:bodyPr anchor="ctr"/>
                <a:lstStyle/>
                <a:p>
                  <a:pPr algn="ctr"/>
                  <a:r>
                    <a:rPr lang="en-US" sz="1600" spc="6" dirty="0">
                      <a:solidFill>
                        <a:srgbClr val="F3F6FA"/>
                      </a:solidFill>
                      <a:latin typeface="Aptos" panose="020B0004020202020204" pitchFamily="34" charset="0"/>
                      <a:ea typeface="Barlow"/>
                      <a:cs typeface="Barlow"/>
                      <a:sym typeface="Barlow"/>
                    </a:rPr>
                    <a:t>436</a:t>
                  </a:r>
                </a:p>
              </p:txBody>
            </p:sp>
            <p:sp>
              <p:nvSpPr>
                <p:cNvPr id="91" name="Freeform 6">
                  <a:extLst>
                    <a:ext uri="{FF2B5EF4-FFF2-40B4-BE49-F238E27FC236}">
                      <a16:creationId xmlns:a16="http://schemas.microsoft.com/office/drawing/2014/main" id="{40E7C2A7-FE3E-DCCE-5E95-1A868FCD4782}"/>
                    </a:ext>
                  </a:extLst>
                </p:cNvPr>
                <p:cNvSpPr/>
                <p:nvPr/>
              </p:nvSpPr>
              <p:spPr>
                <a:xfrm>
                  <a:off x="13775758" y="6615769"/>
                  <a:ext cx="2318197" cy="503794"/>
                </a:xfrm>
                <a:prstGeom prst="roundRect">
                  <a:avLst/>
                </a:prstGeom>
                <a:solidFill>
                  <a:schemeClr val="accent1">
                    <a:lumMod val="75000"/>
                  </a:schemeClr>
                </a:solidFill>
              </p:spPr>
              <p:txBody>
                <a:bodyPr anchor="ctr"/>
                <a:lstStyle/>
                <a:p>
                  <a:pPr algn="ctr"/>
                  <a:r>
                    <a:rPr lang="en-US" sz="1600" spc="6" dirty="0">
                      <a:solidFill>
                        <a:srgbClr val="F3F6FA"/>
                      </a:solidFill>
                      <a:latin typeface="Aptos" panose="020B0004020202020204" pitchFamily="34" charset="0"/>
                      <a:ea typeface="Barlow"/>
                      <a:cs typeface="Barlow"/>
                      <a:sym typeface="Barlow"/>
                    </a:rPr>
                    <a:t>505</a:t>
                  </a:r>
                </a:p>
              </p:txBody>
            </p:sp>
            <p:grpSp>
              <p:nvGrpSpPr>
                <p:cNvPr id="92" name="Group 5">
                  <a:extLst>
                    <a:ext uri="{FF2B5EF4-FFF2-40B4-BE49-F238E27FC236}">
                      <a16:creationId xmlns:a16="http://schemas.microsoft.com/office/drawing/2014/main" id="{CCE70163-83CA-BE95-FD64-533836B1ED91}"/>
                    </a:ext>
                  </a:extLst>
                </p:cNvPr>
                <p:cNvGrpSpPr/>
                <p:nvPr/>
              </p:nvGrpSpPr>
              <p:grpSpPr>
                <a:xfrm>
                  <a:off x="11314599" y="4784314"/>
                  <a:ext cx="2377440" cy="731520"/>
                  <a:chOff x="-21207" y="-38100"/>
                  <a:chExt cx="851044" cy="256414"/>
                </a:xfrm>
              </p:grpSpPr>
              <p:sp>
                <p:nvSpPr>
                  <p:cNvPr id="93" name="Freeform 6">
                    <a:extLst>
                      <a:ext uri="{FF2B5EF4-FFF2-40B4-BE49-F238E27FC236}">
                        <a16:creationId xmlns:a16="http://schemas.microsoft.com/office/drawing/2014/main" id="{53C79C5D-23DD-4C9E-4E5A-CA8A5934D38F}"/>
                      </a:ext>
                    </a:extLst>
                  </p:cNvPr>
                  <p:cNvSpPr/>
                  <p:nvPr/>
                </p:nvSpPr>
                <p:spPr>
                  <a:xfrm>
                    <a:off x="-21207" y="16250"/>
                    <a:ext cx="829837" cy="176591"/>
                  </a:xfrm>
                  <a:prstGeom prst="roundRect">
                    <a:avLst/>
                  </a:prstGeom>
                  <a:solidFill>
                    <a:srgbClr val="1C3F60"/>
                  </a:solidFill>
                </p:spPr>
                <p:txBody>
                  <a:bodyPr anchor="ctr"/>
                  <a:lstStyle/>
                  <a:p>
                    <a:pPr algn="ctr"/>
                    <a:r>
                      <a:rPr lang="en-US" sz="1600" spc="6" dirty="0" err="1">
                        <a:solidFill>
                          <a:srgbClr val="F3F6FA"/>
                        </a:solidFill>
                        <a:latin typeface="Aptos" panose="020B0004020202020204" pitchFamily="34" charset="0"/>
                        <a:ea typeface="Barlow"/>
                        <a:cs typeface="Barlow"/>
                        <a:sym typeface="Barlow"/>
                      </a:rPr>
                      <a:t>Noviembre</a:t>
                    </a:r>
                    <a:r>
                      <a:rPr lang="en-US" sz="1600" spc="6" dirty="0">
                        <a:solidFill>
                          <a:srgbClr val="F3F6FA"/>
                        </a:solidFill>
                        <a:latin typeface="Aptos" panose="020B0004020202020204" pitchFamily="34" charset="0"/>
                        <a:ea typeface="Barlow"/>
                        <a:cs typeface="Barlow"/>
                        <a:sym typeface="Barlow"/>
                      </a:rPr>
                      <a:t> 2022</a:t>
                    </a:r>
                  </a:p>
                </p:txBody>
              </p:sp>
              <p:sp>
                <p:nvSpPr>
                  <p:cNvPr id="94" name="TextBox 7">
                    <a:extLst>
                      <a:ext uri="{FF2B5EF4-FFF2-40B4-BE49-F238E27FC236}">
                        <a16:creationId xmlns:a16="http://schemas.microsoft.com/office/drawing/2014/main" id="{07618B21-56BB-CF54-7194-25E3440C636A}"/>
                      </a:ext>
                    </a:extLst>
                  </p:cNvPr>
                  <p:cNvSpPr txBox="1"/>
                  <p:nvPr/>
                </p:nvSpPr>
                <p:spPr>
                  <a:xfrm>
                    <a:off x="0" y="-38100"/>
                    <a:ext cx="829837" cy="256414"/>
                  </a:xfrm>
                  <a:prstGeom prst="roundRect">
                    <a:avLst/>
                  </a:prstGeom>
                </p:spPr>
                <p:txBody>
                  <a:bodyPr lIns="50800" tIns="50800" rIns="50800" bIns="50800" rtlCol="0" anchor="ctr"/>
                  <a:lstStyle/>
                  <a:p>
                    <a:pPr algn="ctr">
                      <a:lnSpc>
                        <a:spcPts val="2239"/>
                      </a:lnSpc>
                      <a:spcBef>
                        <a:spcPct val="0"/>
                      </a:spcBef>
                    </a:pPr>
                    <a:endParaRPr lang="en-US" sz="1599" spc="6" dirty="0">
                      <a:solidFill>
                        <a:srgbClr val="F3F6FA"/>
                      </a:solidFill>
                      <a:latin typeface="Aptos" panose="020B0004020202020204" pitchFamily="34" charset="0"/>
                      <a:ea typeface="Barlow"/>
                      <a:cs typeface="Barlow"/>
                      <a:sym typeface="Barlow"/>
                    </a:endParaRPr>
                  </a:p>
                </p:txBody>
              </p:sp>
            </p:grpSp>
          </p:grpSp>
        </p:grpSp>
      </p:grpSp>
      <p:grpSp>
        <p:nvGrpSpPr>
          <p:cNvPr id="99" name="Grupo 98">
            <a:extLst>
              <a:ext uri="{FF2B5EF4-FFF2-40B4-BE49-F238E27FC236}">
                <a16:creationId xmlns:a16="http://schemas.microsoft.com/office/drawing/2014/main" id="{6665A07C-911F-9E09-E681-204053DA3DD0}"/>
              </a:ext>
            </a:extLst>
          </p:cNvPr>
          <p:cNvGrpSpPr/>
          <p:nvPr/>
        </p:nvGrpSpPr>
        <p:grpSpPr>
          <a:xfrm>
            <a:off x="457200" y="7658100"/>
            <a:ext cx="14706600" cy="1995425"/>
            <a:chOff x="258880" y="7871172"/>
            <a:chExt cx="16850566" cy="1995425"/>
          </a:xfrm>
        </p:grpSpPr>
        <p:sp>
          <p:nvSpPr>
            <p:cNvPr id="25" name="TextBox 25"/>
            <p:cNvSpPr txBox="1"/>
            <p:nvPr/>
          </p:nvSpPr>
          <p:spPr>
            <a:xfrm>
              <a:off x="990600" y="8164537"/>
              <a:ext cx="16042646" cy="147476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342900" indent="-342900">
                <a:lnSpc>
                  <a:spcPts val="2267"/>
                </a:lnSpc>
                <a:buFont typeface="Arial" panose="020B0604020202020204" pitchFamily="34" charset="0"/>
                <a:buChar char="•"/>
              </a:pPr>
              <a:r>
                <a:rPr lang="es-DO" sz="2000" b="1" dirty="0">
                  <a:latin typeface="Aptos" panose="020B0004020202020204" pitchFamily="34" charset="0"/>
                </a:rPr>
                <a:t>El crecimiento no es orgánico en el tiempo:</a:t>
              </a:r>
              <a:r>
                <a:rPr lang="es-DO" sz="2000" dirty="0">
                  <a:latin typeface="Aptos" panose="020B0004020202020204" pitchFamily="34" charset="0"/>
                </a:rPr>
                <a:t> </a:t>
              </a:r>
              <a:r>
                <a:rPr lang="es-DO" sz="2000" u="none" strike="noStrike" spc="68" dirty="0">
                  <a:solidFill>
                    <a:srgbClr val="000000"/>
                  </a:solidFill>
                  <a:latin typeface="Aptos" panose="020B0004020202020204" pitchFamily="34" charset="0"/>
                  <a:ea typeface="Canva Sans"/>
                  <a:cs typeface="Canva Sans"/>
                  <a:sym typeface="Canva Sans"/>
                </a:rPr>
                <a:t>Las impresiones no crecen de forma sostenida con la fecha de publicación. Los picos (oct–nov 2022) indican eventos puntuales o contenidos específicos, no madurez del canal.</a:t>
              </a:r>
            </a:p>
            <a:p>
              <a:pPr algn="l">
                <a:lnSpc>
                  <a:spcPts val="2267"/>
                </a:lnSpc>
              </a:pPr>
              <a:endParaRPr lang="es-DO" sz="2000" u="none" strike="noStrike" spc="68" dirty="0">
                <a:solidFill>
                  <a:srgbClr val="000000"/>
                </a:solidFill>
                <a:latin typeface="Aptos" panose="020B0004020202020204" pitchFamily="34" charset="0"/>
                <a:ea typeface="Canva Sans"/>
                <a:cs typeface="Canva Sans"/>
                <a:sym typeface="Canva Sans"/>
              </a:endParaRPr>
            </a:p>
            <a:p>
              <a:pPr marL="342900" indent="-342900" algn="l">
                <a:lnSpc>
                  <a:spcPts val="2267"/>
                </a:lnSpc>
                <a:buFont typeface="Arial" panose="020B0604020202020204" pitchFamily="34" charset="0"/>
                <a:buChar char="•"/>
              </a:pPr>
              <a:r>
                <a:rPr lang="es-DO" sz="2000" b="1" u="none" strike="noStrike" spc="68" dirty="0">
                  <a:solidFill>
                    <a:srgbClr val="000000"/>
                  </a:solidFill>
                  <a:latin typeface="Aptos" panose="020B0004020202020204" pitchFamily="34" charset="0"/>
                  <a:ea typeface="Canva Sans"/>
                  <a:cs typeface="Canva Sans"/>
                  <a:sym typeface="Canva Sans"/>
                </a:rPr>
                <a:t>El contenido pesa más que la antigüedad: </a:t>
              </a:r>
              <a:r>
                <a:rPr lang="es-DO" sz="2000" u="none" strike="noStrike" spc="68" dirty="0">
                  <a:solidFill>
                    <a:srgbClr val="000000"/>
                  </a:solidFill>
                  <a:latin typeface="Aptos" panose="020B0004020202020204" pitchFamily="34" charset="0"/>
                  <a:ea typeface="Canva Sans"/>
                  <a:cs typeface="Canva Sans"/>
                  <a:sym typeface="Canva Sans"/>
                </a:rPr>
                <a:t>Videos recientes (2023) no superan los picos de 2022, lo que confirma que: Tema + país + CTR explican más el rendimiento que el tiempo online.</a:t>
              </a:r>
            </a:p>
          </p:txBody>
        </p:sp>
        <p:sp>
          <p:nvSpPr>
            <p:cNvPr id="98" name="Rectángulo: esquinas redondeadas 97">
              <a:extLst>
                <a:ext uri="{FF2B5EF4-FFF2-40B4-BE49-F238E27FC236}">
                  <a16:creationId xmlns:a16="http://schemas.microsoft.com/office/drawing/2014/main" id="{78686E8F-57E5-FB88-9F65-80AC243906D1}"/>
                </a:ext>
              </a:extLst>
            </p:cNvPr>
            <p:cNvSpPr/>
            <p:nvPr/>
          </p:nvSpPr>
          <p:spPr>
            <a:xfrm>
              <a:off x="340354" y="7914526"/>
              <a:ext cx="16769092" cy="1952071"/>
            </a:xfrm>
            <a:prstGeom prst="roundRect">
              <a:avLst/>
            </a:prstGeom>
            <a:solidFill>
              <a:srgbClr val="FFC000">
                <a:alpha val="5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DO" dirty="0">
                <a:latin typeface="Aptos" panose="020B0004020202020204" pitchFamily="34" charset="0"/>
              </a:endParaRPr>
            </a:p>
          </p:txBody>
        </p:sp>
        <p:pic>
          <p:nvPicPr>
            <p:cNvPr id="95" name="Picture 2" descr="Bombilla - Iconos gratis de tecnología">
              <a:extLst>
                <a:ext uri="{FF2B5EF4-FFF2-40B4-BE49-F238E27FC236}">
                  <a16:creationId xmlns:a16="http://schemas.microsoft.com/office/drawing/2014/main" id="{742A4383-A13A-745A-CC15-621CF6B304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8880" y="7871172"/>
              <a:ext cx="650246" cy="7000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7" name="TextBox 25">
            <a:extLst>
              <a:ext uri="{FF2B5EF4-FFF2-40B4-BE49-F238E27FC236}">
                <a16:creationId xmlns:a16="http://schemas.microsoft.com/office/drawing/2014/main" id="{3E2B3EF7-18AF-5164-7766-02F328F291A2}"/>
              </a:ext>
            </a:extLst>
          </p:cNvPr>
          <p:cNvSpPr txBox="1"/>
          <p:nvPr/>
        </p:nvSpPr>
        <p:spPr>
          <a:xfrm>
            <a:off x="609600" y="2056805"/>
            <a:ext cx="8870184" cy="43088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s-DO" sz="2000" b="1" dirty="0">
                <a:latin typeface="Aptos" panose="020B0004020202020204" pitchFamily="34" charset="0"/>
              </a:rPr>
              <a:t>Regresión lineal resultados:</a:t>
            </a:r>
            <a:endParaRPr lang="es-DO" sz="2000" dirty="0">
              <a:latin typeface="Aptos" panose="020B0004020202020204" pitchFamily="34" charset="0"/>
            </a:endParaRPr>
          </a:p>
          <a:p>
            <a:r>
              <a:rPr lang="es-DO" sz="2000" b="1" dirty="0">
                <a:latin typeface="Aptos" panose="020B0004020202020204" pitchFamily="34" charset="0"/>
              </a:rPr>
              <a:t>Ecuación:</a:t>
            </a:r>
            <a:r>
              <a:rPr lang="es-DO" sz="2000" dirty="0">
                <a:latin typeface="Aptos" panose="020B0004020202020204" pitchFamily="34" charset="0"/>
              </a:rPr>
              <a:t> y = 35.767x + 81.754</a:t>
            </a:r>
          </a:p>
          <a:p>
            <a:r>
              <a:rPr lang="es-DO" sz="2000" b="1" dirty="0">
                <a:latin typeface="Aptos" panose="020B0004020202020204" pitchFamily="34" charset="0"/>
              </a:rPr>
              <a:t>R²:</a:t>
            </a:r>
            <a:r>
              <a:rPr lang="es-DO" sz="2000" dirty="0">
                <a:latin typeface="Aptos" panose="020B0004020202020204" pitchFamily="34" charset="0"/>
              </a:rPr>
              <a:t> 0.15 → tendencia positiva pero débil</a:t>
            </a:r>
          </a:p>
          <a:p>
            <a:endParaRPr lang="es-DO" sz="2000" b="1" dirty="0">
              <a:latin typeface="Aptos" panose="020B0004020202020204" pitchFamily="34" charset="0"/>
            </a:endParaRPr>
          </a:p>
          <a:p>
            <a:r>
              <a:rPr lang="es-DO" sz="2000" b="1" dirty="0">
                <a:latin typeface="Aptos" panose="020B0004020202020204" pitchFamily="34" charset="0"/>
              </a:rPr>
              <a:t>Interpretación:</a:t>
            </a:r>
            <a:endParaRPr lang="es-DO" sz="2000" dirty="0"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DO" sz="2000" dirty="0">
                <a:latin typeface="Aptos" panose="020B0004020202020204" pitchFamily="34" charset="0"/>
              </a:rPr>
              <a:t>Solo el 15% del crecimiento se explica por el tiempo.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DO" sz="2000" dirty="0">
                <a:latin typeface="Aptos" panose="020B0004020202020204" pitchFamily="34" charset="0"/>
              </a:rPr>
              <a:t>El resto depende de contenido, país y género.</a:t>
            </a:r>
          </a:p>
          <a:p>
            <a:endParaRPr lang="es-DO" sz="2000" b="1" dirty="0">
              <a:latin typeface="Aptos" panose="020B0004020202020204" pitchFamily="34" charset="0"/>
            </a:endParaRPr>
          </a:p>
          <a:p>
            <a:r>
              <a:rPr lang="es-DO" sz="2000" b="1" dirty="0">
                <a:latin typeface="Aptos" panose="020B0004020202020204" pitchFamily="34" charset="0"/>
              </a:rPr>
              <a:t>Estimación próxima:</a:t>
            </a:r>
            <a:endParaRPr lang="es-DO" sz="2000" dirty="0"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DO" sz="2000" dirty="0">
                <a:latin typeface="Aptos" panose="020B0004020202020204" pitchFamily="34" charset="0"/>
              </a:rPr>
              <a:t>Cada nuevo video → +30–40 impresiones.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DO" sz="2000" dirty="0">
                <a:latin typeface="Aptos" panose="020B0004020202020204" pitchFamily="34" charset="0"/>
              </a:rPr>
              <a:t>Rango promedio 2024 (sin cambios de estrategia): 400–600 impresiones por video.</a:t>
            </a:r>
          </a:p>
          <a:p>
            <a:endParaRPr lang="es-DO" sz="2000" dirty="0">
              <a:latin typeface="Aptos" panose="020B0004020202020204" pitchFamily="34" charset="0"/>
            </a:endParaRPr>
          </a:p>
          <a:p>
            <a:r>
              <a:rPr lang="es-DO" sz="2000" b="1" i="1" dirty="0">
                <a:latin typeface="Aptos" panose="020B0004020202020204" pitchFamily="34" charset="0"/>
              </a:rPr>
              <a:t>Nota:</a:t>
            </a:r>
            <a:r>
              <a:rPr lang="es-DO" sz="2000" i="1" dirty="0">
                <a:latin typeface="Aptos" panose="020B0004020202020204" pitchFamily="34" charset="0"/>
              </a:rPr>
              <a:t> No proyectar a largo plazo solo con esta regresión temporal.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1"/>
          <p:cNvGrpSpPr/>
          <p:nvPr/>
        </p:nvGrpSpPr>
        <p:grpSpPr>
          <a:xfrm>
            <a:off x="0" y="9800060"/>
            <a:ext cx="18288000" cy="681061"/>
            <a:chOff x="0" y="0"/>
            <a:chExt cx="6941618" cy="25851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941617" cy="258512"/>
            </a:xfrm>
            <a:custGeom>
              <a:avLst/>
              <a:gdLst/>
              <a:ahLst/>
              <a:cxnLst/>
              <a:rect l="l" t="t" r="r" b="b"/>
              <a:pathLst>
                <a:path w="6941617" h="258512">
                  <a:moveTo>
                    <a:pt x="0" y="0"/>
                  </a:moveTo>
                  <a:lnTo>
                    <a:pt x="6941617" y="0"/>
                  </a:lnTo>
                  <a:lnTo>
                    <a:pt x="6941617" y="258512"/>
                  </a:lnTo>
                  <a:lnTo>
                    <a:pt x="0" y="258512"/>
                  </a:lnTo>
                  <a:close/>
                </a:path>
              </a:pathLst>
            </a:custGeom>
            <a:solidFill>
              <a:srgbClr val="0E73C3"/>
            </a:solidFill>
          </p:spPr>
          <p:txBody>
            <a:bodyPr/>
            <a:lstStyle/>
            <a:p>
              <a:endParaRPr lang="es-DO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19050"/>
              <a:ext cx="6941618" cy="277562"/>
            </a:xfrm>
            <a:prstGeom prst="rect">
              <a:avLst/>
            </a:prstGeom>
          </p:spPr>
          <p:txBody>
            <a:bodyPr lIns="47963" tIns="47963" rIns="47963" bIns="47963" rtlCol="0" anchor="ctr"/>
            <a:lstStyle/>
            <a:p>
              <a:pPr algn="ctr">
                <a:lnSpc>
                  <a:spcPts val="151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0" y="1028700"/>
            <a:ext cx="18288000" cy="359941"/>
            <a:chOff x="0" y="0"/>
            <a:chExt cx="6941618" cy="13662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941617" cy="136624"/>
            </a:xfrm>
            <a:custGeom>
              <a:avLst/>
              <a:gdLst/>
              <a:ahLst/>
              <a:cxnLst/>
              <a:rect l="l" t="t" r="r" b="b"/>
              <a:pathLst>
                <a:path w="6941617" h="136624">
                  <a:moveTo>
                    <a:pt x="0" y="0"/>
                  </a:moveTo>
                  <a:lnTo>
                    <a:pt x="6941617" y="0"/>
                  </a:lnTo>
                  <a:lnTo>
                    <a:pt x="6941617" y="136624"/>
                  </a:lnTo>
                  <a:lnTo>
                    <a:pt x="0" y="136624"/>
                  </a:lnTo>
                  <a:close/>
                </a:path>
              </a:pathLst>
            </a:custGeom>
            <a:solidFill>
              <a:srgbClr val="D6EBFB"/>
            </a:solidFill>
          </p:spPr>
          <p:txBody>
            <a:bodyPr/>
            <a:lstStyle/>
            <a:p>
              <a:endParaRPr lang="es-DO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6941618" cy="155674"/>
            </a:xfrm>
            <a:prstGeom prst="rect">
              <a:avLst/>
            </a:prstGeom>
          </p:spPr>
          <p:txBody>
            <a:bodyPr lIns="47963" tIns="47963" rIns="47963" bIns="47963" rtlCol="0" anchor="ctr"/>
            <a:lstStyle/>
            <a:p>
              <a:pPr algn="ctr">
                <a:lnSpc>
                  <a:spcPts val="1519"/>
                </a:lnSpc>
              </a:pPr>
              <a:endParaRPr/>
            </a:p>
          </p:txBody>
        </p:sp>
      </p:grpSp>
      <p:sp>
        <p:nvSpPr>
          <p:cNvPr id="68" name="Rectángulo 67">
            <a:extLst>
              <a:ext uri="{FF2B5EF4-FFF2-40B4-BE49-F238E27FC236}">
                <a16:creationId xmlns:a16="http://schemas.microsoft.com/office/drawing/2014/main" id="{70E4D594-C3CF-9471-B5B8-09986F7EBAEF}"/>
              </a:ext>
            </a:extLst>
          </p:cNvPr>
          <p:cNvSpPr/>
          <p:nvPr/>
        </p:nvSpPr>
        <p:spPr>
          <a:xfrm>
            <a:off x="1371600" y="2183977"/>
            <a:ext cx="2606040" cy="2197523"/>
          </a:xfrm>
          <a:prstGeom prst="rect">
            <a:avLst/>
          </a:prstGeom>
          <a:solidFill>
            <a:schemeClr val="accent1">
              <a:lumMod val="75000"/>
            </a:scheme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 dirty="0">
              <a:latin typeface="Aptos" panose="020B0004020202020204" pitchFamily="34" charset="0"/>
            </a:endParaRPr>
          </a:p>
        </p:txBody>
      </p:sp>
      <p:sp>
        <p:nvSpPr>
          <p:cNvPr id="69" name="Rectángulo 68">
            <a:extLst>
              <a:ext uri="{FF2B5EF4-FFF2-40B4-BE49-F238E27FC236}">
                <a16:creationId xmlns:a16="http://schemas.microsoft.com/office/drawing/2014/main" id="{710344E4-32F0-7A4C-C81A-37C7CC7323E6}"/>
              </a:ext>
            </a:extLst>
          </p:cNvPr>
          <p:cNvSpPr/>
          <p:nvPr/>
        </p:nvSpPr>
        <p:spPr>
          <a:xfrm>
            <a:off x="5910239" y="2183977"/>
            <a:ext cx="2606040" cy="2197523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>
              <a:latin typeface="Aptos" panose="020B0004020202020204" pitchFamily="34" charset="0"/>
            </a:endParaRPr>
          </a:p>
        </p:txBody>
      </p:sp>
      <p:sp>
        <p:nvSpPr>
          <p:cNvPr id="70" name="Rectángulo 69">
            <a:extLst>
              <a:ext uri="{FF2B5EF4-FFF2-40B4-BE49-F238E27FC236}">
                <a16:creationId xmlns:a16="http://schemas.microsoft.com/office/drawing/2014/main" id="{479167F4-9586-BB68-72AC-0167CE9EA406}"/>
              </a:ext>
            </a:extLst>
          </p:cNvPr>
          <p:cNvSpPr/>
          <p:nvPr/>
        </p:nvSpPr>
        <p:spPr>
          <a:xfrm>
            <a:off x="10448878" y="2183977"/>
            <a:ext cx="2606040" cy="2197523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>
              <a:latin typeface="Aptos" panose="020B0004020202020204" pitchFamily="34" charset="0"/>
            </a:endParaRPr>
          </a:p>
        </p:txBody>
      </p:sp>
      <p:sp>
        <p:nvSpPr>
          <p:cNvPr id="71" name="Rectángulo 70">
            <a:extLst>
              <a:ext uri="{FF2B5EF4-FFF2-40B4-BE49-F238E27FC236}">
                <a16:creationId xmlns:a16="http://schemas.microsoft.com/office/drawing/2014/main" id="{A6429963-CE39-1AF9-0E61-F73E98F33172}"/>
              </a:ext>
            </a:extLst>
          </p:cNvPr>
          <p:cNvSpPr/>
          <p:nvPr/>
        </p:nvSpPr>
        <p:spPr>
          <a:xfrm>
            <a:off x="14829229" y="2246782"/>
            <a:ext cx="2606040" cy="2197523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 dirty="0">
              <a:latin typeface="Aptos" panose="020B0004020202020204" pitchFamily="34" charset="0"/>
            </a:endParaRPr>
          </a:p>
        </p:txBody>
      </p:sp>
      <p:grpSp>
        <p:nvGrpSpPr>
          <p:cNvPr id="76" name="Grupo 75">
            <a:extLst>
              <a:ext uri="{FF2B5EF4-FFF2-40B4-BE49-F238E27FC236}">
                <a16:creationId xmlns:a16="http://schemas.microsoft.com/office/drawing/2014/main" id="{5CE59C14-1676-C46A-1650-E574B79A6D71}"/>
              </a:ext>
            </a:extLst>
          </p:cNvPr>
          <p:cNvGrpSpPr/>
          <p:nvPr/>
        </p:nvGrpSpPr>
        <p:grpSpPr>
          <a:xfrm>
            <a:off x="1447800" y="4533898"/>
            <a:ext cx="2862098" cy="3807948"/>
            <a:chOff x="1328902" y="5917393"/>
            <a:chExt cx="2862098" cy="3516508"/>
          </a:xfrm>
        </p:grpSpPr>
        <p:sp>
          <p:nvSpPr>
            <p:cNvPr id="77" name="TextBox 28">
              <a:extLst>
                <a:ext uri="{FF2B5EF4-FFF2-40B4-BE49-F238E27FC236}">
                  <a16:creationId xmlns:a16="http://schemas.microsoft.com/office/drawing/2014/main" id="{AD23206E-808F-B548-ED63-C8FB46F872B8}"/>
                </a:ext>
              </a:extLst>
            </p:cNvPr>
            <p:cNvSpPr txBox="1"/>
            <p:nvPr/>
          </p:nvSpPr>
          <p:spPr>
            <a:xfrm>
              <a:off x="1439738" y="6892510"/>
              <a:ext cx="2555373" cy="8526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1835"/>
                </a:lnSpc>
              </a:pPr>
              <a:r>
                <a:rPr lang="es-DO" sz="1500" u="none" strike="noStrike" spc="55" dirty="0">
                  <a:solidFill>
                    <a:srgbClr val="000000"/>
                  </a:solidFill>
                  <a:latin typeface="Aptos" panose="020B0004020202020204" pitchFamily="34" charset="0"/>
                  <a:ea typeface="Canva Sans"/>
                  <a:cs typeface="Canva Sans"/>
                  <a:sym typeface="Canva Sans"/>
                </a:rPr>
                <a:t>Asignar </a:t>
              </a:r>
              <a:r>
                <a:rPr lang="es-DO" sz="1500" b="1" u="none" strike="noStrike" spc="55" dirty="0">
                  <a:solidFill>
                    <a:srgbClr val="000000"/>
                  </a:solidFill>
                  <a:latin typeface="Aptos" panose="020B0004020202020204" pitchFamily="34" charset="0"/>
                  <a:ea typeface="Canva Sans"/>
                  <a:cs typeface="Canva Sans"/>
                  <a:sym typeface="Canva Sans"/>
                </a:rPr>
                <a:t>mayor presupuesto de promoción y producción a contenido </a:t>
              </a:r>
              <a:r>
                <a:rPr lang="es-DO" sz="1500" b="1" u="none" strike="noStrike" spc="55" dirty="0" err="1">
                  <a:solidFill>
                    <a:srgbClr val="000000"/>
                  </a:solidFill>
                  <a:latin typeface="Aptos" panose="020B0004020202020204" pitchFamily="34" charset="0"/>
                  <a:ea typeface="Canva Sans"/>
                  <a:cs typeface="Canva Sans"/>
                  <a:sym typeface="Canva Sans"/>
                </a:rPr>
                <a:t>Travel</a:t>
              </a:r>
              <a:r>
                <a:rPr lang="es-DO" sz="1500" u="none" strike="noStrike" spc="55" dirty="0">
                  <a:solidFill>
                    <a:srgbClr val="000000"/>
                  </a:solidFill>
                  <a:latin typeface="Aptos" panose="020B0004020202020204" pitchFamily="34" charset="0"/>
                  <a:ea typeface="Canva Sans"/>
                  <a:cs typeface="Canva Sans"/>
                  <a:sym typeface="Canva Sans"/>
                </a:rPr>
                <a:t>, especialmente en EU y USA.</a:t>
              </a:r>
              <a:endParaRPr lang="en-US" sz="1500" u="none" strike="noStrike" spc="55" dirty="0">
                <a:solidFill>
                  <a:srgbClr val="000000"/>
                </a:solidFill>
                <a:latin typeface="Aptos" panose="020B0004020202020204" pitchFamily="34" charset="0"/>
                <a:ea typeface="Canva Sans"/>
                <a:cs typeface="Canva Sans"/>
                <a:sym typeface="Canva Sans"/>
              </a:endParaRPr>
            </a:p>
          </p:txBody>
        </p:sp>
        <p:sp>
          <p:nvSpPr>
            <p:cNvPr id="78" name="TextBox 33">
              <a:extLst>
                <a:ext uri="{FF2B5EF4-FFF2-40B4-BE49-F238E27FC236}">
                  <a16:creationId xmlns:a16="http://schemas.microsoft.com/office/drawing/2014/main" id="{05C7F1FA-5FFB-F56C-0201-C81B3F10309C}"/>
                </a:ext>
              </a:extLst>
            </p:cNvPr>
            <p:cNvSpPr txBox="1"/>
            <p:nvPr/>
          </p:nvSpPr>
          <p:spPr>
            <a:xfrm>
              <a:off x="1328902" y="5917393"/>
              <a:ext cx="2601610" cy="761201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815"/>
                </a:lnSpc>
              </a:pPr>
              <a:r>
                <a:rPr lang="es-DO" b="1" dirty="0">
                  <a:solidFill>
                    <a:srgbClr val="0E73C3"/>
                  </a:solidFill>
                  <a:latin typeface="Aptos" panose="020B0004020202020204" pitchFamily="34" charset="0"/>
                </a:rPr>
                <a:t>Priorizar </a:t>
              </a:r>
              <a:r>
                <a:rPr lang="es-DO" b="1" dirty="0" err="1">
                  <a:solidFill>
                    <a:srgbClr val="0E73C3"/>
                  </a:solidFill>
                  <a:latin typeface="Aptos" panose="020B0004020202020204" pitchFamily="34" charset="0"/>
                </a:rPr>
                <a:t>Travel</a:t>
              </a:r>
              <a:r>
                <a:rPr lang="es-DO" b="1" dirty="0">
                  <a:solidFill>
                    <a:srgbClr val="0E73C3"/>
                  </a:solidFill>
                  <a:latin typeface="Aptos" panose="020B0004020202020204" pitchFamily="34" charset="0"/>
                </a:rPr>
                <a:t> como motor de crecimiento</a:t>
              </a:r>
              <a:endParaRPr lang="en-US" b="1" spc="84" dirty="0">
                <a:solidFill>
                  <a:srgbClr val="0E73C3"/>
                </a:solidFill>
                <a:latin typeface="Aptos" panose="020B0004020202020204" pitchFamily="34" charset="0"/>
                <a:ea typeface="Canva Sans Bold"/>
                <a:cs typeface="Canva Sans Bold"/>
                <a:sym typeface="Canva Sans Bold"/>
              </a:endParaRPr>
            </a:p>
          </p:txBody>
        </p:sp>
        <p:sp>
          <p:nvSpPr>
            <p:cNvPr id="79" name="CuadroTexto 78">
              <a:extLst>
                <a:ext uri="{FF2B5EF4-FFF2-40B4-BE49-F238E27FC236}">
                  <a16:creationId xmlns:a16="http://schemas.microsoft.com/office/drawing/2014/main" id="{3E900ABB-7801-D9EA-3DCD-6E7B7ABA0FD1}"/>
                </a:ext>
              </a:extLst>
            </p:cNvPr>
            <p:cNvSpPr txBox="1"/>
            <p:nvPr/>
          </p:nvSpPr>
          <p:spPr>
            <a:xfrm>
              <a:off x="1405102" y="8069640"/>
              <a:ext cx="2785898" cy="136426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DO" sz="1500" b="1" dirty="0" err="1">
                  <a:latin typeface="Aptos" panose="020B0004020202020204" pitchFamily="34" charset="0"/>
                </a:rPr>
                <a:t>Travel</a:t>
              </a:r>
              <a:r>
                <a:rPr lang="es-DO" sz="1500" b="1" dirty="0">
                  <a:latin typeface="Aptos" panose="020B0004020202020204" pitchFamily="34" charset="0"/>
                </a:rPr>
                <a:t> concentra: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DO" sz="1500" dirty="0">
                  <a:latin typeface="Aptos" panose="020B0004020202020204" pitchFamily="34" charset="0"/>
                </a:rPr>
                <a:t>Mayor CTR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DO" sz="1500" dirty="0">
                  <a:latin typeface="Aptos" panose="020B0004020202020204" pitchFamily="34" charset="0"/>
                </a:rPr>
                <a:t>Mayor volumen de impresiones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DO" sz="1500" dirty="0">
                  <a:latin typeface="Aptos" panose="020B0004020202020204" pitchFamily="34" charset="0"/>
                </a:rPr>
                <a:t>Mayor </a:t>
              </a:r>
              <a:r>
                <a:rPr lang="es-DO" sz="1500" dirty="0" err="1">
                  <a:latin typeface="Aptos" panose="020B0004020202020204" pitchFamily="34" charset="0"/>
                </a:rPr>
                <a:t>engagement</a:t>
              </a:r>
              <a:r>
                <a:rPr lang="es-DO" sz="1500" dirty="0">
                  <a:latin typeface="Aptos" panose="020B0004020202020204" pitchFamily="34" charset="0"/>
                </a:rPr>
                <a:t> por usuario</a:t>
              </a:r>
            </a:p>
          </p:txBody>
        </p:sp>
      </p:grpSp>
      <p:grpSp>
        <p:nvGrpSpPr>
          <p:cNvPr id="104" name="Grupo 103">
            <a:extLst>
              <a:ext uri="{FF2B5EF4-FFF2-40B4-BE49-F238E27FC236}">
                <a16:creationId xmlns:a16="http://schemas.microsoft.com/office/drawing/2014/main" id="{73F00CB6-A7DD-BCB1-2073-54FC759FABB3}"/>
              </a:ext>
            </a:extLst>
          </p:cNvPr>
          <p:cNvGrpSpPr/>
          <p:nvPr/>
        </p:nvGrpSpPr>
        <p:grpSpPr>
          <a:xfrm>
            <a:off x="14797362" y="4608598"/>
            <a:ext cx="2785898" cy="2760835"/>
            <a:chOff x="14955649" y="5764993"/>
            <a:chExt cx="2785898" cy="2760835"/>
          </a:xfrm>
        </p:grpSpPr>
        <p:grpSp>
          <p:nvGrpSpPr>
            <p:cNvPr id="84" name="Grupo 83">
              <a:extLst>
                <a:ext uri="{FF2B5EF4-FFF2-40B4-BE49-F238E27FC236}">
                  <a16:creationId xmlns:a16="http://schemas.microsoft.com/office/drawing/2014/main" id="{B6AD2A9D-E36A-BB48-3428-B9945D4574FF}"/>
                </a:ext>
              </a:extLst>
            </p:cNvPr>
            <p:cNvGrpSpPr/>
            <p:nvPr/>
          </p:nvGrpSpPr>
          <p:grpSpPr>
            <a:xfrm>
              <a:off x="14955649" y="5764993"/>
              <a:ext cx="2785898" cy="1643100"/>
              <a:chOff x="1328900" y="5917393"/>
              <a:chExt cx="2785898" cy="1643100"/>
            </a:xfrm>
          </p:grpSpPr>
          <p:sp>
            <p:nvSpPr>
              <p:cNvPr id="86" name="TextBox 33">
                <a:extLst>
                  <a:ext uri="{FF2B5EF4-FFF2-40B4-BE49-F238E27FC236}">
                    <a16:creationId xmlns:a16="http://schemas.microsoft.com/office/drawing/2014/main" id="{B93480C6-BD34-48AC-03E2-1EAC709FA15D}"/>
                  </a:ext>
                </a:extLst>
              </p:cNvPr>
              <p:cNvSpPr txBox="1"/>
              <p:nvPr/>
            </p:nvSpPr>
            <p:spPr>
              <a:xfrm>
                <a:off x="1328901" y="5917393"/>
                <a:ext cx="2785897" cy="1158473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2815"/>
                  </a:lnSpc>
                </a:pPr>
                <a:r>
                  <a:rPr lang="es-DO" b="1" dirty="0">
                    <a:solidFill>
                      <a:srgbClr val="0E73C3"/>
                    </a:solidFill>
                    <a:latin typeface="Aptos" panose="020B0004020202020204" pitchFamily="34" charset="0"/>
                  </a:rPr>
                  <a:t>Usar </a:t>
                </a:r>
                <a:r>
                  <a:rPr lang="es-DO" b="1" dirty="0" err="1">
                    <a:solidFill>
                      <a:srgbClr val="0E73C3"/>
                    </a:solidFill>
                    <a:latin typeface="Aptos" panose="020B0004020202020204" pitchFamily="34" charset="0"/>
                  </a:rPr>
                  <a:t>benchmarks</a:t>
                </a:r>
                <a:r>
                  <a:rPr lang="es-DO" b="1" dirty="0">
                    <a:solidFill>
                      <a:srgbClr val="0E73C3"/>
                    </a:solidFill>
                    <a:latin typeface="Aptos" panose="020B0004020202020204" pitchFamily="34" charset="0"/>
                  </a:rPr>
                  <a:t> por género en lugar de proyecciones globales.</a:t>
                </a:r>
                <a:endParaRPr lang="en-US" b="1" spc="84" dirty="0">
                  <a:solidFill>
                    <a:srgbClr val="0E73C3"/>
                  </a:solidFill>
                  <a:latin typeface="Aptos" panose="020B0004020202020204" pitchFamily="34" charset="0"/>
                  <a:ea typeface="Canva Sans Bold"/>
                  <a:cs typeface="Canva Sans Bold"/>
                  <a:sym typeface="Canva Sans Bold"/>
                </a:endParaRPr>
              </a:p>
            </p:txBody>
          </p:sp>
          <p:sp>
            <p:nvSpPr>
              <p:cNvPr id="87" name="CuadroTexto 86">
                <a:extLst>
                  <a:ext uri="{FF2B5EF4-FFF2-40B4-BE49-F238E27FC236}">
                    <a16:creationId xmlns:a16="http://schemas.microsoft.com/office/drawing/2014/main" id="{F78A3EE0-D37B-704B-DA99-08600FE999A8}"/>
                  </a:ext>
                </a:extLst>
              </p:cNvPr>
              <p:cNvSpPr txBox="1"/>
              <p:nvPr/>
            </p:nvSpPr>
            <p:spPr>
              <a:xfrm>
                <a:off x="1328900" y="7221939"/>
                <a:ext cx="278589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endParaRPr lang="es-DO" sz="1600" dirty="0">
                  <a:latin typeface="Aptos" panose="020B0004020202020204" pitchFamily="34" charset="0"/>
                </a:endParaRPr>
              </a:p>
            </p:txBody>
          </p:sp>
        </p:grpSp>
        <p:sp>
          <p:nvSpPr>
            <p:cNvPr id="95" name="CuadroTexto 94">
              <a:extLst>
                <a:ext uri="{FF2B5EF4-FFF2-40B4-BE49-F238E27FC236}">
                  <a16:creationId xmlns:a16="http://schemas.microsoft.com/office/drawing/2014/main" id="{463619C1-D641-A650-EE4E-2DB9B5FD5DCB}"/>
                </a:ext>
              </a:extLst>
            </p:cNvPr>
            <p:cNvSpPr txBox="1"/>
            <p:nvPr/>
          </p:nvSpPr>
          <p:spPr>
            <a:xfrm>
              <a:off x="15034482" y="7048500"/>
              <a:ext cx="2643918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DO" sz="1500" dirty="0">
                  <a:latin typeface="Aptos" panose="020B0004020202020204" pitchFamily="34" charset="0"/>
                </a:rPr>
                <a:t>Se </a:t>
              </a:r>
              <a:r>
                <a:rPr lang="es-DO" sz="1500" b="1" dirty="0">
                  <a:latin typeface="Aptos" panose="020B0004020202020204" pitchFamily="34" charset="0"/>
                </a:rPr>
                <a:t>observa tendencia positiva en videos más recientes, </a:t>
              </a:r>
              <a:r>
                <a:rPr lang="es-DO" sz="1500" dirty="0">
                  <a:latin typeface="Aptos" panose="020B0004020202020204" pitchFamily="34" charset="0"/>
                </a:rPr>
                <a:t>pero con alta variabilidad. La performance depende más del tipo de contenido que de la fecha.</a:t>
              </a:r>
            </a:p>
          </p:txBody>
        </p:sp>
      </p:grpSp>
      <p:grpSp>
        <p:nvGrpSpPr>
          <p:cNvPr id="100" name="Grupo 99">
            <a:extLst>
              <a:ext uri="{FF2B5EF4-FFF2-40B4-BE49-F238E27FC236}">
                <a16:creationId xmlns:a16="http://schemas.microsoft.com/office/drawing/2014/main" id="{3F2E4A93-2583-CD24-EF56-3D7CBBD243D5}"/>
              </a:ext>
            </a:extLst>
          </p:cNvPr>
          <p:cNvGrpSpPr/>
          <p:nvPr/>
        </p:nvGrpSpPr>
        <p:grpSpPr>
          <a:xfrm>
            <a:off x="10376363" y="4533900"/>
            <a:ext cx="2862098" cy="2819400"/>
            <a:chOff x="10376363" y="5753100"/>
            <a:chExt cx="2862098" cy="2819400"/>
          </a:xfrm>
        </p:grpSpPr>
        <p:grpSp>
          <p:nvGrpSpPr>
            <p:cNvPr id="80" name="Grupo 79">
              <a:extLst>
                <a:ext uri="{FF2B5EF4-FFF2-40B4-BE49-F238E27FC236}">
                  <a16:creationId xmlns:a16="http://schemas.microsoft.com/office/drawing/2014/main" id="{F97B1FCE-E0C7-D4D2-99E1-A9B766BE9BCF}"/>
                </a:ext>
              </a:extLst>
            </p:cNvPr>
            <p:cNvGrpSpPr/>
            <p:nvPr/>
          </p:nvGrpSpPr>
          <p:grpSpPr>
            <a:xfrm>
              <a:off x="10376363" y="5753100"/>
              <a:ext cx="2862098" cy="2490801"/>
              <a:chOff x="1328902" y="5917393"/>
              <a:chExt cx="2862098" cy="2490801"/>
            </a:xfrm>
          </p:grpSpPr>
          <p:sp>
            <p:nvSpPr>
              <p:cNvPr id="81" name="TextBox 28">
                <a:extLst>
                  <a:ext uri="{FF2B5EF4-FFF2-40B4-BE49-F238E27FC236}">
                    <a16:creationId xmlns:a16="http://schemas.microsoft.com/office/drawing/2014/main" id="{F6D12D81-93D3-CEFA-C495-E18EAD389ABE}"/>
                  </a:ext>
                </a:extLst>
              </p:cNvPr>
              <p:cNvSpPr txBox="1"/>
              <p:nvPr/>
            </p:nvSpPr>
            <p:spPr>
              <a:xfrm>
                <a:off x="1468139" y="6892510"/>
                <a:ext cx="2606039" cy="692497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just">
                  <a:lnSpc>
                    <a:spcPts val="1835"/>
                  </a:lnSpc>
                </a:pPr>
                <a:r>
                  <a:rPr lang="es-DO" sz="1500" u="none" strike="noStrike" spc="55" dirty="0">
                    <a:solidFill>
                      <a:srgbClr val="000000"/>
                    </a:solidFill>
                    <a:latin typeface="Aptos" panose="020B0004020202020204" pitchFamily="34" charset="0"/>
                    <a:ea typeface="Canva Sans"/>
                    <a:cs typeface="Canva Sans"/>
                    <a:sym typeface="Canva Sans"/>
                  </a:rPr>
                  <a:t>Usar </a:t>
                </a:r>
                <a:r>
                  <a:rPr lang="es-DO" sz="1500" b="1" u="none" strike="noStrike" spc="55" dirty="0">
                    <a:solidFill>
                      <a:srgbClr val="000000"/>
                    </a:solidFill>
                    <a:latin typeface="Aptos" panose="020B0004020202020204" pitchFamily="34" charset="0"/>
                    <a:ea typeface="Canva Sans"/>
                    <a:cs typeface="Canva Sans"/>
                    <a:sym typeface="Canva Sans"/>
                  </a:rPr>
                  <a:t>Film como contenido de branding</a:t>
                </a:r>
                <a:r>
                  <a:rPr lang="es-DO" sz="1500" u="none" strike="noStrike" spc="55" dirty="0">
                    <a:solidFill>
                      <a:srgbClr val="000000"/>
                    </a:solidFill>
                    <a:latin typeface="Aptos" panose="020B0004020202020204" pitchFamily="34" charset="0"/>
                    <a:ea typeface="Canva Sans"/>
                    <a:cs typeface="Canva Sans"/>
                    <a:sym typeface="Canva Sans"/>
                  </a:rPr>
                  <a:t>, no de adquisición.</a:t>
                </a:r>
                <a:endParaRPr lang="en-US" sz="1500" u="none" strike="noStrike" spc="55" dirty="0">
                  <a:solidFill>
                    <a:srgbClr val="000000"/>
                  </a:solidFill>
                  <a:latin typeface="Aptos" panose="020B0004020202020204" pitchFamily="34" charset="0"/>
                  <a:ea typeface="Canva Sans"/>
                  <a:cs typeface="Canva Sans"/>
                  <a:sym typeface="Canva Sans"/>
                </a:endParaRPr>
              </a:p>
            </p:txBody>
          </p:sp>
          <p:sp>
            <p:nvSpPr>
              <p:cNvPr id="82" name="TextBox 33">
                <a:extLst>
                  <a:ext uri="{FF2B5EF4-FFF2-40B4-BE49-F238E27FC236}">
                    <a16:creationId xmlns:a16="http://schemas.microsoft.com/office/drawing/2014/main" id="{DB87060A-FCA9-0BE9-D98D-B7F345E7F569}"/>
                  </a:ext>
                </a:extLst>
              </p:cNvPr>
              <p:cNvSpPr txBox="1"/>
              <p:nvPr/>
            </p:nvSpPr>
            <p:spPr>
              <a:xfrm>
                <a:off x="1328902" y="5917393"/>
                <a:ext cx="2601610" cy="761201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2815"/>
                  </a:lnSpc>
                </a:pPr>
                <a:r>
                  <a:rPr lang="es-DO" b="1" dirty="0">
                    <a:solidFill>
                      <a:srgbClr val="0E73C3"/>
                    </a:solidFill>
                    <a:latin typeface="Aptos" panose="020B0004020202020204" pitchFamily="34" charset="0"/>
                  </a:rPr>
                  <a:t>Replantear el género Film</a:t>
                </a:r>
                <a:endParaRPr lang="en-US" b="1" spc="84" dirty="0">
                  <a:solidFill>
                    <a:srgbClr val="0E73C3"/>
                  </a:solidFill>
                  <a:latin typeface="Aptos" panose="020B0004020202020204" pitchFamily="34" charset="0"/>
                  <a:ea typeface="Canva Sans Bold"/>
                  <a:cs typeface="Canva Sans Bold"/>
                  <a:sym typeface="Canva Sans Bold"/>
                </a:endParaRPr>
              </a:p>
            </p:txBody>
          </p:sp>
          <p:sp>
            <p:nvSpPr>
              <p:cNvPr id="83" name="CuadroTexto 82">
                <a:extLst>
                  <a:ext uri="{FF2B5EF4-FFF2-40B4-BE49-F238E27FC236}">
                    <a16:creationId xmlns:a16="http://schemas.microsoft.com/office/drawing/2014/main" id="{A9B4E904-1B89-1463-6CFA-8266D9B19547}"/>
                  </a:ext>
                </a:extLst>
              </p:cNvPr>
              <p:cNvSpPr txBox="1"/>
              <p:nvPr/>
            </p:nvSpPr>
            <p:spPr>
              <a:xfrm>
                <a:off x="1405102" y="8069640"/>
                <a:ext cx="278589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endParaRPr lang="es-DO" sz="1600" dirty="0">
                  <a:latin typeface="Aptos" panose="020B0004020202020204" pitchFamily="34" charset="0"/>
                </a:endParaRPr>
              </a:p>
            </p:txBody>
          </p:sp>
        </p:grpSp>
        <p:sp>
          <p:nvSpPr>
            <p:cNvPr id="97" name="Rectangle 6">
              <a:extLst>
                <a:ext uri="{FF2B5EF4-FFF2-40B4-BE49-F238E27FC236}">
                  <a16:creationId xmlns:a16="http://schemas.microsoft.com/office/drawing/2014/main" id="{8023D74D-A9A2-A4A9-8CA7-A7557006F1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48878" y="7556837"/>
              <a:ext cx="2672761" cy="10156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s-DO" altLang="es-DO" sz="15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ptos" panose="020B0004020202020204" pitchFamily="34" charset="0"/>
                </a:rPr>
                <a:t>Bajo CTR en todos los países.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s-DO" altLang="es-DO" sz="15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ptos" panose="020B0004020202020204" pitchFamily="34" charset="0"/>
                </a:rPr>
                <a:t>Menor impacto en impresiones.</a:t>
              </a:r>
            </a:p>
          </p:txBody>
        </p:sp>
      </p:grpSp>
      <p:grpSp>
        <p:nvGrpSpPr>
          <p:cNvPr id="99" name="Grupo 98">
            <a:extLst>
              <a:ext uri="{FF2B5EF4-FFF2-40B4-BE49-F238E27FC236}">
                <a16:creationId xmlns:a16="http://schemas.microsoft.com/office/drawing/2014/main" id="{5160B97F-E7AC-8754-7053-EE1470BF3BFF}"/>
              </a:ext>
            </a:extLst>
          </p:cNvPr>
          <p:cNvGrpSpPr/>
          <p:nvPr/>
        </p:nvGrpSpPr>
        <p:grpSpPr>
          <a:xfrm>
            <a:off x="5891952" y="4533900"/>
            <a:ext cx="2880385" cy="3519845"/>
            <a:chOff x="5891952" y="5753100"/>
            <a:chExt cx="2880385" cy="3519845"/>
          </a:xfrm>
        </p:grpSpPr>
        <p:grpSp>
          <p:nvGrpSpPr>
            <p:cNvPr id="75" name="Grupo 74">
              <a:extLst>
                <a:ext uri="{FF2B5EF4-FFF2-40B4-BE49-F238E27FC236}">
                  <a16:creationId xmlns:a16="http://schemas.microsoft.com/office/drawing/2014/main" id="{88FD87CA-F118-5FEA-4D30-4DCE9F39BA6C}"/>
                </a:ext>
              </a:extLst>
            </p:cNvPr>
            <p:cNvGrpSpPr/>
            <p:nvPr/>
          </p:nvGrpSpPr>
          <p:grpSpPr>
            <a:xfrm>
              <a:off x="5910239" y="5753100"/>
              <a:ext cx="2862098" cy="2490801"/>
              <a:chOff x="1328902" y="5917393"/>
              <a:chExt cx="2862098" cy="2490801"/>
            </a:xfrm>
          </p:grpSpPr>
          <p:sp>
            <p:nvSpPr>
              <p:cNvPr id="28" name="TextBox 28"/>
              <p:cNvSpPr txBox="1"/>
              <p:nvPr/>
            </p:nvSpPr>
            <p:spPr>
              <a:xfrm>
                <a:off x="1439738" y="6892510"/>
                <a:ext cx="2555373" cy="692497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just">
                  <a:lnSpc>
                    <a:spcPts val="1835"/>
                  </a:lnSpc>
                </a:pPr>
                <a:r>
                  <a:rPr lang="es-DO" sz="1500" u="none" strike="noStrike" spc="55" dirty="0">
                    <a:solidFill>
                      <a:srgbClr val="000000"/>
                    </a:solidFill>
                    <a:latin typeface="Aptos" panose="020B0004020202020204" pitchFamily="34" charset="0"/>
                    <a:ea typeface="Canva Sans"/>
                    <a:cs typeface="Canva Sans"/>
                    <a:sym typeface="Canva Sans"/>
                  </a:rPr>
                  <a:t>No replicar la misma estrategia global</a:t>
                </a:r>
                <a:r>
                  <a:rPr lang="es-DO" sz="1500" b="1" u="none" strike="noStrike" spc="55" dirty="0">
                    <a:solidFill>
                      <a:srgbClr val="000000"/>
                    </a:solidFill>
                    <a:latin typeface="Aptos" panose="020B0004020202020204" pitchFamily="34" charset="0"/>
                    <a:ea typeface="Canva Sans"/>
                    <a:cs typeface="Canva Sans"/>
                    <a:sym typeface="Canva Sans"/>
                  </a:rPr>
                  <a:t>; localizar formato y duración.</a:t>
                </a:r>
                <a:endParaRPr lang="en-US" sz="1500" b="1" u="none" strike="noStrike" spc="55" dirty="0">
                  <a:solidFill>
                    <a:srgbClr val="000000"/>
                  </a:solidFill>
                  <a:latin typeface="Aptos" panose="020B0004020202020204" pitchFamily="34" charset="0"/>
                  <a:ea typeface="Canva Sans"/>
                  <a:cs typeface="Canva Sans"/>
                  <a:sym typeface="Canva Sans"/>
                </a:endParaRP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1328902" y="5917393"/>
                <a:ext cx="2601610" cy="761201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2815"/>
                  </a:lnSpc>
                </a:pPr>
                <a:r>
                  <a:rPr lang="es-DO" b="1" dirty="0">
                    <a:solidFill>
                      <a:srgbClr val="0E73C3"/>
                    </a:solidFill>
                    <a:latin typeface="Aptos" panose="020B0004020202020204" pitchFamily="34" charset="0"/>
                  </a:rPr>
                  <a:t>Estrategia diferenciada por país</a:t>
                </a:r>
                <a:endParaRPr lang="en-US" b="1" spc="84" dirty="0">
                  <a:solidFill>
                    <a:srgbClr val="0E73C3"/>
                  </a:solidFill>
                  <a:latin typeface="Aptos" panose="020B0004020202020204" pitchFamily="34" charset="0"/>
                  <a:ea typeface="Canva Sans Bold"/>
                  <a:cs typeface="Canva Sans Bold"/>
                  <a:sym typeface="Canva Sans Bold"/>
                </a:endParaRPr>
              </a:p>
            </p:txBody>
          </p:sp>
          <p:sp>
            <p:nvSpPr>
              <p:cNvPr id="43" name="CuadroTexto 42">
                <a:extLst>
                  <a:ext uri="{FF2B5EF4-FFF2-40B4-BE49-F238E27FC236}">
                    <a16:creationId xmlns:a16="http://schemas.microsoft.com/office/drawing/2014/main" id="{3D5969A5-0568-8DBE-FA7B-C49F90AD8981}"/>
                  </a:ext>
                </a:extLst>
              </p:cNvPr>
              <p:cNvSpPr txBox="1"/>
              <p:nvPr/>
            </p:nvSpPr>
            <p:spPr>
              <a:xfrm>
                <a:off x="1405102" y="8069640"/>
                <a:ext cx="278589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endParaRPr lang="es-DO" sz="1600" dirty="0">
                  <a:latin typeface="Aptos" panose="020B0004020202020204" pitchFamily="34" charset="0"/>
                </a:endParaRPr>
              </a:p>
            </p:txBody>
          </p:sp>
        </p:grpSp>
        <p:sp>
          <p:nvSpPr>
            <p:cNvPr id="98" name="Rectangle 7">
              <a:extLst>
                <a:ext uri="{FF2B5EF4-FFF2-40B4-BE49-F238E27FC236}">
                  <a16:creationId xmlns:a16="http://schemas.microsoft.com/office/drawing/2014/main" id="{4B2B15EC-98AA-CFF0-A5E0-EBFB391F19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91952" y="7795617"/>
              <a:ext cx="2845750" cy="14773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s-DO" altLang="es-DO" sz="15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ptos" panose="020B0004020202020204" pitchFamily="34" charset="0"/>
                </a:rPr>
                <a:t>EU:</a:t>
              </a:r>
              <a:r>
                <a:rPr kumimoji="0" lang="es-DO" altLang="es-DO" sz="15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ptos" panose="020B0004020202020204" pitchFamily="34" charset="0"/>
                </a:rPr>
                <a:t> mayor retención promedio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s-DO" altLang="es-DO" sz="15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ptos" panose="020B0004020202020204" pitchFamily="34" charset="0"/>
                </a:rPr>
                <a:t>USA:</a:t>
              </a:r>
              <a:r>
                <a:rPr kumimoji="0" lang="es-DO" altLang="es-DO" sz="15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ptos" panose="020B0004020202020204" pitchFamily="34" charset="0"/>
                </a:rPr>
                <a:t> más vistas usuario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s-DO" altLang="es-DO" sz="15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ptos" panose="020B0004020202020204" pitchFamily="34" charset="0"/>
                </a:rPr>
                <a:t>Japón:</a:t>
              </a:r>
              <a:r>
                <a:rPr kumimoji="0" lang="es-DO" altLang="es-DO" sz="15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ptos" panose="020B0004020202020204" pitchFamily="34" charset="0"/>
                </a:rPr>
                <a:t> rendimiento equilibrado estable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s-DO" altLang="es-DO" sz="15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ptos" panose="020B0004020202020204" pitchFamily="34" charset="0"/>
                </a:rPr>
                <a:t>Brasil:</a:t>
              </a:r>
              <a:r>
                <a:rPr kumimoji="0" lang="es-DO" altLang="es-DO" sz="15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ptos" panose="020B0004020202020204" pitchFamily="34" charset="0"/>
                </a:rPr>
                <a:t> potencial con optimización</a:t>
              </a:r>
            </a:p>
          </p:txBody>
        </p:sp>
      </p:grpSp>
      <p:grpSp>
        <p:nvGrpSpPr>
          <p:cNvPr id="105" name="Group 18">
            <a:extLst>
              <a:ext uri="{FF2B5EF4-FFF2-40B4-BE49-F238E27FC236}">
                <a16:creationId xmlns:a16="http://schemas.microsoft.com/office/drawing/2014/main" id="{220091F9-9D53-1599-5591-0F3D66D5A047}"/>
              </a:ext>
            </a:extLst>
          </p:cNvPr>
          <p:cNvGrpSpPr/>
          <p:nvPr/>
        </p:nvGrpSpPr>
        <p:grpSpPr>
          <a:xfrm>
            <a:off x="0" y="-58319"/>
            <a:ext cx="18288000" cy="1132365"/>
            <a:chOff x="0" y="0"/>
            <a:chExt cx="6941618" cy="926680"/>
          </a:xfrm>
        </p:grpSpPr>
        <p:sp>
          <p:nvSpPr>
            <p:cNvPr id="106" name="Freeform 19">
              <a:extLst>
                <a:ext uri="{FF2B5EF4-FFF2-40B4-BE49-F238E27FC236}">
                  <a16:creationId xmlns:a16="http://schemas.microsoft.com/office/drawing/2014/main" id="{B69EEE2A-58EE-B70A-6EBC-6AB571B7FD17}"/>
                </a:ext>
              </a:extLst>
            </p:cNvPr>
            <p:cNvSpPr/>
            <p:nvPr/>
          </p:nvSpPr>
          <p:spPr>
            <a:xfrm>
              <a:off x="0" y="0"/>
              <a:ext cx="6941617" cy="926680"/>
            </a:xfrm>
            <a:custGeom>
              <a:avLst/>
              <a:gdLst/>
              <a:ahLst/>
              <a:cxnLst/>
              <a:rect l="l" t="t" r="r" b="b"/>
              <a:pathLst>
                <a:path w="6941617" h="926680">
                  <a:moveTo>
                    <a:pt x="0" y="0"/>
                  </a:moveTo>
                  <a:lnTo>
                    <a:pt x="6941617" y="0"/>
                  </a:lnTo>
                  <a:lnTo>
                    <a:pt x="6941617" y="926680"/>
                  </a:lnTo>
                  <a:lnTo>
                    <a:pt x="0" y="926680"/>
                  </a:lnTo>
                  <a:close/>
                </a:path>
              </a:pathLst>
            </a:custGeom>
            <a:solidFill>
              <a:srgbClr val="0E73C3"/>
            </a:solidFill>
          </p:spPr>
          <p:txBody>
            <a:bodyPr/>
            <a:lstStyle/>
            <a:p>
              <a:endParaRPr lang="es-DO">
                <a:latin typeface="Canva Sans" panose="020B0604020202020204" charset="0"/>
              </a:endParaRPr>
            </a:p>
          </p:txBody>
        </p:sp>
        <p:sp>
          <p:nvSpPr>
            <p:cNvPr id="107" name="TextBox 20">
              <a:extLst>
                <a:ext uri="{FF2B5EF4-FFF2-40B4-BE49-F238E27FC236}">
                  <a16:creationId xmlns:a16="http://schemas.microsoft.com/office/drawing/2014/main" id="{14C12E05-AD07-079B-51C3-85C24487F7D7}"/>
                </a:ext>
              </a:extLst>
            </p:cNvPr>
            <p:cNvSpPr txBox="1"/>
            <p:nvPr/>
          </p:nvSpPr>
          <p:spPr>
            <a:xfrm>
              <a:off x="0" y="-19050"/>
              <a:ext cx="6941618" cy="945730"/>
            </a:xfrm>
            <a:prstGeom prst="rect">
              <a:avLst/>
            </a:prstGeom>
          </p:spPr>
          <p:txBody>
            <a:bodyPr lIns="47963" tIns="47963" rIns="47963" bIns="47963" rtlCol="0" anchor="ctr"/>
            <a:lstStyle/>
            <a:p>
              <a:pPr algn="ctr">
                <a:lnSpc>
                  <a:spcPts val="1519"/>
                </a:lnSpc>
              </a:pPr>
              <a:endParaRPr>
                <a:latin typeface="Canva Sans" panose="020B0604020202020204" charset="0"/>
              </a:endParaRPr>
            </a:p>
          </p:txBody>
        </p:sp>
      </p:grpSp>
      <p:sp>
        <p:nvSpPr>
          <p:cNvPr id="108" name="TextBox 24">
            <a:extLst>
              <a:ext uri="{FF2B5EF4-FFF2-40B4-BE49-F238E27FC236}">
                <a16:creationId xmlns:a16="http://schemas.microsoft.com/office/drawing/2014/main" id="{549611E3-2189-032F-CB3C-FE0303548753}"/>
              </a:ext>
            </a:extLst>
          </p:cNvPr>
          <p:cNvSpPr txBox="1"/>
          <p:nvPr/>
        </p:nvSpPr>
        <p:spPr>
          <a:xfrm>
            <a:off x="1438636" y="-62419"/>
            <a:ext cx="14682069" cy="907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8043"/>
              </a:lnSpc>
            </a:pPr>
            <a:r>
              <a:rPr lang="es-DO" sz="3600" b="1" dirty="0">
                <a:solidFill>
                  <a:schemeClr val="bg1"/>
                </a:solidFill>
                <a:latin typeface="Aptos" panose="020B0004020202020204" pitchFamily="34" charset="0"/>
              </a:rPr>
              <a:t>Recomendaciones</a:t>
            </a:r>
            <a:endParaRPr lang="en-US" sz="11500" b="1" spc="42" dirty="0">
              <a:solidFill>
                <a:schemeClr val="bg1"/>
              </a:solidFill>
              <a:latin typeface="Aptos" panose="020B0004020202020204" pitchFamily="34" charset="0"/>
              <a:ea typeface="Garet"/>
              <a:cs typeface="Garet"/>
              <a:sym typeface="Garet"/>
            </a:endParaRPr>
          </a:p>
        </p:txBody>
      </p:sp>
      <p:pic>
        <p:nvPicPr>
          <p:cNvPr id="111" name="Picture 4" descr="Estrella - Iconos gratis de señales">
            <a:extLst>
              <a:ext uri="{FF2B5EF4-FFF2-40B4-BE49-F238E27FC236}">
                <a16:creationId xmlns:a16="http://schemas.microsoft.com/office/drawing/2014/main" id="{5487F89D-3B66-5245-1D63-7FF09C130E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892" y="4524911"/>
            <a:ext cx="503794" cy="503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" name="Picture 4" descr="Estrella - Iconos gratis de señales">
            <a:extLst>
              <a:ext uri="{FF2B5EF4-FFF2-40B4-BE49-F238E27FC236}">
                <a16:creationId xmlns:a16="http://schemas.microsoft.com/office/drawing/2014/main" id="{A7762EFE-D84C-B0E9-A342-2FE46BC790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8400" y="4524911"/>
            <a:ext cx="503794" cy="503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3" name="Picture 4" descr="Estrella - Iconos gratis de señales">
            <a:extLst>
              <a:ext uri="{FF2B5EF4-FFF2-40B4-BE49-F238E27FC236}">
                <a16:creationId xmlns:a16="http://schemas.microsoft.com/office/drawing/2014/main" id="{73565AC1-1C70-63FD-0FBB-105B95F029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4524911"/>
            <a:ext cx="503794" cy="503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4" name="Picture 4" descr="Estrella - Iconos gratis de señales">
            <a:extLst>
              <a:ext uri="{FF2B5EF4-FFF2-40B4-BE49-F238E27FC236}">
                <a16:creationId xmlns:a16="http://schemas.microsoft.com/office/drawing/2014/main" id="{1C0A694C-32E2-9B45-80B1-97201EB738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0" y="4596705"/>
            <a:ext cx="503794" cy="503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7" name="Picture 9">
            <a:extLst>
              <a:ext uri="{FF2B5EF4-FFF2-40B4-BE49-F238E27FC236}">
                <a16:creationId xmlns:a16="http://schemas.microsoft.com/office/drawing/2014/main" id="{F148D422-5654-3708-759A-5FD0AA7D2B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932660" y="2395186"/>
            <a:ext cx="1642208" cy="1642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9" name="Picture 11" descr="Países - Iconos gratis de mapas y ubicación">
            <a:extLst>
              <a:ext uri="{FF2B5EF4-FFF2-40B4-BE49-F238E27FC236}">
                <a16:creationId xmlns:a16="http://schemas.microsoft.com/office/drawing/2014/main" id="{D943C8F5-2D20-0DAE-6A38-EDCC17CDEA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7480" y="2430780"/>
            <a:ext cx="1645920" cy="1645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7" name="Picture 19" descr="Película - Iconos gratis de cine">
            <a:extLst>
              <a:ext uri="{FF2B5EF4-FFF2-40B4-BE49-F238E27FC236}">
                <a16:creationId xmlns:a16="http://schemas.microsoft.com/office/drawing/2014/main" id="{31010B34-A318-DD7F-0E68-BD852D8236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9000" y="2539453"/>
            <a:ext cx="1421523" cy="1421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4" name="Picture 26" descr="Análisis - Iconos gratis de negocio">
            <a:extLst>
              <a:ext uri="{FF2B5EF4-FFF2-40B4-BE49-F238E27FC236}">
                <a16:creationId xmlns:a16="http://schemas.microsoft.com/office/drawing/2014/main" id="{D00CDE58-78F0-DC01-6815-D932AFBAF5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8196" y="2648717"/>
            <a:ext cx="1339154" cy="1339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</TotalTime>
  <Words>499</Words>
  <Application>Microsoft Office PowerPoint</Application>
  <PresentationFormat>Personalizado</PresentationFormat>
  <Paragraphs>115</Paragraphs>
  <Slides>3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8" baseType="lpstr">
      <vt:lpstr>Calibri</vt:lpstr>
      <vt:lpstr>Aptos</vt:lpstr>
      <vt:lpstr>Arial</vt:lpstr>
      <vt:lpstr>Canva Sans</vt:lpstr>
      <vt:lpstr>Office Theme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gráficos diagramas y esquemas corporativo profesional azul</dc:title>
  <dc:creator>Mirianny De La Cruz Ventura</dc:creator>
  <cp:lastModifiedBy>[Est - LIF] De La Cruz Ventura, Mirianny</cp:lastModifiedBy>
  <cp:revision>13</cp:revision>
  <dcterms:created xsi:type="dcterms:W3CDTF">2006-08-16T00:00:00Z</dcterms:created>
  <dcterms:modified xsi:type="dcterms:W3CDTF">2026-05-06T00:16:36Z</dcterms:modified>
  <dc:identifier>DAGwkGDCPFg</dc:identifier>
</cp:coreProperties>
</file>